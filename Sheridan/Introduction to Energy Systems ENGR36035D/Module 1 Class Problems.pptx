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3E13-B5B6-4782-B143-31A617DFD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93E09-61D7-4FA2-94D2-58FB8C5E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D6A09-B19E-4D09-BD8B-89B9BADA5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60C1D-8CF9-4F31-8735-008E2526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71F9B-1E77-4B0E-9B1E-BDDD9AAA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434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8DB6-941B-4AE7-A186-7EABF23A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F609B-F084-48A2-9FB6-2A705FB6C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211EF-42B8-49C6-AC4F-76F6453E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6E02C-043F-4D4D-AC60-C4403E7C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ACD31-74A9-452E-AF15-549ADCFD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60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9813-CAC0-482F-BA36-EEA8C85C4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321C8-B654-4352-99DF-89C630A4D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84537-91F1-4A5D-ABA0-22BAB55C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56E7E-F474-4A70-B1FA-D4511DF1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CDA98-6C79-4598-9B62-7CE3495F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860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B7DA-E3BE-4781-8E04-A2CBEC7E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DC7D9-4E82-40DD-A330-16A879CFC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ACB67-CE5A-4546-8D88-D43BE83EE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B5CA4-3241-4757-AEB6-E4C2EA210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D221F-61CC-476F-AF56-F8E725A4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CA672-2097-4946-85E3-950C36C3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2062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FDAF-3671-491E-B23B-1CA4D3355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F5D17-9D39-46FE-8172-3F86FE779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5C2A5-2D79-4763-AFCC-AA605367B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EBBD3-4B88-4198-97B1-2D35DF344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E5A46-37DA-40C5-8A08-B1B5B80B3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5012E3-5A74-4F81-A466-49CD032B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ACF784-F766-48F9-8DD3-768F2086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C0717-35E4-41D7-B922-01B1AA8A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2557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AF0E-3B81-404C-8838-6B1E4FE18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53245-CF35-4C7A-B1F4-B443891F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70B62-5053-43BB-8B2C-084FD983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E2FC6-782D-4064-AFCE-EF400DA2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83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5C92B-59FF-4B52-A4E7-DFBF6372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E60C1-C383-4BA2-87B9-7BF48E1F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AE439-80DD-4369-B355-61106838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33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7982-3CE5-4651-957F-FFC4367E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6B487-493F-4B9E-B318-3E255AFD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7E8FF-BDCC-4971-8175-CEA9EF716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C116A-200F-44A2-896E-429199A5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652A8-0FF9-4F99-A759-C39D2DD9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A968B-7174-46DC-9FE7-13E69D3FB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796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A685-0074-4E0B-B070-27CFDE26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E9708-9987-4735-83DD-F80478D1C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484F9-FF42-440B-8A27-60FF9A278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425A8-C4FF-4570-9379-FF7A84A5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98881-0B25-4F4D-9446-E70920B2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59067-F6AF-4C22-AC16-2DE5BFEA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901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6CF4-C918-4764-BDDB-EBC6F3D2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23773-0700-4288-AC04-9754C48DB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661D8-495A-4C7A-AD51-4FBFBD89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EEC35-40AB-4ED9-A74F-D0870431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B073B-7653-4567-98C1-24632F1F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011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7D8ADB-8C0D-43C7-97D6-A476FE734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8715D-9AAD-4F0A-9B53-BE9E49123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AC242-2CD6-4A60-A39D-CC86B7D5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B637-CC4D-479C-8D47-AB6EAE3E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F8BCE-93B1-470F-9C7E-863E6FD2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71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159C1-931E-4119-A924-4FEB4E8F8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F3D75-38FF-44EC-9C57-F3687BD5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AE237-9DC1-4F6F-AC8D-4F92C486A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6D7C3-241C-4230-B3D0-84266AC0DDC0}" type="datetimeFigureOut">
              <a:rPr lang="en-CA" smtClean="0"/>
              <a:t>2022-05-05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9FD3B-6D8C-4A2B-ACA9-A86E2D661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B2B7C-CBD8-4A2A-B4D1-00FB763FA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08C3C-F99B-40FF-BCF6-755DD0951F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213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46A9C-3F3B-4FBE-9EA1-A63AEEA27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Module </a:t>
            </a:r>
            <a:r>
              <a:rPr lang="en-CA" dirty="0"/>
              <a:t>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B5876-9EAC-48E7-842A-0AAF740466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 Problems</a:t>
            </a:r>
          </a:p>
        </p:txBody>
      </p:sp>
    </p:spTree>
    <p:extLst>
      <p:ext uri="{BB962C8B-B14F-4D97-AF65-F5344CB8AC3E}">
        <p14:creationId xmlns:p14="http://schemas.microsoft.com/office/powerpoint/2010/main" val="1457254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D01AF-698B-458A-AE28-36C3010E9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662" y="298666"/>
            <a:ext cx="118953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Q1. </a:t>
            </a:r>
            <a:r>
              <a:rPr lang="en-CA" dirty="0"/>
              <a:t>Determine the volumetric flow rate of natural gas, in </a:t>
            </a:r>
            <a:r>
              <a:rPr lang="en-US" dirty="0"/>
              <a:t>ft</a:t>
            </a:r>
            <a:r>
              <a:rPr lang="en-US" baseline="30000" dirty="0"/>
              <a:t>3 </a:t>
            </a:r>
            <a:r>
              <a:rPr lang="en-CA" dirty="0"/>
              <a:t>/min, to heat water from </a:t>
            </a:r>
            <a:r>
              <a:rPr lang="en-US" dirty="0"/>
              <a:t>70°F to 120°F at volumetric flow rate of 20 </a:t>
            </a:r>
            <a:r>
              <a:rPr lang="en-US" dirty="0" err="1"/>
              <a:t>gpm</a:t>
            </a:r>
            <a:r>
              <a:rPr lang="en-US" dirty="0"/>
              <a:t>. Assume average heating values provided in slides for natural gas and a density of 8.3 </a:t>
            </a:r>
            <a:r>
              <a:rPr lang="en-US" dirty="0" err="1"/>
              <a:t>lb</a:t>
            </a:r>
            <a:r>
              <a:rPr lang="en-US" baseline="-25000" dirty="0" err="1"/>
              <a:t>m</a:t>
            </a:r>
            <a:r>
              <a:rPr lang="en-US" dirty="0"/>
              <a:t>/gallon for water. Estimate yearly CO2 emission assuming an AFUE of 80% for the combustion process.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5590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B046C65-33CC-4157-918B-5CC1202F7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75518" y="209889"/>
            <a:ext cx="14567517" cy="4351338"/>
          </a:xfrm>
        </p:spPr>
        <p:txBody>
          <a:bodyPr/>
          <a:lstStyle/>
          <a:p>
            <a:pPr marL="2681288" indent="0">
              <a:buNone/>
            </a:pPr>
            <a:r>
              <a:rPr lang="en-US" sz="2000" b="1" dirty="0"/>
              <a:t>Q2. </a:t>
            </a:r>
            <a:r>
              <a:rPr lang="en-US" sz="2000" dirty="0"/>
              <a:t>To keep a single family home warm and cozy during a cold winter day, you may need to generate as much as 50,000 Btu/hr. Determine daily fuel consumption for an oil or gas furnace assuming a combustion process efficiency of 90%.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64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99620D-23A7-4542-AF73-A6D39909B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412511"/>
              </p:ext>
            </p:extLst>
          </p:nvPr>
        </p:nvGraphicFramePr>
        <p:xfrm>
          <a:off x="8555800" y="2079010"/>
          <a:ext cx="3408957" cy="1254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7153">
                  <a:extLst>
                    <a:ext uri="{9D8B030D-6E8A-4147-A177-3AD203B41FA5}">
                      <a16:colId xmlns:a16="http://schemas.microsoft.com/office/drawing/2014/main" val="818999701"/>
                    </a:ext>
                  </a:extLst>
                </a:gridCol>
                <a:gridCol w="1190902">
                  <a:extLst>
                    <a:ext uri="{9D8B030D-6E8A-4147-A177-3AD203B41FA5}">
                      <a16:colId xmlns:a16="http://schemas.microsoft.com/office/drawing/2014/main" val="2097850328"/>
                    </a:ext>
                  </a:extLst>
                </a:gridCol>
                <a:gridCol w="1190902">
                  <a:extLst>
                    <a:ext uri="{9D8B030D-6E8A-4147-A177-3AD203B41FA5}">
                      <a16:colId xmlns:a16="http://schemas.microsoft.com/office/drawing/2014/main" val="2508081666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</a:rPr>
                        <a:t>Eligible</a:t>
                      </a:r>
                      <a:endParaRPr lang="en-C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>
                          <a:effectLst/>
                        </a:rPr>
                        <a:t>Enrolled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70753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>
                          <a:effectLst/>
                        </a:rPr>
                        <a:t>Primary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>
                          <a:effectLst/>
                        </a:rPr>
                        <a:t> 2,500,000 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>
                          <a:effectLst/>
                        </a:rPr>
                        <a:t> 2,375,000 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5795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>
                          <a:effectLst/>
                        </a:rPr>
                        <a:t>Secondary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</a:rPr>
                        <a:t> 2,100,000 </a:t>
                      </a:r>
                      <a:endParaRPr lang="en-C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</a:rPr>
                        <a:t> 1,953,000 </a:t>
                      </a:r>
                      <a:endParaRPr lang="en-C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119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>
                          <a:effectLst/>
                        </a:rPr>
                        <a:t>University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>
                          <a:effectLst/>
                        </a:rPr>
                        <a:t> 1,470,000 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</a:rPr>
                        <a:t> 558,600 </a:t>
                      </a:r>
                      <a:endParaRPr lang="en-C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696527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D8EDE9C5-F32A-4F8D-92BE-A7C959B62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243" y="275627"/>
            <a:ext cx="1173751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Q3. 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country has a population of 31 million and consumes on average 12.09 exajoule (EJ) of energy per year. The life expectancy of the country is 63 years, and the country’s GDP is $0.4278 trillion dollars. The adult literacy rate is 75%. The eligible and actual student enrollments for primary, secondary, and college/university levels of education are given in the table below:</a:t>
            </a:r>
            <a:endParaRPr kumimoji="0" lang="en-CA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Calculate the HDI for this country.</a:t>
            </a:r>
            <a:endParaRPr kumimoji="0" lang="en-CA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How does this country’s HDI to energy intensity ratio compare to that of the countries in the scatter charts in the chapter? Is it above, below, or on a par with these other countries?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989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1DAC-5698-40BB-ADB6-DEED1EE0A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325299"/>
            <a:ext cx="11191043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Q4. </a:t>
            </a:r>
            <a:r>
              <a:rPr lang="en-CA" dirty="0"/>
              <a:t>Determine the yearly coal consumption of a 350 MW power plant, assuming a thermal cycle efficiency of 38% (thermal to mechanical conversion efficiency), overall combustion efficiency of 80%, and generator efficiency of 90%. Plant has a yearly availability of 90%. Estimate CO2 emission of the plant in metric tons. </a:t>
            </a:r>
          </a:p>
        </p:txBody>
      </p:sp>
    </p:spTree>
    <p:extLst>
      <p:ext uri="{BB962C8B-B14F-4D97-AF65-F5344CB8AC3E}">
        <p14:creationId xmlns:p14="http://schemas.microsoft.com/office/powerpoint/2010/main" val="151678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C95D-5431-4F7D-AA01-39572B164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273" y="360810"/>
            <a:ext cx="1186574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/>
              <a:t>Q5.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energy costs continue to rise, power efficiency is increasingly important.  Acme Chemical is evaluating two different electric motors to drive a mixing motor and needs to perform a present economy study.  The motor will produce 75 hp and will be operated eight hours per day, 365 days for one year (maintenance does not affect average 8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/day operation), after which time the motor will have no value.  Select the most economical motor.  Assume Acme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 electric power costs $0.16 per kWh. </a:t>
            </a:r>
            <a:endParaRPr lang="en-CA" sz="2000" dirty="0"/>
          </a:p>
        </p:txBody>
      </p:sp>
      <p:graphicFrame>
        <p:nvGraphicFramePr>
          <p:cNvPr id="4" name="Shape 303">
            <a:extLst>
              <a:ext uri="{FF2B5EF4-FFF2-40B4-BE49-F238E27FC236}">
                <a16:creationId xmlns:a16="http://schemas.microsoft.com/office/drawing/2014/main" id="{27FB8487-E483-48A6-9F1D-EBF595FC78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391452"/>
              </p:ext>
            </p:extLst>
          </p:nvPr>
        </p:nvGraphicFramePr>
        <p:xfrm>
          <a:off x="5246796" y="2027615"/>
          <a:ext cx="6871222" cy="2198962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698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183">
                <a:tc>
                  <a:txBody>
                    <a:bodyPr/>
                    <a:lstStyle/>
                    <a:p>
                      <a:pPr marL="0" marR="0" lvl="0" indent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1581"/>
                        </a:buClr>
                        <a:buSzPct val="25000"/>
                        <a:buFont typeface="Arial"/>
                        <a:buNone/>
                      </a:pPr>
                      <a:endParaRPr lang="en-US" sz="2400" b="1" u="none" strike="noStrike" kern="1200" cap="none" dirty="0">
                        <a:solidFill>
                          <a:schemeClr val="bg1"/>
                        </a:solidFill>
                        <a:latin typeface="Arial (Body)"/>
                        <a:ea typeface="+mn-ea"/>
                        <a:cs typeface="+mn-cs"/>
                      </a:endParaRP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sng" dirty="0">
                          <a:solidFill>
                            <a:schemeClr val="bg1"/>
                          </a:solidFill>
                        </a:rPr>
                        <a:t>Motor A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sng" dirty="0">
                          <a:solidFill>
                            <a:schemeClr val="bg1"/>
                          </a:solidFill>
                        </a:rPr>
                        <a:t>Motor B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1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Purchase price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$3,200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$5,900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6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Average lifetime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maintenance</a:t>
                      </a:r>
                      <a:r>
                        <a:rPr lang="en-US" sz="2400" baseline="0" dirty="0"/>
                        <a:t> cost</a:t>
                      </a:r>
                      <a:endParaRPr lang="en-US" sz="2400" dirty="0"/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$250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$450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4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Efficiency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75%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85%</a:t>
                      </a:r>
                    </a:p>
                  </a:txBody>
                  <a:tcPr marL="76657" marR="76657" marT="38329" marB="38329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178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A808-1DE1-42B4-B94E-B6F235548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827" y="511730"/>
            <a:ext cx="11324207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Q6. </a:t>
            </a:r>
            <a:r>
              <a:rPr lang="en-CA" dirty="0"/>
              <a:t>Estimate the annual electricity consumption of a 5 ton AC unit with SEER of 16 running approximately 1200 hrs/year.</a:t>
            </a:r>
          </a:p>
        </p:txBody>
      </p:sp>
    </p:spTree>
    <p:extLst>
      <p:ext uri="{BB962C8B-B14F-4D97-AF65-F5344CB8AC3E}">
        <p14:creationId xmlns:p14="http://schemas.microsoft.com/office/powerpoint/2010/main" val="3007367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2781</TotalTime>
  <Words>469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(Body)</vt:lpstr>
      <vt:lpstr>Calibri</vt:lpstr>
      <vt:lpstr>Calibri Light</vt:lpstr>
      <vt:lpstr>Times New Roman</vt:lpstr>
      <vt:lpstr>Office Theme</vt:lpstr>
      <vt:lpstr>Module 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ENGPHYS 3ES3 Module 1 </dc:title>
  <dc:creator>Amin Ghobeity</dc:creator>
  <cp:lastModifiedBy>Amin Ghobeity</cp:lastModifiedBy>
  <cp:revision>18</cp:revision>
  <cp:lastPrinted>2021-05-06T21:33:04Z</cp:lastPrinted>
  <dcterms:created xsi:type="dcterms:W3CDTF">2021-05-05T22:33:03Z</dcterms:created>
  <dcterms:modified xsi:type="dcterms:W3CDTF">2022-05-06T13:09:25Z</dcterms:modified>
</cp:coreProperties>
</file>