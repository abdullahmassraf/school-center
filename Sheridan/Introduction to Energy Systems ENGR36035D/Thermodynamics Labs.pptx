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1" r:id="rId4"/>
    <p:sldId id="267" r:id="rId5"/>
    <p:sldId id="268" r:id="rId6"/>
    <p:sldId id="269" r:id="rId7"/>
    <p:sldId id="270" r:id="rId8"/>
    <p:sldId id="271" r:id="rId9"/>
    <p:sldId id="272" r:id="rId10"/>
    <p:sldId id="274" r:id="rId11"/>
    <p:sldId id="275" r:id="rId12"/>
    <p:sldId id="273" r:id="rId13"/>
    <p:sldId id="259" r:id="rId14"/>
    <p:sldId id="278" r:id="rId15"/>
    <p:sldId id="280" r:id="rId16"/>
    <p:sldId id="281" r:id="rId17"/>
    <p:sldId id="263" r:id="rId18"/>
    <p:sldId id="260" r:id="rId19"/>
    <p:sldId id="262" r:id="rId20"/>
    <p:sldId id="264" r:id="rId21"/>
    <p:sldId id="265" r:id="rId22"/>
    <p:sldId id="266" r:id="rId23"/>
    <p:sldId id="276" r:id="rId24"/>
    <p:sldId id="277" r:id="rId25"/>
    <p:sldId id="282" r:id="rId26"/>
    <p:sldId id="283" r:id="rId27"/>
    <p:sldId id="284" r:id="rId28"/>
    <p:sldId id="285" r:id="rId29"/>
    <p:sldId id="286" r:id="rId30"/>
    <p:sldId id="28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48" autoAdjust="0"/>
    <p:restoredTop sz="93792" autoAdjust="0"/>
  </p:normalViewPr>
  <p:slideViewPr>
    <p:cSldViewPr snapToGrid="0">
      <p:cViewPr varScale="1">
        <p:scale>
          <a:sx n="73" d="100"/>
          <a:sy n="73" d="100"/>
        </p:scale>
        <p:origin x="24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5483B-FFEB-44A2-A47F-341EC19566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E01B2736-139F-44C3-B96E-9CCF6E2729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E91260DC-8EFE-484F-AA9F-6738A54F6589}"/>
              </a:ext>
            </a:extLst>
          </p:cNvPr>
          <p:cNvSpPr>
            <a:spLocks noGrp="1"/>
          </p:cNvSpPr>
          <p:nvPr>
            <p:ph type="dt" sz="half" idx="10"/>
          </p:nvPr>
        </p:nvSpPr>
        <p:spPr/>
        <p:txBody>
          <a:bodyPr/>
          <a:lstStyle/>
          <a:p>
            <a:fld id="{CEF28E55-5EFC-44AC-9BDF-43010AE6DC40}" type="datetimeFigureOut">
              <a:rPr lang="en-CA" smtClean="0"/>
              <a:t>2023-01-31</a:t>
            </a:fld>
            <a:endParaRPr lang="en-CA"/>
          </a:p>
        </p:txBody>
      </p:sp>
      <p:sp>
        <p:nvSpPr>
          <p:cNvPr id="5" name="Footer Placeholder 4">
            <a:extLst>
              <a:ext uri="{FF2B5EF4-FFF2-40B4-BE49-F238E27FC236}">
                <a16:creationId xmlns:a16="http://schemas.microsoft.com/office/drawing/2014/main" id="{56A1C367-9FD6-4E58-8DB7-4215158E326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30E0D76-12DE-4D43-8DB1-5F5823C791CC}"/>
              </a:ext>
            </a:extLst>
          </p:cNvPr>
          <p:cNvSpPr>
            <a:spLocks noGrp="1"/>
          </p:cNvSpPr>
          <p:nvPr>
            <p:ph type="sldNum" sz="quarter" idx="12"/>
          </p:nvPr>
        </p:nvSpPr>
        <p:spPr/>
        <p:txBody>
          <a:bodyPr/>
          <a:lstStyle/>
          <a:p>
            <a:fld id="{0D4B4ABB-D30E-47CC-A37A-FF0EC68A2299}" type="slidenum">
              <a:rPr lang="en-CA" smtClean="0"/>
              <a:t>‹#›</a:t>
            </a:fld>
            <a:endParaRPr lang="en-CA"/>
          </a:p>
        </p:txBody>
      </p:sp>
    </p:spTree>
    <p:extLst>
      <p:ext uri="{BB962C8B-B14F-4D97-AF65-F5344CB8AC3E}">
        <p14:creationId xmlns:p14="http://schemas.microsoft.com/office/powerpoint/2010/main" val="2456427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8D138-F455-4773-8013-A09B3AD95CE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998BA58-A00D-40DB-9D15-E384E1FFA4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F932DD9-82BD-432B-9213-B7F8F8DF4906}"/>
              </a:ext>
            </a:extLst>
          </p:cNvPr>
          <p:cNvSpPr>
            <a:spLocks noGrp="1"/>
          </p:cNvSpPr>
          <p:nvPr>
            <p:ph type="dt" sz="half" idx="10"/>
          </p:nvPr>
        </p:nvSpPr>
        <p:spPr/>
        <p:txBody>
          <a:bodyPr/>
          <a:lstStyle/>
          <a:p>
            <a:fld id="{CEF28E55-5EFC-44AC-9BDF-43010AE6DC40}" type="datetimeFigureOut">
              <a:rPr lang="en-CA" smtClean="0"/>
              <a:t>2023-01-31</a:t>
            </a:fld>
            <a:endParaRPr lang="en-CA"/>
          </a:p>
        </p:txBody>
      </p:sp>
      <p:sp>
        <p:nvSpPr>
          <p:cNvPr id="5" name="Footer Placeholder 4">
            <a:extLst>
              <a:ext uri="{FF2B5EF4-FFF2-40B4-BE49-F238E27FC236}">
                <a16:creationId xmlns:a16="http://schemas.microsoft.com/office/drawing/2014/main" id="{7C23CEE5-8D14-4D6D-B94D-686AFAE3A29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CCEC8C2-A1CF-4E83-BB5D-04735CA7505E}"/>
              </a:ext>
            </a:extLst>
          </p:cNvPr>
          <p:cNvSpPr>
            <a:spLocks noGrp="1"/>
          </p:cNvSpPr>
          <p:nvPr>
            <p:ph type="sldNum" sz="quarter" idx="12"/>
          </p:nvPr>
        </p:nvSpPr>
        <p:spPr/>
        <p:txBody>
          <a:bodyPr/>
          <a:lstStyle/>
          <a:p>
            <a:fld id="{0D4B4ABB-D30E-47CC-A37A-FF0EC68A2299}" type="slidenum">
              <a:rPr lang="en-CA" smtClean="0"/>
              <a:t>‹#›</a:t>
            </a:fld>
            <a:endParaRPr lang="en-CA"/>
          </a:p>
        </p:txBody>
      </p:sp>
    </p:spTree>
    <p:extLst>
      <p:ext uri="{BB962C8B-B14F-4D97-AF65-F5344CB8AC3E}">
        <p14:creationId xmlns:p14="http://schemas.microsoft.com/office/powerpoint/2010/main" val="1118003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AA73D-4EF4-4F67-8E3C-9AE680EA84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DFCE0048-FC20-4C4E-9F81-ACA07DF22F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D80324-CCDC-4F0B-A6EC-0885CFBDD6BC}"/>
              </a:ext>
            </a:extLst>
          </p:cNvPr>
          <p:cNvSpPr>
            <a:spLocks noGrp="1"/>
          </p:cNvSpPr>
          <p:nvPr>
            <p:ph type="dt" sz="half" idx="10"/>
          </p:nvPr>
        </p:nvSpPr>
        <p:spPr/>
        <p:txBody>
          <a:bodyPr/>
          <a:lstStyle/>
          <a:p>
            <a:fld id="{CEF28E55-5EFC-44AC-9BDF-43010AE6DC40}" type="datetimeFigureOut">
              <a:rPr lang="en-CA" smtClean="0"/>
              <a:t>2023-01-31</a:t>
            </a:fld>
            <a:endParaRPr lang="en-CA"/>
          </a:p>
        </p:txBody>
      </p:sp>
      <p:sp>
        <p:nvSpPr>
          <p:cNvPr id="5" name="Footer Placeholder 4">
            <a:extLst>
              <a:ext uri="{FF2B5EF4-FFF2-40B4-BE49-F238E27FC236}">
                <a16:creationId xmlns:a16="http://schemas.microsoft.com/office/drawing/2014/main" id="{BF23AEB3-7E35-40C7-9658-F1E02CCFAE8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140AC73-0A71-494E-AB3B-C184CE38FAFF}"/>
              </a:ext>
            </a:extLst>
          </p:cNvPr>
          <p:cNvSpPr>
            <a:spLocks noGrp="1"/>
          </p:cNvSpPr>
          <p:nvPr>
            <p:ph type="sldNum" sz="quarter" idx="12"/>
          </p:nvPr>
        </p:nvSpPr>
        <p:spPr/>
        <p:txBody>
          <a:bodyPr/>
          <a:lstStyle/>
          <a:p>
            <a:fld id="{0D4B4ABB-D30E-47CC-A37A-FF0EC68A2299}" type="slidenum">
              <a:rPr lang="en-CA" smtClean="0"/>
              <a:t>‹#›</a:t>
            </a:fld>
            <a:endParaRPr lang="en-CA"/>
          </a:p>
        </p:txBody>
      </p:sp>
    </p:spTree>
    <p:extLst>
      <p:ext uri="{BB962C8B-B14F-4D97-AF65-F5344CB8AC3E}">
        <p14:creationId xmlns:p14="http://schemas.microsoft.com/office/powerpoint/2010/main" val="1775395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9107F-36FC-4D36-B3C1-1957D9B0DD8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22AC11B-5090-4C31-9288-C03C5E5F2C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0E4D1BCA-D4DD-4749-B843-AA31D65DB2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2C29DAFD-DC9C-453A-A6E1-D63E0944A0D6}"/>
              </a:ext>
            </a:extLst>
          </p:cNvPr>
          <p:cNvSpPr>
            <a:spLocks noGrp="1"/>
          </p:cNvSpPr>
          <p:nvPr>
            <p:ph type="dt" sz="half" idx="10"/>
          </p:nvPr>
        </p:nvSpPr>
        <p:spPr/>
        <p:txBody>
          <a:bodyPr/>
          <a:lstStyle/>
          <a:p>
            <a:fld id="{CEF28E55-5EFC-44AC-9BDF-43010AE6DC40}" type="datetimeFigureOut">
              <a:rPr lang="en-CA" smtClean="0"/>
              <a:t>2023-01-31</a:t>
            </a:fld>
            <a:endParaRPr lang="en-CA"/>
          </a:p>
        </p:txBody>
      </p:sp>
      <p:sp>
        <p:nvSpPr>
          <p:cNvPr id="6" name="Footer Placeholder 5">
            <a:extLst>
              <a:ext uri="{FF2B5EF4-FFF2-40B4-BE49-F238E27FC236}">
                <a16:creationId xmlns:a16="http://schemas.microsoft.com/office/drawing/2014/main" id="{21F04A8C-7AC4-4675-8DFA-EDB87F74A20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0C65E9B-6825-4892-AC9C-1EDE41B9FAFF}"/>
              </a:ext>
            </a:extLst>
          </p:cNvPr>
          <p:cNvSpPr>
            <a:spLocks noGrp="1"/>
          </p:cNvSpPr>
          <p:nvPr>
            <p:ph type="sldNum" sz="quarter" idx="12"/>
          </p:nvPr>
        </p:nvSpPr>
        <p:spPr/>
        <p:txBody>
          <a:bodyPr/>
          <a:lstStyle/>
          <a:p>
            <a:fld id="{0D4B4ABB-D30E-47CC-A37A-FF0EC68A2299}" type="slidenum">
              <a:rPr lang="en-CA" smtClean="0"/>
              <a:t>‹#›</a:t>
            </a:fld>
            <a:endParaRPr lang="en-CA"/>
          </a:p>
        </p:txBody>
      </p:sp>
    </p:spTree>
    <p:extLst>
      <p:ext uri="{BB962C8B-B14F-4D97-AF65-F5344CB8AC3E}">
        <p14:creationId xmlns:p14="http://schemas.microsoft.com/office/powerpoint/2010/main" val="2787002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F6323-ACC8-4783-940E-6CA7E56E741E}"/>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64D71880-095A-4421-8E2C-6E4ECBCCB2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B285B5-293D-4887-87C2-B7237A8C8B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F89640F0-B213-404D-BAD7-40554D783B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A72184-19E1-49F9-BB45-4C1B4F31C5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39244057-D0B6-410D-A403-E2F654B2D76E}"/>
              </a:ext>
            </a:extLst>
          </p:cNvPr>
          <p:cNvSpPr>
            <a:spLocks noGrp="1"/>
          </p:cNvSpPr>
          <p:nvPr>
            <p:ph type="dt" sz="half" idx="10"/>
          </p:nvPr>
        </p:nvSpPr>
        <p:spPr/>
        <p:txBody>
          <a:bodyPr/>
          <a:lstStyle/>
          <a:p>
            <a:fld id="{CEF28E55-5EFC-44AC-9BDF-43010AE6DC40}" type="datetimeFigureOut">
              <a:rPr lang="en-CA" smtClean="0"/>
              <a:t>2023-01-31</a:t>
            </a:fld>
            <a:endParaRPr lang="en-CA"/>
          </a:p>
        </p:txBody>
      </p:sp>
      <p:sp>
        <p:nvSpPr>
          <p:cNvPr id="8" name="Footer Placeholder 7">
            <a:extLst>
              <a:ext uri="{FF2B5EF4-FFF2-40B4-BE49-F238E27FC236}">
                <a16:creationId xmlns:a16="http://schemas.microsoft.com/office/drawing/2014/main" id="{42E7F709-7B1C-450B-86C5-640F2732899E}"/>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0AFBB686-58A7-4FA7-8649-309AB345D75E}"/>
              </a:ext>
            </a:extLst>
          </p:cNvPr>
          <p:cNvSpPr>
            <a:spLocks noGrp="1"/>
          </p:cNvSpPr>
          <p:nvPr>
            <p:ph type="sldNum" sz="quarter" idx="12"/>
          </p:nvPr>
        </p:nvSpPr>
        <p:spPr/>
        <p:txBody>
          <a:bodyPr/>
          <a:lstStyle/>
          <a:p>
            <a:fld id="{0D4B4ABB-D30E-47CC-A37A-FF0EC68A2299}" type="slidenum">
              <a:rPr lang="en-CA" smtClean="0"/>
              <a:t>‹#›</a:t>
            </a:fld>
            <a:endParaRPr lang="en-CA"/>
          </a:p>
        </p:txBody>
      </p:sp>
    </p:spTree>
    <p:extLst>
      <p:ext uri="{BB962C8B-B14F-4D97-AF65-F5344CB8AC3E}">
        <p14:creationId xmlns:p14="http://schemas.microsoft.com/office/powerpoint/2010/main" val="4054397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422E1-035B-42C8-8232-B889FDCAE1D7}"/>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E89A2968-3281-49BE-8A74-2D54532C6C5E}"/>
              </a:ext>
            </a:extLst>
          </p:cNvPr>
          <p:cNvSpPr>
            <a:spLocks noGrp="1"/>
          </p:cNvSpPr>
          <p:nvPr>
            <p:ph type="dt" sz="half" idx="10"/>
          </p:nvPr>
        </p:nvSpPr>
        <p:spPr/>
        <p:txBody>
          <a:bodyPr/>
          <a:lstStyle/>
          <a:p>
            <a:fld id="{CEF28E55-5EFC-44AC-9BDF-43010AE6DC40}" type="datetimeFigureOut">
              <a:rPr lang="en-CA" smtClean="0"/>
              <a:t>2023-01-31</a:t>
            </a:fld>
            <a:endParaRPr lang="en-CA"/>
          </a:p>
        </p:txBody>
      </p:sp>
      <p:sp>
        <p:nvSpPr>
          <p:cNvPr id="4" name="Footer Placeholder 3">
            <a:extLst>
              <a:ext uri="{FF2B5EF4-FFF2-40B4-BE49-F238E27FC236}">
                <a16:creationId xmlns:a16="http://schemas.microsoft.com/office/drawing/2014/main" id="{3485592B-C417-4B63-9EE5-22FF5F050CFE}"/>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54C5789C-9C34-4CBB-AD36-404A2F7B94D5}"/>
              </a:ext>
            </a:extLst>
          </p:cNvPr>
          <p:cNvSpPr>
            <a:spLocks noGrp="1"/>
          </p:cNvSpPr>
          <p:nvPr>
            <p:ph type="sldNum" sz="quarter" idx="12"/>
          </p:nvPr>
        </p:nvSpPr>
        <p:spPr/>
        <p:txBody>
          <a:bodyPr/>
          <a:lstStyle/>
          <a:p>
            <a:fld id="{0D4B4ABB-D30E-47CC-A37A-FF0EC68A2299}" type="slidenum">
              <a:rPr lang="en-CA" smtClean="0"/>
              <a:t>‹#›</a:t>
            </a:fld>
            <a:endParaRPr lang="en-CA"/>
          </a:p>
        </p:txBody>
      </p:sp>
    </p:spTree>
    <p:extLst>
      <p:ext uri="{BB962C8B-B14F-4D97-AF65-F5344CB8AC3E}">
        <p14:creationId xmlns:p14="http://schemas.microsoft.com/office/powerpoint/2010/main" val="2492550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256E83-B51C-4FA6-BDA9-7867A3F514FE}"/>
              </a:ext>
            </a:extLst>
          </p:cNvPr>
          <p:cNvSpPr>
            <a:spLocks noGrp="1"/>
          </p:cNvSpPr>
          <p:nvPr>
            <p:ph type="dt" sz="half" idx="10"/>
          </p:nvPr>
        </p:nvSpPr>
        <p:spPr/>
        <p:txBody>
          <a:bodyPr/>
          <a:lstStyle/>
          <a:p>
            <a:fld id="{CEF28E55-5EFC-44AC-9BDF-43010AE6DC40}" type="datetimeFigureOut">
              <a:rPr lang="en-CA" smtClean="0"/>
              <a:t>2023-01-31</a:t>
            </a:fld>
            <a:endParaRPr lang="en-CA"/>
          </a:p>
        </p:txBody>
      </p:sp>
      <p:sp>
        <p:nvSpPr>
          <p:cNvPr id="3" name="Footer Placeholder 2">
            <a:extLst>
              <a:ext uri="{FF2B5EF4-FFF2-40B4-BE49-F238E27FC236}">
                <a16:creationId xmlns:a16="http://schemas.microsoft.com/office/drawing/2014/main" id="{267958B1-5B7A-4FF2-BFAD-BE6F6AA480E6}"/>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612FE198-5E9B-4F72-B556-A14004AE7270}"/>
              </a:ext>
            </a:extLst>
          </p:cNvPr>
          <p:cNvSpPr>
            <a:spLocks noGrp="1"/>
          </p:cNvSpPr>
          <p:nvPr>
            <p:ph type="sldNum" sz="quarter" idx="12"/>
          </p:nvPr>
        </p:nvSpPr>
        <p:spPr/>
        <p:txBody>
          <a:bodyPr/>
          <a:lstStyle/>
          <a:p>
            <a:fld id="{0D4B4ABB-D30E-47CC-A37A-FF0EC68A2299}" type="slidenum">
              <a:rPr lang="en-CA" smtClean="0"/>
              <a:t>‹#›</a:t>
            </a:fld>
            <a:endParaRPr lang="en-CA"/>
          </a:p>
        </p:txBody>
      </p:sp>
    </p:spTree>
    <p:extLst>
      <p:ext uri="{BB962C8B-B14F-4D97-AF65-F5344CB8AC3E}">
        <p14:creationId xmlns:p14="http://schemas.microsoft.com/office/powerpoint/2010/main" val="2978079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831A8-B322-4771-9FFC-2702F8B413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F6C71191-2BF9-4E26-876F-915ED32487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B69BD298-BB47-4EA9-AD40-4DAC343DDC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52EC07-28B7-4213-8AD3-3DC4DE30688B}"/>
              </a:ext>
            </a:extLst>
          </p:cNvPr>
          <p:cNvSpPr>
            <a:spLocks noGrp="1"/>
          </p:cNvSpPr>
          <p:nvPr>
            <p:ph type="dt" sz="half" idx="10"/>
          </p:nvPr>
        </p:nvSpPr>
        <p:spPr/>
        <p:txBody>
          <a:bodyPr/>
          <a:lstStyle/>
          <a:p>
            <a:fld id="{CEF28E55-5EFC-44AC-9BDF-43010AE6DC40}" type="datetimeFigureOut">
              <a:rPr lang="en-CA" smtClean="0"/>
              <a:t>2023-01-31</a:t>
            </a:fld>
            <a:endParaRPr lang="en-CA"/>
          </a:p>
        </p:txBody>
      </p:sp>
      <p:sp>
        <p:nvSpPr>
          <p:cNvPr id="6" name="Footer Placeholder 5">
            <a:extLst>
              <a:ext uri="{FF2B5EF4-FFF2-40B4-BE49-F238E27FC236}">
                <a16:creationId xmlns:a16="http://schemas.microsoft.com/office/drawing/2014/main" id="{F1EACF5D-10E5-4352-95FF-DC82BE97609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DD1A8CC-C9D8-409D-B09B-A5381CE5EBB7}"/>
              </a:ext>
            </a:extLst>
          </p:cNvPr>
          <p:cNvSpPr>
            <a:spLocks noGrp="1"/>
          </p:cNvSpPr>
          <p:nvPr>
            <p:ph type="sldNum" sz="quarter" idx="12"/>
          </p:nvPr>
        </p:nvSpPr>
        <p:spPr/>
        <p:txBody>
          <a:bodyPr/>
          <a:lstStyle/>
          <a:p>
            <a:fld id="{0D4B4ABB-D30E-47CC-A37A-FF0EC68A2299}" type="slidenum">
              <a:rPr lang="en-CA" smtClean="0"/>
              <a:t>‹#›</a:t>
            </a:fld>
            <a:endParaRPr lang="en-CA"/>
          </a:p>
        </p:txBody>
      </p:sp>
    </p:spTree>
    <p:extLst>
      <p:ext uri="{BB962C8B-B14F-4D97-AF65-F5344CB8AC3E}">
        <p14:creationId xmlns:p14="http://schemas.microsoft.com/office/powerpoint/2010/main" val="665391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80E88-1D5F-4E2E-AFBC-2FDF18A1C5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5B51E7F1-A35F-465E-86E2-0CB1658AA5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1A20C4EC-2294-40DE-8FBC-7D540FABE4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2911C7-F452-4F84-9392-35CC82C2D6E8}"/>
              </a:ext>
            </a:extLst>
          </p:cNvPr>
          <p:cNvSpPr>
            <a:spLocks noGrp="1"/>
          </p:cNvSpPr>
          <p:nvPr>
            <p:ph type="dt" sz="half" idx="10"/>
          </p:nvPr>
        </p:nvSpPr>
        <p:spPr/>
        <p:txBody>
          <a:bodyPr/>
          <a:lstStyle/>
          <a:p>
            <a:fld id="{CEF28E55-5EFC-44AC-9BDF-43010AE6DC40}" type="datetimeFigureOut">
              <a:rPr lang="en-CA" smtClean="0"/>
              <a:t>2023-01-31</a:t>
            </a:fld>
            <a:endParaRPr lang="en-CA"/>
          </a:p>
        </p:txBody>
      </p:sp>
      <p:sp>
        <p:nvSpPr>
          <p:cNvPr id="6" name="Footer Placeholder 5">
            <a:extLst>
              <a:ext uri="{FF2B5EF4-FFF2-40B4-BE49-F238E27FC236}">
                <a16:creationId xmlns:a16="http://schemas.microsoft.com/office/drawing/2014/main" id="{5299E293-00BC-4E13-ADC4-5450623711C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9738A45-E7CE-49FB-BC35-CD6574D6C689}"/>
              </a:ext>
            </a:extLst>
          </p:cNvPr>
          <p:cNvSpPr>
            <a:spLocks noGrp="1"/>
          </p:cNvSpPr>
          <p:nvPr>
            <p:ph type="sldNum" sz="quarter" idx="12"/>
          </p:nvPr>
        </p:nvSpPr>
        <p:spPr/>
        <p:txBody>
          <a:bodyPr/>
          <a:lstStyle/>
          <a:p>
            <a:fld id="{0D4B4ABB-D30E-47CC-A37A-FF0EC68A2299}" type="slidenum">
              <a:rPr lang="en-CA" smtClean="0"/>
              <a:t>‹#›</a:t>
            </a:fld>
            <a:endParaRPr lang="en-CA"/>
          </a:p>
        </p:txBody>
      </p:sp>
    </p:spTree>
    <p:extLst>
      <p:ext uri="{BB962C8B-B14F-4D97-AF65-F5344CB8AC3E}">
        <p14:creationId xmlns:p14="http://schemas.microsoft.com/office/powerpoint/2010/main" val="2087333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D291D-441A-4075-B374-D9B2B378D633}"/>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A131698-2689-422F-BFB9-D44303E6A1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699BA90-44AC-487A-8451-BEE81FF2985D}"/>
              </a:ext>
            </a:extLst>
          </p:cNvPr>
          <p:cNvSpPr>
            <a:spLocks noGrp="1"/>
          </p:cNvSpPr>
          <p:nvPr>
            <p:ph type="dt" sz="half" idx="10"/>
          </p:nvPr>
        </p:nvSpPr>
        <p:spPr/>
        <p:txBody>
          <a:bodyPr/>
          <a:lstStyle/>
          <a:p>
            <a:fld id="{CEF28E55-5EFC-44AC-9BDF-43010AE6DC40}" type="datetimeFigureOut">
              <a:rPr lang="en-CA" smtClean="0"/>
              <a:t>2023-01-31</a:t>
            </a:fld>
            <a:endParaRPr lang="en-CA"/>
          </a:p>
        </p:txBody>
      </p:sp>
      <p:sp>
        <p:nvSpPr>
          <p:cNvPr id="5" name="Footer Placeholder 4">
            <a:extLst>
              <a:ext uri="{FF2B5EF4-FFF2-40B4-BE49-F238E27FC236}">
                <a16:creationId xmlns:a16="http://schemas.microsoft.com/office/drawing/2014/main" id="{020E8AA3-84A5-46D7-B92D-E52F6D7587F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EF1B300-E2DC-467F-9288-F184E410F923}"/>
              </a:ext>
            </a:extLst>
          </p:cNvPr>
          <p:cNvSpPr>
            <a:spLocks noGrp="1"/>
          </p:cNvSpPr>
          <p:nvPr>
            <p:ph type="sldNum" sz="quarter" idx="12"/>
          </p:nvPr>
        </p:nvSpPr>
        <p:spPr/>
        <p:txBody>
          <a:bodyPr/>
          <a:lstStyle/>
          <a:p>
            <a:fld id="{0D4B4ABB-D30E-47CC-A37A-FF0EC68A2299}" type="slidenum">
              <a:rPr lang="en-CA" smtClean="0"/>
              <a:t>‹#›</a:t>
            </a:fld>
            <a:endParaRPr lang="en-CA"/>
          </a:p>
        </p:txBody>
      </p:sp>
    </p:spTree>
    <p:extLst>
      <p:ext uri="{BB962C8B-B14F-4D97-AF65-F5344CB8AC3E}">
        <p14:creationId xmlns:p14="http://schemas.microsoft.com/office/powerpoint/2010/main" val="1598259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D6CBBF-F2DB-4DC9-84AE-DCDB4C3243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7397ADA-36F0-4130-9F24-B22F5C07E1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FE09879-3AA2-4306-B377-D46F03808819}"/>
              </a:ext>
            </a:extLst>
          </p:cNvPr>
          <p:cNvSpPr>
            <a:spLocks noGrp="1"/>
          </p:cNvSpPr>
          <p:nvPr>
            <p:ph type="dt" sz="half" idx="10"/>
          </p:nvPr>
        </p:nvSpPr>
        <p:spPr/>
        <p:txBody>
          <a:bodyPr/>
          <a:lstStyle/>
          <a:p>
            <a:fld id="{CEF28E55-5EFC-44AC-9BDF-43010AE6DC40}" type="datetimeFigureOut">
              <a:rPr lang="en-CA" smtClean="0"/>
              <a:t>2023-01-31</a:t>
            </a:fld>
            <a:endParaRPr lang="en-CA"/>
          </a:p>
        </p:txBody>
      </p:sp>
      <p:sp>
        <p:nvSpPr>
          <p:cNvPr id="5" name="Footer Placeholder 4">
            <a:extLst>
              <a:ext uri="{FF2B5EF4-FFF2-40B4-BE49-F238E27FC236}">
                <a16:creationId xmlns:a16="http://schemas.microsoft.com/office/drawing/2014/main" id="{A942EAED-3240-4BC5-B02A-6B18A9A237A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DF8DDCC-06CE-455A-9D98-33C3207DBAF1}"/>
              </a:ext>
            </a:extLst>
          </p:cNvPr>
          <p:cNvSpPr>
            <a:spLocks noGrp="1"/>
          </p:cNvSpPr>
          <p:nvPr>
            <p:ph type="sldNum" sz="quarter" idx="12"/>
          </p:nvPr>
        </p:nvSpPr>
        <p:spPr/>
        <p:txBody>
          <a:bodyPr/>
          <a:lstStyle/>
          <a:p>
            <a:fld id="{0D4B4ABB-D30E-47CC-A37A-FF0EC68A2299}" type="slidenum">
              <a:rPr lang="en-CA" smtClean="0"/>
              <a:t>‹#›</a:t>
            </a:fld>
            <a:endParaRPr lang="en-CA"/>
          </a:p>
        </p:txBody>
      </p:sp>
    </p:spTree>
    <p:extLst>
      <p:ext uri="{BB962C8B-B14F-4D97-AF65-F5344CB8AC3E}">
        <p14:creationId xmlns:p14="http://schemas.microsoft.com/office/powerpoint/2010/main" val="4272902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8CC918-E36B-4907-B270-C6CBF6083B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B527E7D-A494-4A7F-AB75-D5099B54FF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FEC2A5F-AF21-4868-A530-2730A2A1EF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F28E55-5EFC-44AC-9BDF-43010AE6DC40}" type="datetimeFigureOut">
              <a:rPr lang="en-CA" smtClean="0"/>
              <a:t>2023-01-31</a:t>
            </a:fld>
            <a:endParaRPr lang="en-CA"/>
          </a:p>
        </p:txBody>
      </p:sp>
      <p:sp>
        <p:nvSpPr>
          <p:cNvPr id="5" name="Footer Placeholder 4">
            <a:extLst>
              <a:ext uri="{FF2B5EF4-FFF2-40B4-BE49-F238E27FC236}">
                <a16:creationId xmlns:a16="http://schemas.microsoft.com/office/drawing/2014/main" id="{48B3096A-BFBC-4664-A101-E1665A8DC1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4AC7416C-A8C4-45F5-9053-E933E01079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4B4ABB-D30E-47CC-A37A-FF0EC68A2299}" type="slidenum">
              <a:rPr lang="en-CA" smtClean="0"/>
              <a:t>‹#›</a:t>
            </a:fld>
            <a:endParaRPr lang="en-CA"/>
          </a:p>
        </p:txBody>
      </p:sp>
    </p:spTree>
    <p:extLst>
      <p:ext uri="{BB962C8B-B14F-4D97-AF65-F5344CB8AC3E}">
        <p14:creationId xmlns:p14="http://schemas.microsoft.com/office/powerpoint/2010/main" val="5976931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4B6F2-1739-48AE-B5C2-715CBCE88321}"/>
              </a:ext>
            </a:extLst>
          </p:cNvPr>
          <p:cNvSpPr>
            <a:spLocks noGrp="1"/>
          </p:cNvSpPr>
          <p:nvPr>
            <p:ph type="ctrTitle"/>
          </p:nvPr>
        </p:nvSpPr>
        <p:spPr/>
        <p:txBody>
          <a:bodyPr/>
          <a:lstStyle/>
          <a:p>
            <a:r>
              <a:rPr lang="en-CA" dirty="0"/>
              <a:t>Thermodynamics and Energy Systems Labs</a:t>
            </a:r>
          </a:p>
        </p:txBody>
      </p:sp>
      <p:sp>
        <p:nvSpPr>
          <p:cNvPr id="3" name="Subtitle 2">
            <a:extLst>
              <a:ext uri="{FF2B5EF4-FFF2-40B4-BE49-F238E27FC236}">
                <a16:creationId xmlns:a16="http://schemas.microsoft.com/office/drawing/2014/main" id="{679A8F46-4ADE-49D2-A4E3-417EFBD14F9D}"/>
              </a:ext>
            </a:extLst>
          </p:cNvPr>
          <p:cNvSpPr>
            <a:spLocks noGrp="1"/>
          </p:cNvSpPr>
          <p:nvPr>
            <p:ph type="subTitle" idx="1"/>
          </p:nvPr>
        </p:nvSpPr>
        <p:spPr/>
        <p:txBody>
          <a:bodyPr/>
          <a:lstStyle/>
          <a:p>
            <a:r>
              <a:rPr lang="en-CA" dirty="0"/>
              <a:t>Health and Safety Instructions</a:t>
            </a:r>
          </a:p>
          <a:p>
            <a:r>
              <a:rPr lang="en-CA" dirty="0"/>
              <a:t>(B135B and A305)</a:t>
            </a:r>
          </a:p>
        </p:txBody>
      </p:sp>
    </p:spTree>
    <p:extLst>
      <p:ext uri="{BB962C8B-B14F-4D97-AF65-F5344CB8AC3E}">
        <p14:creationId xmlns:p14="http://schemas.microsoft.com/office/powerpoint/2010/main" val="1290776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A4D22-DFA1-4412-B08F-D6E9E2F1BC6F}"/>
              </a:ext>
            </a:extLst>
          </p:cNvPr>
          <p:cNvSpPr>
            <a:spLocks noGrp="1"/>
          </p:cNvSpPr>
          <p:nvPr>
            <p:ph type="title"/>
          </p:nvPr>
        </p:nvSpPr>
        <p:spPr/>
        <p:txBody>
          <a:bodyPr/>
          <a:lstStyle/>
          <a:p>
            <a:r>
              <a:rPr lang="en-CA" dirty="0"/>
              <a:t>Outline</a:t>
            </a:r>
          </a:p>
        </p:txBody>
      </p:sp>
      <p:sp>
        <p:nvSpPr>
          <p:cNvPr id="3" name="Content Placeholder 2">
            <a:extLst>
              <a:ext uri="{FF2B5EF4-FFF2-40B4-BE49-F238E27FC236}">
                <a16:creationId xmlns:a16="http://schemas.microsoft.com/office/drawing/2014/main" id="{6675E556-194F-43C3-BE61-CA803E4DA27F}"/>
              </a:ext>
            </a:extLst>
          </p:cNvPr>
          <p:cNvSpPr>
            <a:spLocks noGrp="1"/>
          </p:cNvSpPr>
          <p:nvPr>
            <p:ph idx="1"/>
          </p:nvPr>
        </p:nvSpPr>
        <p:spPr>
          <a:xfrm>
            <a:off x="355600" y="1597025"/>
            <a:ext cx="11226800" cy="4351338"/>
          </a:xfrm>
        </p:spPr>
        <p:txBody>
          <a:bodyPr/>
          <a:lstStyle/>
          <a:p>
            <a:r>
              <a:rPr lang="en-CA" dirty="0"/>
              <a:t>General Health and Safety</a:t>
            </a:r>
          </a:p>
          <a:p>
            <a:r>
              <a:rPr lang="en-CA" dirty="0"/>
              <a:t>Lab and Equipment Specific Safety </a:t>
            </a:r>
          </a:p>
          <a:p>
            <a:pPr lvl="1"/>
            <a:r>
              <a:rPr lang="en-CA" dirty="0"/>
              <a:t>Steam Turbine Lab (Steam cycle)</a:t>
            </a:r>
          </a:p>
          <a:p>
            <a:pPr lvl="1"/>
            <a:r>
              <a:rPr lang="en-CA" dirty="0"/>
              <a:t>Diesel and Petrol Engine Labs (Gas power cycle)</a:t>
            </a:r>
          </a:p>
          <a:p>
            <a:pPr lvl="1"/>
            <a:r>
              <a:rPr lang="en-CA" dirty="0"/>
              <a:t>Geothermal Refrigeration and Heat Pump (Vapor compression cycle)</a:t>
            </a:r>
          </a:p>
          <a:p>
            <a:pPr lvl="1"/>
            <a:r>
              <a:rPr lang="en-CA" dirty="0"/>
              <a:t>Air Engine Thermodynamic Cycle (Gas power cycle)</a:t>
            </a:r>
          </a:p>
          <a:p>
            <a:pPr lvl="1"/>
            <a:r>
              <a:rPr lang="en-CA" dirty="0"/>
              <a:t>Heat Exchanger Equipment (Conduction, Convection/Radiation, Shell and Tube Heat Exchange)</a:t>
            </a:r>
          </a:p>
          <a:p>
            <a:pPr lvl="1"/>
            <a:r>
              <a:rPr lang="en-CA" dirty="0"/>
              <a:t>Bomb Calorimeter (Heating Value of Fuels)</a:t>
            </a:r>
          </a:p>
        </p:txBody>
      </p:sp>
    </p:spTree>
    <p:extLst>
      <p:ext uri="{BB962C8B-B14F-4D97-AF65-F5344CB8AC3E}">
        <p14:creationId xmlns:p14="http://schemas.microsoft.com/office/powerpoint/2010/main" val="4242959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F3F70-0597-4C6D-BE0E-344AC83D21E3}"/>
              </a:ext>
            </a:extLst>
          </p:cNvPr>
          <p:cNvSpPr>
            <a:spLocks noGrp="1"/>
          </p:cNvSpPr>
          <p:nvPr>
            <p:ph type="title"/>
          </p:nvPr>
        </p:nvSpPr>
        <p:spPr>
          <a:xfrm>
            <a:off x="2769741" y="2625439"/>
            <a:ext cx="7093450" cy="1325563"/>
          </a:xfrm>
        </p:spPr>
        <p:txBody>
          <a:bodyPr/>
          <a:lstStyle/>
          <a:p>
            <a:r>
              <a:rPr lang="en-CA" dirty="0"/>
              <a:t>General Health and Safety</a:t>
            </a:r>
          </a:p>
        </p:txBody>
      </p:sp>
    </p:spTree>
    <p:extLst>
      <p:ext uri="{BB962C8B-B14F-4D97-AF65-F5344CB8AC3E}">
        <p14:creationId xmlns:p14="http://schemas.microsoft.com/office/powerpoint/2010/main" val="375581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B9A0B-1447-4996-B6DB-4A96AF631427}"/>
              </a:ext>
            </a:extLst>
          </p:cNvPr>
          <p:cNvSpPr>
            <a:spLocks noGrp="1"/>
          </p:cNvSpPr>
          <p:nvPr>
            <p:ph type="title"/>
          </p:nvPr>
        </p:nvSpPr>
        <p:spPr/>
        <p:txBody>
          <a:bodyPr/>
          <a:lstStyle/>
          <a:p>
            <a:r>
              <a:rPr lang="en-CA" dirty="0"/>
              <a:t>Work Attitude</a:t>
            </a:r>
          </a:p>
        </p:txBody>
      </p:sp>
      <p:sp>
        <p:nvSpPr>
          <p:cNvPr id="3" name="Content Placeholder 2">
            <a:extLst>
              <a:ext uri="{FF2B5EF4-FFF2-40B4-BE49-F238E27FC236}">
                <a16:creationId xmlns:a16="http://schemas.microsoft.com/office/drawing/2014/main" id="{50AF5481-DA24-4CF8-A4ED-7E799E573911}"/>
              </a:ext>
            </a:extLst>
          </p:cNvPr>
          <p:cNvSpPr>
            <a:spLocks noGrp="1"/>
          </p:cNvSpPr>
          <p:nvPr>
            <p:ph idx="1"/>
          </p:nvPr>
        </p:nvSpPr>
        <p:spPr>
          <a:xfrm>
            <a:off x="838200" y="1406525"/>
            <a:ext cx="10515600" cy="5232400"/>
          </a:xfrm>
        </p:spPr>
        <p:txBody>
          <a:bodyPr>
            <a:normAutofit/>
          </a:bodyPr>
          <a:lstStyle/>
          <a:p>
            <a:r>
              <a:rPr lang="en-US" dirty="0"/>
              <a:t>Always </a:t>
            </a:r>
            <a:r>
              <a:rPr lang="en-US" b="1" dirty="0"/>
              <a:t>think and act safely</a:t>
            </a:r>
            <a:r>
              <a:rPr lang="en-US" dirty="0"/>
              <a:t>: - Identify precautions for – yourself – others – equipment &amp; machines</a:t>
            </a:r>
          </a:p>
          <a:p>
            <a:r>
              <a:rPr lang="en-US" dirty="0"/>
              <a:t>Review </a:t>
            </a:r>
            <a:r>
              <a:rPr lang="en-US" b="1" dirty="0"/>
              <a:t>safety instructions </a:t>
            </a:r>
            <a:r>
              <a:rPr lang="en-US" dirty="0"/>
              <a:t>included in equipment manuals and/or handouts before doing any lab activity</a:t>
            </a:r>
          </a:p>
          <a:p>
            <a:r>
              <a:rPr lang="en-US" dirty="0"/>
              <a:t>Know </a:t>
            </a:r>
            <a:r>
              <a:rPr lang="en-US" b="1" dirty="0"/>
              <a:t>first aid</a:t>
            </a:r>
          </a:p>
          <a:p>
            <a:r>
              <a:rPr lang="en-US" dirty="0"/>
              <a:t>Try to </a:t>
            </a:r>
            <a:r>
              <a:rPr lang="en-US" b="1" dirty="0"/>
              <a:t>minimize strain and stress </a:t>
            </a:r>
          </a:p>
          <a:p>
            <a:r>
              <a:rPr lang="en-US" b="1" dirty="0"/>
              <a:t>Concentrate</a:t>
            </a:r>
            <a:r>
              <a:rPr lang="en-US" dirty="0"/>
              <a:t>, don’t be distracted (</a:t>
            </a:r>
            <a:r>
              <a:rPr lang="en-US" i="1" dirty="0"/>
              <a:t>stop if necessary</a:t>
            </a:r>
            <a:r>
              <a:rPr lang="en-US" dirty="0"/>
              <a:t>) </a:t>
            </a:r>
          </a:p>
          <a:p>
            <a:r>
              <a:rPr lang="en-US" dirty="0"/>
              <a:t>Don’t become complacent </a:t>
            </a:r>
          </a:p>
          <a:p>
            <a:r>
              <a:rPr lang="en-US" b="1" dirty="0"/>
              <a:t>Treat and report injuries </a:t>
            </a:r>
            <a:r>
              <a:rPr lang="en-US" dirty="0"/>
              <a:t>(fill out forms / document). Even minor injuries can develop into more serious ones. </a:t>
            </a:r>
          </a:p>
          <a:p>
            <a:r>
              <a:rPr lang="en-US" dirty="0"/>
              <a:t>Use as natural a position as possible when working</a:t>
            </a:r>
            <a:endParaRPr lang="en-CA" dirty="0"/>
          </a:p>
        </p:txBody>
      </p:sp>
    </p:spTree>
    <p:extLst>
      <p:ext uri="{BB962C8B-B14F-4D97-AF65-F5344CB8AC3E}">
        <p14:creationId xmlns:p14="http://schemas.microsoft.com/office/powerpoint/2010/main" val="2964104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F6C08-D4A0-49C6-87AA-C979314217D7}"/>
              </a:ext>
            </a:extLst>
          </p:cNvPr>
          <p:cNvSpPr>
            <a:spLocks noGrp="1"/>
          </p:cNvSpPr>
          <p:nvPr>
            <p:ph type="title"/>
          </p:nvPr>
        </p:nvSpPr>
        <p:spPr/>
        <p:txBody>
          <a:bodyPr/>
          <a:lstStyle/>
          <a:p>
            <a:r>
              <a:rPr lang="en-CA" dirty="0"/>
              <a:t>Lab Clothing / P.P.E.</a:t>
            </a:r>
          </a:p>
        </p:txBody>
      </p:sp>
      <p:sp>
        <p:nvSpPr>
          <p:cNvPr id="3" name="Content Placeholder 2">
            <a:extLst>
              <a:ext uri="{FF2B5EF4-FFF2-40B4-BE49-F238E27FC236}">
                <a16:creationId xmlns:a16="http://schemas.microsoft.com/office/drawing/2014/main" id="{C79AB383-2A3C-4F9A-8764-137947DC8BCA}"/>
              </a:ext>
            </a:extLst>
          </p:cNvPr>
          <p:cNvSpPr>
            <a:spLocks noGrp="1"/>
          </p:cNvSpPr>
          <p:nvPr>
            <p:ph idx="1"/>
          </p:nvPr>
        </p:nvSpPr>
        <p:spPr>
          <a:xfrm>
            <a:off x="838200" y="1515322"/>
            <a:ext cx="10515600" cy="5342678"/>
          </a:xfrm>
        </p:spPr>
        <p:txBody>
          <a:bodyPr vert="horz" lIns="91440" tIns="45720" rIns="91440" bIns="45720" rtlCol="0">
            <a:normAutofit fontScale="92500" lnSpcReduction="10000"/>
          </a:bodyPr>
          <a:lstStyle/>
          <a:p>
            <a:r>
              <a:rPr lang="en-US" b="1" dirty="0"/>
              <a:t>Safety glasses </a:t>
            </a:r>
            <a:r>
              <a:rPr lang="en-US" dirty="0"/>
              <a:t>with side shields protect from chips or broken tooling</a:t>
            </a:r>
          </a:p>
          <a:p>
            <a:r>
              <a:rPr lang="en-US" b="1" dirty="0"/>
              <a:t>No open toed shoes</a:t>
            </a:r>
            <a:r>
              <a:rPr lang="en-US" dirty="0"/>
              <a:t>, thick soles, heavy uppers, should be worn to protect from (falling objects, razor sharp cuttings)</a:t>
            </a:r>
          </a:p>
          <a:p>
            <a:r>
              <a:rPr lang="en-US" dirty="0"/>
              <a:t>Goggles or face shields are required for certain operations </a:t>
            </a:r>
          </a:p>
          <a:p>
            <a:r>
              <a:rPr lang="en-US" dirty="0"/>
              <a:t>“NO” Loose clothing, if wearing a long sleeved shirt, button the cuffs or roll up the sleeves</a:t>
            </a:r>
          </a:p>
          <a:p>
            <a:r>
              <a:rPr lang="en-US" dirty="0"/>
              <a:t>Ties shouldn’t be worn in the shop, they can be pulled into machinery</a:t>
            </a:r>
          </a:p>
          <a:p>
            <a:r>
              <a:rPr lang="en-US" dirty="0"/>
              <a:t>Aprons should be tied in the back</a:t>
            </a:r>
          </a:p>
          <a:p>
            <a:r>
              <a:rPr lang="en-US" dirty="0"/>
              <a:t>Generally gloves should “NOT” be worn as they can get caught and pulled into moving machinery</a:t>
            </a:r>
          </a:p>
          <a:p>
            <a:r>
              <a:rPr lang="en-US" b="1" dirty="0"/>
              <a:t>Gloves </a:t>
            </a:r>
            <a:r>
              <a:rPr lang="en-US" dirty="0"/>
              <a:t>may be worn when handling </a:t>
            </a:r>
            <a:r>
              <a:rPr lang="en-US" b="1" dirty="0"/>
              <a:t>sharp or hot material</a:t>
            </a:r>
          </a:p>
          <a:p>
            <a:r>
              <a:rPr lang="en-US" dirty="0"/>
              <a:t>Long hair should be confined with a hair net, tied back or under a cap (drill presses are notorious for catching long hair and pulling in workers)</a:t>
            </a:r>
            <a:endParaRPr lang="en-CA" dirty="0"/>
          </a:p>
        </p:txBody>
      </p:sp>
    </p:spTree>
    <p:extLst>
      <p:ext uri="{BB962C8B-B14F-4D97-AF65-F5344CB8AC3E}">
        <p14:creationId xmlns:p14="http://schemas.microsoft.com/office/powerpoint/2010/main" val="4289074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173EB-010B-4590-A947-5D0626BB5C34}"/>
              </a:ext>
            </a:extLst>
          </p:cNvPr>
          <p:cNvSpPr>
            <a:spLocks noGrp="1"/>
          </p:cNvSpPr>
          <p:nvPr>
            <p:ph type="title"/>
          </p:nvPr>
        </p:nvSpPr>
        <p:spPr/>
        <p:txBody>
          <a:bodyPr/>
          <a:lstStyle/>
          <a:p>
            <a:r>
              <a:rPr lang="en-CA" dirty="0"/>
              <a:t>Eye Wash Stations</a:t>
            </a:r>
          </a:p>
        </p:txBody>
      </p:sp>
      <p:sp>
        <p:nvSpPr>
          <p:cNvPr id="3" name="Content Placeholder 2">
            <a:extLst>
              <a:ext uri="{FF2B5EF4-FFF2-40B4-BE49-F238E27FC236}">
                <a16:creationId xmlns:a16="http://schemas.microsoft.com/office/drawing/2014/main" id="{2F44B932-BF73-4D10-A800-6D9D9489DBF2}"/>
              </a:ext>
            </a:extLst>
          </p:cNvPr>
          <p:cNvSpPr>
            <a:spLocks noGrp="1"/>
          </p:cNvSpPr>
          <p:nvPr>
            <p:ph idx="1"/>
          </p:nvPr>
        </p:nvSpPr>
        <p:spPr>
          <a:xfrm>
            <a:off x="851180" y="1455443"/>
            <a:ext cx="10515600" cy="4351338"/>
          </a:xfrm>
        </p:spPr>
        <p:txBody>
          <a:bodyPr>
            <a:normAutofit/>
          </a:bodyPr>
          <a:lstStyle/>
          <a:p>
            <a:r>
              <a:rPr lang="en-CA" sz="2400" dirty="0"/>
              <a:t>All our labs have Eye Wash Stations</a:t>
            </a:r>
          </a:p>
          <a:p>
            <a:r>
              <a:rPr lang="en-US" sz="2400" dirty="0"/>
              <a:t>In the event of chemicals being splashed into the eyes:</a:t>
            </a:r>
          </a:p>
          <a:p>
            <a:pPr lvl="1"/>
            <a:r>
              <a:rPr lang="en-US" dirty="0"/>
              <a:t>flood the eyes with water (eye wash station)</a:t>
            </a:r>
          </a:p>
          <a:p>
            <a:pPr lvl="1"/>
            <a:r>
              <a:rPr lang="en-US" sz="2400" dirty="0"/>
              <a:t>forcibly hold eyes open if necessary</a:t>
            </a:r>
          </a:p>
          <a:p>
            <a:pPr lvl="1"/>
            <a:r>
              <a:rPr lang="en-US" sz="2400" dirty="0"/>
              <a:t>wash/flood for a minimum of fifteen minutes</a:t>
            </a:r>
          </a:p>
          <a:p>
            <a:endParaRPr lang="en-CA" sz="2400" dirty="0"/>
          </a:p>
        </p:txBody>
      </p:sp>
      <p:pic>
        <p:nvPicPr>
          <p:cNvPr id="5" name="Picture 4">
            <a:extLst>
              <a:ext uri="{FF2B5EF4-FFF2-40B4-BE49-F238E27FC236}">
                <a16:creationId xmlns:a16="http://schemas.microsoft.com/office/drawing/2014/main" id="{6785FE6B-4B53-414C-9BC4-B12560C50E7F}"/>
              </a:ext>
            </a:extLst>
          </p:cNvPr>
          <p:cNvPicPr>
            <a:picLocks noChangeAspect="1"/>
          </p:cNvPicPr>
          <p:nvPr/>
        </p:nvPicPr>
        <p:blipFill>
          <a:blip r:embed="rId2"/>
          <a:stretch>
            <a:fillRect/>
          </a:stretch>
        </p:blipFill>
        <p:spPr>
          <a:xfrm>
            <a:off x="2111547" y="3753696"/>
            <a:ext cx="6502102" cy="2436792"/>
          </a:xfrm>
          <a:prstGeom prst="rect">
            <a:avLst/>
          </a:prstGeom>
        </p:spPr>
      </p:pic>
    </p:spTree>
    <p:extLst>
      <p:ext uri="{BB962C8B-B14F-4D97-AF65-F5344CB8AC3E}">
        <p14:creationId xmlns:p14="http://schemas.microsoft.com/office/powerpoint/2010/main" val="408984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4F2AA-06E3-4678-830A-B96F3D096FDC}"/>
              </a:ext>
            </a:extLst>
          </p:cNvPr>
          <p:cNvSpPr>
            <a:spLocks noGrp="1"/>
          </p:cNvSpPr>
          <p:nvPr>
            <p:ph type="title"/>
          </p:nvPr>
        </p:nvSpPr>
        <p:spPr/>
        <p:txBody>
          <a:bodyPr/>
          <a:lstStyle/>
          <a:p>
            <a:r>
              <a:rPr lang="en-CA" dirty="0"/>
              <a:t>Hearing Protection</a:t>
            </a:r>
          </a:p>
        </p:txBody>
      </p:sp>
      <p:sp>
        <p:nvSpPr>
          <p:cNvPr id="3" name="Content Placeholder 2">
            <a:extLst>
              <a:ext uri="{FF2B5EF4-FFF2-40B4-BE49-F238E27FC236}">
                <a16:creationId xmlns:a16="http://schemas.microsoft.com/office/drawing/2014/main" id="{989F96FC-DECC-40FF-A96F-9E8691D4C555}"/>
              </a:ext>
            </a:extLst>
          </p:cNvPr>
          <p:cNvSpPr>
            <a:spLocks noGrp="1"/>
          </p:cNvSpPr>
          <p:nvPr>
            <p:ph idx="1"/>
          </p:nvPr>
        </p:nvSpPr>
        <p:spPr/>
        <p:txBody>
          <a:bodyPr/>
          <a:lstStyle/>
          <a:p>
            <a:r>
              <a:rPr lang="en-CA" dirty="0"/>
              <a:t>Some of our labs (e.g., small engine test bed) produce noise levels that require you to ensure hearing protection. </a:t>
            </a:r>
          </a:p>
          <a:p>
            <a:r>
              <a:rPr lang="en-US" dirty="0"/>
              <a:t>Hearing protection (plugs or muffs) should be worn as required</a:t>
            </a:r>
            <a:endParaRPr lang="en-CA" dirty="0"/>
          </a:p>
        </p:txBody>
      </p:sp>
      <p:pic>
        <p:nvPicPr>
          <p:cNvPr id="5" name="Picture 4">
            <a:extLst>
              <a:ext uri="{FF2B5EF4-FFF2-40B4-BE49-F238E27FC236}">
                <a16:creationId xmlns:a16="http://schemas.microsoft.com/office/drawing/2014/main" id="{C5EBDC2C-7222-414E-8282-10191302C785}"/>
              </a:ext>
            </a:extLst>
          </p:cNvPr>
          <p:cNvPicPr>
            <a:picLocks noChangeAspect="1"/>
          </p:cNvPicPr>
          <p:nvPr/>
        </p:nvPicPr>
        <p:blipFill>
          <a:blip r:embed="rId2"/>
          <a:stretch>
            <a:fillRect/>
          </a:stretch>
        </p:blipFill>
        <p:spPr>
          <a:xfrm>
            <a:off x="1747155" y="3346815"/>
            <a:ext cx="7927197" cy="3146060"/>
          </a:xfrm>
          <a:prstGeom prst="rect">
            <a:avLst/>
          </a:prstGeom>
        </p:spPr>
      </p:pic>
    </p:spTree>
    <p:extLst>
      <p:ext uri="{BB962C8B-B14F-4D97-AF65-F5344CB8AC3E}">
        <p14:creationId xmlns:p14="http://schemas.microsoft.com/office/powerpoint/2010/main" val="1919899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7F89B-7DA7-4F57-8C57-CB8E94DDF718}"/>
              </a:ext>
            </a:extLst>
          </p:cNvPr>
          <p:cNvSpPr>
            <a:spLocks noGrp="1"/>
          </p:cNvSpPr>
          <p:nvPr>
            <p:ph type="title"/>
          </p:nvPr>
        </p:nvSpPr>
        <p:spPr/>
        <p:txBody>
          <a:bodyPr/>
          <a:lstStyle/>
          <a:p>
            <a:r>
              <a:rPr lang="en-CA" dirty="0"/>
              <a:t>Machine Guards</a:t>
            </a:r>
          </a:p>
        </p:txBody>
      </p:sp>
      <p:sp>
        <p:nvSpPr>
          <p:cNvPr id="3" name="Content Placeholder 2">
            <a:extLst>
              <a:ext uri="{FF2B5EF4-FFF2-40B4-BE49-F238E27FC236}">
                <a16:creationId xmlns:a16="http://schemas.microsoft.com/office/drawing/2014/main" id="{4CB59137-2E12-424D-8C71-D725969B2926}"/>
              </a:ext>
            </a:extLst>
          </p:cNvPr>
          <p:cNvSpPr>
            <a:spLocks noGrp="1"/>
          </p:cNvSpPr>
          <p:nvPr>
            <p:ph idx="1"/>
          </p:nvPr>
        </p:nvSpPr>
        <p:spPr>
          <a:xfrm>
            <a:off x="838200" y="1825625"/>
            <a:ext cx="4648200" cy="4351338"/>
          </a:xfrm>
        </p:spPr>
        <p:txBody>
          <a:bodyPr>
            <a:normAutofit lnSpcReduction="10000"/>
          </a:bodyPr>
          <a:lstStyle/>
          <a:p>
            <a:r>
              <a:rPr lang="en-US" dirty="0"/>
              <a:t>Guards are designed to cover moving parts and must be in place. Some of the equipment used in our labs (primarily power transmission equipment and components) have guards.</a:t>
            </a:r>
          </a:p>
          <a:p>
            <a:pPr lvl="1"/>
            <a:r>
              <a:rPr lang="en-US" dirty="0"/>
              <a:t>Note that our small engine test bed, includes guards. </a:t>
            </a:r>
          </a:p>
          <a:p>
            <a:r>
              <a:rPr lang="en-US" dirty="0"/>
              <a:t>Under no circumstances remove these guards.</a:t>
            </a:r>
            <a:endParaRPr lang="en-CA" dirty="0"/>
          </a:p>
        </p:txBody>
      </p:sp>
      <p:pic>
        <p:nvPicPr>
          <p:cNvPr id="5" name="Picture 4">
            <a:extLst>
              <a:ext uri="{FF2B5EF4-FFF2-40B4-BE49-F238E27FC236}">
                <a16:creationId xmlns:a16="http://schemas.microsoft.com/office/drawing/2014/main" id="{0815D95F-81A0-4D80-ADB1-90FA6E6119D2}"/>
              </a:ext>
            </a:extLst>
          </p:cNvPr>
          <p:cNvPicPr>
            <a:picLocks noChangeAspect="1"/>
          </p:cNvPicPr>
          <p:nvPr/>
        </p:nvPicPr>
        <p:blipFill>
          <a:blip r:embed="rId2"/>
          <a:stretch>
            <a:fillRect/>
          </a:stretch>
        </p:blipFill>
        <p:spPr>
          <a:xfrm>
            <a:off x="5567030" y="1825625"/>
            <a:ext cx="6320170" cy="3721878"/>
          </a:xfrm>
          <a:prstGeom prst="rect">
            <a:avLst/>
          </a:prstGeom>
        </p:spPr>
      </p:pic>
    </p:spTree>
    <p:extLst>
      <p:ext uri="{BB962C8B-B14F-4D97-AF65-F5344CB8AC3E}">
        <p14:creationId xmlns:p14="http://schemas.microsoft.com/office/powerpoint/2010/main" val="1165888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24005-3AC9-4324-A377-058E4853484D}"/>
              </a:ext>
            </a:extLst>
          </p:cNvPr>
          <p:cNvSpPr>
            <a:spLocks noGrp="1"/>
          </p:cNvSpPr>
          <p:nvPr>
            <p:ph type="title"/>
          </p:nvPr>
        </p:nvSpPr>
        <p:spPr/>
        <p:txBody>
          <a:bodyPr/>
          <a:lstStyle/>
          <a:p>
            <a:r>
              <a:rPr lang="en-CA"/>
              <a:t>Hot Plate Safety</a:t>
            </a:r>
            <a:endParaRPr lang="en-CA" dirty="0"/>
          </a:p>
        </p:txBody>
      </p:sp>
      <p:sp>
        <p:nvSpPr>
          <p:cNvPr id="3" name="Content Placeholder 2">
            <a:extLst>
              <a:ext uri="{FF2B5EF4-FFF2-40B4-BE49-F238E27FC236}">
                <a16:creationId xmlns:a16="http://schemas.microsoft.com/office/drawing/2014/main" id="{FECEDAFB-6A8D-4596-8B60-57CA7BE81792}"/>
              </a:ext>
            </a:extLst>
          </p:cNvPr>
          <p:cNvSpPr>
            <a:spLocks noGrp="1"/>
          </p:cNvSpPr>
          <p:nvPr>
            <p:ph idx="1"/>
          </p:nvPr>
        </p:nvSpPr>
        <p:spPr>
          <a:xfrm>
            <a:off x="838200" y="1549178"/>
            <a:ext cx="10515600" cy="4351338"/>
          </a:xfrm>
        </p:spPr>
        <p:txBody>
          <a:bodyPr/>
          <a:lstStyle/>
          <a:p>
            <a:r>
              <a:rPr lang="en-CA" dirty="0"/>
              <a:t>A number of labs in physics and energy related areas use hot plates to heat water for various experiments. Carefully follow labs instructions and hand out for each lab to avoid injuries</a:t>
            </a:r>
          </a:p>
        </p:txBody>
      </p:sp>
      <p:pic>
        <p:nvPicPr>
          <p:cNvPr id="7" name="Picture 6">
            <a:extLst>
              <a:ext uri="{FF2B5EF4-FFF2-40B4-BE49-F238E27FC236}">
                <a16:creationId xmlns:a16="http://schemas.microsoft.com/office/drawing/2014/main" id="{3D0329E0-59C1-4C49-84DE-56DB7C380DD3}"/>
              </a:ext>
            </a:extLst>
          </p:cNvPr>
          <p:cNvPicPr>
            <a:picLocks noChangeAspect="1"/>
          </p:cNvPicPr>
          <p:nvPr/>
        </p:nvPicPr>
        <p:blipFill>
          <a:blip r:embed="rId2"/>
          <a:stretch>
            <a:fillRect/>
          </a:stretch>
        </p:blipFill>
        <p:spPr>
          <a:xfrm>
            <a:off x="1150088" y="2919941"/>
            <a:ext cx="10203712" cy="3572934"/>
          </a:xfrm>
          <a:prstGeom prst="rect">
            <a:avLst/>
          </a:prstGeom>
        </p:spPr>
      </p:pic>
    </p:spTree>
    <p:extLst>
      <p:ext uri="{BB962C8B-B14F-4D97-AF65-F5344CB8AC3E}">
        <p14:creationId xmlns:p14="http://schemas.microsoft.com/office/powerpoint/2010/main" val="2805546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2E1EB-89AC-4F80-BACF-55E878856C93}"/>
              </a:ext>
            </a:extLst>
          </p:cNvPr>
          <p:cNvSpPr>
            <a:spLocks noGrp="1"/>
          </p:cNvSpPr>
          <p:nvPr>
            <p:ph type="title"/>
          </p:nvPr>
        </p:nvSpPr>
        <p:spPr/>
        <p:txBody>
          <a:bodyPr/>
          <a:lstStyle/>
          <a:p>
            <a:r>
              <a:rPr lang="en-CA" dirty="0"/>
              <a:t>Electrical General Safety</a:t>
            </a:r>
          </a:p>
        </p:txBody>
      </p:sp>
      <p:sp>
        <p:nvSpPr>
          <p:cNvPr id="3" name="Content Placeholder 2">
            <a:extLst>
              <a:ext uri="{FF2B5EF4-FFF2-40B4-BE49-F238E27FC236}">
                <a16:creationId xmlns:a16="http://schemas.microsoft.com/office/drawing/2014/main" id="{1AD986CF-CF97-4E43-967D-84957070E693}"/>
              </a:ext>
            </a:extLst>
          </p:cNvPr>
          <p:cNvSpPr>
            <a:spLocks noGrp="1"/>
          </p:cNvSpPr>
          <p:nvPr>
            <p:ph idx="1"/>
          </p:nvPr>
        </p:nvSpPr>
        <p:spPr>
          <a:xfrm>
            <a:off x="838200" y="1455755"/>
            <a:ext cx="10515600" cy="4351338"/>
          </a:xfrm>
        </p:spPr>
        <p:txBody>
          <a:bodyPr>
            <a:normAutofit/>
          </a:bodyPr>
          <a:lstStyle/>
          <a:p>
            <a:r>
              <a:rPr lang="en-US" sz="2400" dirty="0"/>
              <a:t>Read and follow all equipment operating instructions for proper use. Ask yourself, "</a:t>
            </a:r>
            <a:r>
              <a:rPr lang="en-US" sz="2400" i="1" dirty="0"/>
              <a:t>Do I have the skills, knowledge, tools, and experience to do this work safely?" </a:t>
            </a:r>
            <a:r>
              <a:rPr lang="en-US" sz="2400" i="1" dirty="0">
                <a:sym typeface="Wingdings" panose="05000000000000000000" pitchFamily="2" charset="2"/>
              </a:rPr>
              <a:t> </a:t>
            </a:r>
            <a:r>
              <a:rPr lang="en-US" sz="2400" dirty="0"/>
              <a:t>Avoid activities that require training beyond what’s provided in your lab manual and handouts.</a:t>
            </a:r>
          </a:p>
          <a:p>
            <a:r>
              <a:rPr lang="en-US" sz="2400" dirty="0"/>
              <a:t>Inspect all electrical and extension cords for wear and tear. Pay particular attention near the plug and where the cord connects to the piece of equipment. If you discover a frayed electrical cord, contact your lab instructor or technician for assistance. </a:t>
            </a:r>
          </a:p>
          <a:p>
            <a:r>
              <a:rPr lang="en-US" sz="2400" dirty="0"/>
              <a:t>Keep work areas clean and dry. Cluttered work areas and benches invite accidents and injuries.</a:t>
            </a:r>
          </a:p>
          <a:p>
            <a:endParaRPr lang="en-CA" sz="2400" dirty="0"/>
          </a:p>
        </p:txBody>
      </p:sp>
    </p:spTree>
    <p:extLst>
      <p:ext uri="{BB962C8B-B14F-4D97-AF65-F5344CB8AC3E}">
        <p14:creationId xmlns:p14="http://schemas.microsoft.com/office/powerpoint/2010/main" val="680354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8557B-D08E-411B-9B9B-1E0D692BA30C}"/>
              </a:ext>
            </a:extLst>
          </p:cNvPr>
          <p:cNvSpPr>
            <a:spLocks noGrp="1"/>
          </p:cNvSpPr>
          <p:nvPr>
            <p:ph type="title"/>
          </p:nvPr>
        </p:nvSpPr>
        <p:spPr>
          <a:xfrm>
            <a:off x="838200" y="63281"/>
            <a:ext cx="10515600" cy="1325563"/>
          </a:xfrm>
        </p:spPr>
        <p:txBody>
          <a:bodyPr/>
          <a:lstStyle/>
          <a:p>
            <a:r>
              <a:rPr lang="en-CA" dirty="0"/>
              <a:t>Chemical General Safety</a:t>
            </a:r>
          </a:p>
        </p:txBody>
      </p:sp>
      <p:sp>
        <p:nvSpPr>
          <p:cNvPr id="4" name="Rectangle 1">
            <a:extLst>
              <a:ext uri="{FF2B5EF4-FFF2-40B4-BE49-F238E27FC236}">
                <a16:creationId xmlns:a16="http://schemas.microsoft.com/office/drawing/2014/main" id="{5BFE22B5-8509-40F5-926C-2E49E45CE148}"/>
              </a:ext>
            </a:extLst>
          </p:cNvPr>
          <p:cNvSpPr>
            <a:spLocks noGrp="1" noChangeArrowheads="1"/>
          </p:cNvSpPr>
          <p:nvPr>
            <p:ph idx="1"/>
          </p:nvPr>
        </p:nvSpPr>
        <p:spPr bwMode="auto">
          <a:xfrm>
            <a:off x="303944" y="1029248"/>
            <a:ext cx="11799014"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Know locations of laboratory safety showers, eyewash stations, and fire extinguishers.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Know emergency exit routes.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Avoid skin and eye contact with all chemicals.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Minimize all chemical exposures.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Assume that all chemicals of unknown toxicity are highly toxic.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Avoid distracting or startling persons working in the laboratory.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Use equipment only for its designated purpose.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Combine reagents in their appropriate order, such as adding acid to water.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All laboratory personnel should place emphasis on safety and chemical hygiene at all times.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Never leave containers of chemicals open.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All containers must have appropriate labels. Unlabeled chemicals should never be used.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Do not taste or intentionally sniff chemicals.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Never consume and/or store food or beverages where hazardous chemicals are used or stored.</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Do not use mouth suction for pipetting or starting a siphon.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Wash exposed areas of the skin prior to leaving the laboratory.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No contact lenses should be worn around hazardous chemicals – even when wearing safety glasses.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Determine the potential hazards and appropriate safety precautions before beginning any work. </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Do not pour chemicals down drains. Do NOT utilize the sewer for chemical waste disposal. </a:t>
            </a:r>
          </a:p>
        </p:txBody>
      </p:sp>
    </p:spTree>
    <p:extLst>
      <p:ext uri="{BB962C8B-B14F-4D97-AF65-F5344CB8AC3E}">
        <p14:creationId xmlns:p14="http://schemas.microsoft.com/office/powerpoint/2010/main" val="2405871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0D0F-636B-466B-BCE6-AC0A5EBD1050}"/>
              </a:ext>
            </a:extLst>
          </p:cNvPr>
          <p:cNvSpPr>
            <a:spLocks noGrp="1"/>
          </p:cNvSpPr>
          <p:nvPr>
            <p:ph type="title"/>
          </p:nvPr>
        </p:nvSpPr>
        <p:spPr>
          <a:xfrm>
            <a:off x="838200" y="2276119"/>
            <a:ext cx="10515600" cy="1325563"/>
          </a:xfrm>
        </p:spPr>
        <p:txBody>
          <a:bodyPr/>
          <a:lstStyle/>
          <a:p>
            <a:pPr algn="ctr"/>
            <a:r>
              <a:rPr lang="en-CA" dirty="0"/>
              <a:t>Lab and Equipment Specific Safety Instructions</a:t>
            </a:r>
          </a:p>
        </p:txBody>
      </p:sp>
    </p:spTree>
    <p:extLst>
      <p:ext uri="{BB962C8B-B14F-4D97-AF65-F5344CB8AC3E}">
        <p14:creationId xmlns:p14="http://schemas.microsoft.com/office/powerpoint/2010/main" val="4182833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8AB76-4831-4C56-99EB-B4CC6753BF7F}"/>
              </a:ext>
            </a:extLst>
          </p:cNvPr>
          <p:cNvSpPr>
            <a:spLocks noGrp="1"/>
          </p:cNvSpPr>
          <p:nvPr>
            <p:ph type="title"/>
          </p:nvPr>
        </p:nvSpPr>
        <p:spPr/>
        <p:txBody>
          <a:bodyPr/>
          <a:lstStyle/>
          <a:p>
            <a:r>
              <a:rPr lang="en-CA" dirty="0"/>
              <a:t>Steam Turbine</a:t>
            </a:r>
          </a:p>
        </p:txBody>
      </p:sp>
      <p:sp>
        <p:nvSpPr>
          <p:cNvPr id="3" name="Content Placeholder 2">
            <a:extLst>
              <a:ext uri="{FF2B5EF4-FFF2-40B4-BE49-F238E27FC236}">
                <a16:creationId xmlns:a16="http://schemas.microsoft.com/office/drawing/2014/main" id="{12341706-F103-4745-989D-EF7A3CDCE7BA}"/>
              </a:ext>
            </a:extLst>
          </p:cNvPr>
          <p:cNvSpPr>
            <a:spLocks noGrp="1"/>
          </p:cNvSpPr>
          <p:nvPr>
            <p:ph idx="1"/>
          </p:nvPr>
        </p:nvSpPr>
        <p:spPr>
          <a:xfrm>
            <a:off x="495300" y="1383562"/>
            <a:ext cx="4895469" cy="4351338"/>
          </a:xfrm>
        </p:spPr>
        <p:txBody>
          <a:bodyPr>
            <a:normAutofit lnSpcReduction="10000"/>
          </a:bodyPr>
          <a:lstStyle/>
          <a:p>
            <a:pPr algn="l"/>
            <a:r>
              <a:rPr lang="en-CA" dirty="0"/>
              <a:t>In this lab, </a:t>
            </a:r>
            <a:r>
              <a:rPr lang="en-US" dirty="0"/>
              <a:t>steam is generated by heating water in a multi-pass, flame-through tube type boiler with a super heat dome. This high-pressure steam is expanded through an axial flow turbine that drives an AC/DC generator to produce electricity</a:t>
            </a:r>
          </a:p>
          <a:p>
            <a:pPr algn="l"/>
            <a:r>
              <a:rPr lang="en-US" dirty="0"/>
              <a:t>All steps must be carefully followed based on the lab handout and instructions</a:t>
            </a:r>
            <a:endParaRPr lang="en-CA" dirty="0"/>
          </a:p>
        </p:txBody>
      </p:sp>
      <p:pic>
        <p:nvPicPr>
          <p:cNvPr id="5" name="Picture 4">
            <a:extLst>
              <a:ext uri="{FF2B5EF4-FFF2-40B4-BE49-F238E27FC236}">
                <a16:creationId xmlns:a16="http://schemas.microsoft.com/office/drawing/2014/main" id="{E3C4F033-8BD1-428E-AFCF-C660372DBEB5}"/>
              </a:ext>
            </a:extLst>
          </p:cNvPr>
          <p:cNvPicPr>
            <a:picLocks noChangeAspect="1"/>
          </p:cNvPicPr>
          <p:nvPr/>
        </p:nvPicPr>
        <p:blipFill>
          <a:blip r:embed="rId2"/>
          <a:stretch>
            <a:fillRect/>
          </a:stretch>
        </p:blipFill>
        <p:spPr>
          <a:xfrm>
            <a:off x="5390769" y="199769"/>
            <a:ext cx="6801231" cy="5535131"/>
          </a:xfrm>
          <a:prstGeom prst="rect">
            <a:avLst/>
          </a:prstGeom>
        </p:spPr>
      </p:pic>
      <p:sp>
        <p:nvSpPr>
          <p:cNvPr id="7" name="TextBox 6">
            <a:extLst>
              <a:ext uri="{FF2B5EF4-FFF2-40B4-BE49-F238E27FC236}">
                <a16:creationId xmlns:a16="http://schemas.microsoft.com/office/drawing/2014/main" id="{658CE917-BD2C-4282-AB62-495719E99295}"/>
              </a:ext>
            </a:extLst>
          </p:cNvPr>
          <p:cNvSpPr txBox="1"/>
          <p:nvPr/>
        </p:nvSpPr>
        <p:spPr>
          <a:xfrm>
            <a:off x="1727200" y="6056644"/>
            <a:ext cx="9334500" cy="646331"/>
          </a:xfrm>
          <a:prstGeom prst="rect">
            <a:avLst/>
          </a:prstGeom>
          <a:noFill/>
        </p:spPr>
        <p:txBody>
          <a:bodyPr wrap="square">
            <a:spAutoFit/>
          </a:bodyPr>
          <a:lstStyle/>
          <a:p>
            <a:r>
              <a:rPr lang="en-US" sz="1800" b="1" i="0" u="none" strike="noStrike" baseline="0" dirty="0">
                <a:solidFill>
                  <a:srgbClr val="FF0000"/>
                </a:solidFill>
                <a:latin typeface="Calibri" panose="020F0502020204030204" pitchFamily="34" charset="0"/>
              </a:rPr>
              <a:t>FAILURE TO FOLLOW THE LIMITATIONS AND USAGE AS SET FORTH IN </a:t>
            </a:r>
            <a:r>
              <a:rPr lang="en-US" b="1" dirty="0">
                <a:solidFill>
                  <a:srgbClr val="FF0000"/>
                </a:solidFill>
                <a:latin typeface="Calibri" panose="020F0502020204030204" pitchFamily="34" charset="0"/>
              </a:rPr>
              <a:t>THE </a:t>
            </a:r>
            <a:r>
              <a:rPr lang="en-US" sz="1800" b="1" i="0" u="none" strike="noStrike" baseline="0" dirty="0">
                <a:solidFill>
                  <a:srgbClr val="FF0000"/>
                </a:solidFill>
                <a:latin typeface="Calibri" panose="020F0502020204030204" pitchFamily="34" charset="0"/>
              </a:rPr>
              <a:t>OPERATOR'S MANUAL (PROVIDED WITH YOUR HANDOUT) MAY CAUSE SERIOUS </a:t>
            </a:r>
            <a:r>
              <a:rPr lang="en-CA" sz="1800" b="1" i="0" u="none" strike="noStrike" baseline="0" dirty="0">
                <a:solidFill>
                  <a:srgbClr val="FF0000"/>
                </a:solidFill>
                <a:latin typeface="Calibri" panose="020F0502020204030204" pitchFamily="34" charset="0"/>
              </a:rPr>
              <a:t>INJURY OR DEATH.</a:t>
            </a:r>
          </a:p>
        </p:txBody>
      </p:sp>
      <p:pic>
        <p:nvPicPr>
          <p:cNvPr id="9" name="Picture 8">
            <a:extLst>
              <a:ext uri="{FF2B5EF4-FFF2-40B4-BE49-F238E27FC236}">
                <a16:creationId xmlns:a16="http://schemas.microsoft.com/office/drawing/2014/main" id="{FFD32322-4781-48DC-9CFB-F596D230216D}"/>
              </a:ext>
            </a:extLst>
          </p:cNvPr>
          <p:cNvPicPr>
            <a:picLocks noChangeAspect="1"/>
          </p:cNvPicPr>
          <p:nvPr/>
        </p:nvPicPr>
        <p:blipFill>
          <a:blip r:embed="rId3"/>
          <a:stretch>
            <a:fillRect/>
          </a:stretch>
        </p:blipFill>
        <p:spPr>
          <a:xfrm>
            <a:off x="669026" y="5894200"/>
            <a:ext cx="922548" cy="808775"/>
          </a:xfrm>
          <a:prstGeom prst="rect">
            <a:avLst/>
          </a:prstGeom>
        </p:spPr>
      </p:pic>
    </p:spTree>
    <p:extLst>
      <p:ext uri="{BB962C8B-B14F-4D97-AF65-F5344CB8AC3E}">
        <p14:creationId xmlns:p14="http://schemas.microsoft.com/office/powerpoint/2010/main" val="1516988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C80CC-4512-43FF-AFD5-F111699B9AB7}"/>
              </a:ext>
            </a:extLst>
          </p:cNvPr>
          <p:cNvSpPr>
            <a:spLocks noGrp="1"/>
          </p:cNvSpPr>
          <p:nvPr>
            <p:ph type="title"/>
          </p:nvPr>
        </p:nvSpPr>
        <p:spPr>
          <a:xfrm>
            <a:off x="260350" y="377825"/>
            <a:ext cx="11671300" cy="1325563"/>
          </a:xfrm>
        </p:spPr>
        <p:txBody>
          <a:bodyPr/>
          <a:lstStyle/>
          <a:p>
            <a:r>
              <a:rPr lang="en-CA" dirty="0"/>
              <a:t>Safety Instructions Under </a:t>
            </a:r>
            <a:r>
              <a:rPr lang="en-CA" dirty="0">
                <a:solidFill>
                  <a:srgbClr val="FF0000"/>
                </a:solidFill>
              </a:rPr>
              <a:t>ABNORMAL</a:t>
            </a:r>
            <a:r>
              <a:rPr lang="en-CA" dirty="0"/>
              <a:t> conditions</a:t>
            </a:r>
          </a:p>
        </p:txBody>
      </p:sp>
      <p:sp>
        <p:nvSpPr>
          <p:cNvPr id="3" name="Content Placeholder 2">
            <a:extLst>
              <a:ext uri="{FF2B5EF4-FFF2-40B4-BE49-F238E27FC236}">
                <a16:creationId xmlns:a16="http://schemas.microsoft.com/office/drawing/2014/main" id="{BF4D9EC2-A7FD-4FC2-ADCD-858D0E6631F5}"/>
              </a:ext>
            </a:extLst>
          </p:cNvPr>
          <p:cNvSpPr>
            <a:spLocks noGrp="1"/>
          </p:cNvSpPr>
          <p:nvPr>
            <p:ph idx="1"/>
          </p:nvPr>
        </p:nvSpPr>
        <p:spPr>
          <a:xfrm>
            <a:off x="260350" y="1825625"/>
            <a:ext cx="11093450" cy="4351338"/>
          </a:xfrm>
        </p:spPr>
        <p:txBody>
          <a:bodyPr>
            <a:normAutofit fontScale="92500"/>
          </a:bodyPr>
          <a:lstStyle/>
          <a:p>
            <a:pPr marL="0" indent="0">
              <a:buNone/>
            </a:pPr>
            <a:r>
              <a:rPr lang="en-CA" dirty="0"/>
              <a:t>Abnormal Condition 1: </a:t>
            </a:r>
            <a:r>
              <a:rPr lang="en-CA" sz="3000" b="1" i="0" u="none" strike="noStrike" baseline="0" dirty="0">
                <a:solidFill>
                  <a:srgbClr val="FF0000"/>
                </a:solidFill>
                <a:latin typeface="Calibri,Bold"/>
              </a:rPr>
              <a:t>BOILER OVERPRESSURE</a:t>
            </a:r>
          </a:p>
          <a:p>
            <a:r>
              <a:rPr lang="en-CA" sz="2400" dirty="0">
                <a:latin typeface="Calibri,Bold"/>
              </a:rPr>
              <a:t>The unit has three independent mechanisms and redundancies to avoid such abnormal conditions. However, under such abnormal conditions, the following steps must be taken:</a:t>
            </a:r>
          </a:p>
          <a:p>
            <a:pPr marL="342900" indent="-342900">
              <a:buAutoNum type="arabicPeriod"/>
            </a:pPr>
            <a:r>
              <a:rPr lang="en-US" sz="2400" b="0" i="0" u="none" strike="noStrike" baseline="0" dirty="0">
                <a:latin typeface="Calibri" panose="020F0502020204030204" pitchFamily="34" charset="0"/>
              </a:rPr>
              <a:t>The console </a:t>
            </a:r>
            <a:r>
              <a:rPr lang="en-US" sz="2400" b="0" i="0" u="none" strike="noStrike" baseline="0" dirty="0">
                <a:solidFill>
                  <a:srgbClr val="0070C0"/>
                </a:solidFill>
                <a:latin typeface="Calibri" panose="020F0502020204030204" pitchFamily="34" charset="0"/>
              </a:rPr>
              <a:t>MASTER SWITCH </a:t>
            </a:r>
            <a:r>
              <a:rPr lang="en-US" sz="2400" b="0" i="0" u="none" strike="noStrike" baseline="0" dirty="0">
                <a:latin typeface="Calibri" panose="020F0502020204030204" pitchFamily="34" charset="0"/>
              </a:rPr>
              <a:t>should be placed in the </a:t>
            </a:r>
            <a:r>
              <a:rPr lang="en-US" sz="2400" b="0" i="0" u="none" strike="noStrike" baseline="0" dirty="0">
                <a:solidFill>
                  <a:srgbClr val="0070C0"/>
                </a:solidFill>
                <a:latin typeface="Calibri" panose="020F0502020204030204" pitchFamily="34" charset="0"/>
              </a:rPr>
              <a:t>OFF</a:t>
            </a:r>
            <a:r>
              <a:rPr lang="en-US" sz="2400" b="0" i="0" u="none" strike="noStrike" baseline="0" dirty="0">
                <a:latin typeface="Calibri" panose="020F0502020204030204" pitchFamily="34" charset="0"/>
              </a:rPr>
              <a:t> position.</a:t>
            </a:r>
          </a:p>
          <a:p>
            <a:pPr marL="342900" indent="-342900">
              <a:buAutoNum type="arabicPeriod"/>
            </a:pPr>
            <a:r>
              <a:rPr lang="en-US" sz="2400" b="0" i="0" u="none" strike="noStrike" baseline="0" dirty="0">
                <a:latin typeface="Calibri" panose="020F0502020204030204" pitchFamily="34" charset="0"/>
              </a:rPr>
              <a:t>The </a:t>
            </a:r>
            <a:r>
              <a:rPr lang="en-US" sz="2400" dirty="0">
                <a:solidFill>
                  <a:srgbClr val="0070C0"/>
                </a:solidFill>
                <a:latin typeface="Calibri" panose="020F0502020204030204" pitchFamily="34" charset="0"/>
              </a:rPr>
              <a:t>STEAM ADMISSION VALVE </a:t>
            </a:r>
            <a:r>
              <a:rPr lang="en-US" sz="2400" b="0" i="0" u="none" strike="noStrike" baseline="0" dirty="0">
                <a:latin typeface="Calibri" panose="020F0502020204030204" pitchFamily="34" charset="0"/>
              </a:rPr>
              <a:t>should be turned counter-clockwise to the fully </a:t>
            </a:r>
            <a:r>
              <a:rPr lang="en-US" sz="2400" dirty="0">
                <a:solidFill>
                  <a:srgbClr val="0070C0"/>
                </a:solidFill>
                <a:latin typeface="Calibri" panose="020F0502020204030204" pitchFamily="34" charset="0"/>
              </a:rPr>
              <a:t>OPEN</a:t>
            </a:r>
            <a:r>
              <a:rPr lang="en-US" sz="2400" b="0" i="0" u="none" strike="noStrike" baseline="0" dirty="0">
                <a:latin typeface="Calibri" panose="020F0502020204030204" pitchFamily="34" charset="0"/>
              </a:rPr>
              <a:t> position.</a:t>
            </a:r>
          </a:p>
          <a:p>
            <a:pPr marL="342900" indent="-342900">
              <a:buAutoNum type="arabicPeriod"/>
            </a:pPr>
            <a:r>
              <a:rPr lang="en-US" sz="2400" b="0" i="0" u="none" strike="noStrike" baseline="0" dirty="0">
                <a:latin typeface="Calibri" panose="020F0502020204030204" pitchFamily="34" charset="0"/>
              </a:rPr>
              <a:t>Turn the </a:t>
            </a:r>
            <a:r>
              <a:rPr lang="en-US" sz="2400" b="0" i="0" u="none" strike="noStrike" baseline="0" dirty="0">
                <a:solidFill>
                  <a:srgbClr val="0070C0"/>
                </a:solidFill>
                <a:latin typeface="Calibri" panose="020F0502020204030204" pitchFamily="34" charset="0"/>
              </a:rPr>
              <a:t>OPERATOR PANEL GAS VALVE </a:t>
            </a:r>
            <a:r>
              <a:rPr lang="en-US" sz="2400" b="0" i="0" u="none" strike="noStrike" baseline="0" dirty="0">
                <a:latin typeface="Calibri" panose="020F0502020204030204" pitchFamily="34" charset="0"/>
              </a:rPr>
              <a:t>(or FUEL SOURCE) to the </a:t>
            </a:r>
            <a:r>
              <a:rPr lang="en-US" sz="2400" b="0" i="0" u="none" strike="noStrike" baseline="0" dirty="0">
                <a:solidFill>
                  <a:srgbClr val="0070C0"/>
                </a:solidFill>
                <a:latin typeface="Calibri" panose="020F0502020204030204" pitchFamily="34" charset="0"/>
              </a:rPr>
              <a:t>OFF</a:t>
            </a:r>
            <a:r>
              <a:rPr lang="en-US" sz="2400" b="0" i="0" u="none" strike="noStrike" baseline="0" dirty="0">
                <a:latin typeface="Calibri" panose="020F0502020204030204" pitchFamily="34" charset="0"/>
              </a:rPr>
              <a:t> position.</a:t>
            </a:r>
          </a:p>
          <a:p>
            <a:pPr marL="342900" indent="-342900">
              <a:buAutoNum type="arabicPeriod"/>
            </a:pPr>
            <a:r>
              <a:rPr lang="en-US" sz="2400" b="0" i="0" u="none" strike="noStrike" baseline="0" dirty="0">
                <a:latin typeface="Calibri" panose="020F0502020204030204" pitchFamily="34" charset="0"/>
              </a:rPr>
              <a:t>IF SAFETY IS NOT COMPROMISED in any way, the following additional steps should be </a:t>
            </a:r>
            <a:r>
              <a:rPr lang="en-CA" sz="2400" b="0" i="0" u="none" strike="noStrike" baseline="0" dirty="0">
                <a:latin typeface="Calibri" panose="020F0502020204030204" pitchFamily="34" charset="0"/>
              </a:rPr>
              <a:t>considered:</a:t>
            </a:r>
          </a:p>
          <a:p>
            <a:pPr marL="457200" lvl="1" indent="0">
              <a:buNone/>
            </a:pPr>
            <a:r>
              <a:rPr lang="en-US" b="0" i="0" u="none" strike="noStrike" baseline="0" dirty="0">
                <a:latin typeface="Calibri" panose="020F0502020204030204" pitchFamily="34" charset="0"/>
              </a:rPr>
              <a:t>a. Select the </a:t>
            </a:r>
            <a:r>
              <a:rPr lang="en-US" b="0" i="0" u="none" strike="noStrike" baseline="0" dirty="0">
                <a:solidFill>
                  <a:srgbClr val="0070C0"/>
                </a:solidFill>
                <a:latin typeface="Calibri" panose="020F0502020204030204" pitchFamily="34" charset="0"/>
              </a:rPr>
              <a:t>LOAD SWITCH </a:t>
            </a:r>
            <a:r>
              <a:rPr lang="en-US" b="0" i="0" u="none" strike="noStrike" baseline="0" dirty="0">
                <a:latin typeface="Calibri" panose="020F0502020204030204" pitchFamily="34" charset="0"/>
              </a:rPr>
              <a:t>to the </a:t>
            </a:r>
            <a:r>
              <a:rPr lang="en-US" b="0" i="0" u="none" strike="noStrike" baseline="0" dirty="0">
                <a:solidFill>
                  <a:srgbClr val="0070C0"/>
                </a:solidFill>
                <a:latin typeface="Calibri" panose="020F0502020204030204" pitchFamily="34" charset="0"/>
              </a:rPr>
              <a:t>ON</a:t>
            </a:r>
            <a:r>
              <a:rPr lang="en-US" b="0" i="0" u="none" strike="noStrike" baseline="0" dirty="0">
                <a:latin typeface="Calibri" panose="020F0502020204030204" pitchFamily="34" charset="0"/>
              </a:rPr>
              <a:t> position.</a:t>
            </a:r>
          </a:p>
          <a:p>
            <a:pPr marL="457200" lvl="1" indent="0">
              <a:buNone/>
            </a:pPr>
            <a:r>
              <a:rPr lang="en-US" b="0" i="0" u="none" strike="noStrike" baseline="0" dirty="0">
                <a:latin typeface="Calibri" panose="020F0502020204030204" pitchFamily="34" charset="0"/>
              </a:rPr>
              <a:t>b. Rotate the </a:t>
            </a:r>
            <a:r>
              <a:rPr lang="en-US" b="0" i="0" u="none" strike="noStrike" baseline="0" dirty="0">
                <a:solidFill>
                  <a:srgbClr val="0070C0"/>
                </a:solidFill>
                <a:latin typeface="Calibri" panose="020F0502020204030204" pitchFamily="34" charset="0"/>
              </a:rPr>
              <a:t>LOAD RHEOSTAT CONTROL </a:t>
            </a:r>
            <a:r>
              <a:rPr lang="en-US" b="0" i="0" u="none" strike="noStrike" baseline="0" dirty="0">
                <a:latin typeface="Calibri" panose="020F0502020204030204" pitchFamily="34" charset="0"/>
              </a:rPr>
              <a:t>to the </a:t>
            </a:r>
            <a:r>
              <a:rPr lang="en-US" b="0" i="0" u="none" strike="noStrike" baseline="0" dirty="0">
                <a:solidFill>
                  <a:srgbClr val="0070C0"/>
                </a:solidFill>
                <a:latin typeface="Calibri" panose="020F0502020204030204" pitchFamily="34" charset="0"/>
              </a:rPr>
              <a:t>FULLY CLOCKWISE </a:t>
            </a:r>
            <a:r>
              <a:rPr lang="en-US" b="0" i="0" u="none" strike="noStrike" baseline="0" dirty="0">
                <a:latin typeface="Calibri" panose="020F0502020204030204" pitchFamily="34" charset="0"/>
              </a:rPr>
              <a:t>position.</a:t>
            </a:r>
            <a:endParaRPr lang="en-CA" dirty="0">
              <a:latin typeface="Calibri,Bold"/>
            </a:endParaRPr>
          </a:p>
          <a:p>
            <a:endParaRPr lang="en-CA" dirty="0">
              <a:solidFill>
                <a:srgbClr val="FF0000"/>
              </a:solidFill>
            </a:endParaRPr>
          </a:p>
        </p:txBody>
      </p:sp>
    </p:spTree>
    <p:extLst>
      <p:ext uri="{BB962C8B-B14F-4D97-AF65-F5344CB8AC3E}">
        <p14:creationId xmlns:p14="http://schemas.microsoft.com/office/powerpoint/2010/main" val="974230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C80CC-4512-43FF-AFD5-F111699B9AB7}"/>
              </a:ext>
            </a:extLst>
          </p:cNvPr>
          <p:cNvSpPr>
            <a:spLocks noGrp="1"/>
          </p:cNvSpPr>
          <p:nvPr>
            <p:ph type="title"/>
          </p:nvPr>
        </p:nvSpPr>
        <p:spPr>
          <a:xfrm>
            <a:off x="260350" y="377825"/>
            <a:ext cx="11671300" cy="1325563"/>
          </a:xfrm>
        </p:spPr>
        <p:txBody>
          <a:bodyPr/>
          <a:lstStyle/>
          <a:p>
            <a:r>
              <a:rPr lang="en-CA" dirty="0"/>
              <a:t>Safety Instructions Under </a:t>
            </a:r>
            <a:r>
              <a:rPr lang="en-CA" dirty="0">
                <a:solidFill>
                  <a:srgbClr val="FF0000"/>
                </a:solidFill>
              </a:rPr>
              <a:t>ABNORMAL</a:t>
            </a:r>
            <a:r>
              <a:rPr lang="en-CA" dirty="0"/>
              <a:t> conditions</a:t>
            </a:r>
          </a:p>
        </p:txBody>
      </p:sp>
      <p:sp>
        <p:nvSpPr>
          <p:cNvPr id="3" name="Content Placeholder 2">
            <a:extLst>
              <a:ext uri="{FF2B5EF4-FFF2-40B4-BE49-F238E27FC236}">
                <a16:creationId xmlns:a16="http://schemas.microsoft.com/office/drawing/2014/main" id="{BF4D9EC2-A7FD-4FC2-ADCD-858D0E6631F5}"/>
              </a:ext>
            </a:extLst>
          </p:cNvPr>
          <p:cNvSpPr>
            <a:spLocks noGrp="1"/>
          </p:cNvSpPr>
          <p:nvPr>
            <p:ph idx="1"/>
          </p:nvPr>
        </p:nvSpPr>
        <p:spPr>
          <a:xfrm>
            <a:off x="260350" y="1825624"/>
            <a:ext cx="11093450" cy="4943475"/>
          </a:xfrm>
        </p:spPr>
        <p:txBody>
          <a:bodyPr>
            <a:normAutofit lnSpcReduction="10000"/>
          </a:bodyPr>
          <a:lstStyle/>
          <a:p>
            <a:pPr marL="0" indent="0">
              <a:buNone/>
            </a:pPr>
            <a:r>
              <a:rPr lang="en-CA" dirty="0"/>
              <a:t>Abnormal Condition 2: </a:t>
            </a:r>
            <a:r>
              <a:rPr lang="en-CA" sz="3200" b="1" i="0" u="none" strike="noStrike" baseline="0" dirty="0">
                <a:solidFill>
                  <a:srgbClr val="FF0000"/>
                </a:solidFill>
                <a:latin typeface="Calibri,Bold"/>
              </a:rPr>
              <a:t>FIRE</a:t>
            </a:r>
          </a:p>
          <a:p>
            <a:pPr marL="0" indent="0">
              <a:buNone/>
            </a:pPr>
            <a:r>
              <a:rPr lang="en-CA" sz="2400" dirty="0">
                <a:latin typeface="Calibri,Bold"/>
              </a:rPr>
              <a:t>The unit has an extremely low chance of causing fire. However, under such abnormal conditions, the following steps must be taken:</a:t>
            </a:r>
          </a:p>
          <a:p>
            <a:pPr marL="342900" indent="-342900">
              <a:buAutoNum type="arabicPeriod"/>
            </a:pPr>
            <a:r>
              <a:rPr lang="en-US" sz="2400" b="0" i="0" u="none" strike="noStrike" baseline="0" dirty="0">
                <a:latin typeface="Calibri" panose="020F0502020204030204" pitchFamily="34" charset="0"/>
              </a:rPr>
              <a:t>The console </a:t>
            </a:r>
            <a:r>
              <a:rPr lang="en-US" sz="2400" b="0" i="0" u="none" strike="noStrike" baseline="0" dirty="0">
                <a:solidFill>
                  <a:srgbClr val="0070C0"/>
                </a:solidFill>
                <a:latin typeface="Calibri" panose="020F0502020204030204" pitchFamily="34" charset="0"/>
              </a:rPr>
              <a:t>MASTER SWITCH </a:t>
            </a:r>
            <a:r>
              <a:rPr lang="en-US" sz="2400" b="0" i="0" u="none" strike="noStrike" baseline="0" dirty="0">
                <a:latin typeface="Calibri" panose="020F0502020204030204" pitchFamily="34" charset="0"/>
              </a:rPr>
              <a:t>should be placed in the </a:t>
            </a:r>
            <a:r>
              <a:rPr lang="en-US" sz="2400" b="0" i="0" u="none" strike="noStrike" baseline="0" dirty="0">
                <a:solidFill>
                  <a:srgbClr val="0070C0"/>
                </a:solidFill>
                <a:latin typeface="Calibri" panose="020F0502020204030204" pitchFamily="34" charset="0"/>
              </a:rPr>
              <a:t>OFF </a:t>
            </a:r>
            <a:r>
              <a:rPr lang="en-US" sz="2400" b="0" i="0" u="none" strike="noStrike" baseline="0" dirty="0">
                <a:latin typeface="Calibri" panose="020F0502020204030204" pitchFamily="34" charset="0"/>
              </a:rPr>
              <a:t>position.</a:t>
            </a:r>
          </a:p>
          <a:p>
            <a:pPr marL="342900" indent="-342900">
              <a:buAutoNum type="arabicPeriod"/>
            </a:pPr>
            <a:r>
              <a:rPr lang="en-US" sz="2400" b="0" i="0" u="none" strike="noStrike" baseline="0" dirty="0">
                <a:latin typeface="Calibri" panose="020F0502020204030204" pitchFamily="34" charset="0"/>
              </a:rPr>
              <a:t>Using an available and appropriate </a:t>
            </a:r>
            <a:r>
              <a:rPr lang="en-US" sz="2400" b="0" i="0" u="none" strike="noStrike" baseline="0" dirty="0">
                <a:solidFill>
                  <a:srgbClr val="0070C0"/>
                </a:solidFill>
                <a:latin typeface="Calibri" panose="020F0502020204030204" pitchFamily="34" charset="0"/>
              </a:rPr>
              <a:t>FIRE EXTINGUISHER </a:t>
            </a:r>
            <a:r>
              <a:rPr lang="en-US" sz="2400" b="0" i="0" u="none" strike="noStrike" baseline="0" dirty="0">
                <a:latin typeface="Calibri" panose="020F0502020204030204" pitchFamily="34" charset="0"/>
              </a:rPr>
              <a:t>(ABC Type), extinguish the flames.</a:t>
            </a:r>
          </a:p>
          <a:p>
            <a:pPr algn="l">
              <a:buFont typeface="Wingdings" panose="05000000000000000000" pitchFamily="2" charset="2"/>
              <a:buChar char="Ø"/>
            </a:pPr>
            <a:r>
              <a:rPr lang="en-US" sz="2400" b="1" i="0" u="none" strike="noStrike" baseline="0" dirty="0">
                <a:solidFill>
                  <a:srgbClr val="FF0000"/>
                </a:solidFill>
                <a:latin typeface="Calibri" panose="020F0502020204030204" pitchFamily="34" charset="0"/>
              </a:rPr>
              <a:t>If operator safety is in question, all personnel should leave the area, activate the appropriate fire alarm and follow the required emergency plan.</a:t>
            </a:r>
          </a:p>
          <a:p>
            <a:pPr marL="342900" indent="-342900">
              <a:buAutoNum type="arabicPeriod"/>
            </a:pPr>
            <a:r>
              <a:rPr lang="en-US" sz="2400" b="0" i="0" u="none" strike="noStrike" baseline="0" dirty="0">
                <a:latin typeface="Calibri" panose="020F0502020204030204" pitchFamily="34" charset="0"/>
              </a:rPr>
              <a:t>IF </a:t>
            </a:r>
            <a:r>
              <a:rPr lang="en-US" sz="2400" b="0" i="0" u="none" strike="noStrike" baseline="0" dirty="0">
                <a:solidFill>
                  <a:srgbClr val="0070C0"/>
                </a:solidFill>
                <a:latin typeface="Calibri" panose="020F0502020204030204" pitchFamily="34" charset="0"/>
              </a:rPr>
              <a:t>SAFETY IS NOT COMPROMISED </a:t>
            </a:r>
            <a:r>
              <a:rPr lang="en-US" sz="2400" b="0" i="0" u="none" strike="noStrike" baseline="0" dirty="0">
                <a:latin typeface="Calibri" panose="020F0502020204030204" pitchFamily="34" charset="0"/>
              </a:rPr>
              <a:t>in any way, the following additional steps should be </a:t>
            </a:r>
            <a:r>
              <a:rPr lang="en-CA" sz="2400" b="0" i="0" u="none" strike="noStrike" baseline="0" dirty="0">
                <a:latin typeface="Calibri" panose="020F0502020204030204" pitchFamily="34" charset="0"/>
              </a:rPr>
              <a:t>considered:</a:t>
            </a:r>
          </a:p>
          <a:p>
            <a:pPr marL="457200" lvl="1" indent="0">
              <a:buNone/>
            </a:pPr>
            <a:r>
              <a:rPr lang="en-US" b="0" i="0" u="none" strike="noStrike" baseline="0" dirty="0">
                <a:latin typeface="Calibri" panose="020F0502020204030204" pitchFamily="34" charset="0"/>
              </a:rPr>
              <a:t>a. The </a:t>
            </a:r>
            <a:r>
              <a:rPr lang="en-US" b="0" i="0" u="none" strike="noStrike" baseline="0" dirty="0">
                <a:solidFill>
                  <a:srgbClr val="0070C0"/>
                </a:solidFill>
                <a:latin typeface="Calibri" panose="020F0502020204030204" pitchFamily="34" charset="0"/>
              </a:rPr>
              <a:t>STEAM ADMISSION VALVE </a:t>
            </a:r>
            <a:r>
              <a:rPr lang="en-US" b="0" i="0" u="none" strike="noStrike" baseline="0" dirty="0">
                <a:latin typeface="Calibri" panose="020F0502020204030204" pitchFamily="34" charset="0"/>
              </a:rPr>
              <a:t>should be turned counter-clockwise to the</a:t>
            </a:r>
          </a:p>
          <a:p>
            <a:pPr marL="457200" lvl="1" indent="0">
              <a:buNone/>
            </a:pPr>
            <a:r>
              <a:rPr lang="en-US" b="0" i="0" u="none" strike="noStrike" baseline="0" dirty="0">
                <a:latin typeface="Calibri" panose="020F0502020204030204" pitchFamily="34" charset="0"/>
              </a:rPr>
              <a:t>fully </a:t>
            </a:r>
            <a:r>
              <a:rPr lang="en-US" b="0" i="0" u="none" strike="noStrike" baseline="0" dirty="0">
                <a:solidFill>
                  <a:srgbClr val="0070C0"/>
                </a:solidFill>
                <a:latin typeface="Calibri" panose="020F0502020204030204" pitchFamily="34" charset="0"/>
              </a:rPr>
              <a:t>OPEN</a:t>
            </a:r>
            <a:r>
              <a:rPr lang="en-US" b="0" i="0" u="none" strike="noStrike" baseline="0" dirty="0">
                <a:latin typeface="Calibri" panose="020F0502020204030204" pitchFamily="34" charset="0"/>
              </a:rPr>
              <a:t> position.</a:t>
            </a:r>
          </a:p>
          <a:p>
            <a:pPr marL="457200" lvl="1" indent="0">
              <a:buNone/>
            </a:pPr>
            <a:r>
              <a:rPr lang="en-US" b="0" i="0" u="none" strike="noStrike" baseline="0" dirty="0">
                <a:latin typeface="Calibri" panose="020F0502020204030204" pitchFamily="34" charset="0"/>
              </a:rPr>
              <a:t>b. Turn the </a:t>
            </a:r>
            <a:r>
              <a:rPr lang="en-US" b="0" i="0" u="none" strike="noStrike" baseline="0" dirty="0">
                <a:solidFill>
                  <a:srgbClr val="0070C0"/>
                </a:solidFill>
                <a:latin typeface="Calibri" panose="020F0502020204030204" pitchFamily="34" charset="0"/>
              </a:rPr>
              <a:t>OPERATOR PANEL GAS VALVE</a:t>
            </a:r>
            <a:r>
              <a:rPr lang="en-US" b="0" i="0" u="none" strike="noStrike" baseline="0" dirty="0">
                <a:latin typeface="Calibri" panose="020F0502020204030204" pitchFamily="34" charset="0"/>
              </a:rPr>
              <a:t> (or </a:t>
            </a:r>
            <a:r>
              <a:rPr lang="en-US" b="0" i="0" u="none" strike="noStrike" baseline="0" dirty="0">
                <a:solidFill>
                  <a:srgbClr val="0070C0"/>
                </a:solidFill>
                <a:latin typeface="Calibri" panose="020F0502020204030204" pitchFamily="34" charset="0"/>
              </a:rPr>
              <a:t>FUEL SOURCE</a:t>
            </a:r>
            <a:r>
              <a:rPr lang="en-US" b="0" i="0" u="none" strike="noStrike" baseline="0" dirty="0">
                <a:latin typeface="Calibri" panose="020F0502020204030204" pitchFamily="34" charset="0"/>
              </a:rPr>
              <a:t>) to the </a:t>
            </a:r>
            <a:r>
              <a:rPr lang="en-US" b="0" i="0" u="none" strike="noStrike" baseline="0" dirty="0">
                <a:solidFill>
                  <a:srgbClr val="0070C0"/>
                </a:solidFill>
                <a:latin typeface="Calibri" panose="020F0502020204030204" pitchFamily="34" charset="0"/>
              </a:rPr>
              <a:t>OFF </a:t>
            </a:r>
            <a:r>
              <a:rPr lang="en-US" b="0" i="0" u="none" strike="noStrike" baseline="0" dirty="0">
                <a:latin typeface="Calibri" panose="020F0502020204030204" pitchFamily="34" charset="0"/>
              </a:rPr>
              <a:t>position.</a:t>
            </a:r>
            <a:endParaRPr lang="en-CA" dirty="0">
              <a:latin typeface="Calibri,Bold"/>
            </a:endParaRPr>
          </a:p>
          <a:p>
            <a:endParaRPr lang="en-CA" dirty="0">
              <a:solidFill>
                <a:srgbClr val="FF0000"/>
              </a:solidFill>
            </a:endParaRPr>
          </a:p>
        </p:txBody>
      </p:sp>
    </p:spTree>
    <p:extLst>
      <p:ext uri="{BB962C8B-B14F-4D97-AF65-F5344CB8AC3E}">
        <p14:creationId xmlns:p14="http://schemas.microsoft.com/office/powerpoint/2010/main" val="4024186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C80CC-4512-43FF-AFD5-F111699B9AB7}"/>
              </a:ext>
            </a:extLst>
          </p:cNvPr>
          <p:cNvSpPr>
            <a:spLocks noGrp="1"/>
          </p:cNvSpPr>
          <p:nvPr>
            <p:ph type="title"/>
          </p:nvPr>
        </p:nvSpPr>
        <p:spPr>
          <a:xfrm>
            <a:off x="260350" y="377825"/>
            <a:ext cx="11671300" cy="1325563"/>
          </a:xfrm>
        </p:spPr>
        <p:txBody>
          <a:bodyPr/>
          <a:lstStyle/>
          <a:p>
            <a:r>
              <a:rPr lang="en-CA" dirty="0"/>
              <a:t>Safety Instructions Under </a:t>
            </a:r>
            <a:r>
              <a:rPr lang="en-CA" dirty="0">
                <a:solidFill>
                  <a:srgbClr val="FF0000"/>
                </a:solidFill>
              </a:rPr>
              <a:t>ABNORMAL</a:t>
            </a:r>
            <a:r>
              <a:rPr lang="en-CA" dirty="0"/>
              <a:t> conditions</a:t>
            </a:r>
          </a:p>
        </p:txBody>
      </p:sp>
      <p:sp>
        <p:nvSpPr>
          <p:cNvPr id="3" name="Content Placeholder 2">
            <a:extLst>
              <a:ext uri="{FF2B5EF4-FFF2-40B4-BE49-F238E27FC236}">
                <a16:creationId xmlns:a16="http://schemas.microsoft.com/office/drawing/2014/main" id="{BF4D9EC2-A7FD-4FC2-ADCD-858D0E6631F5}"/>
              </a:ext>
            </a:extLst>
          </p:cNvPr>
          <p:cNvSpPr>
            <a:spLocks noGrp="1"/>
          </p:cNvSpPr>
          <p:nvPr>
            <p:ph idx="1"/>
          </p:nvPr>
        </p:nvSpPr>
        <p:spPr>
          <a:xfrm>
            <a:off x="260350" y="1462088"/>
            <a:ext cx="11093450" cy="4943475"/>
          </a:xfrm>
        </p:spPr>
        <p:txBody>
          <a:bodyPr>
            <a:normAutofit/>
          </a:bodyPr>
          <a:lstStyle/>
          <a:p>
            <a:pPr marL="0" indent="0">
              <a:buNone/>
            </a:pPr>
            <a:r>
              <a:rPr lang="en-CA" dirty="0"/>
              <a:t>Abnormal Condition 3: </a:t>
            </a:r>
            <a:r>
              <a:rPr lang="en-CA" b="1" dirty="0">
                <a:solidFill>
                  <a:srgbClr val="FF0000"/>
                </a:solidFill>
                <a:latin typeface="Calibri,Bold"/>
              </a:rPr>
              <a:t>ELECTRICAL</a:t>
            </a:r>
            <a:endParaRPr lang="en-CA" b="1" i="0" u="none" strike="noStrike" baseline="0" dirty="0">
              <a:solidFill>
                <a:srgbClr val="FF0000"/>
              </a:solidFill>
              <a:latin typeface="Calibri,Bold"/>
            </a:endParaRPr>
          </a:p>
          <a:p>
            <a:pPr algn="l"/>
            <a:r>
              <a:rPr lang="en-US" sz="2000" b="0" i="0" u="none" strike="noStrike" baseline="0" dirty="0">
                <a:latin typeface="Calibri" panose="020F0502020204030204" pitchFamily="34" charset="0"/>
              </a:rPr>
              <a:t>There are two distinct electrical systems within the unit; the main bus that powers the indicator lights, boiler combustion blower and the gas regulator system and a separate steam generator bus allowing the measurement of electrical generating capability of the steam turbine. Any electrical malfunction of a short or overload nature will trip the on-board circuit breaker, the facility circuit breaker or both. If an electrical fault is suspected, either through an unexpected shut-down of the unit or through more obvious signs such as audible or visible arcing or electrical type smoke caused by melting insulation, the following steps should be followed:</a:t>
            </a:r>
            <a:endParaRPr lang="en-CA" sz="2000" dirty="0"/>
          </a:p>
          <a:p>
            <a:pPr marL="0" indent="0" algn="l">
              <a:buNone/>
            </a:pPr>
            <a:endParaRPr lang="en-US" sz="1800" b="0" i="0" u="none" strike="noStrike" baseline="0" dirty="0">
              <a:latin typeface="Calibri" panose="020F0502020204030204" pitchFamily="34" charset="0"/>
            </a:endParaRPr>
          </a:p>
          <a:p>
            <a:pPr algn="l"/>
            <a:endParaRPr lang="en-US" sz="1800" dirty="0">
              <a:latin typeface="Calibri" panose="020F0502020204030204" pitchFamily="34" charset="0"/>
            </a:endParaRPr>
          </a:p>
          <a:p>
            <a:pPr algn="l"/>
            <a:endParaRPr lang="en-CA" dirty="0">
              <a:latin typeface="Calibri,Bold"/>
            </a:endParaRPr>
          </a:p>
          <a:p>
            <a:endParaRPr lang="en-CA" dirty="0">
              <a:solidFill>
                <a:srgbClr val="FF0000"/>
              </a:solidFill>
            </a:endParaRPr>
          </a:p>
        </p:txBody>
      </p:sp>
      <p:sp>
        <p:nvSpPr>
          <p:cNvPr id="7" name="TextBox 6">
            <a:extLst>
              <a:ext uri="{FF2B5EF4-FFF2-40B4-BE49-F238E27FC236}">
                <a16:creationId xmlns:a16="http://schemas.microsoft.com/office/drawing/2014/main" id="{CBF85BB0-C890-4142-9669-A9FB9620514B}"/>
              </a:ext>
            </a:extLst>
          </p:cNvPr>
          <p:cNvSpPr txBox="1"/>
          <p:nvPr/>
        </p:nvSpPr>
        <p:spPr>
          <a:xfrm>
            <a:off x="260350" y="4211578"/>
            <a:ext cx="11461750" cy="1938992"/>
          </a:xfrm>
          <a:prstGeom prst="rect">
            <a:avLst/>
          </a:prstGeom>
          <a:noFill/>
        </p:spPr>
        <p:txBody>
          <a:bodyPr wrap="square">
            <a:spAutoFit/>
          </a:bodyPr>
          <a:lstStyle/>
          <a:p>
            <a:pPr marL="342900" indent="-342900">
              <a:buAutoNum type="arabicPeriod"/>
            </a:pPr>
            <a:r>
              <a:rPr lang="en-US" sz="2400" b="0" i="0" u="none" strike="noStrike" baseline="0" dirty="0">
                <a:latin typeface="Calibri" panose="020F0502020204030204" pitchFamily="34" charset="0"/>
              </a:rPr>
              <a:t>The console </a:t>
            </a:r>
            <a:r>
              <a:rPr lang="en-US" sz="2400" b="0" i="0" u="none" strike="noStrike" baseline="0" dirty="0">
                <a:solidFill>
                  <a:srgbClr val="0070C0"/>
                </a:solidFill>
                <a:latin typeface="Calibri" panose="020F0502020204030204" pitchFamily="34" charset="0"/>
              </a:rPr>
              <a:t>MASTER SWITCH </a:t>
            </a:r>
            <a:r>
              <a:rPr lang="en-US" sz="2400" b="0" i="0" u="none" strike="noStrike" baseline="0" dirty="0">
                <a:latin typeface="Calibri" panose="020F0502020204030204" pitchFamily="34" charset="0"/>
              </a:rPr>
              <a:t>should be placed in the</a:t>
            </a:r>
            <a:r>
              <a:rPr lang="en-US" sz="2400" b="0" i="0" u="none" strike="noStrike" baseline="0" dirty="0">
                <a:solidFill>
                  <a:srgbClr val="0070C0"/>
                </a:solidFill>
                <a:latin typeface="Calibri" panose="020F0502020204030204" pitchFamily="34" charset="0"/>
              </a:rPr>
              <a:t> OFF </a:t>
            </a:r>
            <a:r>
              <a:rPr lang="en-US" sz="2400" b="0" i="0" u="none" strike="noStrike" baseline="0" dirty="0">
                <a:latin typeface="Calibri" panose="020F0502020204030204" pitchFamily="34" charset="0"/>
              </a:rPr>
              <a:t>position.</a:t>
            </a:r>
          </a:p>
          <a:p>
            <a:pPr marL="342900" indent="-342900">
              <a:buAutoNum type="arabicPeriod"/>
            </a:pPr>
            <a:r>
              <a:rPr lang="en-US" sz="2400" b="0" i="0" u="none" strike="noStrike" baseline="0" dirty="0">
                <a:latin typeface="Calibri" panose="020F0502020204030204" pitchFamily="34" charset="0"/>
              </a:rPr>
              <a:t>The </a:t>
            </a:r>
            <a:r>
              <a:rPr lang="en-US" sz="2400" b="0" i="0" u="none" strike="noStrike" baseline="0" dirty="0">
                <a:solidFill>
                  <a:srgbClr val="0070C0"/>
                </a:solidFill>
                <a:latin typeface="Calibri" panose="020F0502020204030204" pitchFamily="34" charset="0"/>
              </a:rPr>
              <a:t>STEAM ADMISSION VALVE </a:t>
            </a:r>
            <a:r>
              <a:rPr lang="en-US" sz="2400" b="0" i="0" u="none" strike="noStrike" baseline="0" dirty="0">
                <a:latin typeface="Calibri" panose="020F0502020204030204" pitchFamily="34" charset="0"/>
              </a:rPr>
              <a:t>should be turned counter-clockwise to the fully </a:t>
            </a:r>
            <a:r>
              <a:rPr lang="en-US" sz="2400" b="0" i="0" u="none" strike="noStrike" baseline="0" dirty="0">
                <a:solidFill>
                  <a:srgbClr val="0070C0"/>
                </a:solidFill>
                <a:latin typeface="Calibri" panose="020F0502020204030204" pitchFamily="34" charset="0"/>
              </a:rPr>
              <a:t>OPEN </a:t>
            </a:r>
            <a:r>
              <a:rPr lang="en-US" sz="2400" b="0" i="0" u="none" strike="noStrike" baseline="0" dirty="0">
                <a:latin typeface="Calibri" panose="020F0502020204030204" pitchFamily="34" charset="0"/>
              </a:rPr>
              <a:t>position.</a:t>
            </a:r>
          </a:p>
          <a:p>
            <a:pPr marL="342900" indent="-342900">
              <a:buAutoNum type="arabicPeriod"/>
            </a:pPr>
            <a:r>
              <a:rPr lang="en-US" sz="2400" b="0" i="0" u="none" strike="noStrike" baseline="0" dirty="0">
                <a:latin typeface="Calibri" panose="020F0502020204030204" pitchFamily="34" charset="0"/>
              </a:rPr>
              <a:t>Turn the </a:t>
            </a:r>
            <a:r>
              <a:rPr lang="en-US" sz="2400" b="0" i="0" u="none" strike="noStrike" baseline="0" dirty="0">
                <a:solidFill>
                  <a:srgbClr val="0070C0"/>
                </a:solidFill>
                <a:latin typeface="Calibri" panose="020F0502020204030204" pitchFamily="34" charset="0"/>
              </a:rPr>
              <a:t>OPERATOR PANEL GAS VALVE </a:t>
            </a:r>
            <a:r>
              <a:rPr lang="en-US" sz="2400" b="0" i="0" u="none" strike="noStrike" baseline="0" dirty="0">
                <a:latin typeface="Calibri" panose="020F0502020204030204" pitchFamily="34" charset="0"/>
              </a:rPr>
              <a:t>(or FUEL SOURCE) to the </a:t>
            </a:r>
            <a:r>
              <a:rPr lang="en-US" sz="2400" b="0" i="0" u="none" strike="noStrike" baseline="0" dirty="0">
                <a:solidFill>
                  <a:srgbClr val="0070C0"/>
                </a:solidFill>
                <a:latin typeface="Calibri" panose="020F0502020204030204" pitchFamily="34" charset="0"/>
              </a:rPr>
              <a:t>OFF</a:t>
            </a:r>
            <a:r>
              <a:rPr lang="en-US" sz="2400" b="0" i="0" u="none" strike="noStrike" baseline="0" dirty="0">
                <a:latin typeface="Calibri" panose="020F0502020204030204" pitchFamily="34" charset="0"/>
              </a:rPr>
              <a:t> position.</a:t>
            </a:r>
          </a:p>
          <a:p>
            <a:pPr marL="342900" indent="-342900">
              <a:buAutoNum type="arabicPeriod"/>
            </a:pPr>
            <a:r>
              <a:rPr lang="en-US" sz="2400" b="0" i="0" u="none" strike="noStrike" baseline="0" dirty="0">
                <a:latin typeface="Calibri" panose="020F0502020204030204" pitchFamily="34" charset="0"/>
              </a:rPr>
              <a:t>The </a:t>
            </a:r>
            <a:r>
              <a:rPr lang="en-US" sz="2400" b="0" i="0" u="none" strike="noStrike" baseline="0" dirty="0">
                <a:solidFill>
                  <a:srgbClr val="0070C0"/>
                </a:solidFill>
                <a:latin typeface="Calibri" panose="020F0502020204030204" pitchFamily="34" charset="0"/>
              </a:rPr>
              <a:t>LOAD SWITCH </a:t>
            </a:r>
            <a:r>
              <a:rPr lang="en-US" sz="2400" b="0" i="0" u="none" strike="noStrike" baseline="0" dirty="0">
                <a:latin typeface="Calibri" panose="020F0502020204030204" pitchFamily="34" charset="0"/>
              </a:rPr>
              <a:t>should now be selected </a:t>
            </a:r>
            <a:r>
              <a:rPr lang="en-US" sz="2400" b="0" i="0" u="none" strike="noStrike" baseline="0" dirty="0">
                <a:solidFill>
                  <a:srgbClr val="0070C0"/>
                </a:solidFill>
                <a:latin typeface="Calibri" panose="020F0502020204030204" pitchFamily="34" charset="0"/>
              </a:rPr>
              <a:t>OFF</a:t>
            </a:r>
            <a:endParaRPr lang="en-CA" dirty="0">
              <a:solidFill>
                <a:srgbClr val="0070C0"/>
              </a:solidFill>
              <a:latin typeface="Calibri,Bold"/>
            </a:endParaRPr>
          </a:p>
        </p:txBody>
      </p:sp>
    </p:spTree>
    <p:extLst>
      <p:ext uri="{BB962C8B-B14F-4D97-AF65-F5344CB8AC3E}">
        <p14:creationId xmlns:p14="http://schemas.microsoft.com/office/powerpoint/2010/main" val="2527939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6730C-B247-4D06-937F-FD8AEC42F62E}"/>
              </a:ext>
            </a:extLst>
          </p:cNvPr>
          <p:cNvSpPr>
            <a:spLocks noGrp="1"/>
          </p:cNvSpPr>
          <p:nvPr>
            <p:ph type="title"/>
          </p:nvPr>
        </p:nvSpPr>
        <p:spPr>
          <a:xfrm>
            <a:off x="323850" y="184944"/>
            <a:ext cx="10515600" cy="1325563"/>
          </a:xfrm>
        </p:spPr>
        <p:txBody>
          <a:bodyPr/>
          <a:lstStyle/>
          <a:p>
            <a:r>
              <a:rPr lang="en-CA" dirty="0"/>
              <a:t>Small Engine – Diesel and Gasoline Modules</a:t>
            </a:r>
          </a:p>
        </p:txBody>
      </p:sp>
      <p:pic>
        <p:nvPicPr>
          <p:cNvPr id="5" name="Picture 4">
            <a:extLst>
              <a:ext uri="{FF2B5EF4-FFF2-40B4-BE49-F238E27FC236}">
                <a16:creationId xmlns:a16="http://schemas.microsoft.com/office/drawing/2014/main" id="{69A807C4-9488-48EB-BB60-884F1347A74F}"/>
              </a:ext>
            </a:extLst>
          </p:cNvPr>
          <p:cNvPicPr>
            <a:picLocks noChangeAspect="1"/>
          </p:cNvPicPr>
          <p:nvPr/>
        </p:nvPicPr>
        <p:blipFill rotWithShape="1">
          <a:blip r:embed="rId2"/>
          <a:srcRect l="-198" t="2947"/>
          <a:stretch/>
        </p:blipFill>
        <p:spPr>
          <a:xfrm>
            <a:off x="1212352" y="1212351"/>
            <a:ext cx="9455648" cy="5553188"/>
          </a:xfrm>
          <a:prstGeom prst="snipRoundRect">
            <a:avLst>
              <a:gd name="adj1" fmla="val 16667"/>
              <a:gd name="adj2" fmla="val 32079"/>
            </a:avLst>
          </a:prstGeom>
        </p:spPr>
      </p:pic>
    </p:spTree>
    <p:extLst>
      <p:ext uri="{BB962C8B-B14F-4D97-AF65-F5344CB8AC3E}">
        <p14:creationId xmlns:p14="http://schemas.microsoft.com/office/powerpoint/2010/main" val="2586043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F321D-EDF0-4581-9FBC-3EA38261CC7C}"/>
              </a:ext>
            </a:extLst>
          </p:cNvPr>
          <p:cNvSpPr>
            <a:spLocks noGrp="1"/>
          </p:cNvSpPr>
          <p:nvPr>
            <p:ph type="title"/>
          </p:nvPr>
        </p:nvSpPr>
        <p:spPr/>
        <p:txBody>
          <a:bodyPr/>
          <a:lstStyle/>
          <a:p>
            <a:r>
              <a:rPr lang="en-CA" dirty="0"/>
              <a:t>Small Engine Basic Safety</a:t>
            </a:r>
          </a:p>
        </p:txBody>
      </p:sp>
      <p:pic>
        <p:nvPicPr>
          <p:cNvPr id="5" name="Picture 4">
            <a:extLst>
              <a:ext uri="{FF2B5EF4-FFF2-40B4-BE49-F238E27FC236}">
                <a16:creationId xmlns:a16="http://schemas.microsoft.com/office/drawing/2014/main" id="{310278BB-83BB-483E-8008-E2FE62522AA7}"/>
              </a:ext>
            </a:extLst>
          </p:cNvPr>
          <p:cNvPicPr>
            <a:picLocks noChangeAspect="1"/>
          </p:cNvPicPr>
          <p:nvPr/>
        </p:nvPicPr>
        <p:blipFill>
          <a:blip r:embed="rId2"/>
          <a:stretch>
            <a:fillRect/>
          </a:stretch>
        </p:blipFill>
        <p:spPr>
          <a:xfrm>
            <a:off x="838200" y="1344257"/>
            <a:ext cx="10060172" cy="5306741"/>
          </a:xfrm>
          <a:prstGeom prst="rect">
            <a:avLst/>
          </a:prstGeom>
        </p:spPr>
      </p:pic>
    </p:spTree>
    <p:extLst>
      <p:ext uri="{BB962C8B-B14F-4D97-AF65-F5344CB8AC3E}">
        <p14:creationId xmlns:p14="http://schemas.microsoft.com/office/powerpoint/2010/main" val="1161709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D30AA-F12E-469F-B30E-75B1517271F1}"/>
              </a:ext>
            </a:extLst>
          </p:cNvPr>
          <p:cNvSpPr>
            <a:spLocks noGrp="1"/>
          </p:cNvSpPr>
          <p:nvPr>
            <p:ph type="title"/>
          </p:nvPr>
        </p:nvSpPr>
        <p:spPr/>
        <p:txBody>
          <a:bodyPr/>
          <a:lstStyle/>
          <a:p>
            <a:r>
              <a:rPr lang="en-CA" dirty="0"/>
              <a:t>Engine Start Safety</a:t>
            </a:r>
          </a:p>
        </p:txBody>
      </p:sp>
      <p:sp>
        <p:nvSpPr>
          <p:cNvPr id="3" name="Content Placeholder 2">
            <a:extLst>
              <a:ext uri="{FF2B5EF4-FFF2-40B4-BE49-F238E27FC236}">
                <a16:creationId xmlns:a16="http://schemas.microsoft.com/office/drawing/2014/main" id="{387EB066-670A-4246-9FDB-A3CA8EA154B3}"/>
              </a:ext>
            </a:extLst>
          </p:cNvPr>
          <p:cNvSpPr>
            <a:spLocks noGrp="1"/>
          </p:cNvSpPr>
          <p:nvPr>
            <p:ph idx="1"/>
          </p:nvPr>
        </p:nvSpPr>
        <p:spPr/>
        <p:txBody>
          <a:bodyPr/>
          <a:lstStyle/>
          <a:p>
            <a:r>
              <a:rPr lang="en-CA" dirty="0"/>
              <a:t>This is a manual recoil engine. Make sure the switch is on before pulling the starting handle. </a:t>
            </a:r>
          </a:p>
        </p:txBody>
      </p:sp>
      <p:pic>
        <p:nvPicPr>
          <p:cNvPr id="7" name="Picture 6">
            <a:extLst>
              <a:ext uri="{FF2B5EF4-FFF2-40B4-BE49-F238E27FC236}">
                <a16:creationId xmlns:a16="http://schemas.microsoft.com/office/drawing/2014/main" id="{22AF6617-D85B-4FD2-8BA1-D027DFA14B0B}"/>
              </a:ext>
            </a:extLst>
          </p:cNvPr>
          <p:cNvPicPr>
            <a:picLocks noChangeAspect="1"/>
          </p:cNvPicPr>
          <p:nvPr/>
        </p:nvPicPr>
        <p:blipFill>
          <a:blip r:embed="rId2"/>
          <a:stretch>
            <a:fillRect/>
          </a:stretch>
        </p:blipFill>
        <p:spPr>
          <a:xfrm>
            <a:off x="1009650" y="2938383"/>
            <a:ext cx="8587231" cy="1685767"/>
          </a:xfrm>
          <a:prstGeom prst="rect">
            <a:avLst/>
          </a:prstGeom>
        </p:spPr>
      </p:pic>
      <p:pic>
        <p:nvPicPr>
          <p:cNvPr id="9" name="Picture 8">
            <a:extLst>
              <a:ext uri="{FF2B5EF4-FFF2-40B4-BE49-F238E27FC236}">
                <a16:creationId xmlns:a16="http://schemas.microsoft.com/office/drawing/2014/main" id="{0BDA9024-0936-4764-83B9-AD944DF0328C}"/>
              </a:ext>
            </a:extLst>
          </p:cNvPr>
          <p:cNvPicPr>
            <a:picLocks noChangeAspect="1"/>
          </p:cNvPicPr>
          <p:nvPr/>
        </p:nvPicPr>
        <p:blipFill>
          <a:blip r:embed="rId3"/>
          <a:stretch>
            <a:fillRect/>
          </a:stretch>
        </p:blipFill>
        <p:spPr>
          <a:xfrm>
            <a:off x="1009650" y="4765913"/>
            <a:ext cx="8348330" cy="1545987"/>
          </a:xfrm>
          <a:prstGeom prst="rect">
            <a:avLst/>
          </a:prstGeom>
        </p:spPr>
      </p:pic>
    </p:spTree>
    <p:extLst>
      <p:ext uri="{BB962C8B-B14F-4D97-AF65-F5344CB8AC3E}">
        <p14:creationId xmlns:p14="http://schemas.microsoft.com/office/powerpoint/2010/main" val="2602152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F40E0-3D67-42B1-9375-34AFED2A2548}"/>
              </a:ext>
            </a:extLst>
          </p:cNvPr>
          <p:cNvSpPr>
            <a:spLocks noGrp="1"/>
          </p:cNvSpPr>
          <p:nvPr>
            <p:ph type="title"/>
          </p:nvPr>
        </p:nvSpPr>
        <p:spPr/>
        <p:txBody>
          <a:bodyPr/>
          <a:lstStyle/>
          <a:p>
            <a:r>
              <a:rPr lang="en-CA" dirty="0"/>
              <a:t>Engine Operation</a:t>
            </a:r>
          </a:p>
        </p:txBody>
      </p:sp>
      <p:sp>
        <p:nvSpPr>
          <p:cNvPr id="3" name="Content Placeholder 2">
            <a:extLst>
              <a:ext uri="{FF2B5EF4-FFF2-40B4-BE49-F238E27FC236}">
                <a16:creationId xmlns:a16="http://schemas.microsoft.com/office/drawing/2014/main" id="{D7908911-7486-4E29-A632-A5910E10FBBF}"/>
              </a:ext>
            </a:extLst>
          </p:cNvPr>
          <p:cNvSpPr>
            <a:spLocks noGrp="1"/>
          </p:cNvSpPr>
          <p:nvPr>
            <p:ph idx="1"/>
          </p:nvPr>
        </p:nvSpPr>
        <p:spPr>
          <a:xfrm>
            <a:off x="838200" y="1571108"/>
            <a:ext cx="10515600" cy="4351338"/>
          </a:xfrm>
        </p:spPr>
        <p:txBody>
          <a:bodyPr>
            <a:normAutofit/>
          </a:bodyPr>
          <a:lstStyle/>
          <a:p>
            <a:r>
              <a:rPr lang="en-CA" sz="2400" dirty="0"/>
              <a:t>Torque and speed measurements in this apparatus are done using a </a:t>
            </a:r>
            <a:r>
              <a:rPr lang="en-US" sz="2400" dirty="0"/>
              <a:t>dynamometer (or "dyno" for short), which is a device for simultaneously measuring the torque and rotational speed (RPM) of an engine. See experiment handout for location of water valves connecting to the dynamometer.</a:t>
            </a:r>
            <a:endParaRPr lang="en-CA" sz="2400" dirty="0"/>
          </a:p>
        </p:txBody>
      </p:sp>
      <p:pic>
        <p:nvPicPr>
          <p:cNvPr id="5" name="Picture 4">
            <a:extLst>
              <a:ext uri="{FF2B5EF4-FFF2-40B4-BE49-F238E27FC236}">
                <a16:creationId xmlns:a16="http://schemas.microsoft.com/office/drawing/2014/main" id="{0CE09E61-606D-4F6D-9666-0FBDB5D4F53D}"/>
              </a:ext>
            </a:extLst>
          </p:cNvPr>
          <p:cNvPicPr>
            <a:picLocks noChangeAspect="1"/>
          </p:cNvPicPr>
          <p:nvPr/>
        </p:nvPicPr>
        <p:blipFill>
          <a:blip r:embed="rId2"/>
          <a:stretch>
            <a:fillRect/>
          </a:stretch>
        </p:blipFill>
        <p:spPr>
          <a:xfrm>
            <a:off x="1575169" y="3429000"/>
            <a:ext cx="8295146" cy="1472591"/>
          </a:xfrm>
          <a:prstGeom prst="rect">
            <a:avLst/>
          </a:prstGeom>
        </p:spPr>
      </p:pic>
      <p:pic>
        <p:nvPicPr>
          <p:cNvPr id="7" name="Picture 6">
            <a:extLst>
              <a:ext uri="{FF2B5EF4-FFF2-40B4-BE49-F238E27FC236}">
                <a16:creationId xmlns:a16="http://schemas.microsoft.com/office/drawing/2014/main" id="{5BA3CEEE-7344-41D7-93A4-F3EF696BC7EF}"/>
              </a:ext>
            </a:extLst>
          </p:cNvPr>
          <p:cNvPicPr>
            <a:picLocks noChangeAspect="1"/>
          </p:cNvPicPr>
          <p:nvPr/>
        </p:nvPicPr>
        <p:blipFill>
          <a:blip r:embed="rId3"/>
          <a:stretch>
            <a:fillRect/>
          </a:stretch>
        </p:blipFill>
        <p:spPr>
          <a:xfrm>
            <a:off x="1575169" y="4768702"/>
            <a:ext cx="9654368" cy="1206796"/>
          </a:xfrm>
          <a:prstGeom prst="rect">
            <a:avLst/>
          </a:prstGeom>
        </p:spPr>
      </p:pic>
    </p:spTree>
    <p:extLst>
      <p:ext uri="{BB962C8B-B14F-4D97-AF65-F5344CB8AC3E}">
        <p14:creationId xmlns:p14="http://schemas.microsoft.com/office/powerpoint/2010/main" val="3357845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5EB06-800C-47EC-9D23-0D86BE40A16E}"/>
              </a:ext>
            </a:extLst>
          </p:cNvPr>
          <p:cNvSpPr>
            <a:spLocks noGrp="1"/>
          </p:cNvSpPr>
          <p:nvPr>
            <p:ph type="title"/>
          </p:nvPr>
        </p:nvSpPr>
        <p:spPr/>
        <p:txBody>
          <a:bodyPr/>
          <a:lstStyle/>
          <a:p>
            <a:r>
              <a:rPr lang="en-CA" dirty="0"/>
              <a:t>Instrument Frame</a:t>
            </a:r>
          </a:p>
        </p:txBody>
      </p:sp>
      <p:sp>
        <p:nvSpPr>
          <p:cNvPr id="3" name="Content Placeholder 2">
            <a:extLst>
              <a:ext uri="{FF2B5EF4-FFF2-40B4-BE49-F238E27FC236}">
                <a16:creationId xmlns:a16="http://schemas.microsoft.com/office/drawing/2014/main" id="{40FB1B98-28B8-408C-905B-56B932CEB9C2}"/>
              </a:ext>
            </a:extLst>
          </p:cNvPr>
          <p:cNvSpPr>
            <a:spLocks noGrp="1"/>
          </p:cNvSpPr>
          <p:nvPr>
            <p:ph idx="1"/>
          </p:nvPr>
        </p:nvSpPr>
        <p:spPr>
          <a:xfrm>
            <a:off x="838199" y="1825625"/>
            <a:ext cx="5094767" cy="4351338"/>
          </a:xfrm>
        </p:spPr>
        <p:txBody>
          <a:bodyPr>
            <a:normAutofit/>
          </a:bodyPr>
          <a:lstStyle/>
          <a:p>
            <a:r>
              <a:rPr lang="en-CA" sz="2400" dirty="0"/>
              <a:t>Test bed and the instrument frame are kept separately to avoid damage to the instrument frame due to vibration.</a:t>
            </a:r>
          </a:p>
          <a:p>
            <a:r>
              <a:rPr lang="en-CA" sz="2400" dirty="0"/>
              <a:t>Instrument frame includes fuel measurement levels and </a:t>
            </a:r>
            <a:r>
              <a:rPr lang="en-CA" sz="2400" b="1" dirty="0">
                <a:solidFill>
                  <a:srgbClr val="FF0000"/>
                </a:solidFill>
              </a:rPr>
              <a:t>fuel tank</a:t>
            </a:r>
            <a:r>
              <a:rPr lang="en-CA" sz="2400" dirty="0"/>
              <a:t>, and </a:t>
            </a:r>
            <a:r>
              <a:rPr lang="en-CA" sz="2400" b="1" dirty="0">
                <a:solidFill>
                  <a:srgbClr val="FF0000"/>
                </a:solidFill>
              </a:rPr>
              <a:t>fuel lines.</a:t>
            </a:r>
          </a:p>
        </p:txBody>
      </p:sp>
      <p:pic>
        <p:nvPicPr>
          <p:cNvPr id="5" name="Picture 4">
            <a:extLst>
              <a:ext uri="{FF2B5EF4-FFF2-40B4-BE49-F238E27FC236}">
                <a16:creationId xmlns:a16="http://schemas.microsoft.com/office/drawing/2014/main" id="{B1CDB70D-E2DE-4B96-BDC3-859CC4D393F7}"/>
              </a:ext>
            </a:extLst>
          </p:cNvPr>
          <p:cNvPicPr>
            <a:picLocks noChangeAspect="1"/>
          </p:cNvPicPr>
          <p:nvPr/>
        </p:nvPicPr>
        <p:blipFill>
          <a:blip r:embed="rId2"/>
          <a:stretch>
            <a:fillRect/>
          </a:stretch>
        </p:blipFill>
        <p:spPr>
          <a:xfrm>
            <a:off x="6457728" y="659330"/>
            <a:ext cx="5534025" cy="4124325"/>
          </a:xfrm>
          <a:prstGeom prst="rect">
            <a:avLst/>
          </a:prstGeom>
        </p:spPr>
      </p:pic>
      <p:sp>
        <p:nvSpPr>
          <p:cNvPr id="6" name="Oval 5">
            <a:extLst>
              <a:ext uri="{FF2B5EF4-FFF2-40B4-BE49-F238E27FC236}">
                <a16:creationId xmlns:a16="http://schemas.microsoft.com/office/drawing/2014/main" id="{192A01B3-7C10-4F8C-B6D8-405CBD8A7B81}"/>
              </a:ext>
            </a:extLst>
          </p:cNvPr>
          <p:cNvSpPr/>
          <p:nvPr/>
        </p:nvSpPr>
        <p:spPr>
          <a:xfrm>
            <a:off x="7772400" y="202019"/>
            <a:ext cx="4106162" cy="282826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8" name="Picture 7">
            <a:extLst>
              <a:ext uri="{FF2B5EF4-FFF2-40B4-BE49-F238E27FC236}">
                <a16:creationId xmlns:a16="http://schemas.microsoft.com/office/drawing/2014/main" id="{36877288-4D2E-4907-8579-7F7DB8383CA1}"/>
              </a:ext>
            </a:extLst>
          </p:cNvPr>
          <p:cNvPicPr>
            <a:picLocks noChangeAspect="1"/>
          </p:cNvPicPr>
          <p:nvPr/>
        </p:nvPicPr>
        <p:blipFill>
          <a:blip r:embed="rId3"/>
          <a:stretch>
            <a:fillRect/>
          </a:stretch>
        </p:blipFill>
        <p:spPr>
          <a:xfrm>
            <a:off x="982185" y="5077860"/>
            <a:ext cx="10077451" cy="1229609"/>
          </a:xfrm>
          <a:prstGeom prst="rect">
            <a:avLst/>
          </a:prstGeom>
        </p:spPr>
      </p:pic>
    </p:spTree>
    <p:extLst>
      <p:ext uri="{BB962C8B-B14F-4D97-AF65-F5344CB8AC3E}">
        <p14:creationId xmlns:p14="http://schemas.microsoft.com/office/powerpoint/2010/main" val="3579362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C2716-3F57-485D-B8AF-FB527618700A}"/>
              </a:ext>
            </a:extLst>
          </p:cNvPr>
          <p:cNvSpPr>
            <a:spLocks noGrp="1"/>
          </p:cNvSpPr>
          <p:nvPr>
            <p:ph type="title"/>
          </p:nvPr>
        </p:nvSpPr>
        <p:spPr/>
        <p:txBody>
          <a:bodyPr/>
          <a:lstStyle/>
          <a:p>
            <a:r>
              <a:rPr lang="en-CA" dirty="0"/>
              <a:t>Fuel Tank Safety</a:t>
            </a:r>
          </a:p>
        </p:txBody>
      </p:sp>
      <p:sp>
        <p:nvSpPr>
          <p:cNvPr id="3" name="Content Placeholder 2">
            <a:extLst>
              <a:ext uri="{FF2B5EF4-FFF2-40B4-BE49-F238E27FC236}">
                <a16:creationId xmlns:a16="http://schemas.microsoft.com/office/drawing/2014/main" id="{2BC8B286-B127-41E2-999B-74E7F07C5A37}"/>
              </a:ext>
            </a:extLst>
          </p:cNvPr>
          <p:cNvSpPr>
            <a:spLocks noGrp="1"/>
          </p:cNvSpPr>
          <p:nvPr>
            <p:ph idx="1"/>
          </p:nvPr>
        </p:nvSpPr>
        <p:spPr>
          <a:xfrm>
            <a:off x="838200" y="1825625"/>
            <a:ext cx="7221279" cy="4351338"/>
          </a:xfrm>
        </p:spPr>
        <p:txBody>
          <a:bodyPr/>
          <a:lstStyle/>
          <a:p>
            <a:r>
              <a:rPr lang="en-CA" sz="2800" b="1" dirty="0"/>
              <a:t>Under no circumstances student must attempt </a:t>
            </a:r>
            <a:r>
              <a:rPr lang="en-CA" sz="2800" b="1" dirty="0">
                <a:solidFill>
                  <a:srgbClr val="FF0000"/>
                </a:solidFill>
              </a:rPr>
              <a:t>refueling the tank</a:t>
            </a:r>
            <a:r>
              <a:rPr lang="en-CA" sz="2800" b="1" dirty="0"/>
              <a:t>.</a:t>
            </a:r>
          </a:p>
          <a:p>
            <a:r>
              <a:rPr lang="en-CA" dirty="0"/>
              <a:t>Fuel Tank has a drain valve. </a:t>
            </a:r>
            <a:r>
              <a:rPr lang="en-CA" sz="2800" b="1" dirty="0">
                <a:solidFill>
                  <a:srgbClr val="FF0000"/>
                </a:solidFill>
              </a:rPr>
              <a:t>Under no circumstances student are allowed to open this valve </a:t>
            </a:r>
            <a:r>
              <a:rPr lang="en-CA" sz="2800" b="1" dirty="0"/>
              <a:t>during or after the experiment.</a:t>
            </a:r>
          </a:p>
          <a:p>
            <a:r>
              <a:rPr lang="en-CA" b="1" dirty="0"/>
              <a:t>Fuel unused in the </a:t>
            </a:r>
            <a:r>
              <a:rPr lang="en-CA" b="1" dirty="0">
                <a:solidFill>
                  <a:srgbClr val="FF0000"/>
                </a:solidFill>
              </a:rPr>
              <a:t>fuel line must be redrained back into the fuel tank </a:t>
            </a:r>
            <a:r>
              <a:rPr lang="en-CA" b="1" dirty="0"/>
              <a:t>at the end of experiments.</a:t>
            </a:r>
            <a:endParaRPr lang="en-CA" sz="2800" b="1" dirty="0"/>
          </a:p>
          <a:p>
            <a:endParaRPr lang="en-CA" dirty="0"/>
          </a:p>
        </p:txBody>
      </p:sp>
      <p:pic>
        <p:nvPicPr>
          <p:cNvPr id="5" name="Picture 4">
            <a:extLst>
              <a:ext uri="{FF2B5EF4-FFF2-40B4-BE49-F238E27FC236}">
                <a16:creationId xmlns:a16="http://schemas.microsoft.com/office/drawing/2014/main" id="{193C3667-C8BF-4B6A-BD21-F9E874C9B709}"/>
              </a:ext>
            </a:extLst>
          </p:cNvPr>
          <p:cNvPicPr>
            <a:picLocks noChangeAspect="1"/>
          </p:cNvPicPr>
          <p:nvPr/>
        </p:nvPicPr>
        <p:blipFill>
          <a:blip r:embed="rId2"/>
          <a:stretch>
            <a:fillRect/>
          </a:stretch>
        </p:blipFill>
        <p:spPr>
          <a:xfrm>
            <a:off x="418214" y="5371767"/>
            <a:ext cx="8648600" cy="1075531"/>
          </a:xfrm>
          <a:prstGeom prst="rect">
            <a:avLst/>
          </a:prstGeom>
        </p:spPr>
      </p:pic>
      <p:pic>
        <p:nvPicPr>
          <p:cNvPr id="7" name="Picture 6">
            <a:extLst>
              <a:ext uri="{FF2B5EF4-FFF2-40B4-BE49-F238E27FC236}">
                <a16:creationId xmlns:a16="http://schemas.microsoft.com/office/drawing/2014/main" id="{11428192-1D38-4B71-9731-B0BA3F8649C7}"/>
              </a:ext>
            </a:extLst>
          </p:cNvPr>
          <p:cNvPicPr>
            <a:picLocks noChangeAspect="1"/>
          </p:cNvPicPr>
          <p:nvPr/>
        </p:nvPicPr>
        <p:blipFill>
          <a:blip r:embed="rId3"/>
          <a:stretch>
            <a:fillRect/>
          </a:stretch>
        </p:blipFill>
        <p:spPr>
          <a:xfrm>
            <a:off x="8272684" y="948467"/>
            <a:ext cx="3224877" cy="4690730"/>
          </a:xfrm>
          <a:prstGeom prst="rect">
            <a:avLst/>
          </a:prstGeom>
        </p:spPr>
      </p:pic>
      <p:sp>
        <p:nvSpPr>
          <p:cNvPr id="8" name="Oval 7">
            <a:extLst>
              <a:ext uri="{FF2B5EF4-FFF2-40B4-BE49-F238E27FC236}">
                <a16:creationId xmlns:a16="http://schemas.microsoft.com/office/drawing/2014/main" id="{1DCEBCF5-8A15-4FA3-8B11-C49DD53BA5F7}"/>
              </a:ext>
            </a:extLst>
          </p:cNvPr>
          <p:cNvSpPr/>
          <p:nvPr/>
        </p:nvSpPr>
        <p:spPr>
          <a:xfrm>
            <a:off x="9284903" y="5130606"/>
            <a:ext cx="1275907" cy="58479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Oval 8">
            <a:extLst>
              <a:ext uri="{FF2B5EF4-FFF2-40B4-BE49-F238E27FC236}">
                <a16:creationId xmlns:a16="http://schemas.microsoft.com/office/drawing/2014/main" id="{0A1C0EC5-4E87-4116-8EA5-42361DE35551}"/>
              </a:ext>
            </a:extLst>
          </p:cNvPr>
          <p:cNvSpPr/>
          <p:nvPr/>
        </p:nvSpPr>
        <p:spPr>
          <a:xfrm>
            <a:off x="8313353" y="1358706"/>
            <a:ext cx="1275907" cy="58479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473841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A2AA1-7BB0-4066-8632-7E0D724E6157}"/>
              </a:ext>
            </a:extLst>
          </p:cNvPr>
          <p:cNvSpPr>
            <a:spLocks noGrp="1"/>
          </p:cNvSpPr>
          <p:nvPr>
            <p:ph type="title"/>
          </p:nvPr>
        </p:nvSpPr>
        <p:spPr/>
        <p:txBody>
          <a:bodyPr/>
          <a:lstStyle/>
          <a:p>
            <a:r>
              <a:rPr lang="en-CA" dirty="0"/>
              <a:t>Geothermal Heap Pump</a:t>
            </a:r>
          </a:p>
        </p:txBody>
      </p:sp>
      <p:sp>
        <p:nvSpPr>
          <p:cNvPr id="3" name="Content Placeholder 2">
            <a:extLst>
              <a:ext uri="{FF2B5EF4-FFF2-40B4-BE49-F238E27FC236}">
                <a16:creationId xmlns:a16="http://schemas.microsoft.com/office/drawing/2014/main" id="{0D1CFB7E-DFAA-43BE-9120-1D0614100168}"/>
              </a:ext>
            </a:extLst>
          </p:cNvPr>
          <p:cNvSpPr>
            <a:spLocks noGrp="1"/>
          </p:cNvSpPr>
          <p:nvPr>
            <p:ph idx="1"/>
          </p:nvPr>
        </p:nvSpPr>
        <p:spPr>
          <a:xfrm>
            <a:off x="386137" y="1866722"/>
            <a:ext cx="5709863" cy="4351338"/>
          </a:xfrm>
        </p:spPr>
        <p:txBody>
          <a:bodyPr>
            <a:normAutofit lnSpcReduction="10000"/>
          </a:bodyPr>
          <a:lstStyle/>
          <a:p>
            <a:r>
              <a:rPr lang="en-CA" dirty="0"/>
              <a:t>The mobile platform, house two energy storage (water) tanks with 3 speed circulating pumps to vary and measure water flow rates. </a:t>
            </a:r>
          </a:p>
          <a:p>
            <a:r>
              <a:rPr lang="en-CA" dirty="0"/>
              <a:t>Two Co-axial refrigerant heat exchangers with metering devices and a refrigerant reversing valve, direct the compressor's electrical mechanical energy to sensible and latent heat energy, through visible and tactile heat transfer and phase change. </a:t>
            </a:r>
          </a:p>
          <a:p>
            <a:pPr marL="0" indent="0">
              <a:buNone/>
            </a:pPr>
            <a:endParaRPr lang="en-CA" dirty="0"/>
          </a:p>
        </p:txBody>
      </p:sp>
      <p:pic>
        <p:nvPicPr>
          <p:cNvPr id="2050" name="Picture 2">
            <a:extLst>
              <a:ext uri="{FF2B5EF4-FFF2-40B4-BE49-F238E27FC236}">
                <a16:creationId xmlns:a16="http://schemas.microsoft.com/office/drawing/2014/main" id="{F2753872-5CB3-40C9-AA51-CAF8B06AAD4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473" r="6501"/>
          <a:stretch/>
        </p:blipFill>
        <p:spPr bwMode="auto">
          <a:xfrm>
            <a:off x="6574971" y="1418903"/>
            <a:ext cx="5617029" cy="5073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64109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32562-1617-46A5-B71D-470C786BAEB7}"/>
              </a:ext>
            </a:extLst>
          </p:cNvPr>
          <p:cNvSpPr>
            <a:spLocks noGrp="1"/>
          </p:cNvSpPr>
          <p:nvPr>
            <p:ph type="title"/>
          </p:nvPr>
        </p:nvSpPr>
        <p:spPr/>
        <p:txBody>
          <a:bodyPr/>
          <a:lstStyle/>
          <a:p>
            <a:r>
              <a:rPr lang="en-CA" dirty="0"/>
              <a:t>Geothermal Safety Considerations</a:t>
            </a:r>
          </a:p>
        </p:txBody>
      </p:sp>
      <p:sp>
        <p:nvSpPr>
          <p:cNvPr id="3" name="Content Placeholder 2">
            <a:extLst>
              <a:ext uri="{FF2B5EF4-FFF2-40B4-BE49-F238E27FC236}">
                <a16:creationId xmlns:a16="http://schemas.microsoft.com/office/drawing/2014/main" id="{146B1ABA-7E61-4F3F-B087-1B1F55BD24FF}"/>
              </a:ext>
            </a:extLst>
          </p:cNvPr>
          <p:cNvSpPr>
            <a:spLocks noGrp="1"/>
          </p:cNvSpPr>
          <p:nvPr>
            <p:ph idx="1"/>
          </p:nvPr>
        </p:nvSpPr>
        <p:spPr/>
        <p:txBody>
          <a:bodyPr>
            <a:normAutofit fontScale="92500"/>
          </a:bodyPr>
          <a:lstStyle/>
          <a:p>
            <a:r>
              <a:rPr lang="en-CA" dirty="0"/>
              <a:t>Temperature, pressure and electrical monitoring equipment are provided to calculate what the student is observing, and complete the learning experience. Electrical, water and refrigerant circuits are color coded for intuitive instruction. Water, drain and a 120 VAC grounded receptacle is all that is required to teach today's conventional heat pump technology. </a:t>
            </a:r>
          </a:p>
          <a:p>
            <a:r>
              <a:rPr lang="en-CA" dirty="0"/>
              <a:t>Basic health and safety, including electrical safety consideration apply in this lab. You will be required to measure temperature, using clip-on temperature sensors, and current, using current clamp meter.</a:t>
            </a:r>
          </a:p>
          <a:p>
            <a:r>
              <a:rPr lang="en-CA" dirty="0"/>
              <a:t>If you suspect that there is any leak in the system, or notice a rapid pressure change in the compressor, turn off the system and inform your instructor or lab technician  </a:t>
            </a:r>
          </a:p>
        </p:txBody>
      </p:sp>
    </p:spTree>
    <p:extLst>
      <p:ext uri="{BB962C8B-B14F-4D97-AF65-F5344CB8AC3E}">
        <p14:creationId xmlns:p14="http://schemas.microsoft.com/office/powerpoint/2010/main" val="14906013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BC61A-CA78-490C-B19C-21A44E8CC1CD}"/>
              </a:ext>
            </a:extLst>
          </p:cNvPr>
          <p:cNvSpPr>
            <a:spLocks noGrp="1"/>
          </p:cNvSpPr>
          <p:nvPr>
            <p:ph type="title"/>
          </p:nvPr>
        </p:nvSpPr>
        <p:spPr/>
        <p:txBody>
          <a:bodyPr/>
          <a:lstStyle/>
          <a:p>
            <a:r>
              <a:rPr lang="en-CA" dirty="0"/>
              <a:t>PASCO Air Heat Engine</a:t>
            </a:r>
          </a:p>
        </p:txBody>
      </p:sp>
      <p:sp>
        <p:nvSpPr>
          <p:cNvPr id="3" name="Content Placeholder 2">
            <a:extLst>
              <a:ext uri="{FF2B5EF4-FFF2-40B4-BE49-F238E27FC236}">
                <a16:creationId xmlns:a16="http://schemas.microsoft.com/office/drawing/2014/main" id="{21CEDD9E-C223-424E-AC85-49FDFC990434}"/>
              </a:ext>
            </a:extLst>
          </p:cNvPr>
          <p:cNvSpPr>
            <a:spLocks noGrp="1"/>
          </p:cNvSpPr>
          <p:nvPr>
            <p:ph idx="1"/>
          </p:nvPr>
        </p:nvSpPr>
        <p:spPr>
          <a:xfrm>
            <a:off x="838200" y="1927225"/>
            <a:ext cx="4279900" cy="4351338"/>
          </a:xfrm>
        </p:spPr>
        <p:txBody>
          <a:bodyPr/>
          <a:lstStyle/>
          <a:p>
            <a:r>
              <a:rPr lang="en-CA" dirty="0"/>
              <a:t>Thermodynamic cycles involving air compression, expansion in cold and hot baths is investigated using this apparatus.</a:t>
            </a:r>
          </a:p>
          <a:p>
            <a:r>
              <a:rPr lang="en-CA" dirty="0"/>
              <a:t>Basic as well as Hot plate health and safety instructions apply</a:t>
            </a:r>
          </a:p>
        </p:txBody>
      </p:sp>
      <p:pic>
        <p:nvPicPr>
          <p:cNvPr id="5" name="Picture 4">
            <a:extLst>
              <a:ext uri="{FF2B5EF4-FFF2-40B4-BE49-F238E27FC236}">
                <a16:creationId xmlns:a16="http://schemas.microsoft.com/office/drawing/2014/main" id="{098486B6-F224-4D56-A8A8-CAA829BD89AD}"/>
              </a:ext>
            </a:extLst>
          </p:cNvPr>
          <p:cNvPicPr>
            <a:picLocks noChangeAspect="1"/>
          </p:cNvPicPr>
          <p:nvPr/>
        </p:nvPicPr>
        <p:blipFill>
          <a:blip r:embed="rId2"/>
          <a:stretch>
            <a:fillRect/>
          </a:stretch>
        </p:blipFill>
        <p:spPr>
          <a:xfrm>
            <a:off x="5549900" y="1270000"/>
            <a:ext cx="6474298" cy="5588000"/>
          </a:xfrm>
          <a:prstGeom prst="flowChartAlternateProcess">
            <a:avLst/>
          </a:prstGeom>
        </p:spPr>
      </p:pic>
    </p:spTree>
    <p:extLst>
      <p:ext uri="{BB962C8B-B14F-4D97-AF65-F5344CB8AC3E}">
        <p14:creationId xmlns:p14="http://schemas.microsoft.com/office/powerpoint/2010/main" val="1071654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8424-33A7-45DC-A264-59E4D5AA05EC}"/>
              </a:ext>
            </a:extLst>
          </p:cNvPr>
          <p:cNvSpPr>
            <a:spLocks noGrp="1"/>
          </p:cNvSpPr>
          <p:nvPr>
            <p:ph type="title"/>
          </p:nvPr>
        </p:nvSpPr>
        <p:spPr/>
        <p:txBody>
          <a:bodyPr/>
          <a:lstStyle/>
          <a:p>
            <a:r>
              <a:rPr lang="en-CA" dirty="0"/>
              <a:t>Heat Transfer Equipment</a:t>
            </a:r>
          </a:p>
        </p:txBody>
      </p:sp>
      <p:pic>
        <p:nvPicPr>
          <p:cNvPr id="10" name="Content Placeholder 9" descr="Diagram&#10;&#10;Description automatically generated">
            <a:extLst>
              <a:ext uri="{FF2B5EF4-FFF2-40B4-BE49-F238E27FC236}">
                <a16:creationId xmlns:a16="http://schemas.microsoft.com/office/drawing/2014/main" id="{A7D32E85-0263-4EFB-AC70-3D1C689D28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90688"/>
            <a:ext cx="1907542" cy="1697713"/>
          </a:xfrm>
        </p:spPr>
      </p:pic>
      <p:pic>
        <p:nvPicPr>
          <p:cNvPr id="5" name="Picture 4">
            <a:extLst>
              <a:ext uri="{FF2B5EF4-FFF2-40B4-BE49-F238E27FC236}">
                <a16:creationId xmlns:a16="http://schemas.microsoft.com/office/drawing/2014/main" id="{9934916E-B0C6-4E8F-9692-B608813C2577}"/>
              </a:ext>
            </a:extLst>
          </p:cNvPr>
          <p:cNvPicPr>
            <a:picLocks noChangeAspect="1"/>
          </p:cNvPicPr>
          <p:nvPr/>
        </p:nvPicPr>
        <p:blipFill>
          <a:blip r:embed="rId3"/>
          <a:stretch>
            <a:fillRect/>
          </a:stretch>
        </p:blipFill>
        <p:spPr>
          <a:xfrm>
            <a:off x="7237494" y="1546225"/>
            <a:ext cx="4954506" cy="4164012"/>
          </a:xfrm>
          <a:prstGeom prst="rect">
            <a:avLst/>
          </a:prstGeom>
        </p:spPr>
      </p:pic>
      <p:sp>
        <p:nvSpPr>
          <p:cNvPr id="6" name="TextBox 5">
            <a:extLst>
              <a:ext uri="{FF2B5EF4-FFF2-40B4-BE49-F238E27FC236}">
                <a16:creationId xmlns:a16="http://schemas.microsoft.com/office/drawing/2014/main" id="{25BB55ED-FA52-406F-A870-240988F6A803}"/>
              </a:ext>
            </a:extLst>
          </p:cNvPr>
          <p:cNvSpPr txBox="1"/>
          <p:nvPr/>
        </p:nvSpPr>
        <p:spPr>
          <a:xfrm>
            <a:off x="8254246" y="5958959"/>
            <a:ext cx="3645653" cy="400110"/>
          </a:xfrm>
          <a:prstGeom prst="rect">
            <a:avLst/>
          </a:prstGeom>
          <a:noFill/>
        </p:spPr>
        <p:txBody>
          <a:bodyPr wrap="square" rtlCol="0">
            <a:spAutoFit/>
          </a:bodyPr>
          <a:lstStyle/>
          <a:p>
            <a:r>
              <a:rPr lang="en-CA" sz="2000" dirty="0"/>
              <a:t>Shell and Tube Heat Exchanger</a:t>
            </a:r>
          </a:p>
        </p:txBody>
      </p:sp>
      <p:pic>
        <p:nvPicPr>
          <p:cNvPr id="8" name="Picture 7">
            <a:extLst>
              <a:ext uri="{FF2B5EF4-FFF2-40B4-BE49-F238E27FC236}">
                <a16:creationId xmlns:a16="http://schemas.microsoft.com/office/drawing/2014/main" id="{C0581A8E-7DF4-40EF-8646-9C9065460A1C}"/>
              </a:ext>
            </a:extLst>
          </p:cNvPr>
          <p:cNvPicPr>
            <a:picLocks noChangeAspect="1"/>
          </p:cNvPicPr>
          <p:nvPr/>
        </p:nvPicPr>
        <p:blipFill>
          <a:blip r:embed="rId4"/>
          <a:stretch>
            <a:fillRect/>
          </a:stretch>
        </p:blipFill>
        <p:spPr>
          <a:xfrm>
            <a:off x="1856296" y="1401763"/>
            <a:ext cx="5396200" cy="4452937"/>
          </a:xfrm>
          <a:prstGeom prst="rect">
            <a:avLst/>
          </a:prstGeom>
        </p:spPr>
      </p:pic>
      <p:pic>
        <p:nvPicPr>
          <p:cNvPr id="12" name="Picture 11" descr="A picture containing indoor&#10;&#10;Description automatically generated">
            <a:extLst>
              <a:ext uri="{FF2B5EF4-FFF2-40B4-BE49-F238E27FC236}">
                <a16:creationId xmlns:a16="http://schemas.microsoft.com/office/drawing/2014/main" id="{4085FB45-1763-4D00-81CA-E46A27D4FE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276" y="3469600"/>
            <a:ext cx="1925572" cy="1697712"/>
          </a:xfrm>
          <a:prstGeom prst="rect">
            <a:avLst/>
          </a:prstGeom>
        </p:spPr>
      </p:pic>
      <p:sp>
        <p:nvSpPr>
          <p:cNvPr id="13" name="TextBox 12">
            <a:extLst>
              <a:ext uri="{FF2B5EF4-FFF2-40B4-BE49-F238E27FC236}">
                <a16:creationId xmlns:a16="http://schemas.microsoft.com/office/drawing/2014/main" id="{30F974E9-F071-4642-AE3E-08D751D4D7BF}"/>
              </a:ext>
            </a:extLst>
          </p:cNvPr>
          <p:cNvSpPr txBox="1"/>
          <p:nvPr/>
        </p:nvSpPr>
        <p:spPr>
          <a:xfrm>
            <a:off x="292102" y="5998339"/>
            <a:ext cx="6527798" cy="707886"/>
          </a:xfrm>
          <a:prstGeom prst="rect">
            <a:avLst/>
          </a:prstGeom>
          <a:noFill/>
        </p:spPr>
        <p:txBody>
          <a:bodyPr wrap="square" rtlCol="0">
            <a:spAutoFit/>
          </a:bodyPr>
          <a:lstStyle/>
          <a:p>
            <a:r>
              <a:rPr lang="en-CA" sz="2000" dirty="0"/>
              <a:t>Heat Conduction (linear and radial) and Extended Surface Convection and Radiation</a:t>
            </a:r>
          </a:p>
        </p:txBody>
      </p:sp>
    </p:spTree>
    <p:extLst>
      <p:ext uri="{BB962C8B-B14F-4D97-AF65-F5344CB8AC3E}">
        <p14:creationId xmlns:p14="http://schemas.microsoft.com/office/powerpoint/2010/main" val="36795016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6981-ADEB-4AB8-BC37-7F123268DD1E}"/>
              </a:ext>
            </a:extLst>
          </p:cNvPr>
          <p:cNvSpPr>
            <a:spLocks noGrp="1"/>
          </p:cNvSpPr>
          <p:nvPr>
            <p:ph type="title"/>
          </p:nvPr>
        </p:nvSpPr>
        <p:spPr/>
        <p:txBody>
          <a:bodyPr/>
          <a:lstStyle/>
          <a:p>
            <a:r>
              <a:rPr lang="en-CA" dirty="0"/>
              <a:t>Heat Transfer Equipment Safety</a:t>
            </a:r>
          </a:p>
        </p:txBody>
      </p:sp>
      <p:sp>
        <p:nvSpPr>
          <p:cNvPr id="3" name="Content Placeholder 2">
            <a:extLst>
              <a:ext uri="{FF2B5EF4-FFF2-40B4-BE49-F238E27FC236}">
                <a16:creationId xmlns:a16="http://schemas.microsoft.com/office/drawing/2014/main" id="{B8F8246A-D8D8-4937-8B99-792D7FA770FC}"/>
              </a:ext>
            </a:extLst>
          </p:cNvPr>
          <p:cNvSpPr>
            <a:spLocks noGrp="1"/>
          </p:cNvSpPr>
          <p:nvPr>
            <p:ph idx="1"/>
          </p:nvPr>
        </p:nvSpPr>
        <p:spPr>
          <a:xfrm>
            <a:off x="838200" y="1549400"/>
            <a:ext cx="10515600" cy="5308600"/>
          </a:xfrm>
        </p:spPr>
        <p:txBody>
          <a:bodyPr>
            <a:normAutofit lnSpcReduction="10000"/>
          </a:bodyPr>
          <a:lstStyle/>
          <a:p>
            <a:r>
              <a:rPr lang="en-CA" dirty="0"/>
              <a:t>Follow general health and safety instructions for heat transfer labs. </a:t>
            </a:r>
          </a:p>
          <a:p>
            <a:r>
              <a:rPr lang="en-CA" dirty="0"/>
              <a:t>Water is the usually the coolant for these labs. </a:t>
            </a:r>
            <a:r>
              <a:rPr lang="en-US" dirty="0">
                <a:solidFill>
                  <a:srgbClr val="FF0000"/>
                </a:solidFill>
              </a:rPr>
              <a:t>Always clean up any water spills Immediately. Never use any electrical twitches when you have wet hands.</a:t>
            </a:r>
          </a:p>
          <a:p>
            <a:r>
              <a:rPr lang="en-US" dirty="0"/>
              <a:t>Thermal conduction experiments may require you to use a thermal paste. Although the paste is non-toxic and harmless, it does not wash easily. Wear disposable gloves to apply thermal paste on samples.  </a:t>
            </a:r>
          </a:p>
          <a:p>
            <a:r>
              <a:rPr lang="en-US" dirty="0"/>
              <a:t>Various labs require various power setting for the electrical heaters in the unit. Never exceed the </a:t>
            </a:r>
            <a:r>
              <a:rPr lang="en-US" dirty="0">
                <a:solidFill>
                  <a:srgbClr val="FF0000"/>
                </a:solidFill>
              </a:rPr>
              <a:t>MAXIMUM ALLOWABLE </a:t>
            </a:r>
            <a:r>
              <a:rPr lang="en-US" dirty="0"/>
              <a:t>power identified for each lab. For instance: </a:t>
            </a:r>
          </a:p>
          <a:p>
            <a:pPr lvl="1">
              <a:buFont typeface="Wingdings" panose="05000000000000000000" pitchFamily="2" charset="2"/>
              <a:buChar char="Ø"/>
            </a:pPr>
            <a:r>
              <a:rPr lang="en-US" dirty="0"/>
              <a:t>For the extended surface convection/radiation, do not exceed 10 W power, or the temperature of the bar at the first thermocouple will become greater than </a:t>
            </a:r>
            <a:r>
              <a:rPr lang="en-US" dirty="0">
                <a:solidFill>
                  <a:srgbClr val="FF0000"/>
                </a:solidFill>
              </a:rPr>
              <a:t>100 °C. </a:t>
            </a:r>
            <a:endParaRPr lang="en-CA" dirty="0">
              <a:solidFill>
                <a:srgbClr val="FF0000"/>
              </a:solidFill>
            </a:endParaRPr>
          </a:p>
        </p:txBody>
      </p:sp>
    </p:spTree>
    <p:extLst>
      <p:ext uri="{BB962C8B-B14F-4D97-AF65-F5344CB8AC3E}">
        <p14:creationId xmlns:p14="http://schemas.microsoft.com/office/powerpoint/2010/main" val="2546984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0E1C5-E6CC-42A1-88D8-A547A21DFC64}"/>
              </a:ext>
            </a:extLst>
          </p:cNvPr>
          <p:cNvSpPr>
            <a:spLocks noGrp="1"/>
          </p:cNvSpPr>
          <p:nvPr>
            <p:ph type="title"/>
          </p:nvPr>
        </p:nvSpPr>
        <p:spPr/>
        <p:txBody>
          <a:bodyPr/>
          <a:lstStyle/>
          <a:p>
            <a:r>
              <a:rPr lang="en-CA" dirty="0"/>
              <a:t>Refrigeration Cycle</a:t>
            </a:r>
          </a:p>
        </p:txBody>
      </p:sp>
      <p:pic>
        <p:nvPicPr>
          <p:cNvPr id="7" name="Content Placeholder 6" descr="Graphical user interface, diagram&#10;&#10;Description automatically generated">
            <a:extLst>
              <a:ext uri="{FF2B5EF4-FFF2-40B4-BE49-F238E27FC236}">
                <a16:creationId xmlns:a16="http://schemas.microsoft.com/office/drawing/2014/main" id="{F96B2C82-C950-43C0-83E0-88A8018B64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87649" y="176054"/>
            <a:ext cx="8620352" cy="6034246"/>
          </a:xfrm>
        </p:spPr>
      </p:pic>
      <p:sp>
        <p:nvSpPr>
          <p:cNvPr id="8" name="Content Placeholder 2">
            <a:extLst>
              <a:ext uri="{FF2B5EF4-FFF2-40B4-BE49-F238E27FC236}">
                <a16:creationId xmlns:a16="http://schemas.microsoft.com/office/drawing/2014/main" id="{7EC67128-059E-485F-A457-558BEA20300A}"/>
              </a:ext>
            </a:extLst>
          </p:cNvPr>
          <p:cNvSpPr txBox="1">
            <a:spLocks/>
          </p:cNvSpPr>
          <p:nvPr/>
        </p:nvSpPr>
        <p:spPr>
          <a:xfrm>
            <a:off x="838200" y="1549400"/>
            <a:ext cx="4851400" cy="5308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dirty="0"/>
              <a:t>Follow general health and safety instructions for refrigeration cycle related labs.  All steps must be per student handouts and manuals.</a:t>
            </a:r>
          </a:p>
          <a:p>
            <a:r>
              <a:rPr lang="en-CA" dirty="0"/>
              <a:t>Various labs requires change in valve settings to test various refrigeration cycle concepts and throttling devices. </a:t>
            </a:r>
            <a:r>
              <a:rPr lang="en-CA" dirty="0">
                <a:solidFill>
                  <a:srgbClr val="FF0000"/>
                </a:solidFill>
              </a:rPr>
              <a:t>Do not change valve setting (ON/OFF) while the unit is operating</a:t>
            </a:r>
            <a:r>
              <a:rPr lang="en-CA" dirty="0"/>
              <a:t>. </a:t>
            </a:r>
          </a:p>
        </p:txBody>
      </p:sp>
    </p:spTree>
    <p:extLst>
      <p:ext uri="{BB962C8B-B14F-4D97-AF65-F5344CB8AC3E}">
        <p14:creationId xmlns:p14="http://schemas.microsoft.com/office/powerpoint/2010/main" val="3721496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7E1DF-7846-4D44-9CD6-A1AEC285F256}"/>
              </a:ext>
            </a:extLst>
          </p:cNvPr>
          <p:cNvSpPr>
            <a:spLocks noGrp="1"/>
          </p:cNvSpPr>
          <p:nvPr>
            <p:ph type="title"/>
          </p:nvPr>
        </p:nvSpPr>
        <p:spPr/>
        <p:txBody>
          <a:bodyPr/>
          <a:lstStyle/>
          <a:p>
            <a:r>
              <a:rPr lang="en-CA" dirty="0"/>
              <a:t>Bomb Calorimeter</a:t>
            </a:r>
          </a:p>
        </p:txBody>
      </p:sp>
      <p:sp>
        <p:nvSpPr>
          <p:cNvPr id="3" name="Content Placeholder 2">
            <a:extLst>
              <a:ext uri="{FF2B5EF4-FFF2-40B4-BE49-F238E27FC236}">
                <a16:creationId xmlns:a16="http://schemas.microsoft.com/office/drawing/2014/main" id="{81C5106C-0151-40BF-B738-7155ADAC32B3}"/>
              </a:ext>
            </a:extLst>
          </p:cNvPr>
          <p:cNvSpPr>
            <a:spLocks noGrp="1"/>
          </p:cNvSpPr>
          <p:nvPr>
            <p:ph idx="1"/>
          </p:nvPr>
        </p:nvSpPr>
        <p:spPr>
          <a:xfrm>
            <a:off x="838200" y="1825625"/>
            <a:ext cx="6870700" cy="4351338"/>
          </a:xfrm>
        </p:spPr>
        <p:txBody>
          <a:bodyPr/>
          <a:lstStyle/>
          <a:p>
            <a:r>
              <a:rPr lang="en-CA" dirty="0"/>
              <a:t>Apparatus to measure heating value of fuels</a:t>
            </a:r>
          </a:p>
          <a:p>
            <a:r>
              <a:rPr lang="en-CA" dirty="0"/>
              <a:t>Includes a pressure vessel filled with Oxygen at 20 bar</a:t>
            </a:r>
          </a:p>
          <a:p>
            <a:r>
              <a:rPr lang="en-CA" dirty="0"/>
              <a:t>CAREFULLY follow all steps based on lab instructions.</a:t>
            </a:r>
          </a:p>
          <a:p>
            <a:pPr marL="0" indent="0">
              <a:buNone/>
            </a:pPr>
            <a:endParaRPr lang="en-CA" dirty="0"/>
          </a:p>
        </p:txBody>
      </p:sp>
      <p:pic>
        <p:nvPicPr>
          <p:cNvPr id="5" name="Picture 4">
            <a:extLst>
              <a:ext uri="{FF2B5EF4-FFF2-40B4-BE49-F238E27FC236}">
                <a16:creationId xmlns:a16="http://schemas.microsoft.com/office/drawing/2014/main" id="{4A44A7BC-A438-4F0D-B74D-FD734CA5820A}"/>
              </a:ext>
            </a:extLst>
          </p:cNvPr>
          <p:cNvPicPr>
            <a:picLocks noChangeAspect="1"/>
          </p:cNvPicPr>
          <p:nvPr/>
        </p:nvPicPr>
        <p:blipFill>
          <a:blip r:embed="rId2"/>
          <a:stretch>
            <a:fillRect/>
          </a:stretch>
        </p:blipFill>
        <p:spPr>
          <a:xfrm>
            <a:off x="8140700" y="1825625"/>
            <a:ext cx="3010113" cy="4291012"/>
          </a:xfrm>
          <a:prstGeom prst="rect">
            <a:avLst/>
          </a:prstGeom>
        </p:spPr>
      </p:pic>
    </p:spTree>
    <p:extLst>
      <p:ext uri="{BB962C8B-B14F-4D97-AF65-F5344CB8AC3E}">
        <p14:creationId xmlns:p14="http://schemas.microsoft.com/office/powerpoint/2010/main" val="2386483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1D9EC-1DD8-4BE8-9A20-3F44F582D6AA}"/>
              </a:ext>
            </a:extLst>
          </p:cNvPr>
          <p:cNvSpPr>
            <a:spLocks noGrp="1"/>
          </p:cNvSpPr>
          <p:nvPr>
            <p:ph type="title"/>
          </p:nvPr>
        </p:nvSpPr>
        <p:spPr/>
        <p:txBody>
          <a:bodyPr/>
          <a:lstStyle/>
          <a:p>
            <a:r>
              <a:rPr lang="en-CA" dirty="0"/>
              <a:t>Bomb Calorimeter Safety</a:t>
            </a:r>
          </a:p>
        </p:txBody>
      </p:sp>
      <p:sp>
        <p:nvSpPr>
          <p:cNvPr id="3" name="Content Placeholder 2">
            <a:extLst>
              <a:ext uri="{FF2B5EF4-FFF2-40B4-BE49-F238E27FC236}">
                <a16:creationId xmlns:a16="http://schemas.microsoft.com/office/drawing/2014/main" id="{B38CE6A4-1805-4AEF-AFC8-B36F57ADF814}"/>
              </a:ext>
            </a:extLst>
          </p:cNvPr>
          <p:cNvSpPr>
            <a:spLocks noGrp="1"/>
          </p:cNvSpPr>
          <p:nvPr>
            <p:ph idx="1"/>
          </p:nvPr>
        </p:nvSpPr>
        <p:spPr>
          <a:xfrm>
            <a:off x="520700" y="1027906"/>
            <a:ext cx="11150600" cy="4351338"/>
          </a:xfrm>
        </p:spPr>
        <p:txBody>
          <a:bodyPr>
            <a:noAutofit/>
          </a:bodyPr>
          <a:lstStyle/>
          <a:p>
            <a:pPr algn="l"/>
            <a:endParaRPr lang="en-US" sz="2200" b="0" i="0" u="none" strike="noStrike" baseline="0" dirty="0">
              <a:latin typeface="TimesNewRoman"/>
            </a:endParaRPr>
          </a:p>
          <a:p>
            <a:pPr algn="l"/>
            <a:r>
              <a:rPr lang="en-US" sz="2200" b="0" i="0" u="none" strike="noStrike" baseline="0" dirty="0">
                <a:latin typeface="TimesNewRoman"/>
              </a:rPr>
              <a:t>Do not use too much sample. The total charge placed in the bomb must not liberate more than </a:t>
            </a:r>
            <a:r>
              <a:rPr lang="en-US" sz="2200" b="1" i="0" u="none" strike="noStrike" baseline="0" dirty="0">
                <a:solidFill>
                  <a:srgbClr val="FF0000"/>
                </a:solidFill>
                <a:latin typeface="TimesNewRoman"/>
              </a:rPr>
              <a:t>8000 calories </a:t>
            </a:r>
            <a:r>
              <a:rPr lang="en-US" sz="2200" b="0" i="0" u="none" strike="noStrike" baseline="0" dirty="0">
                <a:latin typeface="TimesNewRoman"/>
              </a:rPr>
              <a:t>when burned in oxygen at an initial pressure of 35 atmospheres. This usually limits the Samples weight to not more than </a:t>
            </a:r>
            <a:r>
              <a:rPr lang="en-US" sz="2200" b="1" i="0" u="none" strike="noStrike" baseline="0" dirty="0">
                <a:solidFill>
                  <a:srgbClr val="FF0000"/>
                </a:solidFill>
                <a:latin typeface="TimesNewRoman"/>
              </a:rPr>
              <a:t>1.1 </a:t>
            </a:r>
            <a:r>
              <a:rPr lang="en-CA" sz="2200" b="1" i="0" u="none" strike="noStrike" baseline="0" dirty="0">
                <a:solidFill>
                  <a:srgbClr val="FF0000"/>
                </a:solidFill>
                <a:latin typeface="TimesNewRoman"/>
              </a:rPr>
              <a:t>grams</a:t>
            </a:r>
            <a:r>
              <a:rPr lang="en-CA" sz="2200" b="0" i="0" u="none" strike="noStrike" baseline="0" dirty="0">
                <a:latin typeface="TimesNewRoman"/>
              </a:rPr>
              <a:t>. </a:t>
            </a:r>
            <a:r>
              <a:rPr lang="en-US" sz="2200" b="0" i="0" u="none" strike="noStrike" baseline="0" dirty="0">
                <a:latin typeface="TimesNewRoman"/>
              </a:rPr>
              <a:t>Use a small fraction of the maximum allowable sample weight when testing unfamiliar materials which may burn either rapidly or explosively. </a:t>
            </a:r>
          </a:p>
          <a:p>
            <a:pPr algn="l"/>
            <a:r>
              <a:rPr lang="en-US" sz="2200" b="0" i="0" u="none" strike="noStrike" baseline="0" dirty="0">
                <a:latin typeface="TimesNewRoman"/>
              </a:rPr>
              <a:t>Do not fill the bomb with more oxygen than is  necessary to obtain complete combustion (25 bar based on your lab handout). </a:t>
            </a:r>
            <a:r>
              <a:rPr lang="en-US" sz="2200" b="0" i="0" u="none" strike="noStrike" baseline="0" dirty="0">
                <a:solidFill>
                  <a:srgbClr val="FF0000"/>
                </a:solidFill>
                <a:latin typeface="TimesNewRoman"/>
              </a:rPr>
              <a:t>Under no circumstance fire the bomb if it is pressurized to more than </a:t>
            </a:r>
            <a:r>
              <a:rPr lang="en-US" sz="2200" b="1" i="0" u="none" strike="noStrike" baseline="0" dirty="0">
                <a:solidFill>
                  <a:srgbClr val="FF0000"/>
                </a:solidFill>
                <a:latin typeface="TimesNewRoman"/>
              </a:rPr>
              <a:t>35 </a:t>
            </a:r>
            <a:r>
              <a:rPr lang="en-CA" sz="2200" b="1" i="0" u="none" strike="noStrike" baseline="0" dirty="0">
                <a:solidFill>
                  <a:srgbClr val="FF0000"/>
                </a:solidFill>
                <a:latin typeface="TimesNewRoman"/>
              </a:rPr>
              <a:t>atmospheres</a:t>
            </a:r>
            <a:r>
              <a:rPr lang="en-CA" sz="2200" b="0" i="0" u="none" strike="noStrike" baseline="0" dirty="0">
                <a:solidFill>
                  <a:srgbClr val="FF0000"/>
                </a:solidFill>
                <a:latin typeface="TimesNewRoman"/>
              </a:rPr>
              <a:t>.</a:t>
            </a:r>
          </a:p>
          <a:p>
            <a:pPr algn="l"/>
            <a:r>
              <a:rPr lang="en-US" sz="2200" b="0" i="0" u="none" strike="noStrike" baseline="0" dirty="0">
                <a:latin typeface="TimesNewRoman"/>
              </a:rPr>
              <a:t>Keep all parts of the bomb, especially the valves and insulated electrode, in good repair at all times. If gas bubbles escape from the bomb when it is submerged in water, do not fire the charge.</a:t>
            </a:r>
          </a:p>
          <a:p>
            <a:pPr algn="l"/>
            <a:r>
              <a:rPr lang="en-US" sz="2200" b="1" i="0" u="none" strike="noStrike" baseline="0" dirty="0">
                <a:solidFill>
                  <a:srgbClr val="FF0000"/>
                </a:solidFill>
                <a:latin typeface="TimesNewRoman"/>
              </a:rPr>
              <a:t>Keep away from the top of the calorimeter for 30 seconds after firing</a:t>
            </a:r>
            <a:r>
              <a:rPr lang="en-US" sz="2200" b="0" i="0" u="none" strike="noStrike" baseline="0" dirty="0">
                <a:latin typeface="TimesNewRoman"/>
              </a:rPr>
              <a:t>. If the bomb should rupture, it is most likely that the resultant forces will be directed </a:t>
            </a:r>
            <a:r>
              <a:rPr lang="en-CA" sz="2200" b="0" i="0" u="none" strike="noStrike" baseline="0" dirty="0">
                <a:latin typeface="TimesNewRoman"/>
              </a:rPr>
              <a:t>along the vertical axis.</a:t>
            </a:r>
          </a:p>
          <a:p>
            <a:pPr algn="l"/>
            <a:r>
              <a:rPr lang="en-US" sz="2200" b="0" i="0" u="none" strike="noStrike" baseline="0" dirty="0">
                <a:latin typeface="TimesNewRoman"/>
              </a:rPr>
              <a:t>Never use lubricants on valves or fittings in contact </a:t>
            </a:r>
            <a:r>
              <a:rPr lang="en-CA" sz="2200" b="0" i="0" u="none" strike="noStrike" baseline="0" dirty="0">
                <a:latin typeface="TimesNewRoman"/>
              </a:rPr>
              <a:t>with high pressure oxygen.</a:t>
            </a:r>
            <a:endParaRPr lang="en-CA" sz="2200" dirty="0"/>
          </a:p>
        </p:txBody>
      </p:sp>
    </p:spTree>
    <p:extLst>
      <p:ext uri="{BB962C8B-B14F-4D97-AF65-F5344CB8AC3E}">
        <p14:creationId xmlns:p14="http://schemas.microsoft.com/office/powerpoint/2010/main" val="237833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11961</TotalTime>
  <Words>2205</Words>
  <Application>Microsoft Office PowerPoint</Application>
  <PresentationFormat>Widescreen</PresentationFormat>
  <Paragraphs>149</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Calibri,Bold</vt:lpstr>
      <vt:lpstr>TimesNewRoman</vt:lpstr>
      <vt:lpstr>Wingdings</vt:lpstr>
      <vt:lpstr>Office Theme</vt:lpstr>
      <vt:lpstr>Thermodynamics and Energy Systems Labs</vt:lpstr>
      <vt:lpstr>Outline</vt:lpstr>
      <vt:lpstr>General Health and Safety</vt:lpstr>
      <vt:lpstr>Work Attitude</vt:lpstr>
      <vt:lpstr>Lab Clothing / P.P.E.</vt:lpstr>
      <vt:lpstr>Eye Wash Stations</vt:lpstr>
      <vt:lpstr>Hearing Protection</vt:lpstr>
      <vt:lpstr>Machine Guards</vt:lpstr>
      <vt:lpstr>Hot Plate Safety</vt:lpstr>
      <vt:lpstr>Electrical General Safety</vt:lpstr>
      <vt:lpstr>Chemical General Safety</vt:lpstr>
      <vt:lpstr>Lab and Equipment Specific Safety Instructions</vt:lpstr>
      <vt:lpstr>Steam Turbine</vt:lpstr>
      <vt:lpstr>Safety Instructions Under ABNORMAL conditions</vt:lpstr>
      <vt:lpstr>Safety Instructions Under ABNORMAL conditions</vt:lpstr>
      <vt:lpstr>Safety Instructions Under ABNORMAL conditions</vt:lpstr>
      <vt:lpstr>Small Engine – Diesel and Gasoline Modules</vt:lpstr>
      <vt:lpstr>Small Engine Basic Safety</vt:lpstr>
      <vt:lpstr>Engine Start Safety</vt:lpstr>
      <vt:lpstr>Engine Operation</vt:lpstr>
      <vt:lpstr>Instrument Frame</vt:lpstr>
      <vt:lpstr>Fuel Tank Safety</vt:lpstr>
      <vt:lpstr>Geothermal Heap Pump</vt:lpstr>
      <vt:lpstr>Geothermal Safety Considerations</vt:lpstr>
      <vt:lpstr>PASCO Air Heat Engine</vt:lpstr>
      <vt:lpstr>Heat Transfer Equipment</vt:lpstr>
      <vt:lpstr>Heat Transfer Equipment Safety</vt:lpstr>
      <vt:lpstr>Refrigeration Cycle</vt:lpstr>
      <vt:lpstr>Bomb Calorimeter</vt:lpstr>
      <vt:lpstr>Bomb Calorimeter Safety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Thermodynamics Labs</dc:title>
  <dc:creator>Amin Ghobeity</dc:creator>
  <cp:lastModifiedBy>Amin Ghobeity</cp:lastModifiedBy>
  <cp:revision>58</cp:revision>
  <dcterms:created xsi:type="dcterms:W3CDTF">2022-10-29T11:53:08Z</dcterms:created>
  <dcterms:modified xsi:type="dcterms:W3CDTF">2023-01-31T12:58:12Z</dcterms:modified>
</cp:coreProperties>
</file>