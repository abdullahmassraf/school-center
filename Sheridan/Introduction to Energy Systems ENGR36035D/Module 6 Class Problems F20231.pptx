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57" r:id="rId3"/>
    <p:sldId id="258" r:id="rId4"/>
    <p:sldId id="259" r:id="rId5"/>
    <p:sldId id="262" r:id="rId6"/>
    <p:sldId id="263" r:id="rId7"/>
    <p:sldId id="264" r:id="rId8"/>
    <p:sldId id="265" r:id="rId9"/>
    <p:sldId id="268" r:id="rId10"/>
    <p:sldId id="269" r:id="rId11"/>
    <p:sldId id="270" r:id="rId12"/>
    <p:sldId id="266" r:id="rId13"/>
    <p:sldId id="27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EBEE3-CA56-4725-A76A-6093056F3F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7415F615-789F-4820-AFE2-58447BC04D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641F1A31-DDEB-4847-9906-EAAC7E43A8D6}"/>
              </a:ext>
            </a:extLst>
          </p:cNvPr>
          <p:cNvSpPr>
            <a:spLocks noGrp="1"/>
          </p:cNvSpPr>
          <p:nvPr>
            <p:ph type="dt" sz="half" idx="10"/>
          </p:nvPr>
        </p:nvSpPr>
        <p:spPr/>
        <p:txBody>
          <a:bodyPr/>
          <a:lstStyle/>
          <a:p>
            <a:fld id="{1DBB62AB-CE75-49E4-982B-34ED929434F7}" type="datetimeFigureOut">
              <a:rPr lang="en-CA" smtClean="0"/>
              <a:t>2024-10-29</a:t>
            </a:fld>
            <a:endParaRPr lang="en-CA"/>
          </a:p>
        </p:txBody>
      </p:sp>
      <p:sp>
        <p:nvSpPr>
          <p:cNvPr id="5" name="Footer Placeholder 4">
            <a:extLst>
              <a:ext uri="{FF2B5EF4-FFF2-40B4-BE49-F238E27FC236}">
                <a16:creationId xmlns:a16="http://schemas.microsoft.com/office/drawing/2014/main" id="{0C5B95D3-C851-4EE1-8560-07BAF3C7DEE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0BF7F3B-695D-4969-BA58-E1EF53D165F6}"/>
              </a:ext>
            </a:extLst>
          </p:cNvPr>
          <p:cNvSpPr>
            <a:spLocks noGrp="1"/>
          </p:cNvSpPr>
          <p:nvPr>
            <p:ph type="sldNum" sz="quarter" idx="12"/>
          </p:nvPr>
        </p:nvSpPr>
        <p:spPr/>
        <p:txBody>
          <a:bodyPr/>
          <a:lstStyle/>
          <a:p>
            <a:fld id="{07BEDE53-49AC-4799-87B3-0015F6D6C0D4}" type="slidenum">
              <a:rPr lang="en-CA" smtClean="0"/>
              <a:t>‹#›</a:t>
            </a:fld>
            <a:endParaRPr lang="en-CA"/>
          </a:p>
        </p:txBody>
      </p:sp>
    </p:spTree>
    <p:extLst>
      <p:ext uri="{BB962C8B-B14F-4D97-AF65-F5344CB8AC3E}">
        <p14:creationId xmlns:p14="http://schemas.microsoft.com/office/powerpoint/2010/main" val="2726756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4548F-A8AC-4B68-9B74-A171988E2ED7}"/>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2E0BB071-C920-455E-A0EE-842281328F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40A15FD-771B-4075-B1A2-639E57419483}"/>
              </a:ext>
            </a:extLst>
          </p:cNvPr>
          <p:cNvSpPr>
            <a:spLocks noGrp="1"/>
          </p:cNvSpPr>
          <p:nvPr>
            <p:ph type="dt" sz="half" idx="10"/>
          </p:nvPr>
        </p:nvSpPr>
        <p:spPr/>
        <p:txBody>
          <a:bodyPr/>
          <a:lstStyle/>
          <a:p>
            <a:fld id="{1DBB62AB-CE75-49E4-982B-34ED929434F7}" type="datetimeFigureOut">
              <a:rPr lang="en-CA" smtClean="0"/>
              <a:t>2024-10-29</a:t>
            </a:fld>
            <a:endParaRPr lang="en-CA"/>
          </a:p>
        </p:txBody>
      </p:sp>
      <p:sp>
        <p:nvSpPr>
          <p:cNvPr id="5" name="Footer Placeholder 4">
            <a:extLst>
              <a:ext uri="{FF2B5EF4-FFF2-40B4-BE49-F238E27FC236}">
                <a16:creationId xmlns:a16="http://schemas.microsoft.com/office/drawing/2014/main" id="{E0453E17-982B-4B7E-BD32-F6E2A452A95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162AD1E-624C-4D56-95D3-A6B3C3815679}"/>
              </a:ext>
            </a:extLst>
          </p:cNvPr>
          <p:cNvSpPr>
            <a:spLocks noGrp="1"/>
          </p:cNvSpPr>
          <p:nvPr>
            <p:ph type="sldNum" sz="quarter" idx="12"/>
          </p:nvPr>
        </p:nvSpPr>
        <p:spPr/>
        <p:txBody>
          <a:bodyPr/>
          <a:lstStyle/>
          <a:p>
            <a:fld id="{07BEDE53-49AC-4799-87B3-0015F6D6C0D4}" type="slidenum">
              <a:rPr lang="en-CA" smtClean="0"/>
              <a:t>‹#›</a:t>
            </a:fld>
            <a:endParaRPr lang="en-CA"/>
          </a:p>
        </p:txBody>
      </p:sp>
    </p:spTree>
    <p:extLst>
      <p:ext uri="{BB962C8B-B14F-4D97-AF65-F5344CB8AC3E}">
        <p14:creationId xmlns:p14="http://schemas.microsoft.com/office/powerpoint/2010/main" val="1699394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81937-4622-4008-8330-DCA4BAF63C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B9C7DA05-F29E-497B-92C7-4C1B8D4549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C4CA34-EBE0-46E6-A96C-609BD3C25E5C}"/>
              </a:ext>
            </a:extLst>
          </p:cNvPr>
          <p:cNvSpPr>
            <a:spLocks noGrp="1"/>
          </p:cNvSpPr>
          <p:nvPr>
            <p:ph type="dt" sz="half" idx="10"/>
          </p:nvPr>
        </p:nvSpPr>
        <p:spPr/>
        <p:txBody>
          <a:bodyPr/>
          <a:lstStyle/>
          <a:p>
            <a:fld id="{1DBB62AB-CE75-49E4-982B-34ED929434F7}" type="datetimeFigureOut">
              <a:rPr lang="en-CA" smtClean="0"/>
              <a:t>2024-10-29</a:t>
            </a:fld>
            <a:endParaRPr lang="en-CA"/>
          </a:p>
        </p:txBody>
      </p:sp>
      <p:sp>
        <p:nvSpPr>
          <p:cNvPr id="5" name="Footer Placeholder 4">
            <a:extLst>
              <a:ext uri="{FF2B5EF4-FFF2-40B4-BE49-F238E27FC236}">
                <a16:creationId xmlns:a16="http://schemas.microsoft.com/office/drawing/2014/main" id="{0C8D48D5-A2DB-4BC7-800D-A69CBA1F364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A5FFCBA-3660-4915-A083-BB5E0F5676A8}"/>
              </a:ext>
            </a:extLst>
          </p:cNvPr>
          <p:cNvSpPr>
            <a:spLocks noGrp="1"/>
          </p:cNvSpPr>
          <p:nvPr>
            <p:ph type="sldNum" sz="quarter" idx="12"/>
          </p:nvPr>
        </p:nvSpPr>
        <p:spPr/>
        <p:txBody>
          <a:bodyPr/>
          <a:lstStyle/>
          <a:p>
            <a:fld id="{07BEDE53-49AC-4799-87B3-0015F6D6C0D4}" type="slidenum">
              <a:rPr lang="en-CA" smtClean="0"/>
              <a:t>‹#›</a:t>
            </a:fld>
            <a:endParaRPr lang="en-CA"/>
          </a:p>
        </p:txBody>
      </p:sp>
    </p:spTree>
    <p:extLst>
      <p:ext uri="{BB962C8B-B14F-4D97-AF65-F5344CB8AC3E}">
        <p14:creationId xmlns:p14="http://schemas.microsoft.com/office/powerpoint/2010/main" val="2692076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973A9-44E3-4A6D-B1E0-85BC6628AF3E}"/>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33024C8-2204-44C0-8714-7B96A5A8D21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EC038B85-53C7-4576-A832-922F60B238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4829FA01-A6BD-4DA7-BDEE-B23044A8C18F}"/>
              </a:ext>
            </a:extLst>
          </p:cNvPr>
          <p:cNvSpPr>
            <a:spLocks noGrp="1"/>
          </p:cNvSpPr>
          <p:nvPr>
            <p:ph type="dt" sz="half" idx="10"/>
          </p:nvPr>
        </p:nvSpPr>
        <p:spPr/>
        <p:txBody>
          <a:bodyPr/>
          <a:lstStyle/>
          <a:p>
            <a:fld id="{1DBB62AB-CE75-49E4-982B-34ED929434F7}" type="datetimeFigureOut">
              <a:rPr lang="en-CA" smtClean="0"/>
              <a:t>2024-10-29</a:t>
            </a:fld>
            <a:endParaRPr lang="en-CA"/>
          </a:p>
        </p:txBody>
      </p:sp>
      <p:sp>
        <p:nvSpPr>
          <p:cNvPr id="6" name="Footer Placeholder 5">
            <a:extLst>
              <a:ext uri="{FF2B5EF4-FFF2-40B4-BE49-F238E27FC236}">
                <a16:creationId xmlns:a16="http://schemas.microsoft.com/office/drawing/2014/main" id="{247C001F-301C-4E66-8B33-3CC28C4D244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959386B-7119-4338-9EFB-5A584D49BBA5}"/>
              </a:ext>
            </a:extLst>
          </p:cNvPr>
          <p:cNvSpPr>
            <a:spLocks noGrp="1"/>
          </p:cNvSpPr>
          <p:nvPr>
            <p:ph type="sldNum" sz="quarter" idx="12"/>
          </p:nvPr>
        </p:nvSpPr>
        <p:spPr/>
        <p:txBody>
          <a:bodyPr/>
          <a:lstStyle/>
          <a:p>
            <a:fld id="{07BEDE53-49AC-4799-87B3-0015F6D6C0D4}" type="slidenum">
              <a:rPr lang="en-CA" smtClean="0"/>
              <a:t>‹#›</a:t>
            </a:fld>
            <a:endParaRPr lang="en-CA"/>
          </a:p>
        </p:txBody>
      </p:sp>
    </p:spTree>
    <p:extLst>
      <p:ext uri="{BB962C8B-B14F-4D97-AF65-F5344CB8AC3E}">
        <p14:creationId xmlns:p14="http://schemas.microsoft.com/office/powerpoint/2010/main" val="3577738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AAAEF-557D-4B4C-B786-E6778686E8A3}"/>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D5D3610-0604-45A0-AB53-BA0447CA3C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4986EE-90EF-4ADC-8C6E-C6F184CA30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708817C4-C249-4EDF-BEC5-40B16FA41C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EA36E1-E446-4DE0-9595-16C92226829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BA15BE29-7F5A-4880-B85E-5105F84CE148}"/>
              </a:ext>
            </a:extLst>
          </p:cNvPr>
          <p:cNvSpPr>
            <a:spLocks noGrp="1"/>
          </p:cNvSpPr>
          <p:nvPr>
            <p:ph type="dt" sz="half" idx="10"/>
          </p:nvPr>
        </p:nvSpPr>
        <p:spPr/>
        <p:txBody>
          <a:bodyPr/>
          <a:lstStyle/>
          <a:p>
            <a:fld id="{1DBB62AB-CE75-49E4-982B-34ED929434F7}" type="datetimeFigureOut">
              <a:rPr lang="en-CA" smtClean="0"/>
              <a:t>2024-10-29</a:t>
            </a:fld>
            <a:endParaRPr lang="en-CA"/>
          </a:p>
        </p:txBody>
      </p:sp>
      <p:sp>
        <p:nvSpPr>
          <p:cNvPr id="8" name="Footer Placeholder 7">
            <a:extLst>
              <a:ext uri="{FF2B5EF4-FFF2-40B4-BE49-F238E27FC236}">
                <a16:creationId xmlns:a16="http://schemas.microsoft.com/office/drawing/2014/main" id="{6B42637E-B819-4DF9-A05F-1E41DC7150E1}"/>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947C9353-862E-466E-86C7-B1632C3A5A59}"/>
              </a:ext>
            </a:extLst>
          </p:cNvPr>
          <p:cNvSpPr>
            <a:spLocks noGrp="1"/>
          </p:cNvSpPr>
          <p:nvPr>
            <p:ph type="sldNum" sz="quarter" idx="12"/>
          </p:nvPr>
        </p:nvSpPr>
        <p:spPr/>
        <p:txBody>
          <a:bodyPr/>
          <a:lstStyle/>
          <a:p>
            <a:fld id="{07BEDE53-49AC-4799-87B3-0015F6D6C0D4}" type="slidenum">
              <a:rPr lang="en-CA" smtClean="0"/>
              <a:t>‹#›</a:t>
            </a:fld>
            <a:endParaRPr lang="en-CA"/>
          </a:p>
        </p:txBody>
      </p:sp>
    </p:spTree>
    <p:extLst>
      <p:ext uri="{BB962C8B-B14F-4D97-AF65-F5344CB8AC3E}">
        <p14:creationId xmlns:p14="http://schemas.microsoft.com/office/powerpoint/2010/main" val="3843305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BC886-2FB9-4947-8747-12CCE63ECFFB}"/>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7DEFB86E-71D7-4D40-93E1-A605A76D83AB}"/>
              </a:ext>
            </a:extLst>
          </p:cNvPr>
          <p:cNvSpPr>
            <a:spLocks noGrp="1"/>
          </p:cNvSpPr>
          <p:nvPr>
            <p:ph type="dt" sz="half" idx="10"/>
          </p:nvPr>
        </p:nvSpPr>
        <p:spPr/>
        <p:txBody>
          <a:bodyPr/>
          <a:lstStyle/>
          <a:p>
            <a:fld id="{1DBB62AB-CE75-49E4-982B-34ED929434F7}" type="datetimeFigureOut">
              <a:rPr lang="en-CA" smtClean="0"/>
              <a:t>2024-10-29</a:t>
            </a:fld>
            <a:endParaRPr lang="en-CA"/>
          </a:p>
        </p:txBody>
      </p:sp>
      <p:sp>
        <p:nvSpPr>
          <p:cNvPr id="4" name="Footer Placeholder 3">
            <a:extLst>
              <a:ext uri="{FF2B5EF4-FFF2-40B4-BE49-F238E27FC236}">
                <a16:creationId xmlns:a16="http://schemas.microsoft.com/office/drawing/2014/main" id="{C4885E13-7E38-4C08-A7CB-E439801DF049}"/>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15778768-0C9D-4584-B7A0-37D1D4DD3B17}"/>
              </a:ext>
            </a:extLst>
          </p:cNvPr>
          <p:cNvSpPr>
            <a:spLocks noGrp="1"/>
          </p:cNvSpPr>
          <p:nvPr>
            <p:ph type="sldNum" sz="quarter" idx="12"/>
          </p:nvPr>
        </p:nvSpPr>
        <p:spPr/>
        <p:txBody>
          <a:bodyPr/>
          <a:lstStyle/>
          <a:p>
            <a:fld id="{07BEDE53-49AC-4799-87B3-0015F6D6C0D4}" type="slidenum">
              <a:rPr lang="en-CA" smtClean="0"/>
              <a:t>‹#›</a:t>
            </a:fld>
            <a:endParaRPr lang="en-CA"/>
          </a:p>
        </p:txBody>
      </p:sp>
    </p:spTree>
    <p:extLst>
      <p:ext uri="{BB962C8B-B14F-4D97-AF65-F5344CB8AC3E}">
        <p14:creationId xmlns:p14="http://schemas.microsoft.com/office/powerpoint/2010/main" val="2183140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16DD69-9AAE-47AB-A062-058F2CD7EB5F}"/>
              </a:ext>
            </a:extLst>
          </p:cNvPr>
          <p:cNvSpPr>
            <a:spLocks noGrp="1"/>
          </p:cNvSpPr>
          <p:nvPr>
            <p:ph type="dt" sz="half" idx="10"/>
          </p:nvPr>
        </p:nvSpPr>
        <p:spPr/>
        <p:txBody>
          <a:bodyPr/>
          <a:lstStyle/>
          <a:p>
            <a:fld id="{1DBB62AB-CE75-49E4-982B-34ED929434F7}" type="datetimeFigureOut">
              <a:rPr lang="en-CA" smtClean="0"/>
              <a:t>2024-10-29</a:t>
            </a:fld>
            <a:endParaRPr lang="en-CA"/>
          </a:p>
        </p:txBody>
      </p:sp>
      <p:sp>
        <p:nvSpPr>
          <p:cNvPr id="3" name="Footer Placeholder 2">
            <a:extLst>
              <a:ext uri="{FF2B5EF4-FFF2-40B4-BE49-F238E27FC236}">
                <a16:creationId xmlns:a16="http://schemas.microsoft.com/office/drawing/2014/main" id="{FC0DBFE8-32AD-4FBB-B073-123EE66F8F69}"/>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D0F16A32-42D2-4EF1-8519-A1822DECF17B}"/>
              </a:ext>
            </a:extLst>
          </p:cNvPr>
          <p:cNvSpPr>
            <a:spLocks noGrp="1"/>
          </p:cNvSpPr>
          <p:nvPr>
            <p:ph type="sldNum" sz="quarter" idx="12"/>
          </p:nvPr>
        </p:nvSpPr>
        <p:spPr/>
        <p:txBody>
          <a:bodyPr/>
          <a:lstStyle/>
          <a:p>
            <a:fld id="{07BEDE53-49AC-4799-87B3-0015F6D6C0D4}" type="slidenum">
              <a:rPr lang="en-CA" smtClean="0"/>
              <a:t>‹#›</a:t>
            </a:fld>
            <a:endParaRPr lang="en-CA"/>
          </a:p>
        </p:txBody>
      </p:sp>
    </p:spTree>
    <p:extLst>
      <p:ext uri="{BB962C8B-B14F-4D97-AF65-F5344CB8AC3E}">
        <p14:creationId xmlns:p14="http://schemas.microsoft.com/office/powerpoint/2010/main" val="1810571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18F1-AB3B-4FD9-99CD-A5EDAED35E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C5BB8C6C-7EF0-4F75-8E88-743FD1015D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BEAEBE7B-5D54-4C1B-8FC9-04A6377FCA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838818-E2C1-4C0F-9C71-FE098C853ADB}"/>
              </a:ext>
            </a:extLst>
          </p:cNvPr>
          <p:cNvSpPr>
            <a:spLocks noGrp="1"/>
          </p:cNvSpPr>
          <p:nvPr>
            <p:ph type="dt" sz="half" idx="10"/>
          </p:nvPr>
        </p:nvSpPr>
        <p:spPr/>
        <p:txBody>
          <a:bodyPr/>
          <a:lstStyle/>
          <a:p>
            <a:fld id="{1DBB62AB-CE75-49E4-982B-34ED929434F7}" type="datetimeFigureOut">
              <a:rPr lang="en-CA" smtClean="0"/>
              <a:t>2024-10-29</a:t>
            </a:fld>
            <a:endParaRPr lang="en-CA"/>
          </a:p>
        </p:txBody>
      </p:sp>
      <p:sp>
        <p:nvSpPr>
          <p:cNvPr id="6" name="Footer Placeholder 5">
            <a:extLst>
              <a:ext uri="{FF2B5EF4-FFF2-40B4-BE49-F238E27FC236}">
                <a16:creationId xmlns:a16="http://schemas.microsoft.com/office/drawing/2014/main" id="{95D7B96D-5C74-4D9A-8803-8E8761D67BC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F666CBC-9FDC-49EC-AD4F-1320AA63BF4F}"/>
              </a:ext>
            </a:extLst>
          </p:cNvPr>
          <p:cNvSpPr>
            <a:spLocks noGrp="1"/>
          </p:cNvSpPr>
          <p:nvPr>
            <p:ph type="sldNum" sz="quarter" idx="12"/>
          </p:nvPr>
        </p:nvSpPr>
        <p:spPr/>
        <p:txBody>
          <a:bodyPr/>
          <a:lstStyle/>
          <a:p>
            <a:fld id="{07BEDE53-49AC-4799-87B3-0015F6D6C0D4}" type="slidenum">
              <a:rPr lang="en-CA" smtClean="0"/>
              <a:t>‹#›</a:t>
            </a:fld>
            <a:endParaRPr lang="en-CA"/>
          </a:p>
        </p:txBody>
      </p:sp>
    </p:spTree>
    <p:extLst>
      <p:ext uri="{BB962C8B-B14F-4D97-AF65-F5344CB8AC3E}">
        <p14:creationId xmlns:p14="http://schemas.microsoft.com/office/powerpoint/2010/main" val="454500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F8FE1-206D-455A-80FF-DE28AEFC02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98BC4A04-3216-40F8-B627-38FDB6F2A2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D5F3E6CD-2C36-438C-A8CB-81184C6C67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04898F-BE0D-4425-B709-CA80B78DBEF0}"/>
              </a:ext>
            </a:extLst>
          </p:cNvPr>
          <p:cNvSpPr>
            <a:spLocks noGrp="1"/>
          </p:cNvSpPr>
          <p:nvPr>
            <p:ph type="dt" sz="half" idx="10"/>
          </p:nvPr>
        </p:nvSpPr>
        <p:spPr/>
        <p:txBody>
          <a:bodyPr/>
          <a:lstStyle/>
          <a:p>
            <a:fld id="{1DBB62AB-CE75-49E4-982B-34ED929434F7}" type="datetimeFigureOut">
              <a:rPr lang="en-CA" smtClean="0"/>
              <a:t>2024-10-29</a:t>
            </a:fld>
            <a:endParaRPr lang="en-CA"/>
          </a:p>
        </p:txBody>
      </p:sp>
      <p:sp>
        <p:nvSpPr>
          <p:cNvPr id="6" name="Footer Placeholder 5">
            <a:extLst>
              <a:ext uri="{FF2B5EF4-FFF2-40B4-BE49-F238E27FC236}">
                <a16:creationId xmlns:a16="http://schemas.microsoft.com/office/drawing/2014/main" id="{B713000F-D83F-40FE-AADB-521F1805F720}"/>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AED82CB-E9FB-4D97-9AF6-4AF4FB1AD9EF}"/>
              </a:ext>
            </a:extLst>
          </p:cNvPr>
          <p:cNvSpPr>
            <a:spLocks noGrp="1"/>
          </p:cNvSpPr>
          <p:nvPr>
            <p:ph type="sldNum" sz="quarter" idx="12"/>
          </p:nvPr>
        </p:nvSpPr>
        <p:spPr/>
        <p:txBody>
          <a:bodyPr/>
          <a:lstStyle/>
          <a:p>
            <a:fld id="{07BEDE53-49AC-4799-87B3-0015F6D6C0D4}" type="slidenum">
              <a:rPr lang="en-CA" smtClean="0"/>
              <a:t>‹#›</a:t>
            </a:fld>
            <a:endParaRPr lang="en-CA"/>
          </a:p>
        </p:txBody>
      </p:sp>
    </p:spTree>
    <p:extLst>
      <p:ext uri="{BB962C8B-B14F-4D97-AF65-F5344CB8AC3E}">
        <p14:creationId xmlns:p14="http://schemas.microsoft.com/office/powerpoint/2010/main" val="3556446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EABC5-511F-448D-9427-C7A81334CA6F}"/>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A69B3D2E-DDA6-4CAE-A51B-1C2FBAFB50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BFC4884-EC32-4350-A17F-163A098E1CF5}"/>
              </a:ext>
            </a:extLst>
          </p:cNvPr>
          <p:cNvSpPr>
            <a:spLocks noGrp="1"/>
          </p:cNvSpPr>
          <p:nvPr>
            <p:ph type="dt" sz="half" idx="10"/>
          </p:nvPr>
        </p:nvSpPr>
        <p:spPr/>
        <p:txBody>
          <a:bodyPr/>
          <a:lstStyle/>
          <a:p>
            <a:fld id="{1DBB62AB-CE75-49E4-982B-34ED929434F7}" type="datetimeFigureOut">
              <a:rPr lang="en-CA" smtClean="0"/>
              <a:t>2024-10-29</a:t>
            </a:fld>
            <a:endParaRPr lang="en-CA"/>
          </a:p>
        </p:txBody>
      </p:sp>
      <p:sp>
        <p:nvSpPr>
          <p:cNvPr id="5" name="Footer Placeholder 4">
            <a:extLst>
              <a:ext uri="{FF2B5EF4-FFF2-40B4-BE49-F238E27FC236}">
                <a16:creationId xmlns:a16="http://schemas.microsoft.com/office/drawing/2014/main" id="{4E87E1F5-2185-4DB1-B7DD-8937C9FF7AE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53D7002-9219-450A-8B52-889BC30AFD7D}"/>
              </a:ext>
            </a:extLst>
          </p:cNvPr>
          <p:cNvSpPr>
            <a:spLocks noGrp="1"/>
          </p:cNvSpPr>
          <p:nvPr>
            <p:ph type="sldNum" sz="quarter" idx="12"/>
          </p:nvPr>
        </p:nvSpPr>
        <p:spPr/>
        <p:txBody>
          <a:bodyPr/>
          <a:lstStyle/>
          <a:p>
            <a:fld id="{07BEDE53-49AC-4799-87B3-0015F6D6C0D4}" type="slidenum">
              <a:rPr lang="en-CA" smtClean="0"/>
              <a:t>‹#›</a:t>
            </a:fld>
            <a:endParaRPr lang="en-CA"/>
          </a:p>
        </p:txBody>
      </p:sp>
    </p:spTree>
    <p:extLst>
      <p:ext uri="{BB962C8B-B14F-4D97-AF65-F5344CB8AC3E}">
        <p14:creationId xmlns:p14="http://schemas.microsoft.com/office/powerpoint/2010/main" val="29245474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AB5BA4-3197-4C7D-9400-0FBABF9C60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7ED6ECC-9422-4FF7-AE19-C928E3CD8F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EBA709A-EA44-4935-9A62-C7B1CCDFE241}"/>
              </a:ext>
            </a:extLst>
          </p:cNvPr>
          <p:cNvSpPr>
            <a:spLocks noGrp="1"/>
          </p:cNvSpPr>
          <p:nvPr>
            <p:ph type="dt" sz="half" idx="10"/>
          </p:nvPr>
        </p:nvSpPr>
        <p:spPr/>
        <p:txBody>
          <a:bodyPr/>
          <a:lstStyle/>
          <a:p>
            <a:fld id="{1DBB62AB-CE75-49E4-982B-34ED929434F7}" type="datetimeFigureOut">
              <a:rPr lang="en-CA" smtClean="0"/>
              <a:t>2024-10-29</a:t>
            </a:fld>
            <a:endParaRPr lang="en-CA"/>
          </a:p>
        </p:txBody>
      </p:sp>
      <p:sp>
        <p:nvSpPr>
          <p:cNvPr id="5" name="Footer Placeholder 4">
            <a:extLst>
              <a:ext uri="{FF2B5EF4-FFF2-40B4-BE49-F238E27FC236}">
                <a16:creationId xmlns:a16="http://schemas.microsoft.com/office/drawing/2014/main" id="{7C5547AD-93B8-49DF-B0B4-C05365B918E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FD31DD2-4837-429F-973E-FAB77070FB3F}"/>
              </a:ext>
            </a:extLst>
          </p:cNvPr>
          <p:cNvSpPr>
            <a:spLocks noGrp="1"/>
          </p:cNvSpPr>
          <p:nvPr>
            <p:ph type="sldNum" sz="quarter" idx="12"/>
          </p:nvPr>
        </p:nvSpPr>
        <p:spPr/>
        <p:txBody>
          <a:bodyPr/>
          <a:lstStyle/>
          <a:p>
            <a:fld id="{07BEDE53-49AC-4799-87B3-0015F6D6C0D4}" type="slidenum">
              <a:rPr lang="en-CA" smtClean="0"/>
              <a:t>‹#›</a:t>
            </a:fld>
            <a:endParaRPr lang="en-CA"/>
          </a:p>
        </p:txBody>
      </p:sp>
    </p:spTree>
    <p:extLst>
      <p:ext uri="{BB962C8B-B14F-4D97-AF65-F5344CB8AC3E}">
        <p14:creationId xmlns:p14="http://schemas.microsoft.com/office/powerpoint/2010/main" val="1794020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87B945-8BDF-43A0-A509-E3EE2BF850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0F3CACD0-41D8-4953-9DB3-B64CA8DBD7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18187EE-C087-4E52-8902-3638228C8D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BB62AB-CE75-49E4-982B-34ED929434F7}" type="datetimeFigureOut">
              <a:rPr lang="en-CA" smtClean="0"/>
              <a:t>2024-10-29</a:t>
            </a:fld>
            <a:endParaRPr lang="en-CA"/>
          </a:p>
        </p:txBody>
      </p:sp>
      <p:sp>
        <p:nvSpPr>
          <p:cNvPr id="5" name="Footer Placeholder 4">
            <a:extLst>
              <a:ext uri="{FF2B5EF4-FFF2-40B4-BE49-F238E27FC236}">
                <a16:creationId xmlns:a16="http://schemas.microsoft.com/office/drawing/2014/main" id="{6E336755-5DA0-41CB-8A04-4BBCDDA196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21289975-7CD8-45FF-8A97-568A198DB8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BEDE53-49AC-4799-87B3-0015F6D6C0D4}" type="slidenum">
              <a:rPr lang="en-CA" smtClean="0"/>
              <a:t>‹#›</a:t>
            </a:fld>
            <a:endParaRPr lang="en-CA"/>
          </a:p>
        </p:txBody>
      </p:sp>
    </p:spTree>
    <p:extLst>
      <p:ext uri="{BB962C8B-B14F-4D97-AF65-F5344CB8AC3E}">
        <p14:creationId xmlns:p14="http://schemas.microsoft.com/office/powerpoint/2010/main" val="9821290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BF0EF-988C-471D-8ED6-2A8F13DBBDF2}"/>
              </a:ext>
            </a:extLst>
          </p:cNvPr>
          <p:cNvSpPr>
            <a:spLocks noGrp="1"/>
          </p:cNvSpPr>
          <p:nvPr>
            <p:ph type="ctrTitle"/>
          </p:nvPr>
        </p:nvSpPr>
        <p:spPr/>
        <p:txBody>
          <a:bodyPr/>
          <a:lstStyle/>
          <a:p>
            <a:r>
              <a:rPr lang="en-CA" dirty="0"/>
              <a:t>Module 6 Class Problems </a:t>
            </a:r>
            <a:br>
              <a:rPr lang="en-CA" dirty="0"/>
            </a:br>
            <a:endParaRPr lang="en-CA" dirty="0"/>
          </a:p>
        </p:txBody>
      </p:sp>
      <p:sp>
        <p:nvSpPr>
          <p:cNvPr id="3" name="Subtitle 2">
            <a:extLst>
              <a:ext uri="{FF2B5EF4-FFF2-40B4-BE49-F238E27FC236}">
                <a16:creationId xmlns:a16="http://schemas.microsoft.com/office/drawing/2014/main" id="{2D00E45C-D54B-4434-84F4-126C83FCA9B7}"/>
              </a:ext>
            </a:extLst>
          </p:cNvPr>
          <p:cNvSpPr>
            <a:spLocks noGrp="1"/>
          </p:cNvSpPr>
          <p:nvPr>
            <p:ph type="subTitle" idx="1"/>
          </p:nvPr>
        </p:nvSpPr>
        <p:spPr/>
        <p:txBody>
          <a:bodyPr/>
          <a:lstStyle/>
          <a:p>
            <a:endParaRPr lang="en-CA" dirty="0"/>
          </a:p>
          <a:p>
            <a:r>
              <a:rPr lang="en-CA" u="sng" dirty="0"/>
              <a:t>Part 1 </a:t>
            </a:r>
            <a:r>
              <a:rPr lang="en-CA" dirty="0"/>
              <a:t>Solar-Thermal Systems</a:t>
            </a:r>
          </a:p>
        </p:txBody>
      </p:sp>
    </p:spTree>
    <p:extLst>
      <p:ext uri="{BB962C8B-B14F-4D97-AF65-F5344CB8AC3E}">
        <p14:creationId xmlns:p14="http://schemas.microsoft.com/office/powerpoint/2010/main" val="5989751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AA45E6-8AEA-427B-BC90-03A7C3D96BDF}"/>
              </a:ext>
            </a:extLst>
          </p:cNvPr>
          <p:cNvSpPr>
            <a:spLocks noGrp="1"/>
          </p:cNvSpPr>
          <p:nvPr>
            <p:ph idx="1"/>
          </p:nvPr>
        </p:nvSpPr>
        <p:spPr>
          <a:xfrm>
            <a:off x="287783" y="369687"/>
            <a:ext cx="12158710" cy="4351338"/>
          </a:xfrm>
        </p:spPr>
        <p:txBody>
          <a:bodyPr>
            <a:normAutofit/>
          </a:bodyPr>
          <a:lstStyle/>
          <a:p>
            <a:pPr marL="0" indent="0">
              <a:buNone/>
            </a:pPr>
            <a:r>
              <a:rPr lang="en-US" sz="1800" b="1" dirty="0">
                <a:effectLst/>
              </a:rPr>
              <a:t>Q1. </a:t>
            </a:r>
            <a:r>
              <a:rPr lang="en-US" sz="1800" dirty="0">
                <a:effectLst/>
              </a:rPr>
              <a:t>Figure below provides the results of a performance test for a single-glazed flat-plate collector. The transmissivity, </a:t>
            </a:r>
            <a:r>
              <a:rPr lang="en-US" sz="1800" dirty="0">
                <a:effectLst/>
                <a:latin typeface="Symbol" panose="05050102010706020507" pitchFamily="18" charset="2"/>
              </a:rPr>
              <a:t>t</a:t>
            </a:r>
            <a:r>
              <a:rPr lang="en-US" sz="1800" dirty="0">
                <a:effectLst/>
              </a:rPr>
              <a:t>, of the glass is 0.90, and the absorptivity, </a:t>
            </a:r>
            <a:r>
              <a:rPr lang="en-US" sz="1800" dirty="0">
                <a:effectLst/>
                <a:latin typeface="Symbol" panose="05050102010706020507" pitchFamily="18" charset="2"/>
              </a:rPr>
              <a:t>a</a:t>
            </a:r>
            <a:r>
              <a:rPr lang="en-US" sz="1800" dirty="0">
                <a:effectLst/>
              </a:rPr>
              <a:t>, of the surface is 0.92. </a:t>
            </a:r>
          </a:p>
          <a:p>
            <a:pPr marL="0" indent="0">
              <a:buNone/>
            </a:pPr>
            <a:r>
              <a:rPr lang="en-US" sz="1800" dirty="0">
                <a:effectLst/>
              </a:rPr>
              <a:t>For the collector, find: </a:t>
            </a:r>
          </a:p>
          <a:p>
            <a:pPr marL="342900" indent="-342900">
              <a:buAutoNum type="alphaLcParenBoth"/>
            </a:pPr>
            <a:r>
              <a:rPr lang="en-US" sz="1800" dirty="0">
                <a:effectLst/>
              </a:rPr>
              <a:t>The collector heat removal factor, F</a:t>
            </a:r>
            <a:r>
              <a:rPr lang="en-US" sz="1800" baseline="-25000" dirty="0">
                <a:effectLst/>
              </a:rPr>
              <a:t>R</a:t>
            </a:r>
            <a:r>
              <a:rPr lang="en-US" sz="1800" dirty="0">
                <a:effectLst/>
              </a:rPr>
              <a:t> </a:t>
            </a:r>
          </a:p>
          <a:p>
            <a:pPr marL="342900" indent="-342900">
              <a:buAutoNum type="alphaLcParenBoth"/>
            </a:pPr>
            <a:r>
              <a:rPr lang="en-US" sz="1800" dirty="0">
                <a:effectLst/>
              </a:rPr>
              <a:t>The overall conductance, U</a:t>
            </a:r>
            <a:r>
              <a:rPr lang="en-US" sz="1800" baseline="-25000" dirty="0">
                <a:effectLst/>
              </a:rPr>
              <a:t>L</a:t>
            </a:r>
            <a:r>
              <a:rPr lang="en-US" sz="1800" dirty="0">
                <a:effectLst/>
              </a:rPr>
              <a:t> in Btu/ft</a:t>
            </a:r>
            <a:r>
              <a:rPr lang="en-US" sz="1800" baseline="30000" dirty="0">
                <a:effectLst/>
              </a:rPr>
              <a:t>2 o</a:t>
            </a:r>
            <a:r>
              <a:rPr lang="en-US" sz="1800" dirty="0">
                <a:effectLst/>
              </a:rPr>
              <a:t>F. </a:t>
            </a:r>
          </a:p>
          <a:p>
            <a:pPr marL="342900" indent="-342900">
              <a:buAutoNum type="alphaLcParenBoth"/>
            </a:pPr>
            <a:r>
              <a:rPr lang="en-US" sz="1800" dirty="0">
                <a:effectLst/>
              </a:rPr>
              <a:t>The rate at which the collector can deliver useful energy when</a:t>
            </a:r>
          </a:p>
          <a:p>
            <a:pPr marL="0" indent="0">
              <a:buNone/>
            </a:pPr>
            <a:r>
              <a:rPr lang="en-US" sz="1800" dirty="0">
                <a:effectLst/>
              </a:rPr>
              <a:t> the irradiation incident on the collector per unit area is 200 Btu/ft</a:t>
            </a:r>
            <a:r>
              <a:rPr lang="en-US" sz="1800" baseline="30000" dirty="0">
                <a:effectLst/>
              </a:rPr>
              <a:t>2</a:t>
            </a:r>
            <a:r>
              <a:rPr lang="en-US" sz="1800" dirty="0">
                <a:effectLst/>
              </a:rPr>
              <a:t>h, </a:t>
            </a:r>
          </a:p>
          <a:p>
            <a:pPr marL="0" indent="0">
              <a:buNone/>
            </a:pPr>
            <a:r>
              <a:rPr lang="en-US" sz="1800" dirty="0">
                <a:effectLst/>
              </a:rPr>
              <a:t>the ambient temperature is 30 F, and the inlet water temperature is 60 F. </a:t>
            </a:r>
          </a:p>
          <a:p>
            <a:pPr marL="0" indent="0">
              <a:buNone/>
            </a:pPr>
            <a:r>
              <a:rPr lang="en-US" sz="1800" dirty="0">
                <a:effectLst/>
              </a:rPr>
              <a:t>(d) The collector temperature when the flow rate is zero (h = 0).</a:t>
            </a:r>
          </a:p>
          <a:p>
            <a:pPr marL="0" indent="0">
              <a:buNone/>
            </a:pPr>
            <a:r>
              <a:rPr lang="en-US" sz="1800" dirty="0"/>
              <a:t>(e) If the water flow rate is 0.1 ft</a:t>
            </a:r>
            <a:r>
              <a:rPr lang="en-US" sz="1800" baseline="30000" dirty="0"/>
              <a:t>3</a:t>
            </a:r>
            <a:r>
              <a:rPr lang="en-US" sz="1800" dirty="0"/>
              <a:t>/min, determine the temperature increase</a:t>
            </a:r>
          </a:p>
          <a:p>
            <a:pPr marL="0" indent="0">
              <a:buNone/>
            </a:pPr>
            <a:r>
              <a:rPr lang="en-US" sz="1800" dirty="0"/>
              <a:t>for the water passing through the collector</a:t>
            </a:r>
            <a:endParaRPr lang="en-US" sz="1800" dirty="0">
              <a:effectLst/>
            </a:endParaRPr>
          </a:p>
          <a:p>
            <a:endParaRPr lang="en-CA" sz="1800" dirty="0"/>
          </a:p>
        </p:txBody>
      </p:sp>
      <p:pic>
        <p:nvPicPr>
          <p:cNvPr id="5" name="Picture 4">
            <a:extLst>
              <a:ext uri="{FF2B5EF4-FFF2-40B4-BE49-F238E27FC236}">
                <a16:creationId xmlns:a16="http://schemas.microsoft.com/office/drawing/2014/main" id="{7A319EAD-78EE-427E-B0F3-B5E8304ED877}"/>
              </a:ext>
            </a:extLst>
          </p:cNvPr>
          <p:cNvPicPr>
            <a:picLocks noChangeAspect="1"/>
          </p:cNvPicPr>
          <p:nvPr/>
        </p:nvPicPr>
        <p:blipFill>
          <a:blip r:embed="rId2"/>
          <a:stretch>
            <a:fillRect/>
          </a:stretch>
        </p:blipFill>
        <p:spPr>
          <a:xfrm>
            <a:off x="7200900" y="850466"/>
            <a:ext cx="4991100" cy="3569134"/>
          </a:xfrm>
          <a:prstGeom prst="rect">
            <a:avLst/>
          </a:prstGeom>
        </p:spPr>
      </p:pic>
    </p:spTree>
    <p:extLst>
      <p:ext uri="{BB962C8B-B14F-4D97-AF65-F5344CB8AC3E}">
        <p14:creationId xmlns:p14="http://schemas.microsoft.com/office/powerpoint/2010/main" val="872289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62CD81-FFF6-472B-8721-58CADA36A00C}"/>
              </a:ext>
            </a:extLst>
          </p:cNvPr>
          <p:cNvSpPr txBox="1"/>
          <p:nvPr/>
        </p:nvSpPr>
        <p:spPr>
          <a:xfrm>
            <a:off x="490490" y="457134"/>
            <a:ext cx="11387831" cy="2308324"/>
          </a:xfrm>
          <a:prstGeom prst="rect">
            <a:avLst/>
          </a:prstGeom>
          <a:noFill/>
        </p:spPr>
        <p:txBody>
          <a:bodyPr wrap="square">
            <a:spAutoFit/>
          </a:bodyPr>
          <a:lstStyle/>
          <a:p>
            <a:r>
              <a:rPr lang="en-US" sz="1800" b="1" dirty="0">
                <a:effectLst/>
              </a:rPr>
              <a:t>Q2. </a:t>
            </a:r>
            <a:r>
              <a:rPr lang="en-US" dirty="0">
                <a:effectLst/>
              </a:rPr>
              <a:t>Evaluate the performance of an Alternate Energy Technologies AE-21E solar collector on January 21 if the collector is located at 32° north latitude and tilted at an angle of 32°. The water inlet temperature is 58° F. The ambient temperature varies from 25° F at 8 a.m. to 45° F at solar noon to 35° F at 4 p.m. (assume even distribution from 8am to noon and noon to 4pm). Determine the efficiency, the hourly solar energy collected, and the percentage of incident solar energy collected all at solar noon. </a:t>
            </a:r>
          </a:p>
          <a:p>
            <a:endParaRPr lang="en-US" dirty="0">
              <a:effectLst/>
            </a:endParaRPr>
          </a:p>
          <a:p>
            <a:r>
              <a:rPr lang="en-US" dirty="0">
                <a:effectLst/>
              </a:rPr>
              <a:t>In a </a:t>
            </a:r>
            <a:r>
              <a:rPr lang="en-US" dirty="0"/>
              <a:t>spreadsheet, determine </a:t>
            </a:r>
            <a:r>
              <a:rPr lang="en-US" dirty="0">
                <a:effectLst/>
              </a:rPr>
              <a:t>the hourly efficiency, the hourly solar energy collected, </a:t>
            </a:r>
            <a:r>
              <a:rPr lang="en-US" dirty="0"/>
              <a:t>daily energy collected, </a:t>
            </a:r>
            <a:r>
              <a:rPr lang="en-US" dirty="0">
                <a:effectLst/>
              </a:rPr>
              <a:t>and the percentage of incident solar energy collected considering the operation from 8am-4pm. </a:t>
            </a:r>
          </a:p>
        </p:txBody>
      </p:sp>
    </p:spTree>
    <p:extLst>
      <p:ext uri="{BB962C8B-B14F-4D97-AF65-F5344CB8AC3E}">
        <p14:creationId xmlns:p14="http://schemas.microsoft.com/office/powerpoint/2010/main" val="1183407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A42E5B5-7D88-40A5-994F-6BDB42870D28}"/>
              </a:ext>
            </a:extLst>
          </p:cNvPr>
          <p:cNvSpPr txBox="1"/>
          <p:nvPr/>
        </p:nvSpPr>
        <p:spPr>
          <a:xfrm>
            <a:off x="321815" y="380779"/>
            <a:ext cx="11645283" cy="1477328"/>
          </a:xfrm>
          <a:prstGeom prst="rect">
            <a:avLst/>
          </a:prstGeom>
          <a:noFill/>
        </p:spPr>
        <p:txBody>
          <a:bodyPr wrap="square">
            <a:spAutoFit/>
          </a:bodyPr>
          <a:lstStyle/>
          <a:p>
            <a:r>
              <a:rPr lang="en-US" sz="1800" b="1" dirty="0">
                <a:effectLst/>
              </a:rPr>
              <a:t>Q3. </a:t>
            </a:r>
            <a:r>
              <a:rPr lang="en-US" dirty="0">
                <a:effectLst/>
              </a:rPr>
              <a:t>Evaluate the performance of a Heliodyne Gobi 408 flat-plate solar collector (performance characteristics available from the SRCC website) for Jun 21 at </a:t>
            </a:r>
            <a:r>
              <a:rPr lang="en-US" dirty="0"/>
              <a:t>40</a:t>
            </a:r>
            <a:r>
              <a:rPr lang="en-US" dirty="0">
                <a:effectLst/>
              </a:rPr>
              <a:t>° north latitude. The water inlet temperature is 58° F, and the ambient temperature varies from 25° F at 7 a.m. (solar time) to 45° F at solar noon to 35° F at 5 p.m. (solar time). The collector is inclined at 30° from the horizontal. Metrics of interest include the hourly efficiency, the hourly solar energy collected, and the percentage of solar energy capture</a:t>
            </a:r>
          </a:p>
        </p:txBody>
      </p:sp>
      <p:pic>
        <p:nvPicPr>
          <p:cNvPr id="3" name="Picture 2">
            <a:extLst>
              <a:ext uri="{FF2B5EF4-FFF2-40B4-BE49-F238E27FC236}">
                <a16:creationId xmlns:a16="http://schemas.microsoft.com/office/drawing/2014/main" id="{DEAE5B45-ED1D-C8ED-3F1E-77F4164F1FAE}"/>
              </a:ext>
            </a:extLst>
          </p:cNvPr>
          <p:cNvPicPr>
            <a:picLocks noChangeAspect="1"/>
          </p:cNvPicPr>
          <p:nvPr/>
        </p:nvPicPr>
        <p:blipFill>
          <a:blip r:embed="rId2"/>
          <a:stretch>
            <a:fillRect/>
          </a:stretch>
        </p:blipFill>
        <p:spPr>
          <a:xfrm>
            <a:off x="3401706" y="1858107"/>
            <a:ext cx="8407832" cy="4845299"/>
          </a:xfrm>
          <a:prstGeom prst="rect">
            <a:avLst/>
          </a:prstGeom>
        </p:spPr>
      </p:pic>
    </p:spTree>
    <p:extLst>
      <p:ext uri="{BB962C8B-B14F-4D97-AF65-F5344CB8AC3E}">
        <p14:creationId xmlns:p14="http://schemas.microsoft.com/office/powerpoint/2010/main" val="1266606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C77B1CC-0D5A-462F-9E85-8C15E6F80397}"/>
              </a:ext>
            </a:extLst>
          </p:cNvPr>
          <p:cNvSpPr txBox="1"/>
          <p:nvPr/>
        </p:nvSpPr>
        <p:spPr>
          <a:xfrm>
            <a:off x="233038" y="387827"/>
            <a:ext cx="11636407" cy="2308324"/>
          </a:xfrm>
          <a:prstGeom prst="rect">
            <a:avLst/>
          </a:prstGeom>
          <a:noFill/>
        </p:spPr>
        <p:txBody>
          <a:bodyPr wrap="square">
            <a:spAutoFit/>
          </a:bodyPr>
          <a:lstStyle/>
          <a:p>
            <a:r>
              <a:rPr lang="en-US" sz="1800" b="1" dirty="0">
                <a:effectLst/>
              </a:rPr>
              <a:t>Q4. </a:t>
            </a:r>
            <a:r>
              <a:rPr lang="en-US" sz="1800" dirty="0">
                <a:effectLst/>
                <a:latin typeface="Times New Roman" panose="02020603050405020304" pitchFamily="18" charset="0"/>
                <a:ea typeface="Times New Roman" panose="02020603050405020304" pitchFamily="18" charset="0"/>
              </a:rPr>
              <a:t>A rudimentary Solar Electric Generating Station (SEGS) system consists of 2500 heliostats, each of 10 m</a:t>
            </a:r>
            <a:r>
              <a:rPr lang="en-US" sz="1800" baseline="30000" dirty="0">
                <a:effectLst/>
                <a:latin typeface="Times New Roman" panose="02020603050405020304" pitchFamily="18" charset="0"/>
                <a:ea typeface="Times New Roman" panose="02020603050405020304" pitchFamily="18" charset="0"/>
              </a:rPr>
              <a:t>2</a:t>
            </a:r>
            <a:r>
              <a:rPr lang="en-US" sz="1800" dirty="0">
                <a:effectLst/>
                <a:latin typeface="Times New Roman" panose="02020603050405020304" pitchFamily="18" charset="0"/>
                <a:ea typeface="Times New Roman" panose="02020603050405020304" pitchFamily="18" charset="0"/>
              </a:rPr>
              <a:t>, focusing on a central tower. The tower-heliostat system is able to transfer 50% of the incoming solar energy to incoming water, which then boils and is transferred to the turbine. Ignore other losses between the heliostats and expansion in the turbine. The plant averages 10 h/day of operation year-round, and during that time the incoming sun averages 400 W/m</a:t>
            </a:r>
            <a:r>
              <a:rPr lang="en-US" sz="1800" baseline="30000" dirty="0">
                <a:effectLst/>
                <a:latin typeface="Times New Roman" panose="02020603050405020304" pitchFamily="18" charset="0"/>
                <a:ea typeface="Times New Roman" panose="02020603050405020304" pitchFamily="18" charset="0"/>
              </a:rPr>
              <a:t>2</a:t>
            </a:r>
            <a:r>
              <a:rPr lang="en-US" sz="1800" dirty="0">
                <a:effectLst/>
                <a:latin typeface="Times New Roman" panose="02020603050405020304" pitchFamily="18" charset="0"/>
                <a:ea typeface="Times New Roman" panose="02020603050405020304" pitchFamily="18" charset="0"/>
              </a:rPr>
              <a:t>. Ignore losses of insolation due to the heliostats not facing in a normal direction to the sun. Before entering the tower, the water is compressed to 20 MPa. In the tower it is then heated to 700°C. The superheated steam is then expanded through the turbine using a basic Rankine cycle, and condensed at </a:t>
            </a:r>
            <a:r>
              <a:rPr lang="en-US">
                <a:latin typeface="Times New Roman" panose="02020603050405020304" pitchFamily="18" charset="0"/>
                <a:ea typeface="Times New Roman" panose="02020603050405020304" pitchFamily="18" charset="0"/>
              </a:rPr>
              <a:t>5 kPa</a:t>
            </a:r>
            <a:r>
              <a:rPr lang="en-US" sz="180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Assume that the actual efficiency achieved by this cycle is 85% of the ideal efficiency. The generator is 98% efficient. What is the annual electric output in kWh/year?</a:t>
            </a:r>
            <a:endParaRPr lang="en-CA"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26318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520E7F3-05A0-4877-B32C-F462844CE80A}"/>
              </a:ext>
            </a:extLst>
          </p:cNvPr>
          <p:cNvSpPr txBox="1"/>
          <p:nvPr/>
        </p:nvSpPr>
        <p:spPr>
          <a:xfrm>
            <a:off x="401714" y="412746"/>
            <a:ext cx="11334566" cy="1200329"/>
          </a:xfrm>
          <a:prstGeom prst="rect">
            <a:avLst/>
          </a:prstGeom>
          <a:noFill/>
        </p:spPr>
        <p:txBody>
          <a:bodyPr wrap="square">
            <a:spAutoFit/>
          </a:bodyPr>
          <a:lstStyle/>
          <a:p>
            <a:r>
              <a:rPr lang="en-US" sz="1800" b="1" dirty="0">
                <a:effectLst/>
              </a:rPr>
              <a:t>Q5. </a:t>
            </a:r>
            <a:r>
              <a:rPr lang="en-US" sz="1800" dirty="0">
                <a:effectLst/>
                <a:latin typeface="Times New Roman" panose="02020603050405020304" pitchFamily="18" charset="0"/>
                <a:ea typeface="Times New Roman" panose="02020603050405020304" pitchFamily="18" charset="0"/>
              </a:rPr>
              <a:t>The cost of the facility in the previous problem is $15 million (assuming that mass production has brought the cost down from the current cost of such experimental facilities), and it has an expected life of 25 years with no salvage value. If the MARR is 5%, what is the levelized cost of electricity from the system in $/kWh? Ignore the portion of electricity used onsite (also known as parasitic loads), and ignore maintenance and other costs.</a:t>
            </a:r>
            <a:endParaRPr lang="en-CA"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36474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BF0EF-988C-471D-8ED6-2A8F13DBBDF2}"/>
              </a:ext>
            </a:extLst>
          </p:cNvPr>
          <p:cNvSpPr>
            <a:spLocks noGrp="1"/>
          </p:cNvSpPr>
          <p:nvPr>
            <p:ph type="ctrTitle"/>
          </p:nvPr>
        </p:nvSpPr>
        <p:spPr/>
        <p:txBody>
          <a:bodyPr/>
          <a:lstStyle/>
          <a:p>
            <a:r>
              <a:rPr lang="en-CA" dirty="0"/>
              <a:t>Module 6 Class Problems </a:t>
            </a:r>
          </a:p>
        </p:txBody>
      </p:sp>
      <p:sp>
        <p:nvSpPr>
          <p:cNvPr id="3" name="Subtitle 2">
            <a:extLst>
              <a:ext uri="{FF2B5EF4-FFF2-40B4-BE49-F238E27FC236}">
                <a16:creationId xmlns:a16="http://schemas.microsoft.com/office/drawing/2014/main" id="{2D00E45C-D54B-4434-84F4-126C83FCA9B7}"/>
              </a:ext>
            </a:extLst>
          </p:cNvPr>
          <p:cNvSpPr>
            <a:spLocks noGrp="1"/>
          </p:cNvSpPr>
          <p:nvPr>
            <p:ph type="subTitle" idx="1"/>
          </p:nvPr>
        </p:nvSpPr>
        <p:spPr/>
        <p:txBody>
          <a:bodyPr/>
          <a:lstStyle/>
          <a:p>
            <a:endParaRPr lang="en-CA" dirty="0"/>
          </a:p>
          <a:p>
            <a:r>
              <a:rPr lang="en-CA" u="sng" dirty="0"/>
              <a:t>Part 2 </a:t>
            </a:r>
            <a:r>
              <a:rPr lang="en-CA" dirty="0"/>
              <a:t> Solar PV</a:t>
            </a:r>
          </a:p>
        </p:txBody>
      </p:sp>
    </p:spTree>
    <p:extLst>
      <p:ext uri="{BB962C8B-B14F-4D97-AF65-F5344CB8AC3E}">
        <p14:creationId xmlns:p14="http://schemas.microsoft.com/office/powerpoint/2010/main" val="1483879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09FBB9-EF2A-4272-B807-9D0B2E4EA52E}"/>
              </a:ext>
            </a:extLst>
          </p:cNvPr>
          <p:cNvSpPr txBox="1"/>
          <p:nvPr/>
        </p:nvSpPr>
        <p:spPr>
          <a:xfrm>
            <a:off x="230819" y="542407"/>
            <a:ext cx="11412615" cy="923330"/>
          </a:xfrm>
          <a:prstGeom prst="rect">
            <a:avLst/>
          </a:prstGeom>
          <a:noFill/>
        </p:spPr>
        <p:txBody>
          <a:bodyPr wrap="square">
            <a:spAutoFit/>
          </a:bodyPr>
          <a:lstStyle/>
          <a:p>
            <a:r>
              <a:rPr lang="en-US" b="1" dirty="0">
                <a:effectLst/>
              </a:rPr>
              <a:t>Q1. </a:t>
            </a:r>
            <a:r>
              <a:rPr lang="en-US" dirty="0">
                <a:effectLst/>
              </a:rPr>
              <a:t>What is the maximum wavelength of the light that produces voltage in a cadmium telluride (</a:t>
            </a:r>
            <a:r>
              <a:rPr lang="en-US" dirty="0" err="1">
                <a:effectLst/>
              </a:rPr>
              <a:t>CdTe</a:t>
            </a:r>
            <a:r>
              <a:rPr lang="en-US" dirty="0">
                <a:effectLst/>
              </a:rPr>
              <a:t>) and cadmium sulfide (</a:t>
            </a:r>
            <a:r>
              <a:rPr lang="en-US" dirty="0" err="1">
                <a:effectLst/>
              </a:rPr>
              <a:t>CdS</a:t>
            </a:r>
            <a:r>
              <a:rPr lang="en-US" dirty="0">
                <a:effectLst/>
              </a:rPr>
              <a:t>) photovoltaic device? </a:t>
            </a:r>
          </a:p>
          <a:p>
            <a:endParaRPr lang="en-US" dirty="0">
              <a:effectLst/>
            </a:endParaRPr>
          </a:p>
        </p:txBody>
      </p:sp>
    </p:spTree>
    <p:extLst>
      <p:ext uri="{BB962C8B-B14F-4D97-AF65-F5344CB8AC3E}">
        <p14:creationId xmlns:p14="http://schemas.microsoft.com/office/powerpoint/2010/main" val="2393965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755453-4E4B-4CB0-AA5F-990EFADCB874}"/>
              </a:ext>
            </a:extLst>
          </p:cNvPr>
          <p:cNvSpPr>
            <a:spLocks noGrp="1"/>
          </p:cNvSpPr>
          <p:nvPr>
            <p:ph idx="1"/>
          </p:nvPr>
        </p:nvSpPr>
        <p:spPr>
          <a:xfrm>
            <a:off x="152400" y="311150"/>
            <a:ext cx="3914775" cy="4351338"/>
          </a:xfrm>
        </p:spPr>
        <p:txBody>
          <a:bodyPr>
            <a:normAutofit/>
          </a:bodyPr>
          <a:lstStyle/>
          <a:p>
            <a:pPr marL="0" indent="0">
              <a:buNone/>
            </a:pPr>
            <a:r>
              <a:rPr lang="en-CA" sz="1800" b="1" dirty="0"/>
              <a:t>Q2</a:t>
            </a:r>
            <a:r>
              <a:rPr lang="en-CA" sz="1800" dirty="0"/>
              <a:t>. Given the technical specification sheet provided for </a:t>
            </a:r>
            <a:r>
              <a:rPr lang="en-CA" sz="1800" dirty="0" err="1"/>
              <a:t>Heiliene</a:t>
            </a:r>
            <a:r>
              <a:rPr lang="en-CA" sz="1800" dirty="0"/>
              <a:t> 60P, 250 W panel, determine the fill factor and validate the efficiency reported in the data sheet.</a:t>
            </a:r>
          </a:p>
        </p:txBody>
      </p:sp>
      <p:pic>
        <p:nvPicPr>
          <p:cNvPr id="7" name="Picture 6">
            <a:extLst>
              <a:ext uri="{FF2B5EF4-FFF2-40B4-BE49-F238E27FC236}">
                <a16:creationId xmlns:a16="http://schemas.microsoft.com/office/drawing/2014/main" id="{D871D265-2D37-48C9-B7DD-DD9B32808E79}"/>
              </a:ext>
            </a:extLst>
          </p:cNvPr>
          <p:cNvPicPr>
            <a:picLocks noChangeAspect="1"/>
          </p:cNvPicPr>
          <p:nvPr/>
        </p:nvPicPr>
        <p:blipFill>
          <a:blip r:embed="rId2"/>
          <a:stretch>
            <a:fillRect/>
          </a:stretch>
        </p:blipFill>
        <p:spPr>
          <a:xfrm>
            <a:off x="4142658" y="0"/>
            <a:ext cx="8049341" cy="5686425"/>
          </a:xfrm>
          <a:prstGeom prst="rect">
            <a:avLst/>
          </a:prstGeom>
        </p:spPr>
      </p:pic>
    </p:spTree>
    <p:extLst>
      <p:ext uri="{BB962C8B-B14F-4D97-AF65-F5344CB8AC3E}">
        <p14:creationId xmlns:p14="http://schemas.microsoft.com/office/powerpoint/2010/main" val="3642024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004824E-7E8C-47FC-B4E4-893310928F4F}"/>
              </a:ext>
            </a:extLst>
          </p:cNvPr>
          <p:cNvSpPr txBox="1"/>
          <p:nvPr/>
        </p:nvSpPr>
        <p:spPr>
          <a:xfrm>
            <a:off x="357325" y="652483"/>
            <a:ext cx="11654161" cy="646331"/>
          </a:xfrm>
          <a:prstGeom prst="rect">
            <a:avLst/>
          </a:prstGeom>
          <a:noFill/>
        </p:spPr>
        <p:txBody>
          <a:bodyPr wrap="square">
            <a:spAutoFit/>
          </a:bodyPr>
          <a:lstStyle/>
          <a:p>
            <a:r>
              <a:rPr lang="en-US" b="1" dirty="0">
                <a:effectLst/>
              </a:rPr>
              <a:t>Q3. </a:t>
            </a:r>
            <a:r>
              <a:rPr lang="en-US" dirty="0" err="1">
                <a:effectLst/>
              </a:rPr>
              <a:t>Photowatt</a:t>
            </a:r>
            <a:r>
              <a:rPr lang="en-US" dirty="0">
                <a:effectLst/>
              </a:rPr>
              <a:t> class Ah photovoltaic cells are to be arranged to provide an output of 12 V and a power of 120 W. Recommend an arrangement that meets the specifications</a:t>
            </a:r>
          </a:p>
        </p:txBody>
      </p:sp>
    </p:spTree>
    <p:extLst>
      <p:ext uri="{BB962C8B-B14F-4D97-AF65-F5344CB8AC3E}">
        <p14:creationId xmlns:p14="http://schemas.microsoft.com/office/powerpoint/2010/main" val="1843676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1EA5BC4-9E88-4669-909A-B7924D674851}"/>
              </a:ext>
            </a:extLst>
          </p:cNvPr>
          <p:cNvPicPr>
            <a:picLocks noChangeAspect="1"/>
          </p:cNvPicPr>
          <p:nvPr/>
        </p:nvPicPr>
        <p:blipFill>
          <a:blip r:embed="rId2"/>
          <a:stretch>
            <a:fillRect/>
          </a:stretch>
        </p:blipFill>
        <p:spPr>
          <a:xfrm>
            <a:off x="326901" y="1566545"/>
            <a:ext cx="6657975" cy="3028950"/>
          </a:xfrm>
          <a:prstGeom prst="rect">
            <a:avLst/>
          </a:prstGeom>
        </p:spPr>
      </p:pic>
      <p:sp>
        <p:nvSpPr>
          <p:cNvPr id="7" name="TextBox 6">
            <a:extLst>
              <a:ext uri="{FF2B5EF4-FFF2-40B4-BE49-F238E27FC236}">
                <a16:creationId xmlns:a16="http://schemas.microsoft.com/office/drawing/2014/main" id="{86FA2420-DE04-440D-8939-5B43871034B7}"/>
              </a:ext>
            </a:extLst>
          </p:cNvPr>
          <p:cNvSpPr txBox="1"/>
          <p:nvPr/>
        </p:nvSpPr>
        <p:spPr>
          <a:xfrm>
            <a:off x="534971" y="252690"/>
            <a:ext cx="11437953" cy="1477328"/>
          </a:xfrm>
          <a:prstGeom prst="rect">
            <a:avLst/>
          </a:prstGeom>
          <a:noFill/>
        </p:spPr>
        <p:txBody>
          <a:bodyPr wrap="square">
            <a:spAutoFit/>
          </a:bodyPr>
          <a:lstStyle/>
          <a:p>
            <a:r>
              <a:rPr lang="en-US" b="1" dirty="0">
                <a:effectLst/>
              </a:rPr>
              <a:t>Q4</a:t>
            </a:r>
            <a:r>
              <a:rPr lang="en-US" dirty="0">
                <a:effectLst/>
              </a:rPr>
              <a:t>. Part a)</a:t>
            </a:r>
            <a:r>
              <a:rPr lang="en-US" dirty="0"/>
              <a:t> </a:t>
            </a:r>
            <a:r>
              <a:rPr lang="en-US" dirty="0">
                <a:effectLst/>
              </a:rPr>
              <a:t>Estimate the daily average energy produce by an array consist of twenty BP 3160 modules for a day in July at a location with daily average solar irradiation given below. </a:t>
            </a:r>
          </a:p>
          <a:p>
            <a:r>
              <a:rPr lang="en-US" dirty="0"/>
              <a:t>Part b) Develop a spreadsheet and estimate </a:t>
            </a:r>
            <a:r>
              <a:rPr lang="en-US" dirty="0">
                <a:effectLst/>
              </a:rPr>
              <a:t>annual kWh production of one BP E160 module for this location</a:t>
            </a:r>
          </a:p>
          <a:p>
            <a:r>
              <a:rPr lang="en-US" dirty="0"/>
              <a:t>Part c) If the feed-in tariff (i.e., the price local power provider would pay to purchase the electricity produced by renewable energy and fed into the local grid) is 0.81 $/kWh, estimate the generated revenue. </a:t>
            </a:r>
            <a:endParaRPr lang="en-US" dirty="0">
              <a:effectLst/>
            </a:endParaRPr>
          </a:p>
        </p:txBody>
      </p:sp>
      <p:pic>
        <p:nvPicPr>
          <p:cNvPr id="9" name="Picture 8">
            <a:extLst>
              <a:ext uri="{FF2B5EF4-FFF2-40B4-BE49-F238E27FC236}">
                <a16:creationId xmlns:a16="http://schemas.microsoft.com/office/drawing/2014/main" id="{7D558C28-F1CA-4434-9981-B2A8D1A94803}"/>
              </a:ext>
            </a:extLst>
          </p:cNvPr>
          <p:cNvPicPr>
            <a:picLocks noChangeAspect="1"/>
          </p:cNvPicPr>
          <p:nvPr/>
        </p:nvPicPr>
        <p:blipFill>
          <a:blip r:embed="rId3"/>
          <a:stretch>
            <a:fillRect/>
          </a:stretch>
        </p:blipFill>
        <p:spPr>
          <a:xfrm>
            <a:off x="7454838" y="1700212"/>
            <a:ext cx="2181225" cy="3057525"/>
          </a:xfrm>
          <a:prstGeom prst="rect">
            <a:avLst/>
          </a:prstGeom>
        </p:spPr>
      </p:pic>
      <p:pic>
        <p:nvPicPr>
          <p:cNvPr id="11" name="Picture 10">
            <a:extLst>
              <a:ext uri="{FF2B5EF4-FFF2-40B4-BE49-F238E27FC236}">
                <a16:creationId xmlns:a16="http://schemas.microsoft.com/office/drawing/2014/main" id="{4FB18B98-09A2-40CF-A92E-EE710FC9B171}"/>
              </a:ext>
            </a:extLst>
          </p:cNvPr>
          <p:cNvPicPr>
            <a:picLocks noChangeAspect="1"/>
          </p:cNvPicPr>
          <p:nvPr/>
        </p:nvPicPr>
        <p:blipFill>
          <a:blip r:embed="rId4"/>
          <a:stretch>
            <a:fillRect/>
          </a:stretch>
        </p:blipFill>
        <p:spPr>
          <a:xfrm>
            <a:off x="10106025" y="1757361"/>
            <a:ext cx="1333500" cy="3057525"/>
          </a:xfrm>
          <a:prstGeom prst="rect">
            <a:avLst/>
          </a:prstGeom>
        </p:spPr>
      </p:pic>
    </p:spTree>
    <p:extLst>
      <p:ext uri="{BB962C8B-B14F-4D97-AF65-F5344CB8AC3E}">
        <p14:creationId xmlns:p14="http://schemas.microsoft.com/office/powerpoint/2010/main" val="4018029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8C08EC-A6AC-45FE-9884-AB66204E1F68}"/>
              </a:ext>
            </a:extLst>
          </p:cNvPr>
          <p:cNvSpPr txBox="1"/>
          <p:nvPr/>
        </p:nvSpPr>
        <p:spPr>
          <a:xfrm>
            <a:off x="144261" y="300919"/>
            <a:ext cx="11831716" cy="646331"/>
          </a:xfrm>
          <a:prstGeom prst="rect">
            <a:avLst/>
          </a:prstGeom>
          <a:noFill/>
        </p:spPr>
        <p:txBody>
          <a:bodyPr wrap="square">
            <a:spAutoFit/>
          </a:bodyPr>
          <a:lstStyle/>
          <a:p>
            <a:r>
              <a:rPr lang="en-US" b="1" dirty="0">
                <a:effectLst/>
              </a:rPr>
              <a:t>Q5</a:t>
            </a:r>
            <a:r>
              <a:rPr lang="en-US" dirty="0">
                <a:effectLst/>
              </a:rPr>
              <a:t>. WithaGEPV-030-Mphotovoltaicmodule(characteristics in the following table), how many modules in what arrangement would be required to provide 100 V and 900 W at the rated conditions? </a:t>
            </a:r>
          </a:p>
        </p:txBody>
      </p:sp>
      <p:pic>
        <p:nvPicPr>
          <p:cNvPr id="7" name="Picture 6">
            <a:extLst>
              <a:ext uri="{FF2B5EF4-FFF2-40B4-BE49-F238E27FC236}">
                <a16:creationId xmlns:a16="http://schemas.microsoft.com/office/drawing/2014/main" id="{6D330658-1392-4B2B-B431-AFA80B9817CA}"/>
              </a:ext>
            </a:extLst>
          </p:cNvPr>
          <p:cNvPicPr>
            <a:picLocks noChangeAspect="1"/>
          </p:cNvPicPr>
          <p:nvPr/>
        </p:nvPicPr>
        <p:blipFill>
          <a:blip r:embed="rId2"/>
          <a:stretch>
            <a:fillRect/>
          </a:stretch>
        </p:blipFill>
        <p:spPr>
          <a:xfrm>
            <a:off x="216023" y="947250"/>
            <a:ext cx="8191500" cy="3181350"/>
          </a:xfrm>
          <a:prstGeom prst="rect">
            <a:avLst/>
          </a:prstGeom>
        </p:spPr>
      </p:pic>
    </p:spTree>
    <p:extLst>
      <p:ext uri="{BB962C8B-B14F-4D97-AF65-F5344CB8AC3E}">
        <p14:creationId xmlns:p14="http://schemas.microsoft.com/office/powerpoint/2010/main" val="2110315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64C9DD8-8719-40AD-89E0-66039EE5788F}"/>
              </a:ext>
            </a:extLst>
          </p:cNvPr>
          <p:cNvSpPr txBox="1"/>
          <p:nvPr/>
        </p:nvSpPr>
        <p:spPr>
          <a:xfrm>
            <a:off x="239697" y="480146"/>
            <a:ext cx="11585359" cy="2308324"/>
          </a:xfrm>
          <a:prstGeom prst="rect">
            <a:avLst/>
          </a:prstGeom>
          <a:noFill/>
        </p:spPr>
        <p:txBody>
          <a:bodyPr wrap="square">
            <a:spAutoFit/>
          </a:bodyPr>
          <a:lstStyle/>
          <a:p>
            <a:r>
              <a:rPr lang="en-US" b="1" dirty="0"/>
              <a:t>Q6. </a:t>
            </a:r>
            <a:r>
              <a:rPr lang="en-US" dirty="0"/>
              <a:t>You are to evaluate a solar PV investment in a sunny location where each 1 kW of capacity generates on average 115 kWh/month year-round. The system size is 5 kW rated, and electricity in the region costs $0.12/kWh. You will finance the entire cost of the system with a loan, and thanks to an interest rate buy down, you are able to obtain the loan at 4% interest. There is a fixed cost of $5000 for the system for which no rebates or tax incentives are available; however, there are rebates available for the PV panels as a function of the number of watts of capacity installed. The cost of the panels is $6/W. Assume an investment lifetime of 20 years, and that the price of electricity remains constant, as measured in constant dollars. What is the dollar amount of rebate required per watt for the system to exactly break even over its lifetime?</a:t>
            </a:r>
          </a:p>
        </p:txBody>
      </p:sp>
    </p:spTree>
    <p:extLst>
      <p:ext uri="{BB962C8B-B14F-4D97-AF65-F5344CB8AC3E}">
        <p14:creationId xmlns:p14="http://schemas.microsoft.com/office/powerpoint/2010/main" val="27593038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1865</TotalTime>
  <Words>1102</Words>
  <Application>Microsoft Office PowerPoint</Application>
  <PresentationFormat>Widescreen</PresentationFormat>
  <Paragraphs>30</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Symbol</vt:lpstr>
      <vt:lpstr>Times New Roman</vt:lpstr>
      <vt:lpstr>Office Theme</vt:lpstr>
      <vt:lpstr>Module 6 Class Problems  </vt:lpstr>
      <vt:lpstr>PowerPoint Presentation</vt:lpstr>
      <vt:lpstr>PowerPoint Presentation</vt:lpstr>
      <vt:lpstr>PowerPoint Presentation</vt:lpstr>
      <vt:lpstr>PowerPoint Presentation</vt:lpstr>
      <vt:lpstr>PowerPoint Presentation</vt:lpstr>
      <vt:lpstr>Module 6 Class Problems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Amin Ghobeity</dc:creator>
  <cp:lastModifiedBy>Amin Ghobeity</cp:lastModifiedBy>
  <cp:revision>19</cp:revision>
  <dcterms:created xsi:type="dcterms:W3CDTF">2021-07-05T19:30:10Z</dcterms:created>
  <dcterms:modified xsi:type="dcterms:W3CDTF">2024-10-30T19:35:55Z</dcterms:modified>
</cp:coreProperties>
</file>