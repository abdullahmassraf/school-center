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  <p:sldMasterId id="2147483793" r:id="rId2"/>
    <p:sldMasterId id="2147483800" r:id="rId3"/>
  </p:sldMasterIdLst>
  <p:notesMasterIdLst>
    <p:notesMasterId r:id="rId21"/>
  </p:notesMasterIdLst>
  <p:handoutMasterIdLst>
    <p:handoutMasterId r:id="rId22"/>
  </p:handoutMasterIdLst>
  <p:sldIdLst>
    <p:sldId id="256" r:id="rId4"/>
    <p:sldId id="360" r:id="rId5"/>
    <p:sldId id="317" r:id="rId6"/>
    <p:sldId id="644" r:id="rId7"/>
    <p:sldId id="647" r:id="rId8"/>
    <p:sldId id="660" r:id="rId9"/>
    <p:sldId id="659" r:id="rId10"/>
    <p:sldId id="661" r:id="rId11"/>
    <p:sldId id="662" r:id="rId12"/>
    <p:sldId id="663" r:id="rId13"/>
    <p:sldId id="648" r:id="rId14"/>
    <p:sldId id="650" r:id="rId15"/>
    <p:sldId id="652" r:id="rId16"/>
    <p:sldId id="653" r:id="rId17"/>
    <p:sldId id="651" r:id="rId18"/>
    <p:sldId id="654" r:id="rId19"/>
    <p:sldId id="65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eftel, Mona D" initials="ZMD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42" autoAdjust="0"/>
    <p:restoredTop sz="83417" autoAdjust="0"/>
  </p:normalViewPr>
  <p:slideViewPr>
    <p:cSldViewPr>
      <p:cViewPr varScale="1">
        <p:scale>
          <a:sx n="71" d="100"/>
          <a:sy n="71" d="100"/>
        </p:scale>
        <p:origin x="15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324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D4A66-4E06-4F80-804F-A964EB6C0D0A}" type="datetimeFigureOut">
              <a:rPr lang="en-US" smtClean="0"/>
              <a:pPr/>
              <a:t>7/21/2022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40500-23C6-45C7-9626-EF17B47CA0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4727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46D3D-12D9-42A1-A359-88470FD6EB52}" type="datetimeFigureOut">
              <a:rPr lang="en-US" smtClean="0"/>
              <a:pPr/>
              <a:t>7/21/2022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8331F-8B33-4884-9995-3C14B2EEB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58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8331F-8B33-4884-9995-3C14B2EEB35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211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9600" y="2133600"/>
            <a:ext cx="7810500" cy="4157662"/>
          </a:xfrm>
          <a:prstGeom prst="rect">
            <a:avLst/>
          </a:prstGeom>
        </p:spPr>
        <p:txBody>
          <a:bodyPr/>
          <a:lstStyle>
            <a:lvl1pPr marL="463550" indent="-463550">
              <a:buFont typeface="Wingdings" panose="05000000000000000000" pitchFamily="2" charset="2"/>
              <a:buChar char="q"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1001951"/>
            <a:ext cx="7810500" cy="979250"/>
          </a:xfrm>
          <a:prstGeom prst="rect">
            <a:avLst/>
          </a:prstGeom>
        </p:spPr>
        <p:txBody>
          <a:bodyPr/>
          <a:lstStyle>
            <a:lvl1pPr algn="l">
              <a:defRPr kumimoji="0" lang="en-US" sz="3600" b="1" kern="120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8"/>
          <p:cNvSpPr txBox="1">
            <a:spLocks/>
          </p:cNvSpPr>
          <p:nvPr userDrawn="1"/>
        </p:nvSpPr>
        <p:spPr>
          <a:xfrm>
            <a:off x="1333500" y="6364275"/>
            <a:ext cx="6972300" cy="3778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0" lang="en-US" sz="1100" kern="12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27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9600" y="2133600"/>
            <a:ext cx="7810500" cy="4157662"/>
          </a:xfrm>
          <a:prstGeom prst="rect">
            <a:avLst/>
          </a:prstGeom>
        </p:spPr>
        <p:txBody>
          <a:bodyPr/>
          <a:lstStyle>
            <a:lvl1pPr marL="463550" indent="-463550">
              <a:buFont typeface="Wingdings" panose="05000000000000000000" pitchFamily="2" charset="2"/>
              <a:buChar char="q"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1001951"/>
            <a:ext cx="7810500" cy="979250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 userDrawn="1"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01000" y="6250163"/>
            <a:ext cx="934040" cy="365125"/>
          </a:xfrm>
        </p:spPr>
        <p:txBody>
          <a:bodyPr/>
          <a:lstStyle/>
          <a:p>
            <a:fld id="{070107C2-BA80-4C15-96AE-A43002ADF025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505" y="589492"/>
            <a:ext cx="4367513" cy="5430261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00" y="1600200"/>
            <a:ext cx="3213100" cy="762000"/>
          </a:xfrm>
        </p:spPr>
        <p:txBody>
          <a:bodyPr>
            <a:normAutofit/>
          </a:bodyPr>
          <a:lstStyle>
            <a:lvl1pPr marL="0" indent="0" algn="ctr">
              <a:buNone/>
              <a:defRPr sz="3200" baseline="0"/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568950" y="2590800"/>
            <a:ext cx="2898775" cy="838200"/>
          </a:xfrm>
        </p:spPr>
        <p:txBody>
          <a:bodyPr/>
          <a:lstStyle>
            <a:lvl1pPr marL="0" indent="0" algn="ctr">
              <a:buNone/>
              <a:defRPr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4153781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07C2-BA80-4C15-96AE-A43002AD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60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780736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©2015 Cengage Learning Engineering. All Right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682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 userDrawn="1"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638" y="6250164"/>
            <a:ext cx="780736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©2019 Cengage Learning ®. May not be scanned, copied or duplicated, or posted to a publicly accessible website, in whole or in part. </a:t>
            </a:r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01000" y="6250163"/>
            <a:ext cx="934040" cy="365125"/>
          </a:xfrm>
        </p:spPr>
        <p:txBody>
          <a:bodyPr/>
          <a:lstStyle/>
          <a:p>
            <a:fld id="{070107C2-BA80-4C15-96AE-A43002ADF025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505" y="589492"/>
            <a:ext cx="4367513" cy="5430261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00" y="1600200"/>
            <a:ext cx="3213100" cy="762000"/>
          </a:xfrm>
        </p:spPr>
        <p:txBody>
          <a:bodyPr>
            <a:normAutofit/>
          </a:bodyPr>
          <a:lstStyle>
            <a:lvl1pPr marL="0" indent="0" algn="ctr">
              <a:buNone/>
              <a:defRPr sz="3200" baseline="0"/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568950" y="2590800"/>
            <a:ext cx="2898775" cy="838200"/>
          </a:xfrm>
        </p:spPr>
        <p:txBody>
          <a:bodyPr/>
          <a:lstStyle>
            <a:lvl1pPr marL="0" indent="0" algn="ctr">
              <a:buNone/>
              <a:defRPr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619338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07C2-BA80-4C15-96AE-A43002ADF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0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845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7409" y="632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22D24B2-5D52-46F7-B915-67CABB3AD0C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0" y="0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		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7" r:id="rId2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600" b="0" kern="1200">
          <a:ln>
            <a:noFill/>
          </a:ln>
          <a:solidFill>
            <a:srgbClr val="002060"/>
          </a:solidFill>
          <a:effectLst/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000" y="6250163"/>
            <a:ext cx="934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070107C2-BA80-4C15-96AE-A43002ADF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278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rgbClr val="FFFFFF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000" y="6250163"/>
            <a:ext cx="934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070107C2-BA80-4C15-96AE-A43002ADF0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647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rgbClr val="FFFFFF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4953000" y="1739900"/>
            <a:ext cx="3432048" cy="914400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600" b="1" kern="120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4800" b="0" dirty="0">
                <a:solidFill>
                  <a:schemeClr val="accent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533400" y="1447800"/>
            <a:ext cx="8458200" cy="4800600"/>
          </a:xfrm>
          <a:prstGeom prst="rect">
            <a:avLst/>
          </a:prstGeom>
        </p:spPr>
        <p:txBody>
          <a:bodyPr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en-US" sz="3200" b="1" dirty="0">
                <a:solidFill>
                  <a:schemeClr val="accent2"/>
                </a:solidFill>
              </a:rPr>
              <a:t>Introduction to Energy Systems </a:t>
            </a:r>
          </a:p>
          <a:p>
            <a:pPr marL="0" indent="0">
              <a:buFont typeface="Wingdings 2"/>
              <a:buNone/>
            </a:pPr>
            <a:endParaRPr lang="en-US" sz="3200" dirty="0">
              <a:solidFill>
                <a:schemeClr val="accent2"/>
              </a:solidFill>
            </a:endParaRPr>
          </a:p>
          <a:p>
            <a:pPr marL="0" indent="0">
              <a:buFont typeface="Wingdings 2"/>
              <a:buNone/>
            </a:pPr>
            <a:r>
              <a:rPr lang="en-US" sz="3200" dirty="0">
                <a:solidFill>
                  <a:schemeClr val="accent2"/>
                </a:solidFill>
              </a:rPr>
              <a:t>Module 8</a:t>
            </a:r>
          </a:p>
          <a:p>
            <a:pPr marL="0" indent="0">
              <a:buFont typeface="Wingdings 2"/>
              <a:buNone/>
            </a:pPr>
            <a:endParaRPr lang="en-US" sz="3200" dirty="0">
              <a:solidFill>
                <a:schemeClr val="accent2"/>
              </a:solidFill>
            </a:endParaRPr>
          </a:p>
          <a:p>
            <a:pPr marL="0" indent="0">
              <a:buFont typeface="Wingdings 2"/>
              <a:buNone/>
            </a:pPr>
            <a:r>
              <a:rPr lang="en-US" sz="3200" dirty="0">
                <a:solidFill>
                  <a:schemeClr val="accent2"/>
                </a:solidFill>
              </a:rPr>
              <a:t>Part 1: Hydropower</a:t>
            </a:r>
          </a:p>
          <a:p>
            <a:pPr marL="0" indent="0">
              <a:buFont typeface="Wingdings 2"/>
              <a:buNone/>
            </a:pPr>
            <a:r>
              <a:rPr lang="en-US" sz="2400" i="1" dirty="0">
                <a:solidFill>
                  <a:schemeClr val="accent2"/>
                </a:solidFill>
              </a:rPr>
              <a:t> </a:t>
            </a:r>
          </a:p>
          <a:p>
            <a:pPr marL="0" indent="0">
              <a:buFont typeface="Wingdings 2"/>
              <a:buNone/>
            </a:pPr>
            <a:endParaRPr lang="en-US" sz="3200" dirty="0">
              <a:solidFill>
                <a:schemeClr val="accent2"/>
              </a:solidFill>
            </a:endParaRPr>
          </a:p>
          <a:p>
            <a:pPr marL="0" indent="0">
              <a:buFont typeface="Wingdings 2"/>
              <a:buNone/>
            </a:pPr>
            <a:r>
              <a:rPr lang="en-US" sz="2400" dirty="0">
                <a:solidFill>
                  <a:schemeClr val="accent2"/>
                </a:solidFill>
              </a:rPr>
              <a:t>Prepared by: Prof. Amin Ghobeity</a:t>
            </a:r>
          </a:p>
          <a:p>
            <a:pPr marL="0" indent="0">
              <a:buFont typeface="Wingdings 2"/>
              <a:buNone/>
            </a:pPr>
            <a:r>
              <a:rPr lang="en-US" sz="2400" dirty="0">
                <a:solidFill>
                  <a:schemeClr val="accent2"/>
                </a:solidFill>
              </a:rPr>
              <a:t>Please do not distribute without permission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B3CC0A-3C29-4A1E-856C-3DB053DD31A0}"/>
              </a:ext>
            </a:extLst>
          </p:cNvPr>
          <p:cNvSpPr txBox="1"/>
          <p:nvPr/>
        </p:nvSpPr>
        <p:spPr>
          <a:xfrm>
            <a:off x="6553200" y="2286000"/>
            <a:ext cx="202128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+ Instructor notes</a:t>
            </a:r>
            <a:endParaRPr lang="en-CA" i="0" dirty="0"/>
          </a:p>
        </p:txBody>
      </p:sp>
      <p:pic>
        <p:nvPicPr>
          <p:cNvPr id="7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CE9BE1D0-BD81-4184-A12C-53173F160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51" y="2092306"/>
            <a:ext cx="2223220" cy="28901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6A8699B-D97F-40CF-8C59-C90DA94C7991}"/>
              </a:ext>
            </a:extLst>
          </p:cNvPr>
          <p:cNvSpPr txBox="1"/>
          <p:nvPr/>
        </p:nvSpPr>
        <p:spPr>
          <a:xfrm>
            <a:off x="645736" y="5099096"/>
            <a:ext cx="27832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Alternative Energy Systems and Applications Paperback</a:t>
            </a:r>
          </a:p>
          <a:p>
            <a:r>
              <a:rPr lang="en-US" b="1" dirty="0">
                <a:solidFill>
                  <a:schemeClr val="bg1"/>
                </a:solidFill>
              </a:rPr>
              <a:t>By Hodge</a:t>
            </a:r>
          </a:p>
        </p:txBody>
      </p:sp>
      <p:pic>
        <p:nvPicPr>
          <p:cNvPr id="9" name="5 Resim">
            <a:extLst>
              <a:ext uri="{FF2B5EF4-FFF2-40B4-BE49-F238E27FC236}">
                <a16:creationId xmlns:a16="http://schemas.microsoft.com/office/drawing/2014/main" id="{B77F3BD6-9FE5-4188-9995-4AEB8B28B6EF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70831" y="2092306"/>
            <a:ext cx="1905000" cy="2890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5F1F70-011F-4376-8FFF-9B4E391547DA}"/>
              </a:ext>
            </a:extLst>
          </p:cNvPr>
          <p:cNvSpPr txBox="1"/>
          <p:nvPr/>
        </p:nvSpPr>
        <p:spPr>
          <a:xfrm>
            <a:off x="4370831" y="5173467"/>
            <a:ext cx="4581426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Fundamentals and Applications </a:t>
            </a:r>
            <a:r>
              <a:rPr lang="en-US"/>
              <a:t>of </a:t>
            </a:r>
            <a:r>
              <a:rPr lang="en-US" dirty="0"/>
              <a:t>Renewable Energy </a:t>
            </a:r>
          </a:p>
          <a:p>
            <a:r>
              <a:rPr lang="en-US"/>
              <a:t>Mehmet Kano</a:t>
            </a:r>
            <a:r>
              <a:rPr lang="tr-TR"/>
              <a:t>g</a:t>
            </a:r>
            <a:r>
              <a:rPr lang="en-US"/>
              <a:t>lu</a:t>
            </a:r>
            <a:endParaRPr lang="en-US" dirty="0"/>
          </a:p>
          <a:p>
            <a:r>
              <a:rPr lang="en-US"/>
              <a:t>Yunus</a:t>
            </a:r>
            <a:r>
              <a:rPr lang="en-US" dirty="0"/>
              <a:t> A</a:t>
            </a:r>
            <a:r>
              <a:rPr lang="en-US"/>
              <a:t>. </a:t>
            </a:r>
            <a:r>
              <a:rPr lang="tr-TR"/>
              <a:t>C</a:t>
            </a:r>
            <a:r>
              <a:rPr lang="en-US"/>
              <a:t>engel</a:t>
            </a:r>
            <a:r>
              <a:rPr lang="en-US" dirty="0"/>
              <a:t> </a:t>
            </a:r>
          </a:p>
          <a:p>
            <a:r>
              <a:rPr lang="en-US" dirty="0"/>
              <a:t>John M</a:t>
            </a:r>
            <a:r>
              <a:rPr lang="en-US"/>
              <a:t>. Cimbala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32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6200" y="1752600"/>
            <a:ext cx="8991600" cy="4968875"/>
          </a:xfrm>
        </p:spPr>
        <p:txBody>
          <a:bodyPr/>
          <a:lstStyle/>
          <a:p>
            <a:r>
              <a:rPr lang="en-CA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potential energy associated with water.</a:t>
            </a:r>
          </a:p>
          <a:p>
            <a:r>
              <a:rPr lang="en-CA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kinetic energy associated with water.</a:t>
            </a:r>
          </a:p>
          <a:p>
            <a:r>
              <a:rPr lang="en-CA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different types of water turbines and their 	applications.</a:t>
            </a:r>
          </a:p>
          <a:p>
            <a:r>
              <a:rPr lang="en-CA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design and properties of various hydroelectric system.</a:t>
            </a:r>
          </a:p>
          <a:p>
            <a:r>
              <a:rPr lang="en-CA" dirty="0">
                <a:latin typeface="Verdana" panose="020B0604030504040204" pitchFamily="34" charset="0"/>
                <a:cs typeface="Verdana" panose="020B0604030504040204" pitchFamily="34" charset="0"/>
              </a:rPr>
              <a:t>Basic hydraulic analysis and determination of energy losses in a hydropower plant</a:t>
            </a:r>
            <a:endParaRPr lang="en-CA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CA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Financial analysis of hydropower </a:t>
            </a:r>
          </a:p>
          <a:p>
            <a:pPr marL="0" indent="0">
              <a:buNone/>
            </a:pPr>
            <a:endParaRPr lang="en-CA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1001951"/>
            <a:ext cx="7810500" cy="75064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2987327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B30632-3AA2-413A-AEBB-5211BED76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86E89-446B-4261-893B-514C31ED57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1710956"/>
            <a:ext cx="8915400" cy="4157662"/>
          </a:xfrm>
        </p:spPr>
        <p:txBody>
          <a:bodyPr/>
          <a:lstStyle/>
          <a:p>
            <a:r>
              <a:rPr lang="en-US" sz="2000" dirty="0">
                <a:effectLst/>
              </a:rPr>
              <a:t>Canada generates </a:t>
            </a:r>
            <a:r>
              <a:rPr lang="en-US" sz="2000" b="1" dirty="0">
                <a:effectLst/>
              </a:rPr>
              <a:t>more than 50 percent </a:t>
            </a:r>
            <a:r>
              <a:rPr lang="en-US" sz="2000" dirty="0">
                <a:effectLst/>
              </a:rPr>
              <a:t>of its electricity by hydropower; ~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16% or world's electricity</a:t>
            </a:r>
            <a:endParaRPr lang="en-US" sz="2000" dirty="0">
              <a:effectLst/>
            </a:endParaRPr>
          </a:p>
          <a:p>
            <a:r>
              <a:rPr lang="en-US" sz="2000" dirty="0">
                <a:effectLst/>
              </a:rPr>
              <a:t>Large hydroelectric dams require </a:t>
            </a:r>
            <a:r>
              <a:rPr lang="en-US" sz="2000" b="1" dirty="0">
                <a:effectLst/>
              </a:rPr>
              <a:t>large capital investments </a:t>
            </a:r>
            <a:r>
              <a:rPr lang="en-US" sz="2000" dirty="0">
                <a:effectLst/>
              </a:rPr>
              <a:t>and a </a:t>
            </a:r>
            <a:r>
              <a:rPr lang="en-US" sz="2000" b="1" dirty="0">
                <a:effectLst/>
              </a:rPr>
              <a:t>time scale of years to build</a:t>
            </a:r>
            <a:r>
              <a:rPr lang="en-US" sz="2000" dirty="0">
                <a:effectLst/>
              </a:rPr>
              <a:t> and complete. Once complete, hydroelectric power has </a:t>
            </a:r>
            <a:r>
              <a:rPr lang="en-US" sz="2000" b="1" dirty="0">
                <a:effectLst/>
              </a:rPr>
              <a:t>the lowest operating costs of any electricity source</a:t>
            </a:r>
            <a:r>
              <a:rPr lang="en-US" sz="2000" dirty="0">
                <a:effectLst/>
              </a:rPr>
              <a:t>. </a:t>
            </a:r>
          </a:p>
          <a:p>
            <a:endParaRPr lang="en-CA" sz="2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468C1B-A76F-4372-8894-E858A133C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BB81DB-0737-4FEA-99C6-6F5DE1DC9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99" y="3417345"/>
            <a:ext cx="6371513" cy="330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18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AFBE00-55FF-46AE-8980-52B2C767D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FD2E2-8A1A-4776-B1EB-4C213DCD97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133600"/>
            <a:ext cx="8153400" cy="4157662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energy associated with water running downhill can be harnessed by turbines in two ways: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(1)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potential energy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associated with water 	confined behind a dam (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 head systems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(2)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kinetic energy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associated with flowing water (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run-of-the-river systems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EE55FD-F9C3-4D10-A4A8-A75E52F4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Energy from water</a:t>
            </a:r>
          </a:p>
        </p:txBody>
      </p:sp>
    </p:spTree>
    <p:extLst>
      <p:ext uri="{BB962C8B-B14F-4D97-AF65-F5344CB8AC3E}">
        <p14:creationId xmlns:p14="http://schemas.microsoft.com/office/powerpoint/2010/main" val="3791421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8B8933-7465-411F-80CD-1D2998A3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598805-117C-41BC-94B5-2AD5B643A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Water Turbines – Impulse Turbines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E473A-4EFE-41EF-A148-B6B5F4B9B90D}"/>
              </a:ext>
            </a:extLst>
          </p:cNvPr>
          <p:cNvSpPr txBox="1"/>
          <p:nvPr/>
        </p:nvSpPr>
        <p:spPr>
          <a:xfrm>
            <a:off x="309006" y="2227263"/>
            <a:ext cx="8450263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+mj-lt"/>
              </a:rPr>
              <a:t>There are two classifications of water turbines: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latin typeface="+mj-lt"/>
              </a:rPr>
              <a:t>An </a:t>
            </a:r>
            <a:r>
              <a:rPr lang="en-US" b="1" dirty="0">
                <a:latin typeface="+mj-lt"/>
              </a:rPr>
              <a:t>impulse turbine</a:t>
            </a:r>
            <a:r>
              <a:rPr lang="en-US" dirty="0">
                <a:latin typeface="+mj-lt"/>
              </a:rPr>
              <a:t> is a rotary engine that changes the direction of a high velocity fluid, thus converting kinetic energy into mechanical rotating energy.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B8766-284F-4F1A-86DF-F7D38D0C3A4A}"/>
              </a:ext>
            </a:extLst>
          </p:cNvPr>
          <p:cNvSpPr txBox="1"/>
          <p:nvPr/>
        </p:nvSpPr>
        <p:spPr>
          <a:xfrm>
            <a:off x="309006" y="2227263"/>
            <a:ext cx="8450263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ndara"/>
              </a:rPr>
              <a:t>There are two classifications of water turbines: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solidFill>
                  <a:prstClr val="black"/>
                </a:solidFill>
                <a:latin typeface="Candara"/>
              </a:rPr>
              <a:t>An </a:t>
            </a:r>
            <a:r>
              <a:rPr lang="en-US" b="1" dirty="0">
                <a:solidFill>
                  <a:prstClr val="black"/>
                </a:solidFill>
                <a:latin typeface="Candara"/>
              </a:rPr>
              <a:t>impulse turbine</a:t>
            </a:r>
            <a:r>
              <a:rPr lang="en-US" dirty="0">
                <a:solidFill>
                  <a:prstClr val="black"/>
                </a:solidFill>
                <a:latin typeface="Candara"/>
              </a:rPr>
              <a:t> is a rotary engine that changes the direction of a high velocity fluid, thus converting </a:t>
            </a:r>
            <a:r>
              <a:rPr lang="en-US" b="1" dirty="0">
                <a:solidFill>
                  <a:prstClr val="black"/>
                </a:solidFill>
                <a:latin typeface="Candara"/>
              </a:rPr>
              <a:t>kinetic energy into mechanical</a:t>
            </a:r>
            <a:r>
              <a:rPr lang="en-US" dirty="0">
                <a:solidFill>
                  <a:prstClr val="black"/>
                </a:solidFill>
                <a:latin typeface="Candara"/>
              </a:rPr>
              <a:t> rotating energy. </a:t>
            </a:r>
          </a:p>
        </p:txBody>
      </p:sp>
      <p:pic>
        <p:nvPicPr>
          <p:cNvPr id="10" name="Picture 105">
            <a:extLst>
              <a:ext uri="{FF2B5EF4-FFF2-40B4-BE49-F238E27FC236}">
                <a16:creationId xmlns:a16="http://schemas.microsoft.com/office/drawing/2014/main" id="{F2BBB8A5-69A8-4ACB-AEEA-A786B4990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56" y="4591734"/>
            <a:ext cx="3291274" cy="210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CB908B46-DE0B-4CDB-AB03-8E2963398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006" y="3194250"/>
            <a:ext cx="41687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prstClr val="black"/>
                </a:solidFill>
                <a:latin typeface="Century Gothic" panose="020B0502020202020204" pitchFamily="34" charset="0"/>
              </a:rPr>
              <a:t>Impulse turbines are primarily used in applications with </a:t>
            </a:r>
            <a:r>
              <a:rPr lang="en-US" altLang="en-US" sz="2000" b="1" dirty="0">
                <a:solidFill>
                  <a:prstClr val="black"/>
                </a:solidFill>
                <a:latin typeface="Century Gothic" panose="020B0502020202020204" pitchFamily="34" charset="0"/>
              </a:rPr>
              <a:t>high pressure heads and relatively lower flow rates</a:t>
            </a:r>
            <a:r>
              <a:rPr lang="en-US" altLang="en-US" sz="2000" dirty="0">
                <a:solidFill>
                  <a:prstClr val="black"/>
                </a:solidFill>
                <a:latin typeface="Century Gothic" panose="020B0502020202020204" pitchFamily="34" charset="0"/>
              </a:rPr>
              <a:t>.</a:t>
            </a:r>
          </a:p>
          <a:p>
            <a:pPr eaLnBrk="1" hangingPunct="1"/>
            <a:endParaRPr lang="en-US" altLang="en-US" sz="2000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163" descr="http://upload.wikimedia.org/wikipedia/commons/8/8a/Walchenseewerk_Pelton_120.jpg">
            <a:extLst>
              <a:ext uri="{FF2B5EF4-FFF2-40B4-BE49-F238E27FC236}">
                <a16:creationId xmlns:a16="http://schemas.microsoft.com/office/drawing/2014/main" id="{5668C7C3-5888-482C-96E2-73D345AE4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744" y="3429000"/>
            <a:ext cx="3565525" cy="3108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412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8B8933-7465-411F-80CD-1D2998A3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01AC18-D8AD-48ED-8F68-43A934EF89B2}"/>
              </a:ext>
            </a:extLst>
          </p:cNvPr>
          <p:cNvSpPr txBox="1"/>
          <p:nvPr/>
        </p:nvSpPr>
        <p:spPr>
          <a:xfrm>
            <a:off x="381000" y="1379710"/>
            <a:ext cx="8450263" cy="1200329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Century Gothic" panose="020B0502020202020204" pitchFamily="34" charset="0"/>
              <a:buAutoNum type="arabicPeriod" startAt="2"/>
            </a:pPr>
            <a:r>
              <a:rPr lang="en-US" altLang="en-US" b="1" dirty="0">
                <a:solidFill>
                  <a:prstClr val="black"/>
                </a:solidFill>
                <a:latin typeface="Century Gothic" panose="020B0502020202020204" pitchFamily="34" charset="0"/>
              </a:rPr>
              <a:t>Reaction turbines</a:t>
            </a:r>
            <a:r>
              <a:rPr lang="en-US" altLang="en-US" dirty="0">
                <a:solidFill>
                  <a:prstClr val="black"/>
                </a:solidFill>
                <a:latin typeface="Century Gothic" panose="020B0502020202020204" pitchFamily="34" charset="0"/>
              </a:rPr>
              <a:t> are the second type; they develop </a:t>
            </a:r>
            <a:r>
              <a:rPr lang="en-US" altLang="en-US" b="1" dirty="0">
                <a:solidFill>
                  <a:prstClr val="black"/>
                </a:solidFill>
                <a:latin typeface="Century Gothic" panose="020B0502020202020204" pitchFamily="34" charset="0"/>
              </a:rPr>
              <a:t>torque from the pressure of water </a:t>
            </a:r>
            <a:r>
              <a:rPr lang="en-US" altLang="en-US" dirty="0">
                <a:solidFill>
                  <a:prstClr val="black"/>
                </a:solidFill>
                <a:latin typeface="Century Gothic" panose="020B0502020202020204" pitchFamily="34" charset="0"/>
              </a:rPr>
              <a:t>and are </a:t>
            </a:r>
            <a:r>
              <a:rPr lang="en-US" altLang="en-US" b="1" dirty="0">
                <a:solidFill>
                  <a:prstClr val="black"/>
                </a:solidFill>
                <a:latin typeface="Century Gothic" panose="020B0502020202020204" pitchFamily="34" charset="0"/>
              </a:rPr>
              <a:t>submerged</a:t>
            </a:r>
            <a:r>
              <a:rPr lang="en-US" altLang="en-US" dirty="0">
                <a:solidFill>
                  <a:prstClr val="black"/>
                </a:solidFill>
                <a:latin typeface="Century Gothic" panose="020B0502020202020204" pitchFamily="34" charset="0"/>
              </a:rPr>
              <a:t> at all times.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96CFA3-B964-48D0-929A-854F9EEF4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" y="2890607"/>
            <a:ext cx="8915399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prstClr val="black"/>
                </a:solidFill>
                <a:latin typeface="Century Gothic" panose="020B0502020202020204" pitchFamily="34" charset="0"/>
              </a:rPr>
              <a:t>The Francis turbine is the </a:t>
            </a:r>
            <a:r>
              <a:rPr lang="en-US" altLang="en-US" sz="2000" b="1" dirty="0">
                <a:solidFill>
                  <a:prstClr val="black"/>
                </a:solidFill>
                <a:latin typeface="Century Gothic" panose="020B0502020202020204" pitchFamily="34" charset="0"/>
              </a:rPr>
              <a:t>most widely used reaction turbine </a:t>
            </a:r>
            <a:r>
              <a:rPr lang="en-US" altLang="en-US" sz="2000" dirty="0">
                <a:solidFill>
                  <a:prstClr val="black"/>
                </a:solidFill>
                <a:latin typeface="Century Gothic" panose="020B0502020202020204" pitchFamily="34" charset="0"/>
              </a:rPr>
              <a:t>and is used in moderate-head, high-volume  applications. The Kaplan turbine is a propeller type reaction turbine used in low-head applications such as run-of-the river systems.</a:t>
            </a:r>
          </a:p>
          <a:p>
            <a:pPr eaLnBrk="1" hangingPunct="1"/>
            <a:endParaRPr lang="en-US" altLang="en-US" sz="2000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B4DF252D-C99A-42FB-AB01-3D5FF2626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4554812"/>
            <a:ext cx="2778125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33">
            <a:extLst>
              <a:ext uri="{FF2B5EF4-FFF2-40B4-BE49-F238E27FC236}">
                <a16:creationId xmlns:a16="http://schemas.microsoft.com/office/drawing/2014/main" id="{CDDC14FA-2ACF-42E9-8DAE-D63125225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855" y="4605763"/>
            <a:ext cx="2570163" cy="180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9E0BC8-1BCA-4C6B-A0F5-81C95BC52BDA}"/>
              </a:ext>
            </a:extLst>
          </p:cNvPr>
          <p:cNvSpPr txBox="1"/>
          <p:nvPr/>
        </p:nvSpPr>
        <p:spPr>
          <a:xfrm>
            <a:off x="1676400" y="6353175"/>
            <a:ext cx="6618288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Candara"/>
              </a:rPr>
              <a:t>Francis turbine                                  Kaplan turbine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038385-62C6-4FA2-84AA-8B1B528390D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135812" y="4857751"/>
            <a:ext cx="152241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MS PGothic" panose="020B0600070205080204" pitchFamily="34" charset="-128"/>
              </a:rPr>
              <a:t>Orengine International Ltd.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F731AFC6-B6E8-4A60-BC91-45675EAB1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752649"/>
            <a:ext cx="8248650" cy="979250"/>
          </a:xfrm>
        </p:spPr>
        <p:txBody>
          <a:bodyPr/>
          <a:lstStyle/>
          <a:p>
            <a:r>
              <a:rPr lang="en-CA" dirty="0"/>
              <a:t>Water Turbines – Reaction Turbines</a:t>
            </a:r>
          </a:p>
        </p:txBody>
      </p:sp>
    </p:spTree>
    <p:extLst>
      <p:ext uri="{BB962C8B-B14F-4D97-AF65-F5344CB8AC3E}">
        <p14:creationId xmlns:p14="http://schemas.microsoft.com/office/powerpoint/2010/main" val="411772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8B8933-7465-411F-80CD-1D2998A3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598805-117C-41BC-94B5-2AD5B643A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Operating Range of Turbines</a:t>
            </a:r>
            <a:br>
              <a:rPr lang="en-CA" dirty="0"/>
            </a:b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811D2-D43A-4C30-B741-91D78196C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61" y="1676400"/>
            <a:ext cx="7365839" cy="516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6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4309F0-452F-46C8-94B7-511056ED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7B5BF-500F-491A-9D3C-1E5E36D11A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50588" y="3429000"/>
            <a:ext cx="3419450" cy="342659"/>
          </a:xfrm>
        </p:spPr>
        <p:txBody>
          <a:bodyPr/>
          <a:lstStyle/>
          <a:p>
            <a:pPr marL="0" indent="0">
              <a:buNone/>
            </a:pPr>
            <a:r>
              <a:rPr lang="en-CA" sz="1800" dirty="0">
                <a:latin typeface="+mn-lt"/>
                <a:ea typeface="+mn-ea"/>
                <a:cs typeface="+mn-cs"/>
              </a:rPr>
              <a:t>horizontal axis Kaplan turbine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D45999-2F00-4742-A5FC-9BDA64BBC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342" y="436285"/>
            <a:ext cx="3785619" cy="979250"/>
          </a:xfrm>
        </p:spPr>
        <p:txBody>
          <a:bodyPr/>
          <a:lstStyle/>
          <a:p>
            <a:r>
              <a:rPr lang="en-CA" dirty="0"/>
              <a:t>Example Arrangement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E13C9D-4E6B-47BB-A7A9-D79EAE1D3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52600"/>
            <a:ext cx="4332261" cy="32759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C7DBDC-032B-4686-B00D-D508D8A16062}"/>
              </a:ext>
            </a:extLst>
          </p:cNvPr>
          <p:cNvSpPr txBox="1"/>
          <p:nvPr/>
        </p:nvSpPr>
        <p:spPr>
          <a:xfrm>
            <a:off x="0" y="4920733"/>
            <a:ext cx="4583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dirty="0">
                <a:solidFill>
                  <a:schemeClr val="bg1"/>
                </a:solidFill>
              </a:rPr>
              <a:t>vertical axis Francis turbine</a:t>
            </a:r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629915-3993-4DBE-BEB8-32763EC06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261" y="72342"/>
            <a:ext cx="4583574" cy="33566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5B4485-FA87-4F3B-AB30-702B66E74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836" y="3781305"/>
            <a:ext cx="4232304" cy="310464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E675CF4-849B-4210-A85B-4F8D2CDC8BD5}"/>
              </a:ext>
            </a:extLst>
          </p:cNvPr>
          <p:cNvSpPr txBox="1">
            <a:spLocks/>
          </p:cNvSpPr>
          <p:nvPr/>
        </p:nvSpPr>
        <p:spPr>
          <a:xfrm>
            <a:off x="1447800" y="6425803"/>
            <a:ext cx="3419450" cy="342659"/>
          </a:xfrm>
          <a:prstGeom prst="rect">
            <a:avLst/>
          </a:prstGeom>
        </p:spPr>
        <p:txBody>
          <a:bodyPr/>
          <a:lstStyle>
            <a:lvl1pPr marL="463550" indent="-46355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" panose="05000000000000000000" pitchFamily="2" charset="2"/>
              <a:buChar char="q"/>
              <a:defRPr kumimoji="0" sz="2400" kern="12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CA" sz="1800" dirty="0">
                <a:latin typeface="+mn-lt"/>
                <a:ea typeface="+mn-ea"/>
                <a:cs typeface="+mn-cs"/>
              </a:rPr>
              <a:t>vertical axis Kaplan turbine</a:t>
            </a:r>
          </a:p>
        </p:txBody>
      </p:sp>
    </p:spTree>
    <p:extLst>
      <p:ext uri="{BB962C8B-B14F-4D97-AF65-F5344CB8AC3E}">
        <p14:creationId xmlns:p14="http://schemas.microsoft.com/office/powerpoint/2010/main" val="3463448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0A5DFC-3194-4E0E-AAB4-0776717A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D3491-B5C1-4EA4-A2F1-36E07BD2A6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578532"/>
            <a:ext cx="7810500" cy="4527586"/>
          </a:xfrm>
        </p:spPr>
        <p:txBody>
          <a:bodyPr/>
          <a:lstStyle/>
          <a:p>
            <a:r>
              <a:rPr lang="en-CA" dirty="0">
                <a:solidFill>
                  <a:schemeClr val="bg1"/>
                </a:solidFill>
              </a:rPr>
              <a:t>Penstock is the path of water from the reservoir to the to carry water to the turbine and generator facility</a:t>
            </a:r>
          </a:p>
          <a:p>
            <a:endParaRPr lang="en-C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8CF4E2-B7D7-49C2-8D55-80A55512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51882"/>
            <a:ext cx="7810500" cy="979250"/>
          </a:xfrm>
        </p:spPr>
        <p:txBody>
          <a:bodyPr/>
          <a:lstStyle/>
          <a:p>
            <a:r>
              <a:rPr lang="en-CA" dirty="0"/>
              <a:t>Penstock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F42552-F5AB-4C10-862A-EB804E9F5A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23" t="4087" r="7960"/>
          <a:stretch/>
        </p:blipFill>
        <p:spPr>
          <a:xfrm>
            <a:off x="135558" y="2481882"/>
            <a:ext cx="4379292" cy="4375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F5186A-E88E-4523-A561-DFA7C59060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73" t="2483" r="5719"/>
          <a:stretch/>
        </p:blipFill>
        <p:spPr>
          <a:xfrm>
            <a:off x="4191295" y="2819109"/>
            <a:ext cx="4552360" cy="317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73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001B29-8FCA-4A3B-AD01-792287F1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0718C-905F-4EAF-8BEC-5AF1B4B76B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>
                <a:effectLst/>
              </a:rPr>
              <a:t>The flow arrangement thus consists of an inlet, lengths of penstock, a turbine, and an exit</a:t>
            </a:r>
          </a:p>
          <a:p>
            <a:r>
              <a:rPr lang="en-US" sz="2000" dirty="0">
                <a:effectLst/>
              </a:rPr>
              <a:t>The arrangement typically has several valves,  fittings, the turbine, and penstock lengths.</a:t>
            </a:r>
            <a:endParaRPr lang="en-US" sz="2000" dirty="0"/>
          </a:p>
          <a:p>
            <a:r>
              <a:rPr lang="en-US" sz="2000" dirty="0"/>
              <a:t>Large dams will have multiple penstocks and turbines.</a:t>
            </a:r>
          </a:p>
          <a:p>
            <a:endParaRPr lang="en-CA" sz="2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F06F64-BDB8-4AFF-8D18-D21E881D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Flow Arrangement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558445-7342-4ED6-BB51-BD97C0BD4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4019504"/>
            <a:ext cx="5638800" cy="24241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827E24-00E9-43A0-AEAB-0EC64B0CDEC7}"/>
              </a:ext>
            </a:extLst>
          </p:cNvPr>
          <p:cNvSpPr txBox="1"/>
          <p:nvPr/>
        </p:nvSpPr>
        <p:spPr>
          <a:xfrm>
            <a:off x="1752600" y="6443661"/>
            <a:ext cx="569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Flow arrangement used for hydraulic analysis of dams</a:t>
            </a:r>
          </a:p>
        </p:txBody>
      </p:sp>
    </p:spTree>
    <p:extLst>
      <p:ext uri="{BB962C8B-B14F-4D97-AF65-F5344CB8AC3E}">
        <p14:creationId xmlns:p14="http://schemas.microsoft.com/office/powerpoint/2010/main" val="3549008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A55B5F-B220-402A-A7EB-133FDA2F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D58D5-0F45-4CDD-9D00-7AF008459B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765" y="1606153"/>
            <a:ext cx="5313021" cy="4157662"/>
          </a:xfrm>
        </p:spPr>
        <p:txBody>
          <a:bodyPr/>
          <a:lstStyle/>
          <a:p>
            <a:r>
              <a:rPr lang="en-US" sz="1800" dirty="0">
                <a:effectLst/>
              </a:rPr>
              <a:t>The hydraulic analysis starts with the application of the conservation of energy equation, typically just called the energy equation, to the system.</a:t>
            </a:r>
          </a:p>
          <a:p>
            <a:endParaRPr lang="en-CA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BC7B71-59B7-4959-AA76-C4BD1F060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79" y="771964"/>
            <a:ext cx="7810500" cy="979250"/>
          </a:xfrm>
        </p:spPr>
        <p:txBody>
          <a:bodyPr/>
          <a:lstStyle/>
          <a:p>
            <a:r>
              <a:rPr lang="en-CA" dirty="0"/>
              <a:t>Hydraulic Analysis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12A6E47-1964-4070-AFF0-F8A9AB1A6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4700"/>
          <a:stretch>
            <a:fillRect/>
          </a:stretch>
        </p:blipFill>
        <p:spPr bwMode="auto">
          <a:xfrm>
            <a:off x="5638800" y="893674"/>
            <a:ext cx="3128274" cy="3100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AAE8461-8594-4AA2-8DEF-79428AD45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4347" y="4095406"/>
            <a:ext cx="698182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15BF63C-C59A-4A58-9F44-416E79001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6729" y="4766688"/>
            <a:ext cx="7543800" cy="207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B3F1CB31-817C-43D0-A416-1368051D5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7534" y="3012555"/>
            <a:ext cx="473392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5 Dikdörtgen">
            <a:extLst>
              <a:ext uri="{FF2B5EF4-FFF2-40B4-BE49-F238E27FC236}">
                <a16:creationId xmlns:a16="http://schemas.microsoft.com/office/drawing/2014/main" id="{6760DB3B-7EEA-43EC-ADA9-4451B04CBA5A}"/>
              </a:ext>
            </a:extLst>
          </p:cNvPr>
          <p:cNvSpPr/>
          <p:nvPr/>
        </p:nvSpPr>
        <p:spPr>
          <a:xfrm>
            <a:off x="-457200" y="3913071"/>
            <a:ext cx="403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r-TR" dirty="0">
                <a:solidFill>
                  <a:srgbClr val="C00000"/>
                </a:solidFill>
              </a:rPr>
              <a:t>T</a:t>
            </a:r>
            <a:r>
              <a:rPr lang="en-US" dirty="0" err="1">
                <a:solidFill>
                  <a:srgbClr val="C00000"/>
                </a:solidFill>
              </a:rPr>
              <a:t>otal</a:t>
            </a:r>
            <a:r>
              <a:rPr lang="en-US" dirty="0">
                <a:solidFill>
                  <a:srgbClr val="C00000"/>
                </a:solidFill>
              </a:rPr>
              <a:t> head loss in the penstock: </a:t>
            </a:r>
            <a:endParaRPr lang="tr-T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137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AFD9D4-EA83-4AAF-9F67-1C76593A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89383-EC1B-4E17-B7A8-0B3A517730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579578"/>
            <a:ext cx="7810500" cy="3711684"/>
          </a:xfrm>
        </p:spPr>
        <p:txBody>
          <a:bodyPr/>
          <a:lstStyle/>
          <a:p>
            <a:r>
              <a:rPr lang="en-CA" dirty="0"/>
              <a:t>Darcy friction factor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32EC0E-6B0D-4630-B7A2-AFA71C6A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Penstock Losses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B93BD6-AEA8-45B5-9612-14F2AEEC8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95881"/>
            <a:ext cx="1343025" cy="857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E1CBE2-9935-495B-9B4F-EA96DC15A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51094"/>
            <a:ext cx="3895725" cy="13430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2E02F5-1AE0-4217-B128-5C8B567CB9DD}"/>
              </a:ext>
            </a:extLst>
          </p:cNvPr>
          <p:cNvSpPr txBox="1"/>
          <p:nvPr/>
        </p:nvSpPr>
        <p:spPr>
          <a:xfrm>
            <a:off x="495300" y="5521146"/>
            <a:ext cx="8153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 = </a:t>
            </a:r>
            <a:r>
              <a:rPr lang="en-US" b="1" dirty="0" err="1">
                <a:solidFill>
                  <a:schemeClr val="bg1"/>
                </a:solidFill>
              </a:rPr>
              <a:t>ρDV</a:t>
            </a:r>
            <a:r>
              <a:rPr lang="en-US" b="1" dirty="0">
                <a:solidFill>
                  <a:schemeClr val="bg1"/>
                </a:solidFill>
              </a:rPr>
              <a:t>/μ</a:t>
            </a:r>
            <a:r>
              <a:rPr lang="en-US" dirty="0">
                <a:solidFill>
                  <a:schemeClr val="bg1"/>
                </a:solidFill>
              </a:rPr>
              <a:t>, where D is the pipe diameter, V is the average flow velocity in the pipe, ρ is the density of the flowing fluid and </a:t>
            </a:r>
            <a:r>
              <a:rPr lang="en-US" b="1" dirty="0">
                <a:solidFill>
                  <a:schemeClr val="bg1"/>
                </a:solidFill>
              </a:rPr>
              <a:t>μ is the dynamic viscosity </a:t>
            </a:r>
            <a:r>
              <a:rPr lang="en-US" dirty="0">
                <a:solidFill>
                  <a:schemeClr val="bg1"/>
                </a:solidFill>
              </a:rPr>
              <a:t>of the flowing fluid (water). </a:t>
            </a:r>
            <a:r>
              <a:rPr lang="en-US" b="1" dirty="0">
                <a:solidFill>
                  <a:schemeClr val="bg1"/>
                </a:solidFill>
              </a:rPr>
              <a:t>Re = </a:t>
            </a:r>
            <a:r>
              <a:rPr lang="en-US" b="1" dirty="0" err="1">
                <a:solidFill>
                  <a:schemeClr val="bg1"/>
                </a:solidFill>
              </a:rPr>
              <a:t>ρDV</a:t>
            </a:r>
            <a:r>
              <a:rPr lang="en-US" b="1" dirty="0">
                <a:solidFill>
                  <a:schemeClr val="bg1"/>
                </a:solidFill>
              </a:rPr>
              <a:t>/μ =DV/</a:t>
            </a:r>
            <a:r>
              <a:rPr lang="en-US" b="1" dirty="0">
                <a:solidFill>
                  <a:schemeClr val="bg1"/>
                </a:solidFill>
                <a:latin typeface="Symbol" panose="05050102010706020507" pitchFamily="18" charset="2"/>
              </a:rPr>
              <a:t>u </a:t>
            </a:r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b="1" dirty="0">
                <a:solidFill>
                  <a:schemeClr val="bg1"/>
                </a:solidFill>
                <a:latin typeface="Symbol" panose="05050102010706020507" pitchFamily="18" charset="2"/>
              </a:rPr>
              <a:t>u </a:t>
            </a:r>
            <a:r>
              <a:rPr lang="en-US" dirty="0">
                <a:solidFill>
                  <a:schemeClr val="bg1"/>
                </a:solidFill>
              </a:rPr>
              <a:t>is the kinematic viscosity of water (</a:t>
            </a:r>
            <a:r>
              <a:rPr lang="en-US" b="1" dirty="0">
                <a:solidFill>
                  <a:schemeClr val="bg1"/>
                </a:solidFill>
                <a:latin typeface="Symbol" panose="05050102010706020507" pitchFamily="18" charset="2"/>
              </a:rPr>
              <a:t>u =</a:t>
            </a:r>
            <a:r>
              <a:rPr lang="en-US" b="1" dirty="0">
                <a:solidFill>
                  <a:schemeClr val="bg1"/>
                </a:solidFill>
              </a:rPr>
              <a:t>μ/ρ). For water use:       </a:t>
            </a:r>
            <a:r>
              <a:rPr lang="en-US" b="1" dirty="0">
                <a:solidFill>
                  <a:schemeClr val="bg1"/>
                </a:solidFill>
                <a:latin typeface="Symbol" panose="05050102010706020507" pitchFamily="18" charset="2"/>
              </a:rPr>
              <a:t>u =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1.141 x 10</a:t>
            </a:r>
            <a:r>
              <a:rPr lang="en-US" b="1" baseline="30000" dirty="0">
                <a:solidFill>
                  <a:schemeClr val="bg1"/>
                </a:solidFill>
                <a:latin typeface="+mj-lt"/>
              </a:rPr>
              <a:t>-6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 m</a:t>
            </a:r>
            <a:r>
              <a:rPr lang="en-US" b="1" baseline="30000" dirty="0">
                <a:solidFill>
                  <a:schemeClr val="bg1"/>
                </a:solidFill>
                <a:latin typeface="+mj-lt"/>
              </a:rPr>
              <a:t>2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/s</a:t>
            </a:r>
            <a:endParaRPr lang="en-CA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F89633-C2F0-471E-A457-B2DBBE43A04D}"/>
              </a:ext>
            </a:extLst>
          </p:cNvPr>
          <p:cNvSpPr txBox="1"/>
          <p:nvPr/>
        </p:nvSpPr>
        <p:spPr>
          <a:xfrm>
            <a:off x="4577305" y="3375575"/>
            <a:ext cx="369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bg1"/>
                </a:solidFill>
                <a:latin typeface="+mj-lt"/>
              </a:rPr>
              <a:t>Re</a:t>
            </a:r>
            <a:r>
              <a:rPr lang="en-CA" b="1" baseline="-25000" dirty="0">
                <a:solidFill>
                  <a:schemeClr val="bg1"/>
                </a:solidFill>
                <a:latin typeface="+mj-lt"/>
              </a:rPr>
              <a:t>D</a:t>
            </a:r>
            <a:r>
              <a:rPr lang="en-CA" b="1" dirty="0">
                <a:solidFill>
                  <a:schemeClr val="bg1"/>
                </a:solidFill>
                <a:latin typeface="+mj-lt"/>
              </a:rPr>
              <a:t> &lt; 2300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525B8F-0B10-4493-A690-201DB1D23253}"/>
              </a:ext>
            </a:extLst>
          </p:cNvPr>
          <p:cNvSpPr txBox="1"/>
          <p:nvPr/>
        </p:nvSpPr>
        <p:spPr>
          <a:xfrm>
            <a:off x="4577305" y="4212431"/>
            <a:ext cx="369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bg1"/>
                </a:solidFill>
                <a:latin typeface="+mj-lt"/>
              </a:rPr>
              <a:t>Re</a:t>
            </a:r>
            <a:r>
              <a:rPr lang="en-CA" b="1" baseline="-25000" dirty="0">
                <a:solidFill>
                  <a:schemeClr val="bg1"/>
                </a:solidFill>
                <a:latin typeface="+mj-lt"/>
              </a:rPr>
              <a:t>D</a:t>
            </a:r>
            <a:r>
              <a:rPr lang="en-CA" b="1" dirty="0">
                <a:solidFill>
                  <a:schemeClr val="bg1"/>
                </a:solidFill>
                <a:latin typeface="+mj-lt"/>
              </a:rPr>
              <a:t> &gt; 2300</a:t>
            </a: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13B5E69A-6430-4586-8384-4EF45DD0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1842984"/>
            <a:ext cx="698182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B26EB209-0B97-459A-91FD-8A79CD8D0171}"/>
              </a:ext>
            </a:extLst>
          </p:cNvPr>
          <p:cNvSpPr/>
          <p:nvPr/>
        </p:nvSpPr>
        <p:spPr>
          <a:xfrm>
            <a:off x="3962400" y="1752600"/>
            <a:ext cx="914400" cy="979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238C2C-FF1E-4393-886F-DDF4D339AC81}"/>
              </a:ext>
            </a:extLst>
          </p:cNvPr>
          <p:cNvSpPr txBox="1"/>
          <p:nvPr/>
        </p:nvSpPr>
        <p:spPr>
          <a:xfrm>
            <a:off x="6624698" y="4234827"/>
            <a:ext cx="25193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  <a:latin typeface="Symbol" panose="05050102010706020507" pitchFamily="18" charset="2"/>
              </a:rPr>
              <a:t>e</a:t>
            </a:r>
            <a:r>
              <a:rPr lang="en-US" b="1" dirty="0">
                <a:solidFill>
                  <a:schemeClr val="bg1"/>
                </a:solidFill>
                <a:effectLst/>
              </a:rPr>
              <a:t>/D</a:t>
            </a:r>
            <a:r>
              <a:rPr lang="en-US" dirty="0">
                <a:solidFill>
                  <a:schemeClr val="bg1"/>
                </a:solidFill>
                <a:effectLst/>
              </a:rPr>
              <a:t> is the relative roughness of the penstock wall</a:t>
            </a:r>
          </a:p>
        </p:txBody>
      </p:sp>
    </p:spTree>
    <p:extLst>
      <p:ext uri="{BB962C8B-B14F-4D97-AF65-F5344CB8AC3E}">
        <p14:creationId xmlns:p14="http://schemas.microsoft.com/office/powerpoint/2010/main" val="334074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CE6107-0ED3-43B0-B72F-5A7153A04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AE992C-FB18-4098-91E7-14E74CA6F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60" y="901604"/>
            <a:ext cx="7810500" cy="979250"/>
          </a:xfrm>
        </p:spPr>
        <p:txBody>
          <a:bodyPr/>
          <a:lstStyle/>
          <a:p>
            <a:r>
              <a:rPr lang="en-CA" dirty="0"/>
              <a:t>Minor Loses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35AE2-2DE2-4192-9CFB-4117946249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4" r="19372" b="54328"/>
          <a:stretch/>
        </p:blipFill>
        <p:spPr>
          <a:xfrm>
            <a:off x="42894" y="2650331"/>
            <a:ext cx="4471956" cy="31242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A5D9E7C-9593-455B-B763-2AD204574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732" y="1666149"/>
            <a:ext cx="698182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E51A01C-7235-4272-B787-6F4A8D67DC88}"/>
              </a:ext>
            </a:extLst>
          </p:cNvPr>
          <p:cNvSpPr/>
          <p:nvPr/>
        </p:nvSpPr>
        <p:spPr>
          <a:xfrm>
            <a:off x="4455982" y="1514661"/>
            <a:ext cx="1106618" cy="979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267A27-AC79-4968-B400-12987F00AA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757" r="11681"/>
          <a:stretch/>
        </p:blipFill>
        <p:spPr>
          <a:xfrm>
            <a:off x="4278231" y="2894195"/>
            <a:ext cx="4742339" cy="35701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D6B0B7-0060-4CE0-86F1-DB76D1E8BDBD}"/>
              </a:ext>
            </a:extLst>
          </p:cNvPr>
          <p:cNvSpPr txBox="1"/>
          <p:nvPr/>
        </p:nvSpPr>
        <p:spPr>
          <a:xfrm>
            <a:off x="304800" y="5638800"/>
            <a:ext cx="3276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chemeClr val="bg1"/>
                </a:solidFill>
              </a:rPr>
              <a:t>Note that this table is for information only. A total K value will be provided for any analysis requested. </a:t>
            </a:r>
          </a:p>
        </p:txBody>
      </p:sp>
    </p:spTree>
    <p:extLst>
      <p:ext uri="{BB962C8B-B14F-4D97-AF65-F5344CB8AC3E}">
        <p14:creationId xmlns:p14="http://schemas.microsoft.com/office/powerpoint/2010/main" val="2304485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70D915-DAEE-475C-9B09-0FCA13957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24171A-C245-4240-B598-9EB3B43C8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Power Developed by Turbine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74327-E6E2-4269-AC2C-12B53CDE8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110209"/>
            <a:ext cx="7642225" cy="1318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8E5C54-7621-4766-B465-96C47E6A9810}"/>
                  </a:ext>
                </a:extLst>
              </p:cNvPr>
              <p:cNvSpPr txBox="1"/>
              <p:nvPr/>
            </p:nvSpPr>
            <p:spPr>
              <a:xfrm>
                <a:off x="609600" y="4025946"/>
                <a:ext cx="4495800" cy="3175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CA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CA" sz="2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CA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𝑡𝑢𝑟𝑏𝑖𝑛𝑒</m:t>
                        </m:r>
                      </m:sub>
                    </m:sSub>
                    <m:r>
                      <a:rPr lang="en-CA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𝑡𝑢𝑟𝑏𝑖𝑛𝑒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CA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CA" sz="2000" i="1" dirty="0">
                    <a:solidFill>
                      <a:schemeClr val="bg1"/>
                    </a:solidFill>
                  </a:rPr>
                  <a:t>gh</a:t>
                </a:r>
                <a:r>
                  <a:rPr lang="en-CA" sz="2000" i="1" baseline="-25000" dirty="0">
                    <a:solidFill>
                      <a:schemeClr val="bg1"/>
                    </a:solidFill>
                  </a:rPr>
                  <a:t>turbine,e</a:t>
                </a:r>
                <a:endParaRPr lang="en-CA" sz="200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8E5C54-7621-4766-B465-96C47E6A9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025946"/>
                <a:ext cx="4495800" cy="317523"/>
              </a:xfrm>
              <a:prstGeom prst="rect">
                <a:avLst/>
              </a:prstGeom>
              <a:blipFill>
                <a:blip r:embed="rId3"/>
                <a:stretch>
                  <a:fillRect l="-678" t="-20755" b="-4717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752FD7F-222F-4E93-944A-86A4D1004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5714799"/>
            <a:ext cx="698182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ABFE1F0D-9CBC-478A-9632-6261A7BD1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" y="5033219"/>
            <a:ext cx="473392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5696B1-83C6-4A69-9DAE-3C1F6AE2EF06}"/>
              </a:ext>
            </a:extLst>
          </p:cNvPr>
          <p:cNvSpPr txBox="1"/>
          <p:nvPr/>
        </p:nvSpPr>
        <p:spPr>
          <a:xfrm>
            <a:off x="609600" y="4671946"/>
            <a:ext cx="781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Where effective head is found from energy balance (previous slides)</a:t>
            </a:r>
          </a:p>
        </p:txBody>
      </p:sp>
    </p:spTree>
    <p:extLst>
      <p:ext uri="{BB962C8B-B14F-4D97-AF65-F5344CB8AC3E}">
        <p14:creationId xmlns:p14="http://schemas.microsoft.com/office/powerpoint/2010/main" val="3501011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D9576B-ED4D-47A5-957D-F889FFD4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F99C8-6515-417F-9600-8D1765EB36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350" y="1676400"/>
            <a:ext cx="8782050" cy="4614862"/>
          </a:xfrm>
        </p:spPr>
        <p:txBody>
          <a:bodyPr/>
          <a:lstStyle/>
          <a:p>
            <a:r>
              <a:rPr lang="en-US" dirty="0">
                <a:effectLst/>
              </a:rPr>
              <a:t>Because of the wide range of elevation differences and flow rates associated with hydropower, a nondimensional analysis is carried, resulting in determination of turbine specific speed: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  <a:effectLst/>
              </a:rPr>
              <a:t>SI Version: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 all variables in the  in SI units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  <a:effectLst/>
              </a:rPr>
              <a:t>English units:                                          </a:t>
            </a:r>
            <a:r>
              <a:rPr lang="en-US" dirty="0">
                <a:effectLst/>
              </a:rPr>
              <a:t>this is usually shown as </a:t>
            </a:r>
            <a:r>
              <a:rPr lang="en-US" dirty="0">
                <a:solidFill>
                  <a:srgbClr val="FF0000"/>
                </a:solidFill>
                <a:effectLst/>
              </a:rPr>
              <a:t>N’</a:t>
            </a:r>
            <a:r>
              <a:rPr lang="en-US" baseline="-25000" dirty="0">
                <a:solidFill>
                  <a:srgbClr val="FF0000"/>
                </a:solidFill>
                <a:effectLst/>
              </a:rPr>
              <a:t>sp</a:t>
            </a:r>
          </a:p>
          <a:p>
            <a:pPr marL="0" indent="0">
              <a:buNone/>
            </a:pPr>
            <a:r>
              <a:rPr lang="en-US" dirty="0"/>
              <a:t>where</a:t>
            </a:r>
            <a:r>
              <a:rPr lang="en-US" dirty="0">
                <a:effectLst/>
              </a:rPr>
              <a:t> </a:t>
            </a:r>
          </a:p>
          <a:p>
            <a:endParaRPr lang="en-C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2E200C-2E71-4D90-A26D-4CF9EBF2B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effectLst/>
              </a:rPr>
              <a:t>TURBINE SPECIFIC SPEED </a:t>
            </a:r>
            <a:br>
              <a:rPr lang="en-CA" dirty="0">
                <a:effectLst/>
              </a:rPr>
            </a:b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5DDD48-656C-4400-9721-3B3129963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3317081"/>
            <a:ext cx="6038850" cy="819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1A2F82-DCA3-4348-8669-4D6C5B96D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975" y="5181600"/>
            <a:ext cx="2819400" cy="733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0E9A35-3407-44C6-80B3-A3C6C639E3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0972" b="18439"/>
          <a:stretch/>
        </p:blipFill>
        <p:spPr>
          <a:xfrm>
            <a:off x="2457449" y="6253898"/>
            <a:ext cx="1905000" cy="3651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D5798A-F569-47B7-B0D0-832F2BB16C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411" t="18440"/>
          <a:stretch/>
        </p:blipFill>
        <p:spPr>
          <a:xfrm>
            <a:off x="4138612" y="6356349"/>
            <a:ext cx="30575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50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DDE277-1A53-4F1A-9720-846142C7E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F88C0-8BED-47FE-AC46-BC6C4CADC1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761" y="2275971"/>
            <a:ext cx="2885231" cy="4157662"/>
          </a:xfrm>
        </p:spPr>
        <p:txBody>
          <a:bodyPr/>
          <a:lstStyle/>
          <a:p>
            <a:r>
              <a:rPr lang="en-CA" dirty="0"/>
              <a:t>Operating conditions yield a specific speed, which in turn can be used to determine a suitable turbine or optimal operating conditions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9725BF-0EDE-4C5B-AB6A-092A2FCB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792" y="1003231"/>
            <a:ext cx="2743200" cy="979250"/>
          </a:xfrm>
        </p:spPr>
        <p:txBody>
          <a:bodyPr/>
          <a:lstStyle/>
          <a:p>
            <a:r>
              <a:rPr lang="en-CA" dirty="0"/>
              <a:t>Turbine Selection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846A45-6564-436A-B998-98846785C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003231"/>
            <a:ext cx="6153150" cy="576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9268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Flow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Waveform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Waveform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33868</TotalTime>
  <Words>747</Words>
  <Application>Microsoft Office PowerPoint</Application>
  <PresentationFormat>On-screen Show (4:3)</PresentationFormat>
  <Paragraphs>100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Arial</vt:lpstr>
      <vt:lpstr>Calibri</vt:lpstr>
      <vt:lpstr>Cambria Math</vt:lpstr>
      <vt:lpstr>Candara</vt:lpstr>
      <vt:lpstr>Century Gothic</vt:lpstr>
      <vt:lpstr>Constantia</vt:lpstr>
      <vt:lpstr>Symbol</vt:lpstr>
      <vt:lpstr>Verdana</vt:lpstr>
      <vt:lpstr>Wingdings</vt:lpstr>
      <vt:lpstr>Wingdings 2</vt:lpstr>
      <vt:lpstr>Flow</vt:lpstr>
      <vt:lpstr>1_Waveform</vt:lpstr>
      <vt:lpstr>2_Waveform</vt:lpstr>
      <vt:lpstr>PowerPoint Presentation</vt:lpstr>
      <vt:lpstr>References</vt:lpstr>
      <vt:lpstr>Learning Objectives</vt:lpstr>
      <vt:lpstr>INTRODUCTION</vt:lpstr>
      <vt:lpstr>Energy from water</vt:lpstr>
      <vt:lpstr>Water Turbines – Impulse Turbines</vt:lpstr>
      <vt:lpstr>Water Turbines – Reaction Turbines</vt:lpstr>
      <vt:lpstr>Operating Range of Turbines </vt:lpstr>
      <vt:lpstr>Example Arrangement</vt:lpstr>
      <vt:lpstr>Penstock</vt:lpstr>
      <vt:lpstr>Flow Arrangement</vt:lpstr>
      <vt:lpstr>Hydraulic Analysis </vt:lpstr>
      <vt:lpstr>Penstock Losses</vt:lpstr>
      <vt:lpstr>Minor Loses</vt:lpstr>
      <vt:lpstr>Power Developed by Turbine</vt:lpstr>
      <vt:lpstr>TURBINE SPECIFIC SPEED  </vt:lpstr>
      <vt:lpstr>Turbine Selection</vt:lpstr>
    </vt:vector>
  </TitlesOfParts>
  <Company>NTL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altit</dc:creator>
  <cp:lastModifiedBy>Amin Ghobeity</cp:lastModifiedBy>
  <cp:revision>2342</cp:revision>
  <dcterms:created xsi:type="dcterms:W3CDTF">2013-10-11T17:23:38Z</dcterms:created>
  <dcterms:modified xsi:type="dcterms:W3CDTF">2022-07-21T13:36:23Z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