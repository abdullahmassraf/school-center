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7" r:id="rId3"/>
    <p:sldId id="259" r:id="rId4"/>
    <p:sldId id="261" r:id="rId5"/>
    <p:sldId id="260" r:id="rId6"/>
    <p:sldId id="262" r:id="rId7"/>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67" d="100"/>
          <a:sy n="67" d="100"/>
        </p:scale>
        <p:origin x="56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09850-46B0-408A-9C93-3C4152304D7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0A45E550-BD15-4F45-898F-435F1F1E33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12F82570-71B0-41AF-9BB6-F8A3DCE65DB8}"/>
              </a:ext>
            </a:extLst>
          </p:cNvPr>
          <p:cNvSpPr>
            <a:spLocks noGrp="1"/>
          </p:cNvSpPr>
          <p:nvPr>
            <p:ph type="dt" sz="half" idx="10"/>
          </p:nvPr>
        </p:nvSpPr>
        <p:spPr/>
        <p:txBody>
          <a:bodyPr/>
          <a:lstStyle/>
          <a:p>
            <a:fld id="{6AB737D8-766E-4162-9DF4-B2A23B5D2C21}" type="datetimeFigureOut">
              <a:rPr lang="en-CA" smtClean="0"/>
              <a:t>2022-09-12</a:t>
            </a:fld>
            <a:endParaRPr lang="en-CA"/>
          </a:p>
        </p:txBody>
      </p:sp>
      <p:sp>
        <p:nvSpPr>
          <p:cNvPr id="5" name="Footer Placeholder 4">
            <a:extLst>
              <a:ext uri="{FF2B5EF4-FFF2-40B4-BE49-F238E27FC236}">
                <a16:creationId xmlns:a16="http://schemas.microsoft.com/office/drawing/2014/main" id="{C4B417EB-3E32-446B-912A-06DC2B0C9F5C}"/>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95ACAEE3-A266-4175-80B1-C9DA2E4F2C39}"/>
              </a:ext>
            </a:extLst>
          </p:cNvPr>
          <p:cNvSpPr>
            <a:spLocks noGrp="1"/>
          </p:cNvSpPr>
          <p:nvPr>
            <p:ph type="sldNum" sz="quarter" idx="12"/>
          </p:nvPr>
        </p:nvSpPr>
        <p:spPr/>
        <p:txBody>
          <a:bodyPr/>
          <a:lstStyle/>
          <a:p>
            <a:fld id="{BCD6313D-3FF2-443C-82E2-3D156726145C}" type="slidenum">
              <a:rPr lang="en-CA" smtClean="0"/>
              <a:t>‹#›</a:t>
            </a:fld>
            <a:endParaRPr lang="en-CA"/>
          </a:p>
        </p:txBody>
      </p:sp>
    </p:spTree>
    <p:extLst>
      <p:ext uri="{BB962C8B-B14F-4D97-AF65-F5344CB8AC3E}">
        <p14:creationId xmlns:p14="http://schemas.microsoft.com/office/powerpoint/2010/main" val="41889280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1466A-F47C-45FB-A1A9-254CF25EAF4B}"/>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223D6B0C-293D-4B7C-9665-3A96D6D6EB2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1C3BA67A-A51F-4DF8-919D-8F661D9A8BCA}"/>
              </a:ext>
            </a:extLst>
          </p:cNvPr>
          <p:cNvSpPr>
            <a:spLocks noGrp="1"/>
          </p:cNvSpPr>
          <p:nvPr>
            <p:ph type="dt" sz="half" idx="10"/>
          </p:nvPr>
        </p:nvSpPr>
        <p:spPr/>
        <p:txBody>
          <a:bodyPr/>
          <a:lstStyle/>
          <a:p>
            <a:fld id="{6AB737D8-766E-4162-9DF4-B2A23B5D2C21}" type="datetimeFigureOut">
              <a:rPr lang="en-CA" smtClean="0"/>
              <a:t>2022-09-12</a:t>
            </a:fld>
            <a:endParaRPr lang="en-CA"/>
          </a:p>
        </p:txBody>
      </p:sp>
      <p:sp>
        <p:nvSpPr>
          <p:cNvPr id="5" name="Footer Placeholder 4">
            <a:extLst>
              <a:ext uri="{FF2B5EF4-FFF2-40B4-BE49-F238E27FC236}">
                <a16:creationId xmlns:a16="http://schemas.microsoft.com/office/drawing/2014/main" id="{F1C50EF0-C616-42A0-AE13-423BA2B5FA50}"/>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7AC752CA-A26A-4302-89A2-3BE5A38385A0}"/>
              </a:ext>
            </a:extLst>
          </p:cNvPr>
          <p:cNvSpPr>
            <a:spLocks noGrp="1"/>
          </p:cNvSpPr>
          <p:nvPr>
            <p:ph type="sldNum" sz="quarter" idx="12"/>
          </p:nvPr>
        </p:nvSpPr>
        <p:spPr/>
        <p:txBody>
          <a:bodyPr/>
          <a:lstStyle/>
          <a:p>
            <a:fld id="{BCD6313D-3FF2-443C-82E2-3D156726145C}" type="slidenum">
              <a:rPr lang="en-CA" smtClean="0"/>
              <a:t>‹#›</a:t>
            </a:fld>
            <a:endParaRPr lang="en-CA"/>
          </a:p>
        </p:txBody>
      </p:sp>
    </p:spTree>
    <p:extLst>
      <p:ext uri="{BB962C8B-B14F-4D97-AF65-F5344CB8AC3E}">
        <p14:creationId xmlns:p14="http://schemas.microsoft.com/office/powerpoint/2010/main" val="4175245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7C3E8-C44D-4A5D-B5A8-3AD2A59B350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6F855A21-C3E6-4905-9D18-D5FC00D94B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575A681-7D52-4FEB-8A95-DE6CAFD3216B}"/>
              </a:ext>
            </a:extLst>
          </p:cNvPr>
          <p:cNvSpPr>
            <a:spLocks noGrp="1"/>
          </p:cNvSpPr>
          <p:nvPr>
            <p:ph type="dt" sz="half" idx="10"/>
          </p:nvPr>
        </p:nvSpPr>
        <p:spPr/>
        <p:txBody>
          <a:bodyPr/>
          <a:lstStyle/>
          <a:p>
            <a:fld id="{6AB737D8-766E-4162-9DF4-B2A23B5D2C21}" type="datetimeFigureOut">
              <a:rPr lang="en-CA" smtClean="0"/>
              <a:t>2022-09-12</a:t>
            </a:fld>
            <a:endParaRPr lang="en-CA"/>
          </a:p>
        </p:txBody>
      </p:sp>
      <p:sp>
        <p:nvSpPr>
          <p:cNvPr id="5" name="Footer Placeholder 4">
            <a:extLst>
              <a:ext uri="{FF2B5EF4-FFF2-40B4-BE49-F238E27FC236}">
                <a16:creationId xmlns:a16="http://schemas.microsoft.com/office/drawing/2014/main" id="{C63AB25F-78A2-4DE9-A4EC-E9C925262AB5}"/>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C46CCE08-D8E0-4CB2-B10C-3AE696383F37}"/>
              </a:ext>
            </a:extLst>
          </p:cNvPr>
          <p:cNvSpPr>
            <a:spLocks noGrp="1"/>
          </p:cNvSpPr>
          <p:nvPr>
            <p:ph type="sldNum" sz="quarter" idx="12"/>
          </p:nvPr>
        </p:nvSpPr>
        <p:spPr/>
        <p:txBody>
          <a:bodyPr/>
          <a:lstStyle/>
          <a:p>
            <a:fld id="{BCD6313D-3FF2-443C-82E2-3D156726145C}" type="slidenum">
              <a:rPr lang="en-CA" smtClean="0"/>
              <a:t>‹#›</a:t>
            </a:fld>
            <a:endParaRPr lang="en-CA"/>
          </a:p>
        </p:txBody>
      </p:sp>
    </p:spTree>
    <p:extLst>
      <p:ext uri="{BB962C8B-B14F-4D97-AF65-F5344CB8AC3E}">
        <p14:creationId xmlns:p14="http://schemas.microsoft.com/office/powerpoint/2010/main" val="8458172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09792-40E1-4914-BF24-575384741D5E}"/>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B0DA832E-9CDB-4974-B6F3-69F81397C0D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EC1813B5-59D4-4FB2-A716-06085DF6BE0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EFF3769D-FE52-44BE-9C80-CF27623D8B9E}"/>
              </a:ext>
            </a:extLst>
          </p:cNvPr>
          <p:cNvSpPr>
            <a:spLocks noGrp="1"/>
          </p:cNvSpPr>
          <p:nvPr>
            <p:ph type="dt" sz="half" idx="10"/>
          </p:nvPr>
        </p:nvSpPr>
        <p:spPr/>
        <p:txBody>
          <a:bodyPr/>
          <a:lstStyle/>
          <a:p>
            <a:fld id="{6AB737D8-766E-4162-9DF4-B2A23B5D2C21}" type="datetimeFigureOut">
              <a:rPr lang="en-CA" smtClean="0"/>
              <a:t>2022-09-12</a:t>
            </a:fld>
            <a:endParaRPr lang="en-CA"/>
          </a:p>
        </p:txBody>
      </p:sp>
      <p:sp>
        <p:nvSpPr>
          <p:cNvPr id="6" name="Footer Placeholder 5">
            <a:extLst>
              <a:ext uri="{FF2B5EF4-FFF2-40B4-BE49-F238E27FC236}">
                <a16:creationId xmlns:a16="http://schemas.microsoft.com/office/drawing/2014/main" id="{A7740269-BD8C-404A-8E32-378048697221}"/>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7ACC2736-4141-4991-8594-3CDB6690E20B}"/>
              </a:ext>
            </a:extLst>
          </p:cNvPr>
          <p:cNvSpPr>
            <a:spLocks noGrp="1"/>
          </p:cNvSpPr>
          <p:nvPr>
            <p:ph type="sldNum" sz="quarter" idx="12"/>
          </p:nvPr>
        </p:nvSpPr>
        <p:spPr/>
        <p:txBody>
          <a:bodyPr/>
          <a:lstStyle/>
          <a:p>
            <a:fld id="{BCD6313D-3FF2-443C-82E2-3D156726145C}" type="slidenum">
              <a:rPr lang="en-CA" smtClean="0"/>
              <a:t>‹#›</a:t>
            </a:fld>
            <a:endParaRPr lang="en-CA"/>
          </a:p>
        </p:txBody>
      </p:sp>
    </p:spTree>
    <p:extLst>
      <p:ext uri="{BB962C8B-B14F-4D97-AF65-F5344CB8AC3E}">
        <p14:creationId xmlns:p14="http://schemas.microsoft.com/office/powerpoint/2010/main" val="16052658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E38B5-29B3-43C6-85AA-1AE4ACBE9AFA}"/>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2B1A90FB-949A-42A5-94DB-8DA9F505639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3EAE23B-A7DA-4BD9-83C8-C3CAF1F1952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C72998D7-C6AF-42E0-9B47-B0FA1C3D16A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0FF40E-EB18-4FB7-984D-7AC2126B042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83F76DD5-AA14-4FAD-A22A-4F3D98C51644}"/>
              </a:ext>
            </a:extLst>
          </p:cNvPr>
          <p:cNvSpPr>
            <a:spLocks noGrp="1"/>
          </p:cNvSpPr>
          <p:nvPr>
            <p:ph type="dt" sz="half" idx="10"/>
          </p:nvPr>
        </p:nvSpPr>
        <p:spPr/>
        <p:txBody>
          <a:bodyPr/>
          <a:lstStyle/>
          <a:p>
            <a:fld id="{6AB737D8-766E-4162-9DF4-B2A23B5D2C21}" type="datetimeFigureOut">
              <a:rPr lang="en-CA" smtClean="0"/>
              <a:t>2022-09-12</a:t>
            </a:fld>
            <a:endParaRPr lang="en-CA"/>
          </a:p>
        </p:txBody>
      </p:sp>
      <p:sp>
        <p:nvSpPr>
          <p:cNvPr id="8" name="Footer Placeholder 7">
            <a:extLst>
              <a:ext uri="{FF2B5EF4-FFF2-40B4-BE49-F238E27FC236}">
                <a16:creationId xmlns:a16="http://schemas.microsoft.com/office/drawing/2014/main" id="{0B4DD02D-1DDE-4666-8A94-2FBEF8815919}"/>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88B3E568-4A01-4754-98CA-D296377DEFD6}"/>
              </a:ext>
            </a:extLst>
          </p:cNvPr>
          <p:cNvSpPr>
            <a:spLocks noGrp="1"/>
          </p:cNvSpPr>
          <p:nvPr>
            <p:ph type="sldNum" sz="quarter" idx="12"/>
          </p:nvPr>
        </p:nvSpPr>
        <p:spPr/>
        <p:txBody>
          <a:bodyPr/>
          <a:lstStyle/>
          <a:p>
            <a:fld id="{BCD6313D-3FF2-443C-82E2-3D156726145C}" type="slidenum">
              <a:rPr lang="en-CA" smtClean="0"/>
              <a:t>‹#›</a:t>
            </a:fld>
            <a:endParaRPr lang="en-CA"/>
          </a:p>
        </p:txBody>
      </p:sp>
    </p:spTree>
    <p:extLst>
      <p:ext uri="{BB962C8B-B14F-4D97-AF65-F5344CB8AC3E}">
        <p14:creationId xmlns:p14="http://schemas.microsoft.com/office/powerpoint/2010/main" val="4185356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3B153-E41B-4D43-BF98-B0DC004AC605}"/>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FC38B0E9-803E-41F8-9635-9D157611A1D9}"/>
              </a:ext>
            </a:extLst>
          </p:cNvPr>
          <p:cNvSpPr>
            <a:spLocks noGrp="1"/>
          </p:cNvSpPr>
          <p:nvPr>
            <p:ph type="dt" sz="half" idx="10"/>
          </p:nvPr>
        </p:nvSpPr>
        <p:spPr/>
        <p:txBody>
          <a:bodyPr/>
          <a:lstStyle/>
          <a:p>
            <a:fld id="{6AB737D8-766E-4162-9DF4-B2A23B5D2C21}" type="datetimeFigureOut">
              <a:rPr lang="en-CA" smtClean="0"/>
              <a:t>2022-09-12</a:t>
            </a:fld>
            <a:endParaRPr lang="en-CA"/>
          </a:p>
        </p:txBody>
      </p:sp>
      <p:sp>
        <p:nvSpPr>
          <p:cNvPr id="4" name="Footer Placeholder 3">
            <a:extLst>
              <a:ext uri="{FF2B5EF4-FFF2-40B4-BE49-F238E27FC236}">
                <a16:creationId xmlns:a16="http://schemas.microsoft.com/office/drawing/2014/main" id="{E61877A8-C7AB-4727-8F93-78C0D060D5E7}"/>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A782A551-3E4E-48C4-B690-AF20B88FC036}"/>
              </a:ext>
            </a:extLst>
          </p:cNvPr>
          <p:cNvSpPr>
            <a:spLocks noGrp="1"/>
          </p:cNvSpPr>
          <p:nvPr>
            <p:ph type="sldNum" sz="quarter" idx="12"/>
          </p:nvPr>
        </p:nvSpPr>
        <p:spPr/>
        <p:txBody>
          <a:bodyPr/>
          <a:lstStyle/>
          <a:p>
            <a:fld id="{BCD6313D-3FF2-443C-82E2-3D156726145C}" type="slidenum">
              <a:rPr lang="en-CA" smtClean="0"/>
              <a:t>‹#›</a:t>
            </a:fld>
            <a:endParaRPr lang="en-CA"/>
          </a:p>
        </p:txBody>
      </p:sp>
    </p:spTree>
    <p:extLst>
      <p:ext uri="{BB962C8B-B14F-4D97-AF65-F5344CB8AC3E}">
        <p14:creationId xmlns:p14="http://schemas.microsoft.com/office/powerpoint/2010/main" val="25741546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55D4B00-FF78-4B28-AE9A-90900E80C4FF}"/>
              </a:ext>
            </a:extLst>
          </p:cNvPr>
          <p:cNvSpPr>
            <a:spLocks noGrp="1"/>
          </p:cNvSpPr>
          <p:nvPr>
            <p:ph type="dt" sz="half" idx="10"/>
          </p:nvPr>
        </p:nvSpPr>
        <p:spPr/>
        <p:txBody>
          <a:bodyPr/>
          <a:lstStyle/>
          <a:p>
            <a:fld id="{6AB737D8-766E-4162-9DF4-B2A23B5D2C21}" type="datetimeFigureOut">
              <a:rPr lang="en-CA" smtClean="0"/>
              <a:t>2022-09-12</a:t>
            </a:fld>
            <a:endParaRPr lang="en-CA"/>
          </a:p>
        </p:txBody>
      </p:sp>
      <p:sp>
        <p:nvSpPr>
          <p:cNvPr id="3" name="Footer Placeholder 2">
            <a:extLst>
              <a:ext uri="{FF2B5EF4-FFF2-40B4-BE49-F238E27FC236}">
                <a16:creationId xmlns:a16="http://schemas.microsoft.com/office/drawing/2014/main" id="{C3E5643F-3EA6-4EBC-992B-9239D818C17B}"/>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D50A6DDB-8333-4769-B80E-219C14F581B0}"/>
              </a:ext>
            </a:extLst>
          </p:cNvPr>
          <p:cNvSpPr>
            <a:spLocks noGrp="1"/>
          </p:cNvSpPr>
          <p:nvPr>
            <p:ph type="sldNum" sz="quarter" idx="12"/>
          </p:nvPr>
        </p:nvSpPr>
        <p:spPr/>
        <p:txBody>
          <a:bodyPr/>
          <a:lstStyle/>
          <a:p>
            <a:fld id="{BCD6313D-3FF2-443C-82E2-3D156726145C}" type="slidenum">
              <a:rPr lang="en-CA" smtClean="0"/>
              <a:t>‹#›</a:t>
            </a:fld>
            <a:endParaRPr lang="en-CA"/>
          </a:p>
        </p:txBody>
      </p:sp>
    </p:spTree>
    <p:extLst>
      <p:ext uri="{BB962C8B-B14F-4D97-AF65-F5344CB8AC3E}">
        <p14:creationId xmlns:p14="http://schemas.microsoft.com/office/powerpoint/2010/main" val="360347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20C0C-A212-41E5-8271-E12D32D778B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2D95A1C5-C6D9-495C-9CD3-703C74D92E4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3864F454-EE09-4273-981D-A75AB6F026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AFE5C1-FBF3-42C0-8E3E-65434CE3AC60}"/>
              </a:ext>
            </a:extLst>
          </p:cNvPr>
          <p:cNvSpPr>
            <a:spLocks noGrp="1"/>
          </p:cNvSpPr>
          <p:nvPr>
            <p:ph type="dt" sz="half" idx="10"/>
          </p:nvPr>
        </p:nvSpPr>
        <p:spPr/>
        <p:txBody>
          <a:bodyPr/>
          <a:lstStyle/>
          <a:p>
            <a:fld id="{6AB737D8-766E-4162-9DF4-B2A23B5D2C21}" type="datetimeFigureOut">
              <a:rPr lang="en-CA" smtClean="0"/>
              <a:t>2022-09-12</a:t>
            </a:fld>
            <a:endParaRPr lang="en-CA"/>
          </a:p>
        </p:txBody>
      </p:sp>
      <p:sp>
        <p:nvSpPr>
          <p:cNvPr id="6" name="Footer Placeholder 5">
            <a:extLst>
              <a:ext uri="{FF2B5EF4-FFF2-40B4-BE49-F238E27FC236}">
                <a16:creationId xmlns:a16="http://schemas.microsoft.com/office/drawing/2014/main" id="{625B073C-E9A5-40A2-9C4F-17B9DB2AC972}"/>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368BD571-AE9B-4989-AB7A-64AA4F4E1D77}"/>
              </a:ext>
            </a:extLst>
          </p:cNvPr>
          <p:cNvSpPr>
            <a:spLocks noGrp="1"/>
          </p:cNvSpPr>
          <p:nvPr>
            <p:ph type="sldNum" sz="quarter" idx="12"/>
          </p:nvPr>
        </p:nvSpPr>
        <p:spPr/>
        <p:txBody>
          <a:bodyPr/>
          <a:lstStyle/>
          <a:p>
            <a:fld id="{BCD6313D-3FF2-443C-82E2-3D156726145C}" type="slidenum">
              <a:rPr lang="en-CA" smtClean="0"/>
              <a:t>‹#›</a:t>
            </a:fld>
            <a:endParaRPr lang="en-CA"/>
          </a:p>
        </p:txBody>
      </p:sp>
    </p:spTree>
    <p:extLst>
      <p:ext uri="{BB962C8B-B14F-4D97-AF65-F5344CB8AC3E}">
        <p14:creationId xmlns:p14="http://schemas.microsoft.com/office/powerpoint/2010/main" val="489938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6582D-3D4D-4A7A-ACE6-A2E3D62F45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DD017EC7-13F8-42E9-A169-BB0F6D0084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0ABC88FB-9D23-4F5B-BC13-40ED33BECA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42EB3C-2807-43DD-8B92-5ECB8F544CE2}"/>
              </a:ext>
            </a:extLst>
          </p:cNvPr>
          <p:cNvSpPr>
            <a:spLocks noGrp="1"/>
          </p:cNvSpPr>
          <p:nvPr>
            <p:ph type="dt" sz="half" idx="10"/>
          </p:nvPr>
        </p:nvSpPr>
        <p:spPr/>
        <p:txBody>
          <a:bodyPr/>
          <a:lstStyle/>
          <a:p>
            <a:fld id="{6AB737D8-766E-4162-9DF4-B2A23B5D2C21}" type="datetimeFigureOut">
              <a:rPr lang="en-CA" smtClean="0"/>
              <a:t>2022-09-12</a:t>
            </a:fld>
            <a:endParaRPr lang="en-CA"/>
          </a:p>
        </p:txBody>
      </p:sp>
      <p:sp>
        <p:nvSpPr>
          <p:cNvPr id="6" name="Footer Placeholder 5">
            <a:extLst>
              <a:ext uri="{FF2B5EF4-FFF2-40B4-BE49-F238E27FC236}">
                <a16:creationId xmlns:a16="http://schemas.microsoft.com/office/drawing/2014/main" id="{8F4EE9D6-2B40-429A-AC31-27AE83A9C56E}"/>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5C6C1256-C133-49CD-9754-119B1C7F8295}"/>
              </a:ext>
            </a:extLst>
          </p:cNvPr>
          <p:cNvSpPr>
            <a:spLocks noGrp="1"/>
          </p:cNvSpPr>
          <p:nvPr>
            <p:ph type="sldNum" sz="quarter" idx="12"/>
          </p:nvPr>
        </p:nvSpPr>
        <p:spPr/>
        <p:txBody>
          <a:bodyPr/>
          <a:lstStyle/>
          <a:p>
            <a:fld id="{BCD6313D-3FF2-443C-82E2-3D156726145C}" type="slidenum">
              <a:rPr lang="en-CA" smtClean="0"/>
              <a:t>‹#›</a:t>
            </a:fld>
            <a:endParaRPr lang="en-CA"/>
          </a:p>
        </p:txBody>
      </p:sp>
    </p:spTree>
    <p:extLst>
      <p:ext uri="{BB962C8B-B14F-4D97-AF65-F5344CB8AC3E}">
        <p14:creationId xmlns:p14="http://schemas.microsoft.com/office/powerpoint/2010/main" val="20178080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15738-A135-4C4F-8A59-B93A60868DCF}"/>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C5E72D78-F873-4A8B-B3D8-0D2ED82B6C5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3653E7F3-2D78-40ED-98D6-B8FD0E270368}"/>
              </a:ext>
            </a:extLst>
          </p:cNvPr>
          <p:cNvSpPr>
            <a:spLocks noGrp="1"/>
          </p:cNvSpPr>
          <p:nvPr>
            <p:ph type="dt" sz="half" idx="10"/>
          </p:nvPr>
        </p:nvSpPr>
        <p:spPr/>
        <p:txBody>
          <a:bodyPr/>
          <a:lstStyle/>
          <a:p>
            <a:fld id="{6AB737D8-766E-4162-9DF4-B2A23B5D2C21}" type="datetimeFigureOut">
              <a:rPr lang="en-CA" smtClean="0"/>
              <a:t>2022-09-12</a:t>
            </a:fld>
            <a:endParaRPr lang="en-CA"/>
          </a:p>
        </p:txBody>
      </p:sp>
      <p:sp>
        <p:nvSpPr>
          <p:cNvPr id="5" name="Footer Placeholder 4">
            <a:extLst>
              <a:ext uri="{FF2B5EF4-FFF2-40B4-BE49-F238E27FC236}">
                <a16:creationId xmlns:a16="http://schemas.microsoft.com/office/drawing/2014/main" id="{C933B470-7E29-46DF-BCEA-BA4BFC09AC55}"/>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A8878924-8C7B-4D63-AB1F-545873D46EE9}"/>
              </a:ext>
            </a:extLst>
          </p:cNvPr>
          <p:cNvSpPr>
            <a:spLocks noGrp="1"/>
          </p:cNvSpPr>
          <p:nvPr>
            <p:ph type="sldNum" sz="quarter" idx="12"/>
          </p:nvPr>
        </p:nvSpPr>
        <p:spPr/>
        <p:txBody>
          <a:bodyPr/>
          <a:lstStyle/>
          <a:p>
            <a:fld id="{BCD6313D-3FF2-443C-82E2-3D156726145C}" type="slidenum">
              <a:rPr lang="en-CA" smtClean="0"/>
              <a:t>‹#›</a:t>
            </a:fld>
            <a:endParaRPr lang="en-CA"/>
          </a:p>
        </p:txBody>
      </p:sp>
    </p:spTree>
    <p:extLst>
      <p:ext uri="{BB962C8B-B14F-4D97-AF65-F5344CB8AC3E}">
        <p14:creationId xmlns:p14="http://schemas.microsoft.com/office/powerpoint/2010/main" val="29473342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37B1E8F-9209-4C84-BEA9-1995BC3CB58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A68BEF85-0658-40B7-89E1-83B7234A495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F77E9827-B434-44CB-B0ED-B51E2AA74C6F}"/>
              </a:ext>
            </a:extLst>
          </p:cNvPr>
          <p:cNvSpPr>
            <a:spLocks noGrp="1"/>
          </p:cNvSpPr>
          <p:nvPr>
            <p:ph type="dt" sz="half" idx="10"/>
          </p:nvPr>
        </p:nvSpPr>
        <p:spPr/>
        <p:txBody>
          <a:bodyPr/>
          <a:lstStyle/>
          <a:p>
            <a:fld id="{6AB737D8-766E-4162-9DF4-B2A23B5D2C21}" type="datetimeFigureOut">
              <a:rPr lang="en-CA" smtClean="0"/>
              <a:t>2022-09-12</a:t>
            </a:fld>
            <a:endParaRPr lang="en-CA"/>
          </a:p>
        </p:txBody>
      </p:sp>
      <p:sp>
        <p:nvSpPr>
          <p:cNvPr id="5" name="Footer Placeholder 4">
            <a:extLst>
              <a:ext uri="{FF2B5EF4-FFF2-40B4-BE49-F238E27FC236}">
                <a16:creationId xmlns:a16="http://schemas.microsoft.com/office/drawing/2014/main" id="{917A81F1-0505-4282-AEBC-00A31AA1677B}"/>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14E369D9-E9D8-49A9-B353-870A2F9EF980}"/>
              </a:ext>
            </a:extLst>
          </p:cNvPr>
          <p:cNvSpPr>
            <a:spLocks noGrp="1"/>
          </p:cNvSpPr>
          <p:nvPr>
            <p:ph type="sldNum" sz="quarter" idx="12"/>
          </p:nvPr>
        </p:nvSpPr>
        <p:spPr/>
        <p:txBody>
          <a:bodyPr/>
          <a:lstStyle/>
          <a:p>
            <a:fld id="{BCD6313D-3FF2-443C-82E2-3D156726145C}" type="slidenum">
              <a:rPr lang="en-CA" smtClean="0"/>
              <a:t>‹#›</a:t>
            </a:fld>
            <a:endParaRPr lang="en-CA"/>
          </a:p>
        </p:txBody>
      </p:sp>
    </p:spTree>
    <p:extLst>
      <p:ext uri="{BB962C8B-B14F-4D97-AF65-F5344CB8AC3E}">
        <p14:creationId xmlns:p14="http://schemas.microsoft.com/office/powerpoint/2010/main" val="24038625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0A64F1-1823-44B5-ACE9-08E6A23178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A9D556BB-2DDE-4A3D-B322-18B98CCD21E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EA2AAD79-C588-432D-9FA5-DA6F980E5B5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B737D8-766E-4162-9DF4-B2A23B5D2C21}" type="datetimeFigureOut">
              <a:rPr lang="en-CA" smtClean="0"/>
              <a:t>2022-09-12</a:t>
            </a:fld>
            <a:endParaRPr lang="en-CA"/>
          </a:p>
        </p:txBody>
      </p:sp>
      <p:sp>
        <p:nvSpPr>
          <p:cNvPr id="5" name="Footer Placeholder 4">
            <a:extLst>
              <a:ext uri="{FF2B5EF4-FFF2-40B4-BE49-F238E27FC236}">
                <a16:creationId xmlns:a16="http://schemas.microsoft.com/office/drawing/2014/main" id="{B333A49B-AF0C-41E4-B11A-BA1A0AEB9B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a:extLst>
              <a:ext uri="{FF2B5EF4-FFF2-40B4-BE49-F238E27FC236}">
                <a16:creationId xmlns:a16="http://schemas.microsoft.com/office/drawing/2014/main" id="{EB6C65C7-0417-4F6E-8F3A-AF5E808143F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D6313D-3FF2-443C-82E2-3D156726145C}" type="slidenum">
              <a:rPr lang="en-CA" smtClean="0"/>
              <a:t>‹#›</a:t>
            </a:fld>
            <a:endParaRPr lang="en-CA"/>
          </a:p>
        </p:txBody>
      </p:sp>
    </p:spTree>
    <p:extLst>
      <p:ext uri="{BB962C8B-B14F-4D97-AF65-F5344CB8AC3E}">
        <p14:creationId xmlns:p14="http://schemas.microsoft.com/office/powerpoint/2010/main" val="41557464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46A9C-3F3B-4FBE-9EA1-A63AEEA2792D}"/>
              </a:ext>
            </a:extLst>
          </p:cNvPr>
          <p:cNvSpPr>
            <a:spLocks noGrp="1"/>
          </p:cNvSpPr>
          <p:nvPr>
            <p:ph type="ctrTitle"/>
          </p:nvPr>
        </p:nvSpPr>
        <p:spPr/>
        <p:txBody>
          <a:bodyPr/>
          <a:lstStyle/>
          <a:p>
            <a:r>
              <a:rPr lang="en-CA" dirty="0"/>
              <a:t>Module 1 Part 2 </a:t>
            </a:r>
          </a:p>
        </p:txBody>
      </p:sp>
      <p:sp>
        <p:nvSpPr>
          <p:cNvPr id="3" name="Subtitle 2">
            <a:extLst>
              <a:ext uri="{FF2B5EF4-FFF2-40B4-BE49-F238E27FC236}">
                <a16:creationId xmlns:a16="http://schemas.microsoft.com/office/drawing/2014/main" id="{DD1B5876-9EAC-48E7-842A-0AAF74046632}"/>
              </a:ext>
            </a:extLst>
          </p:cNvPr>
          <p:cNvSpPr>
            <a:spLocks noGrp="1"/>
          </p:cNvSpPr>
          <p:nvPr>
            <p:ph type="subTitle" idx="1"/>
          </p:nvPr>
        </p:nvSpPr>
        <p:spPr/>
        <p:txBody>
          <a:bodyPr/>
          <a:lstStyle/>
          <a:p>
            <a:r>
              <a:rPr lang="en-CA" dirty="0"/>
              <a:t>Class Problems</a:t>
            </a:r>
          </a:p>
        </p:txBody>
      </p:sp>
    </p:spTree>
    <p:extLst>
      <p:ext uri="{BB962C8B-B14F-4D97-AF65-F5344CB8AC3E}">
        <p14:creationId xmlns:p14="http://schemas.microsoft.com/office/powerpoint/2010/main" val="14572546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482C1F-2C62-4718-896F-8A3218FC7F49}"/>
              </a:ext>
            </a:extLst>
          </p:cNvPr>
          <p:cNvSpPr>
            <a:spLocks noGrp="1"/>
          </p:cNvSpPr>
          <p:nvPr>
            <p:ph idx="1"/>
          </p:nvPr>
        </p:nvSpPr>
        <p:spPr>
          <a:xfrm>
            <a:off x="403193" y="502852"/>
            <a:ext cx="11341963" cy="4351338"/>
          </a:xfrm>
        </p:spPr>
        <p:txBody>
          <a:bodyPr/>
          <a:lstStyle/>
          <a:p>
            <a:pPr marL="0" indent="0">
              <a:buNone/>
            </a:pPr>
            <a:r>
              <a:rPr lang="en-US" sz="1800" b="1" dirty="0">
                <a:effectLst/>
                <a:latin typeface="Times New Roman" panose="02020603050405020304" pitchFamily="18" charset="0"/>
                <a:ea typeface="Times New Roman" panose="02020603050405020304" pitchFamily="18" charset="0"/>
              </a:rPr>
              <a:t>Q1. </a:t>
            </a:r>
            <a:r>
              <a:rPr lang="en-US" sz="1800" dirty="0">
                <a:effectLst/>
                <a:latin typeface="Times New Roman" panose="02020603050405020304" pitchFamily="18" charset="0"/>
                <a:ea typeface="Times New Roman" panose="02020603050405020304" pitchFamily="18" charset="0"/>
              </a:rPr>
              <a:t>It is reasonable to expect that given growing wealth, the emergence of a middle class, access to modern conveniences, and so forth, the “emerging” countries of the world may experience exponential growth in energy consumption over the short to medium term. From data introduced earlier, these countries consumed 136 EJ of energy in 1990 and 198 EJ in 2004. Use an exponential growth model to predict energy consumption in the year 2020.</a:t>
            </a:r>
            <a:endParaRPr lang="en-CA" dirty="0"/>
          </a:p>
        </p:txBody>
      </p:sp>
    </p:spTree>
    <p:extLst>
      <p:ext uri="{BB962C8B-B14F-4D97-AF65-F5344CB8AC3E}">
        <p14:creationId xmlns:p14="http://schemas.microsoft.com/office/powerpoint/2010/main" val="25787435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9D42CA-3092-4467-8D7B-43B15B758890}"/>
              </a:ext>
            </a:extLst>
          </p:cNvPr>
          <p:cNvSpPr>
            <a:spLocks noGrp="1"/>
          </p:cNvSpPr>
          <p:nvPr>
            <p:ph idx="1"/>
          </p:nvPr>
        </p:nvSpPr>
        <p:spPr>
          <a:xfrm>
            <a:off x="83598" y="67847"/>
            <a:ext cx="11537272" cy="4351338"/>
          </a:xfrm>
        </p:spPr>
        <p:txBody>
          <a:bodyPr>
            <a:normAutofit/>
          </a:bodyPr>
          <a:lstStyle/>
          <a:p>
            <a:pPr indent="0">
              <a:lnSpc>
                <a:spcPct val="100000"/>
              </a:lnSpc>
              <a:spcAft>
                <a:spcPts val="600"/>
              </a:spcAft>
              <a:buNone/>
              <a:tabLst>
                <a:tab pos="457200" algn="l"/>
                <a:tab pos="457200" algn="l"/>
              </a:tabLst>
            </a:pPr>
            <a:r>
              <a:rPr lang="en-US" sz="1800" b="1" dirty="0">
                <a:effectLst/>
                <a:latin typeface="Times New Roman" panose="02020603050405020304" pitchFamily="18" charset="0"/>
                <a:ea typeface="Times New Roman" panose="02020603050405020304" pitchFamily="18" charset="0"/>
              </a:rPr>
              <a:t>Q2. </a:t>
            </a:r>
            <a:r>
              <a:rPr lang="en-US" sz="1800" dirty="0">
                <a:effectLst/>
                <a:latin typeface="Times New Roman" panose="02020603050405020304" pitchFamily="18" charset="0"/>
                <a:ea typeface="Times New Roman" panose="02020603050405020304" pitchFamily="18" charset="0"/>
              </a:rPr>
              <a:t>Current global energy consumption trends combined with per-capita energy consumption of some of the most prosperous countries, such as the United States, can be used to project the future course of global energy demand over the long term.  </a:t>
            </a:r>
          </a:p>
          <a:p>
            <a:pPr marL="571500" indent="-342900">
              <a:lnSpc>
                <a:spcPct val="100000"/>
              </a:lnSpc>
              <a:spcAft>
                <a:spcPts val="600"/>
              </a:spcAft>
              <a:buAutoNum type="alphaLcPeriod"/>
              <a:tabLst>
                <a:tab pos="457200" algn="l"/>
                <a:tab pos="457200" algn="l"/>
              </a:tabLst>
            </a:pPr>
            <a:r>
              <a:rPr lang="en-US" sz="1800" dirty="0">
                <a:effectLst/>
                <a:latin typeface="Times New Roman" panose="02020603050405020304" pitchFamily="18" charset="0"/>
                <a:ea typeface="Times New Roman" panose="02020603050405020304" pitchFamily="18" charset="0"/>
              </a:rPr>
              <a:t>Using the data </a:t>
            </a:r>
            <a:r>
              <a:rPr lang="en-US" sz="1800" dirty="0">
                <a:latin typeface="Times New Roman" panose="02020603050405020304" pitchFamily="18" charset="0"/>
                <a:ea typeface="Times New Roman" panose="02020603050405020304" pitchFamily="18" charset="0"/>
              </a:rPr>
              <a:t>provided in Module 1, </a:t>
            </a:r>
            <a:r>
              <a:rPr lang="en-US" sz="1800" dirty="0">
                <a:effectLst/>
                <a:latin typeface="Times New Roman" panose="02020603050405020304" pitchFamily="18" charset="0"/>
                <a:ea typeface="Times New Roman" panose="02020603050405020304" pitchFamily="18" charset="0"/>
              </a:rPr>
              <a:t>calculate per-capita energy consumption in United States in 2004, in units of GJ per person (as an indicator of energy consumption per capita)</a:t>
            </a:r>
            <a:endParaRPr lang="en-CA" sz="1800" dirty="0">
              <a:latin typeface="Times New Roman" panose="02020603050405020304" pitchFamily="18" charset="0"/>
              <a:ea typeface="Times New Roman" panose="02020603050405020304" pitchFamily="18" charset="0"/>
            </a:endParaRPr>
          </a:p>
          <a:p>
            <a:pPr marL="571500" indent="-342900">
              <a:lnSpc>
                <a:spcPct val="100000"/>
              </a:lnSpc>
              <a:spcAft>
                <a:spcPts val="600"/>
              </a:spcAft>
              <a:buAutoNum type="alphaLcPeriod"/>
              <a:tabLst>
                <a:tab pos="457200" algn="l"/>
                <a:tab pos="457200" algn="l"/>
              </a:tabLst>
            </a:pPr>
            <a:r>
              <a:rPr lang="en-US" sz="1800" dirty="0">
                <a:effectLst/>
                <a:latin typeface="Times New Roman" panose="02020603050405020304" pitchFamily="18" charset="0"/>
                <a:ea typeface="Times New Roman" panose="02020603050405020304" pitchFamily="18" charset="0"/>
              </a:rPr>
              <a:t>If the world population ultimately stabilizes at 10 billion people, each with the energy intensity of the average U.S. citizen in 2004, at what level would the ultimate total annual energy consumption stabilize, in EJ/year?</a:t>
            </a:r>
            <a:endParaRPr lang="en-CA" sz="1800" dirty="0">
              <a:latin typeface="Times New Roman" panose="02020603050405020304" pitchFamily="18" charset="0"/>
              <a:ea typeface="Times New Roman" panose="02020603050405020304" pitchFamily="18" charset="0"/>
            </a:endParaRPr>
          </a:p>
          <a:p>
            <a:pPr marL="571500" indent="-342900">
              <a:lnSpc>
                <a:spcPct val="100000"/>
              </a:lnSpc>
              <a:spcAft>
                <a:spcPts val="600"/>
              </a:spcAft>
              <a:buAutoNum type="alphaLcPeriod"/>
              <a:tabLst>
                <a:tab pos="457200" algn="l"/>
                <a:tab pos="457200" algn="l"/>
              </a:tabLst>
            </a:pPr>
            <a:r>
              <a:rPr lang="en-US" sz="1800" dirty="0">
                <a:effectLst/>
                <a:latin typeface="Times New Roman" panose="02020603050405020304" pitchFamily="18" charset="0"/>
                <a:ea typeface="Times New Roman" panose="02020603050405020304" pitchFamily="18" charset="0"/>
              </a:rPr>
              <a:t>From data introduced earlier, it can be seen that the world reached the 37 EJ/year mark in 1900, and the 100 EJ/year mark in 1950. Using these data points and the logistics formula, calculate the number of years from 2004 until the year in which the world will reach 97% of the value calculated in part (b).</a:t>
            </a:r>
            <a:endParaRPr lang="en-CA" sz="1800" dirty="0">
              <a:effectLst/>
              <a:latin typeface="Times New Roman" panose="02020603050405020304" pitchFamily="18" charset="0"/>
              <a:ea typeface="Times New Roman" panose="02020603050405020304" pitchFamily="18" charset="0"/>
            </a:endParaRPr>
          </a:p>
          <a:p>
            <a:endParaRPr lang="en-CA" dirty="0"/>
          </a:p>
        </p:txBody>
      </p:sp>
    </p:spTree>
    <p:extLst>
      <p:ext uri="{BB962C8B-B14F-4D97-AF65-F5344CB8AC3E}">
        <p14:creationId xmlns:p14="http://schemas.microsoft.com/office/powerpoint/2010/main" val="12321537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A6C085-9712-4112-879E-7941DB5DEC08}"/>
              </a:ext>
            </a:extLst>
          </p:cNvPr>
          <p:cNvSpPr>
            <a:spLocks noGrp="1"/>
          </p:cNvSpPr>
          <p:nvPr>
            <p:ph idx="1"/>
          </p:nvPr>
        </p:nvSpPr>
        <p:spPr>
          <a:xfrm>
            <a:off x="252275" y="280911"/>
            <a:ext cx="10515600" cy="4351338"/>
          </a:xfrm>
        </p:spPr>
        <p:txBody>
          <a:bodyPr/>
          <a:lstStyle/>
          <a:p>
            <a:pPr marL="0" indent="0">
              <a:buNone/>
            </a:pPr>
            <a:r>
              <a:rPr lang="en-US" sz="1800" b="1" dirty="0">
                <a:effectLst/>
                <a:latin typeface="Times New Roman" panose="02020603050405020304" pitchFamily="18" charset="0"/>
                <a:ea typeface="Times New Roman" panose="02020603050405020304" pitchFamily="18" charset="0"/>
              </a:rPr>
              <a:t>Q3. </a:t>
            </a:r>
            <a:r>
              <a:rPr lang="en-US" sz="1800" dirty="0">
                <a:effectLst/>
                <a:latin typeface="Times New Roman" panose="02020603050405020304" pitchFamily="18" charset="0"/>
                <a:ea typeface="Times New Roman" panose="02020603050405020304" pitchFamily="18" charset="0"/>
              </a:rPr>
              <a:t>An electric utility investment has a capital cost of $60 million, a term of 8 years, and an annuity of $16 million. What is the CRF for this investment? Is this investment recommended based on EPRI?</a:t>
            </a:r>
            <a:endParaRPr lang="en-CA" sz="1800" dirty="0">
              <a:effectLst/>
              <a:latin typeface="Times New Roman" panose="02020603050405020304" pitchFamily="18" charset="0"/>
              <a:ea typeface="Times New Roman" panose="02020603050405020304" pitchFamily="18" charset="0"/>
            </a:endParaRPr>
          </a:p>
          <a:p>
            <a:endParaRPr lang="en-CA" dirty="0"/>
          </a:p>
        </p:txBody>
      </p:sp>
    </p:spTree>
    <p:extLst>
      <p:ext uri="{BB962C8B-B14F-4D97-AF65-F5344CB8AC3E}">
        <p14:creationId xmlns:p14="http://schemas.microsoft.com/office/powerpoint/2010/main" val="18835484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9562DE-17A0-4554-8CCF-3747D9B33E00}"/>
              </a:ext>
            </a:extLst>
          </p:cNvPr>
          <p:cNvSpPr>
            <a:spLocks noGrp="1"/>
          </p:cNvSpPr>
          <p:nvPr>
            <p:ph idx="1"/>
          </p:nvPr>
        </p:nvSpPr>
        <p:spPr>
          <a:xfrm>
            <a:off x="83598" y="138867"/>
            <a:ext cx="11972278" cy="4351338"/>
          </a:xfrm>
        </p:spPr>
        <p:txBody>
          <a:bodyPr/>
          <a:lstStyle/>
          <a:p>
            <a:pPr indent="0">
              <a:lnSpc>
                <a:spcPct val="100000"/>
              </a:lnSpc>
              <a:buNone/>
              <a:tabLst>
                <a:tab pos="457200" algn="l"/>
                <a:tab pos="457200" algn="l"/>
              </a:tabLst>
            </a:pPr>
            <a:r>
              <a:rPr lang="en-US" sz="1800" b="1" dirty="0">
                <a:effectLst/>
                <a:latin typeface="Times New Roman" panose="02020603050405020304" pitchFamily="18" charset="0"/>
                <a:ea typeface="Times New Roman" panose="02020603050405020304" pitchFamily="18" charset="0"/>
              </a:rPr>
              <a:t>Q4. </a:t>
            </a:r>
            <a:r>
              <a:rPr lang="en-US" sz="1800" dirty="0">
                <a:effectLst/>
                <a:latin typeface="Times New Roman" panose="02020603050405020304" pitchFamily="18" charset="0"/>
                <a:ea typeface="Times New Roman" panose="02020603050405020304" pitchFamily="18" charset="0"/>
              </a:rPr>
              <a:t>A municipality is considering an investment in a small renewable energy power plant with the following parameters. The cost is $360,000, and the output averages 50 kW year-round. The price paid for electricity at the plant gate is $0.039/kWh. The investment is to be evaluated over a 25-year time horizon, and the expected salvage value at the end of the project is $20,000. The MARR is 6%.</a:t>
            </a:r>
            <a:endParaRPr lang="en-CA" sz="1800" dirty="0">
              <a:latin typeface="Times New Roman" panose="02020603050405020304" pitchFamily="18" charset="0"/>
              <a:ea typeface="Times New Roman" panose="02020603050405020304" pitchFamily="18" charset="0"/>
            </a:endParaRPr>
          </a:p>
          <a:p>
            <a:pPr marL="571500" indent="-342900">
              <a:lnSpc>
                <a:spcPct val="100000"/>
              </a:lnSpc>
              <a:buAutoNum type="alphaLcPeriod"/>
              <a:tabLst>
                <a:tab pos="457200" algn="l"/>
                <a:tab pos="457200" algn="l"/>
              </a:tabLst>
            </a:pPr>
            <a:r>
              <a:rPr lang="en-US" sz="1800" dirty="0">
                <a:effectLst/>
                <a:latin typeface="Times New Roman" panose="02020603050405020304" pitchFamily="18" charset="0"/>
                <a:ea typeface="Times New Roman" panose="02020603050405020304" pitchFamily="18" charset="0"/>
              </a:rPr>
              <a:t>Calculate the NPV of this investment. Is it financially attractive?</a:t>
            </a:r>
            <a:endParaRPr lang="en-CA" sz="1800" dirty="0">
              <a:latin typeface="Times New Roman" panose="02020603050405020304" pitchFamily="18" charset="0"/>
              <a:ea typeface="Times New Roman" panose="02020603050405020304" pitchFamily="18" charset="0"/>
            </a:endParaRPr>
          </a:p>
          <a:p>
            <a:pPr marL="571500" indent="-342900">
              <a:lnSpc>
                <a:spcPct val="100000"/>
              </a:lnSpc>
              <a:buAutoNum type="alphaLcPeriod"/>
              <a:tabLst>
                <a:tab pos="457200" algn="l"/>
                <a:tab pos="457200" algn="l"/>
              </a:tabLst>
            </a:pPr>
            <a:r>
              <a:rPr lang="en-US" sz="1800" dirty="0">
                <a:effectLst/>
                <a:latin typeface="Times New Roman" panose="02020603050405020304" pitchFamily="18" charset="0"/>
                <a:ea typeface="Times New Roman" panose="02020603050405020304" pitchFamily="18" charset="0"/>
              </a:rPr>
              <a:t>Calculate the operating credit per kWh which the government would need to give to the investment in order to make it break even financially. </a:t>
            </a:r>
            <a:endParaRPr lang="en-CA" dirty="0"/>
          </a:p>
        </p:txBody>
      </p:sp>
    </p:spTree>
    <p:extLst>
      <p:ext uri="{BB962C8B-B14F-4D97-AF65-F5344CB8AC3E}">
        <p14:creationId xmlns:p14="http://schemas.microsoft.com/office/powerpoint/2010/main" val="11371524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16CF4B-81A2-4F6E-A209-10218FD02C9F}"/>
              </a:ext>
            </a:extLst>
          </p:cNvPr>
          <p:cNvSpPr>
            <a:spLocks noGrp="1"/>
          </p:cNvSpPr>
          <p:nvPr>
            <p:ph idx="1"/>
          </p:nvPr>
        </p:nvSpPr>
        <p:spPr>
          <a:xfrm>
            <a:off x="361949" y="749300"/>
            <a:ext cx="11553825" cy="4351338"/>
          </a:xfrm>
        </p:spPr>
        <p:txBody>
          <a:bodyPr/>
          <a:lstStyle/>
          <a:p>
            <a:pPr marL="0" indent="0">
              <a:buNone/>
            </a:pPr>
            <a:r>
              <a:rPr lang="en-CA" sz="1800" b="1" dirty="0">
                <a:latin typeface="Times New Roman" panose="02020603050405020304" pitchFamily="18" charset="0"/>
                <a:cs typeface="Times New Roman" panose="02020603050405020304" pitchFamily="18" charset="0"/>
              </a:rPr>
              <a:t>Q5. </a:t>
            </a:r>
            <a:r>
              <a:rPr lang="en-US" sz="1800" dirty="0">
                <a:effectLst/>
                <a:latin typeface="Times New Roman" panose="02020603050405020304" pitchFamily="18" charset="0"/>
                <a:cs typeface="Times New Roman" panose="02020603050405020304" pitchFamily="18" charset="0"/>
              </a:rPr>
              <a:t>An energy project requires an investment in Year 0 of $8 million, and has an investment horizon of 10 years and an MARR of 7%. If the annuities in Years 1 through 10 </a:t>
            </a:r>
            <a:r>
              <a:rPr lang="en-US" sz="1800" dirty="0">
                <a:latin typeface="Times New Roman" panose="02020603050405020304" pitchFamily="18" charset="0"/>
                <a:cs typeface="Times New Roman" panose="02020603050405020304" pitchFamily="18" charset="0"/>
              </a:rPr>
              <a:t>are</a:t>
            </a:r>
            <a:r>
              <a:rPr lang="en-US" sz="1800" dirty="0">
                <a:effectLst/>
                <a:latin typeface="Times New Roman" panose="02020603050405020304" pitchFamily="18" charset="0"/>
                <a:cs typeface="Times New Roman" panose="02020603050405020304" pitchFamily="18" charset="0"/>
              </a:rPr>
              <a:t> as shown in the table, what is the NPV?</a:t>
            </a:r>
          </a:p>
          <a:p>
            <a:pPr marL="0" indent="0">
              <a:buNone/>
            </a:pPr>
            <a:endParaRPr lang="en-CA" dirty="0"/>
          </a:p>
        </p:txBody>
      </p:sp>
      <p:graphicFrame>
        <p:nvGraphicFramePr>
          <p:cNvPr id="6" name="Table 5">
            <a:extLst>
              <a:ext uri="{FF2B5EF4-FFF2-40B4-BE49-F238E27FC236}">
                <a16:creationId xmlns:a16="http://schemas.microsoft.com/office/drawing/2014/main" id="{E16E46E4-65E2-46C9-A93A-99079F722927}"/>
              </a:ext>
            </a:extLst>
          </p:cNvPr>
          <p:cNvGraphicFramePr>
            <a:graphicFrameLocks noGrp="1"/>
          </p:cNvGraphicFramePr>
          <p:nvPr>
            <p:extLst>
              <p:ext uri="{D42A27DB-BD31-4B8C-83A1-F6EECF244321}">
                <p14:modId xmlns:p14="http://schemas.microsoft.com/office/powerpoint/2010/main" val="2758011415"/>
              </p:ext>
            </p:extLst>
          </p:nvPr>
        </p:nvGraphicFramePr>
        <p:xfrm>
          <a:off x="478839" y="1539497"/>
          <a:ext cx="1647825" cy="3238084"/>
        </p:xfrm>
        <a:graphic>
          <a:graphicData uri="http://schemas.openxmlformats.org/drawingml/2006/table">
            <a:tbl>
              <a:tblPr>
                <a:tableStyleId>{5C22544A-7EE6-4342-B048-85BDC9FD1C3A}</a:tableStyleId>
              </a:tblPr>
              <a:tblGrid>
                <a:gridCol w="485775">
                  <a:extLst>
                    <a:ext uri="{9D8B030D-6E8A-4147-A177-3AD203B41FA5}">
                      <a16:colId xmlns:a16="http://schemas.microsoft.com/office/drawing/2014/main" val="359173045"/>
                    </a:ext>
                  </a:extLst>
                </a:gridCol>
                <a:gridCol w="1162050">
                  <a:extLst>
                    <a:ext uri="{9D8B030D-6E8A-4147-A177-3AD203B41FA5}">
                      <a16:colId xmlns:a16="http://schemas.microsoft.com/office/drawing/2014/main" val="4293924406"/>
                    </a:ext>
                  </a:extLst>
                </a:gridCol>
              </a:tblGrid>
              <a:tr h="285424">
                <a:tc>
                  <a:txBody>
                    <a:bodyPr/>
                    <a:lstStyle/>
                    <a:p>
                      <a:pPr algn="l" fontAlgn="b"/>
                      <a:r>
                        <a:rPr lang="en-CA" sz="1800" u="none" strike="noStrike">
                          <a:effectLst/>
                        </a:rPr>
                        <a:t>Year</a:t>
                      </a:r>
                      <a:endParaRPr lang="en-CA" sz="18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CA" sz="1800" u="none" strike="noStrike">
                          <a:effectLst/>
                        </a:rPr>
                        <a:t>Annuity</a:t>
                      </a:r>
                      <a:endParaRPr lang="en-CA" sz="18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51173087"/>
                  </a:ext>
                </a:extLst>
              </a:tr>
              <a:tr h="295266">
                <a:tc>
                  <a:txBody>
                    <a:bodyPr/>
                    <a:lstStyle/>
                    <a:p>
                      <a:pPr algn="r" fontAlgn="b"/>
                      <a:r>
                        <a:rPr lang="en-CA" sz="1800" u="none" strike="noStrike" dirty="0">
                          <a:effectLst/>
                        </a:rPr>
                        <a:t>1</a:t>
                      </a:r>
                      <a:endParaRPr lang="en-CA" sz="1800" b="1" i="0" u="none" strike="noStrike" dirty="0">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sz="1800" u="none" strike="noStrike" dirty="0">
                          <a:effectLst/>
                        </a:rPr>
                        <a:t>$1,480,271</a:t>
                      </a:r>
                      <a:endParaRPr lang="en-US" sz="1800" b="0" i="0" u="none" strike="noStrike" dirty="0">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1276200"/>
                  </a:ext>
                </a:extLst>
              </a:tr>
              <a:tr h="295266">
                <a:tc>
                  <a:txBody>
                    <a:bodyPr/>
                    <a:lstStyle/>
                    <a:p>
                      <a:pPr algn="r" fontAlgn="b"/>
                      <a:r>
                        <a:rPr lang="en-CA" sz="1800" u="none" strike="noStrike">
                          <a:effectLst/>
                        </a:rPr>
                        <a:t>2</a:t>
                      </a:r>
                      <a:endParaRPr lang="en-CA" sz="1800" b="1"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sz="1800" u="none" strike="noStrike" dirty="0">
                          <a:effectLst/>
                        </a:rPr>
                        <a:t>$1,165,194</a:t>
                      </a:r>
                      <a:endParaRPr lang="en-US" sz="1800" b="0" i="0" u="none" strike="noStrike" dirty="0">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528778"/>
                  </a:ext>
                </a:extLst>
              </a:tr>
              <a:tr h="295266">
                <a:tc>
                  <a:txBody>
                    <a:bodyPr/>
                    <a:lstStyle/>
                    <a:p>
                      <a:pPr algn="r" fontAlgn="b"/>
                      <a:r>
                        <a:rPr lang="en-CA" sz="1800" u="none" strike="noStrike">
                          <a:effectLst/>
                        </a:rPr>
                        <a:t>3</a:t>
                      </a:r>
                      <a:endParaRPr lang="en-CA" sz="1800" b="1"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sz="1800" u="none" strike="noStrike" dirty="0">
                          <a:effectLst/>
                        </a:rPr>
                        <a:t>$1,190,591</a:t>
                      </a:r>
                      <a:endParaRPr lang="en-US" sz="1800" b="0" i="0" u="none" strike="noStrike" dirty="0">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5661673"/>
                  </a:ext>
                </a:extLst>
              </a:tr>
              <a:tr h="295266">
                <a:tc>
                  <a:txBody>
                    <a:bodyPr/>
                    <a:lstStyle/>
                    <a:p>
                      <a:pPr algn="r" fontAlgn="b"/>
                      <a:r>
                        <a:rPr lang="en-CA" sz="1800" u="none" strike="noStrike">
                          <a:effectLst/>
                        </a:rPr>
                        <a:t>4</a:t>
                      </a:r>
                      <a:endParaRPr lang="en-CA" sz="1800" b="1"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sz="1800" u="none" strike="noStrike" dirty="0">
                          <a:effectLst/>
                        </a:rPr>
                        <a:t>$1,286,144</a:t>
                      </a:r>
                      <a:endParaRPr lang="en-US" sz="1800" b="0" i="0" u="none" strike="noStrike" dirty="0">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58912137"/>
                  </a:ext>
                </a:extLst>
              </a:tr>
              <a:tr h="295266">
                <a:tc>
                  <a:txBody>
                    <a:bodyPr/>
                    <a:lstStyle/>
                    <a:p>
                      <a:pPr algn="r" fontAlgn="b"/>
                      <a:r>
                        <a:rPr lang="en-CA" sz="1800" u="none" strike="noStrike">
                          <a:effectLst/>
                        </a:rPr>
                        <a:t>5</a:t>
                      </a:r>
                      <a:endParaRPr lang="en-CA" sz="1800" b="1"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sz="1800" u="none" strike="noStrike" dirty="0">
                          <a:effectLst/>
                        </a:rPr>
                        <a:t>$1,318,457</a:t>
                      </a:r>
                      <a:endParaRPr lang="en-US" sz="1800" b="0" i="0" u="none" strike="noStrike" dirty="0">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103895"/>
                  </a:ext>
                </a:extLst>
              </a:tr>
              <a:tr h="295266">
                <a:tc>
                  <a:txBody>
                    <a:bodyPr/>
                    <a:lstStyle/>
                    <a:p>
                      <a:pPr algn="r" fontAlgn="b"/>
                      <a:r>
                        <a:rPr lang="en-CA" sz="1800" u="none" strike="noStrike">
                          <a:effectLst/>
                        </a:rPr>
                        <a:t>6</a:t>
                      </a:r>
                      <a:endParaRPr lang="en-CA" sz="1800" b="1"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sz="1800" u="none" strike="noStrike" dirty="0">
                          <a:effectLst/>
                        </a:rPr>
                        <a:t>$973,862</a:t>
                      </a:r>
                      <a:endParaRPr lang="en-US" sz="1800" b="0" i="0" u="none" strike="noStrike" dirty="0">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7840558"/>
                  </a:ext>
                </a:extLst>
              </a:tr>
              <a:tr h="295266">
                <a:tc>
                  <a:txBody>
                    <a:bodyPr/>
                    <a:lstStyle/>
                    <a:p>
                      <a:pPr algn="r" fontAlgn="b"/>
                      <a:r>
                        <a:rPr lang="en-CA" sz="1800" u="none" strike="noStrike">
                          <a:effectLst/>
                        </a:rPr>
                        <a:t>7</a:t>
                      </a:r>
                      <a:endParaRPr lang="en-CA" sz="1800" b="1"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sz="1800" u="none" strike="noStrike" dirty="0">
                          <a:effectLst/>
                        </a:rPr>
                        <a:t>$1,108,239</a:t>
                      </a:r>
                      <a:endParaRPr lang="en-US" sz="1800" b="0" i="0" u="none" strike="noStrike" dirty="0">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6359252"/>
                  </a:ext>
                </a:extLst>
              </a:tr>
              <a:tr h="295266">
                <a:tc>
                  <a:txBody>
                    <a:bodyPr/>
                    <a:lstStyle/>
                    <a:p>
                      <a:pPr algn="r" fontAlgn="b"/>
                      <a:r>
                        <a:rPr lang="en-CA" sz="1800" u="none" strike="noStrike">
                          <a:effectLst/>
                        </a:rPr>
                        <a:t>8</a:t>
                      </a:r>
                      <a:endParaRPr lang="en-CA" sz="1800" b="1"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sz="1800" u="none" strike="noStrike" dirty="0">
                          <a:effectLst/>
                        </a:rPr>
                        <a:t>$1,468,544</a:t>
                      </a:r>
                      <a:endParaRPr lang="en-US" sz="1800" b="0" i="0" u="none" strike="noStrike" dirty="0">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0291923"/>
                  </a:ext>
                </a:extLst>
              </a:tr>
              <a:tr h="295266">
                <a:tc>
                  <a:txBody>
                    <a:bodyPr/>
                    <a:lstStyle/>
                    <a:p>
                      <a:pPr algn="r" fontAlgn="b"/>
                      <a:r>
                        <a:rPr lang="en-CA" sz="1800" u="none" strike="noStrike">
                          <a:effectLst/>
                        </a:rPr>
                        <a:t>9</a:t>
                      </a:r>
                      <a:endParaRPr lang="en-CA" sz="1800" b="1"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sz="1800" u="none" strike="noStrike" dirty="0">
                          <a:effectLst/>
                        </a:rPr>
                        <a:t>$1,105,048</a:t>
                      </a:r>
                      <a:endParaRPr lang="en-US" sz="1800" b="0" i="0" u="none" strike="noStrike" dirty="0">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7768459"/>
                  </a:ext>
                </a:extLst>
              </a:tr>
              <a:tr h="295266">
                <a:tc>
                  <a:txBody>
                    <a:bodyPr/>
                    <a:lstStyle/>
                    <a:p>
                      <a:pPr algn="r" fontAlgn="b"/>
                      <a:r>
                        <a:rPr lang="en-CA" sz="1800" u="none" strike="noStrike">
                          <a:effectLst/>
                        </a:rPr>
                        <a:t>10</a:t>
                      </a:r>
                      <a:endParaRPr lang="en-CA" sz="1800" b="1"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sz="1800" u="none" strike="noStrike" dirty="0">
                          <a:effectLst/>
                        </a:rPr>
                        <a:t>$851,322</a:t>
                      </a:r>
                      <a:endParaRPr lang="en-US" sz="1800" b="0" i="0" u="none" strike="noStrike" dirty="0">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8653140"/>
                  </a:ext>
                </a:extLst>
              </a:tr>
            </a:tbl>
          </a:graphicData>
        </a:graphic>
      </p:graphicFrame>
    </p:spTree>
    <p:extLst>
      <p:ext uri="{BB962C8B-B14F-4D97-AF65-F5344CB8AC3E}">
        <p14:creationId xmlns:p14="http://schemas.microsoft.com/office/powerpoint/2010/main" val="8848327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1271</TotalTime>
  <Words>524</Words>
  <Application>Microsoft Office PowerPoint</Application>
  <PresentationFormat>Widescreen</PresentationFormat>
  <Paragraphs>34</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Times New Roman</vt:lpstr>
      <vt:lpstr>Office Theme</vt:lpstr>
      <vt:lpstr>Module 1 Part 2 </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ENGPHYS 3ES3 Module 2 </dc:title>
  <dc:creator>Amin Ghobeity</dc:creator>
  <cp:lastModifiedBy>Amin Ghobeity</cp:lastModifiedBy>
  <cp:revision>11</cp:revision>
  <cp:lastPrinted>2021-05-06T21:21:51Z</cp:lastPrinted>
  <dcterms:created xsi:type="dcterms:W3CDTF">2021-05-06T18:50:32Z</dcterms:created>
  <dcterms:modified xsi:type="dcterms:W3CDTF">2022-09-12T17:40:46Z</dcterms:modified>
</cp:coreProperties>
</file>