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5"/>
  </p:notesMasterIdLst>
  <p:handoutMasterIdLst>
    <p:handoutMasterId r:id="rId26"/>
  </p:handoutMasterIdLst>
  <p:sldIdLst>
    <p:sldId id="256" r:id="rId2"/>
    <p:sldId id="387" r:id="rId3"/>
    <p:sldId id="259" r:id="rId4"/>
    <p:sldId id="258" r:id="rId5"/>
    <p:sldId id="260" r:id="rId6"/>
    <p:sldId id="353" r:id="rId7"/>
    <p:sldId id="389" r:id="rId8"/>
    <p:sldId id="355" r:id="rId9"/>
    <p:sldId id="390" r:id="rId10"/>
    <p:sldId id="392" r:id="rId11"/>
    <p:sldId id="354" r:id="rId12"/>
    <p:sldId id="363" r:id="rId13"/>
    <p:sldId id="364" r:id="rId14"/>
    <p:sldId id="369" r:id="rId15"/>
    <p:sldId id="366" r:id="rId16"/>
    <p:sldId id="368" r:id="rId17"/>
    <p:sldId id="356" r:id="rId18"/>
    <p:sldId id="362" r:id="rId19"/>
    <p:sldId id="370" r:id="rId20"/>
    <p:sldId id="372" r:id="rId21"/>
    <p:sldId id="359" r:id="rId22"/>
    <p:sldId id="360" r:id="rId23"/>
    <p:sldId id="36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ftel, Mona D" initials="ZMD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D4A66-4E06-4F80-804F-A964EB6C0D0A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40500-23C6-45C7-9626-EF17B47CA0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72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46D3D-12D9-42A1-A359-88470FD6EB52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8331F-8B33-4884-9995-3C14B2EEB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8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8331F-8B33-4884-9995-3C14B2EEB35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11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7810500" cy="4157662"/>
          </a:xfrm>
          <a:prstGeom prst="rect">
            <a:avLst/>
          </a:prstGeom>
        </p:spPr>
        <p:txBody>
          <a:bodyPr/>
          <a:lstStyle>
            <a:lvl1pPr marL="463550" indent="-463550"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979250"/>
          </a:xfrm>
          <a:prstGeom prst="rect">
            <a:avLst/>
          </a:prstGeom>
        </p:spPr>
        <p:txBody>
          <a:bodyPr/>
          <a:lstStyle>
            <a:lvl1pPr algn="l">
              <a:defRPr kumimoji="0" lang="en-US" sz="3600" b="1" kern="120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8"/>
          <p:cNvSpPr txBox="1">
            <a:spLocks/>
          </p:cNvSpPr>
          <p:nvPr userDrawn="1"/>
        </p:nvSpPr>
        <p:spPr>
          <a:xfrm>
            <a:off x="1333500" y="6364275"/>
            <a:ext cx="6972300" cy="3778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0" lang="en-US" sz="1100" kern="12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7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7810500" cy="4157662"/>
          </a:xfrm>
          <a:prstGeom prst="rect">
            <a:avLst/>
          </a:prstGeom>
        </p:spPr>
        <p:txBody>
          <a:bodyPr/>
          <a:lstStyle>
            <a:lvl1pPr marL="463550" indent="-463550"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979250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7409" y="632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0" y="0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7" r:id="rId2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600" b="0" kern="1200">
          <a:ln>
            <a:noFill/>
          </a:ln>
          <a:solidFill>
            <a:srgbClr val="002060"/>
          </a:solidFill>
          <a:effectLst/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4953000" y="1739900"/>
            <a:ext cx="3432048" cy="91440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4800" b="0" dirty="0">
                <a:solidFill>
                  <a:schemeClr val="accent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228600" y="1447800"/>
            <a:ext cx="8763000" cy="4800600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n-US" sz="3200" b="1" dirty="0">
                <a:solidFill>
                  <a:schemeClr val="accent2"/>
                </a:solidFill>
              </a:rPr>
              <a:t>Introduction to Energy Systems 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3200" dirty="0">
                <a:solidFill>
                  <a:schemeClr val="accent2"/>
                </a:solidFill>
              </a:rPr>
              <a:t>Module 4</a:t>
            </a:r>
          </a:p>
          <a:p>
            <a:pPr marL="0" indent="0">
              <a:buFont typeface="Wingdings 2"/>
              <a:buNone/>
            </a:pPr>
            <a:r>
              <a:rPr lang="en-US" sz="3200" dirty="0">
                <a:solidFill>
                  <a:schemeClr val="accent2"/>
                </a:solidFill>
              </a:rPr>
              <a:t>Climate Change Models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2400" dirty="0">
                <a:solidFill>
                  <a:schemeClr val="accent2"/>
                </a:solidFill>
              </a:rPr>
              <a:t>Prepared by: Prof. Amin Ghobeity</a:t>
            </a:r>
          </a:p>
          <a:p>
            <a:pPr marL="0" indent="0">
              <a:buFont typeface="Wingdings 2"/>
              <a:buNone/>
            </a:pPr>
            <a:r>
              <a:rPr lang="en-US" sz="2400" dirty="0">
                <a:solidFill>
                  <a:schemeClr val="accent2"/>
                </a:solidFill>
              </a:rPr>
              <a:t>Please do not distribute without permission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840" y="4835826"/>
            <a:ext cx="35229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Energy Systems Engineering: Evaluation and Implementation, 4</a:t>
            </a:r>
            <a:r>
              <a:rPr lang="en-US" b="1" i="1" baseline="30000" dirty="0">
                <a:solidFill>
                  <a:schemeClr val="bg1"/>
                </a:solidFill>
              </a:rPr>
              <a:t>th</a:t>
            </a:r>
            <a:r>
              <a:rPr lang="en-US" b="1" i="1" dirty="0">
                <a:solidFill>
                  <a:schemeClr val="bg1"/>
                </a:solidFill>
              </a:rPr>
              <a:t>  Ed.</a:t>
            </a:r>
          </a:p>
          <a:p>
            <a:r>
              <a:rPr lang="en-US" b="1" dirty="0">
                <a:solidFill>
                  <a:schemeClr val="bg1"/>
                </a:solidFill>
              </a:rPr>
              <a:t>McGraw-Hill, New York, 2016</a:t>
            </a:r>
          </a:p>
          <a:p>
            <a:r>
              <a:rPr lang="en-US" b="1" dirty="0">
                <a:solidFill>
                  <a:schemeClr val="bg1"/>
                </a:solidFill>
              </a:rPr>
              <a:t>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07A550-0FF9-4423-A04C-BBA21DE607F9}"/>
              </a:ext>
            </a:extLst>
          </p:cNvPr>
          <p:cNvSpPr/>
          <p:nvPr/>
        </p:nvSpPr>
        <p:spPr>
          <a:xfrm>
            <a:off x="4380994" y="2340333"/>
            <a:ext cx="2608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Instructor Notes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AE3CDF-D6DA-48D3-851D-F3CB11A1F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752600"/>
            <a:ext cx="2224647" cy="29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8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" y="1051684"/>
            <a:ext cx="9067800" cy="979250"/>
          </a:xfrm>
        </p:spPr>
        <p:txBody>
          <a:bodyPr/>
          <a:lstStyle/>
          <a:p>
            <a:r>
              <a:rPr lang="en-US" sz="3200" dirty="0"/>
              <a:t>Weather vs. Climate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  <a:tabLst>
                <a:tab pos="1654175" algn="l"/>
              </a:tabLst>
            </a:pPr>
            <a:r>
              <a:rPr lang="en-US" dirty="0"/>
              <a:t>Weather	– atmospheric conditions </a:t>
            </a:r>
          </a:p>
          <a:p>
            <a:pPr marL="914400" indent="-225425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654175" algn="l"/>
              </a:tabLst>
            </a:pPr>
            <a:r>
              <a:rPr lang="en-US" sz="2000" dirty="0"/>
              <a:t>Temperature, pressure, wind speed, and moisture level </a:t>
            </a:r>
          </a:p>
          <a:p>
            <a:pPr marL="914400" indent="-225425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654175" algn="l"/>
              </a:tabLst>
            </a:pPr>
            <a:r>
              <a:rPr lang="en-US" sz="2000" dirty="0"/>
              <a:t>Period of hours or days</a:t>
            </a:r>
          </a:p>
          <a:p>
            <a:pPr marL="914400" indent="-225425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654175" algn="l"/>
              </a:tabLst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300"/>
              </a:spcAft>
              <a:tabLst>
                <a:tab pos="1654175" algn="l"/>
              </a:tabLst>
            </a:pPr>
            <a:r>
              <a:rPr lang="en-US" dirty="0">
                <a:solidFill>
                  <a:prstClr val="black"/>
                </a:solidFill>
              </a:rPr>
              <a:t>Climate	– </a:t>
            </a:r>
            <a:r>
              <a:rPr lang="en-US" dirty="0"/>
              <a:t>average weather conditions over a long period of time</a:t>
            </a:r>
            <a:endParaRPr lang="en-US" dirty="0">
              <a:solidFill>
                <a:prstClr val="black"/>
              </a:solidFill>
            </a:endParaRPr>
          </a:p>
          <a:p>
            <a:pPr marL="914400" lvl="0" indent="-225425">
              <a:spcBef>
                <a:spcPts val="0"/>
              </a:spcBef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Period of decades or centuries</a:t>
            </a:r>
          </a:p>
          <a:p>
            <a:pPr marL="914400" lvl="0" indent="-225425">
              <a:spcBef>
                <a:spcPts val="0"/>
              </a:spcBef>
              <a:buClr>
                <a:srgbClr val="37A76F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688975" lvl="0" indent="0">
              <a:spcBef>
                <a:spcPts val="0"/>
              </a:spcBef>
              <a:buClr>
                <a:srgbClr val="37A76F"/>
              </a:buClr>
              <a:buNone/>
            </a:pPr>
            <a:endParaRPr lang="en-US" sz="2000" dirty="0">
              <a:solidFill>
                <a:prstClr val="black"/>
              </a:solidFill>
            </a:endParaRPr>
          </a:p>
          <a:p>
            <a:pPr marL="688975" lvl="0" indent="0">
              <a:spcBef>
                <a:spcPts val="0"/>
              </a:spcBef>
              <a:buClr>
                <a:srgbClr val="37A76F"/>
              </a:buClr>
              <a:buNone/>
            </a:pPr>
            <a:endParaRPr lang="en-US" sz="2000" dirty="0"/>
          </a:p>
          <a:p>
            <a:pPr marL="914400" indent="-225425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88975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5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6750" y="609600"/>
            <a:ext cx="7810500" cy="97925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Layers of the Atmosphere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0" y="1371600"/>
            <a:ext cx="5334000" cy="435740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2000" b="1" dirty="0"/>
              <a:t>Troposphere</a:t>
            </a:r>
          </a:p>
          <a:p>
            <a:pPr marL="914400" indent="-2254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Important in shaping our weather</a:t>
            </a:r>
          </a:p>
          <a:p>
            <a:pPr marL="914400" indent="-22542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Air temperature </a:t>
            </a:r>
            <a:r>
              <a:rPr lang="en-US" sz="1600" u="sng" dirty="0"/>
              <a:t>decreases</a:t>
            </a:r>
            <a:r>
              <a:rPr lang="en-US" sz="1600" dirty="0"/>
              <a:t> with altitude</a:t>
            </a:r>
          </a:p>
          <a:p>
            <a:pPr marL="914400" indent="-22542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Almost all water vapor is contained in this layer</a:t>
            </a:r>
          </a:p>
          <a:p>
            <a:pPr lvl="0">
              <a:spcBef>
                <a:spcPts val="0"/>
              </a:spcBef>
              <a:spcAft>
                <a:spcPts val="300"/>
              </a:spcAft>
              <a:buClr>
                <a:srgbClr val="37A76F"/>
              </a:buClr>
            </a:pPr>
            <a:r>
              <a:rPr lang="en-US" sz="2000" b="1" dirty="0">
                <a:solidFill>
                  <a:prstClr val="black"/>
                </a:solidFill>
              </a:rPr>
              <a:t>Stratosphere</a:t>
            </a:r>
          </a:p>
          <a:p>
            <a:pPr marL="914400" lvl="0" indent="-225425">
              <a:spcBef>
                <a:spcPts val="0"/>
              </a:spcBef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Air temperature </a:t>
            </a:r>
            <a:r>
              <a:rPr lang="en-US" sz="1600" u="sng" dirty="0"/>
              <a:t>increases </a:t>
            </a:r>
            <a:r>
              <a:rPr lang="en-US" sz="1600" dirty="0"/>
              <a:t>with altitude</a:t>
            </a:r>
          </a:p>
          <a:p>
            <a:pPr marL="914400" lvl="0" indent="-225425">
              <a:spcBef>
                <a:spcPts val="0"/>
              </a:spcBef>
              <a:spcAft>
                <a:spcPts val="600"/>
              </a:spcAft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Ozone in thi</a:t>
            </a:r>
            <a:r>
              <a:rPr lang="en-US" sz="1600" b="1" dirty="0">
                <a:solidFill>
                  <a:prstClr val="black"/>
                </a:solidFill>
              </a:rPr>
              <a:t>s region absorbs UV radiation</a:t>
            </a:r>
          </a:p>
          <a:p>
            <a:pPr marL="914400" lvl="0" indent="-225425">
              <a:spcBef>
                <a:spcPts val="0"/>
              </a:spcBef>
              <a:spcAft>
                <a:spcPts val="600"/>
              </a:spcAft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Air is very dry and thin </a:t>
            </a:r>
            <a:r>
              <a:rPr lang="en-US" sz="1600" dirty="0">
                <a:solidFill>
                  <a:prstClr val="black"/>
                </a:solidFill>
              </a:rPr>
              <a:t>(~1000 times thinner than air at sea level (</a:t>
            </a:r>
            <a:r>
              <a:rPr lang="en-US" sz="1600" dirty="0">
                <a:solidFill>
                  <a:prstClr val="black"/>
                </a:solidFill>
                <a:sym typeface="Wingdings" panose="05000000000000000000" pitchFamily="2" charset="2"/>
              </a:rPr>
              <a:t>jet aircrafts fly at this layer because of that)</a:t>
            </a:r>
            <a:endParaRPr lang="en-US" sz="1600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spcAft>
                <a:spcPts val="300"/>
              </a:spcAft>
              <a:buClr>
                <a:srgbClr val="37A76F"/>
              </a:buClr>
            </a:pPr>
            <a:r>
              <a:rPr lang="en-US" sz="2000" b="1" dirty="0">
                <a:solidFill>
                  <a:prstClr val="black"/>
                </a:solidFill>
              </a:rPr>
              <a:t>Mesosphere</a:t>
            </a:r>
          </a:p>
          <a:p>
            <a:pPr marL="914400" lvl="0" indent="-225425">
              <a:spcBef>
                <a:spcPts val="0"/>
              </a:spcBef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</a:rPr>
              <a:t>Air temperature decreases with altitude</a:t>
            </a:r>
          </a:p>
          <a:p>
            <a:pPr marL="914400" lvl="0" indent="-225425">
              <a:spcBef>
                <a:spcPts val="0"/>
              </a:spcBef>
              <a:spcAft>
                <a:spcPts val="600"/>
              </a:spcAft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</a:rPr>
              <a:t>Small amount of ozone</a:t>
            </a:r>
          </a:p>
          <a:p>
            <a:pPr lvl="0">
              <a:spcBef>
                <a:spcPts val="0"/>
              </a:spcBef>
              <a:spcAft>
                <a:spcPts val="300"/>
              </a:spcAft>
              <a:buClr>
                <a:srgbClr val="37A76F"/>
              </a:buClr>
            </a:pPr>
            <a:r>
              <a:rPr lang="en-US" sz="2000" b="1" dirty="0">
                <a:solidFill>
                  <a:prstClr val="black"/>
                </a:solidFill>
              </a:rPr>
              <a:t>Thermosphere</a:t>
            </a:r>
          </a:p>
          <a:p>
            <a:pPr marL="914400" lvl="0" indent="-225425">
              <a:spcBef>
                <a:spcPts val="0"/>
              </a:spcBef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</a:rPr>
              <a:t>Air temperature increases with altitude</a:t>
            </a:r>
          </a:p>
          <a:p>
            <a:pPr marL="914400" lvl="0" indent="-225425">
              <a:spcBef>
                <a:spcPts val="0"/>
              </a:spcBef>
              <a:buClr>
                <a:srgbClr val="37A76F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</a:rPr>
              <a:t>Oxygen molecules absorb solar radiation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820" r="6888" b="9607"/>
          <a:stretch/>
        </p:blipFill>
        <p:spPr>
          <a:xfrm>
            <a:off x="5257800" y="1447800"/>
            <a:ext cx="3862717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0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Greenhouse Gases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8467" y="1571388"/>
            <a:ext cx="9144000" cy="431006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dirty="0"/>
              <a:t>Greenhouse gases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  <a:tabLst>
                <a:tab pos="914400" algn="l"/>
              </a:tabLst>
            </a:pPr>
            <a:r>
              <a:rPr lang="en-US" sz="2000" dirty="0"/>
              <a:t>	</a:t>
            </a:r>
            <a:r>
              <a:rPr lang="en-US" sz="1800" dirty="0"/>
              <a:t>Gases that cause the gradual warming of the Earth’s atmosphere</a:t>
            </a:r>
          </a:p>
          <a:p>
            <a:pPr marL="914400" indent="-287338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284663" algn="l"/>
              </a:tabLst>
            </a:pPr>
            <a:r>
              <a:rPr lang="en-US" sz="2000" dirty="0"/>
              <a:t>Carbon dioxide (CO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1800" dirty="0"/>
              <a:t>– </a:t>
            </a:r>
            <a:r>
              <a:rPr lang="en-US" sz="1800" dirty="0">
                <a:solidFill>
                  <a:srgbClr val="FF0000"/>
                </a:solidFill>
              </a:rPr>
              <a:t>80% of man-made greenhouse gas emissions </a:t>
            </a:r>
          </a:p>
          <a:p>
            <a:pPr marL="914400" indent="-287338">
              <a:buFont typeface="Arial" panose="020B0604020202020204" pitchFamily="34" charset="0"/>
              <a:buChar char="•"/>
            </a:pPr>
            <a:r>
              <a:rPr lang="en-US" sz="2000" dirty="0"/>
              <a:t>Methane (CH</a:t>
            </a:r>
            <a:r>
              <a:rPr lang="en-US" sz="2000" baseline="-25000" dirty="0"/>
              <a:t>4</a:t>
            </a:r>
            <a:r>
              <a:rPr lang="en-US" sz="2000" dirty="0"/>
              <a:t>)</a:t>
            </a:r>
          </a:p>
          <a:p>
            <a:pPr marL="1090930" lvl="1" indent="-287338">
              <a:buFont typeface="Arial" panose="020B0604020202020204" pitchFamily="34" charset="0"/>
              <a:buChar char="•"/>
            </a:pPr>
            <a:r>
              <a:rPr lang="en-US" sz="2000" dirty="0"/>
              <a:t>Fuel and many manufacturing uses</a:t>
            </a:r>
          </a:p>
          <a:p>
            <a:pPr marL="914400" indent="-287338">
              <a:buFont typeface="Arial" panose="020B0604020202020204" pitchFamily="34" charset="0"/>
              <a:buChar char="•"/>
            </a:pPr>
            <a:r>
              <a:rPr lang="en-US" sz="2000" dirty="0"/>
              <a:t>Nitrous oxide (N</a:t>
            </a:r>
            <a:r>
              <a:rPr lang="en-US" sz="2000" baseline="-25000" dirty="0"/>
              <a:t>2</a:t>
            </a:r>
            <a:r>
              <a:rPr lang="en-US" sz="2000" dirty="0"/>
              <a:t>O)</a:t>
            </a:r>
          </a:p>
          <a:p>
            <a:pPr marL="1090930" lvl="1" indent="-287338">
              <a:buFont typeface="Arial" panose="020B0604020202020204" pitchFamily="34" charset="0"/>
              <a:buChar char="•"/>
            </a:pPr>
            <a:r>
              <a:rPr lang="en-US" sz="2000" dirty="0"/>
              <a:t>Many applications (medical, oxidizer, combustion engine of racing cars, aircraft engines)</a:t>
            </a:r>
          </a:p>
          <a:p>
            <a:pPr marL="914400" indent="-287338">
              <a:buFont typeface="Arial" panose="020B0604020202020204" pitchFamily="34" charset="0"/>
              <a:buChar char="•"/>
            </a:pPr>
            <a:r>
              <a:rPr lang="en-US" sz="2000" dirty="0"/>
              <a:t>Hydrofluorocarbons (HFC</a:t>
            </a:r>
            <a:r>
              <a:rPr lang="en-US" sz="2000" baseline="-25000" dirty="0"/>
              <a:t>s</a:t>
            </a:r>
            <a:r>
              <a:rPr lang="en-US" sz="2000" dirty="0"/>
              <a:t>)</a:t>
            </a:r>
          </a:p>
          <a:p>
            <a:pPr marL="1090930" lvl="1" indent="-287338">
              <a:buFont typeface="Arial" panose="020B0604020202020204" pitchFamily="34" charset="0"/>
              <a:buChar char="•"/>
            </a:pPr>
            <a:r>
              <a:rPr lang="en-US" sz="2000" dirty="0"/>
              <a:t>Refrigerants</a:t>
            </a:r>
          </a:p>
          <a:p>
            <a:pPr marL="914400" indent="-287338">
              <a:buFont typeface="Arial" panose="020B0604020202020204" pitchFamily="34" charset="0"/>
              <a:buChar char="•"/>
            </a:pPr>
            <a:r>
              <a:rPr lang="en-US" sz="2000" dirty="0"/>
              <a:t>Perfluorocarbons (PFC</a:t>
            </a:r>
            <a:r>
              <a:rPr lang="en-US" sz="2000" baseline="-25000" dirty="0"/>
              <a:t>s</a:t>
            </a:r>
            <a:r>
              <a:rPr lang="en-US" sz="2000" dirty="0"/>
              <a:t>)</a:t>
            </a:r>
          </a:p>
          <a:p>
            <a:pPr marL="1090930" lvl="1" indent="-287338">
              <a:buFont typeface="Arial" panose="020B0604020202020204" pitchFamily="34" charset="0"/>
              <a:buChar char="•"/>
            </a:pPr>
            <a:r>
              <a:rPr lang="en-US" sz="2000" dirty="0"/>
              <a:t>Metallurgical and refining, semiconductor manufacturing</a:t>
            </a:r>
          </a:p>
          <a:p>
            <a:pPr marL="914400" indent="-287338">
              <a:buFont typeface="Arial" panose="020B0604020202020204" pitchFamily="34" charset="0"/>
              <a:buChar char="•"/>
            </a:pPr>
            <a:r>
              <a:rPr lang="en-US" sz="2000" dirty="0"/>
              <a:t>Sulfur hexafluoride (SF</a:t>
            </a:r>
            <a:r>
              <a:rPr lang="en-US" sz="2000" baseline="-25000" dirty="0"/>
              <a:t>6</a:t>
            </a:r>
            <a:r>
              <a:rPr lang="en-US" sz="2000" dirty="0"/>
              <a:t>)</a:t>
            </a:r>
          </a:p>
          <a:p>
            <a:pPr marL="1090930" lvl="1" indent="-287338">
              <a:buFont typeface="Arial" panose="020B0604020202020204" pitchFamily="34" charset="0"/>
              <a:buChar char="•"/>
            </a:pPr>
            <a:r>
              <a:rPr lang="en-US" sz="2000" dirty="0"/>
              <a:t>Electric power industry, semiconductor manufacturing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5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8229600" cy="4157662"/>
          </a:xfrm>
        </p:spPr>
        <p:txBody>
          <a:bodyPr/>
          <a:lstStyle/>
          <a:p>
            <a:r>
              <a:rPr lang="en-CA" dirty="0"/>
              <a:t>Heat transfer between sun-earth (black-body radiation)</a:t>
            </a:r>
          </a:p>
          <a:p>
            <a:r>
              <a:rPr lang="en-CA" dirty="0"/>
              <a:t>Earth temperature in absence of global warming</a:t>
            </a:r>
          </a:p>
          <a:p>
            <a:r>
              <a:rPr lang="en-CA" dirty="0"/>
              <a:t>Relationship between wavelength, energy flux, and absorption</a:t>
            </a:r>
          </a:p>
          <a:p>
            <a:r>
              <a:rPr lang="en-CA" dirty="0"/>
              <a:t>Contribution of specific wavelength and gases to greenhouse effect</a:t>
            </a:r>
          </a:p>
          <a:p>
            <a:r>
              <a:rPr lang="en-CA" dirty="0"/>
              <a:t>A model of earth-absorption system</a:t>
            </a:r>
          </a:p>
          <a:p>
            <a:pPr lvl="1"/>
            <a:r>
              <a:rPr lang="en-CA" dirty="0"/>
              <a:t>Single layer climate model with representative energy flows in W/m</a:t>
            </a:r>
            <a:r>
              <a:rPr lang="en-CA" baseline="30000" dirty="0"/>
              <a:t>2</a:t>
            </a:r>
          </a:p>
          <a:p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Mathematical Modelling of Climate Change</a:t>
            </a:r>
          </a:p>
        </p:txBody>
      </p:sp>
    </p:spTree>
    <p:extLst>
      <p:ext uri="{BB962C8B-B14F-4D97-AF65-F5344CB8AC3E}">
        <p14:creationId xmlns:p14="http://schemas.microsoft.com/office/powerpoint/2010/main" val="344232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5DD1F3-96DA-47EF-B3C8-0015B467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33032-F57E-4E5A-AADF-C3178ECD0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30822" y="1783162"/>
            <a:ext cx="4806151" cy="4157662"/>
          </a:xfrm>
        </p:spPr>
        <p:txBody>
          <a:bodyPr/>
          <a:lstStyle/>
          <a:p>
            <a:r>
              <a:rPr lang="en-US" sz="1800" dirty="0"/>
              <a:t>The energy emitted from black-body radiation is the</a:t>
            </a:r>
            <a:r>
              <a:rPr lang="en-US" sz="1800" b="1" dirty="0"/>
              <a:t> sum of energy of all waves </a:t>
            </a:r>
            <a:r>
              <a:rPr lang="en-US" sz="1800" dirty="0"/>
              <a:t>emitted by the body, across all wavelengths</a:t>
            </a:r>
          </a:p>
          <a:p>
            <a:r>
              <a:rPr lang="en-CA" sz="1800" dirty="0"/>
              <a:t>Total Energy is the integral of spectral irradiation over the entire wavelength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CA1DD7-D1F3-4F52-ADB5-79A791AB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54" y="762000"/>
            <a:ext cx="4975046" cy="979250"/>
          </a:xfrm>
        </p:spPr>
        <p:txBody>
          <a:bodyPr/>
          <a:lstStyle/>
          <a:p>
            <a:r>
              <a:rPr lang="en-CA" dirty="0"/>
              <a:t>Spectral Emissivity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98E7D-6A2A-4510-BD8D-C43BBD043D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3" r="7064"/>
          <a:stretch/>
        </p:blipFill>
        <p:spPr>
          <a:xfrm>
            <a:off x="4572000" y="1208191"/>
            <a:ext cx="4280256" cy="5307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A85125-C0F6-4D3D-A7FF-994074284BF5}"/>
              </a:ext>
            </a:extLst>
          </p:cNvPr>
          <p:cNvSpPr txBox="1"/>
          <p:nvPr/>
        </p:nvSpPr>
        <p:spPr>
          <a:xfrm>
            <a:off x="0" y="3748855"/>
            <a:ext cx="4607958" cy="1532727"/>
          </a:xfrm>
          <a:prstGeom prst="rect">
            <a:avLst/>
          </a:prstGeom>
        </p:spPr>
        <p:txBody>
          <a:bodyPr/>
          <a:lstStyle>
            <a:lvl1pPr marL="463550" indent="-4635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 kumimoj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640080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indent="-246888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188720" indent="-210312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1463040" indent="-210312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5pPr>
            <a:lvl6pPr marL="1737360" indent="-210312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/>
            </a:lvl6pPr>
            <a:lvl7pPr marL="1920240" indent="-182880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baseline="0"/>
            </a:lvl7pPr>
            <a:lvl8pPr marL="2194560" indent="-182880">
              <a:spcBef>
                <a:spcPct val="20000"/>
              </a:spcBef>
              <a:buClr>
                <a:schemeClr val="tx2"/>
              </a:buClr>
              <a:buChar char="•"/>
              <a:defRPr kumimoji="0" sz="1600"/>
            </a:lvl8pPr>
            <a:lvl9pPr marL="2468880" indent="-182880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baseline="0"/>
            </a:lvl9pPr>
          </a:lstStyle>
          <a:p>
            <a:r>
              <a:rPr lang="en-CA" dirty="0"/>
              <a:t>At a given wavelength, </a:t>
            </a:r>
            <a:r>
              <a:rPr lang="en-CA" dirty="0">
                <a:latin typeface="Symbol" panose="05050102010706020507" pitchFamily="18" charset="2"/>
              </a:rPr>
              <a:t>l</a:t>
            </a:r>
            <a:r>
              <a:rPr lang="en-CA" dirty="0"/>
              <a:t>, the energy emitted from the sun at that wavelength, </a:t>
            </a:r>
            <a:r>
              <a:rPr lang="en-CA" sz="1800" dirty="0"/>
              <a:t>F</a:t>
            </a:r>
            <a:r>
              <a:rPr lang="en-CA" sz="1800" baseline="-25000" dirty="0"/>
              <a:t>BB</a:t>
            </a:r>
            <a:r>
              <a:rPr lang="en-CA" sz="1800" dirty="0"/>
              <a:t>(</a:t>
            </a:r>
            <a:r>
              <a:rPr lang="en-CA" sz="1800" dirty="0">
                <a:latin typeface="Symbol" panose="05050102010706020507" pitchFamily="18" charset="2"/>
              </a:rPr>
              <a:t>l</a:t>
            </a:r>
            <a:r>
              <a:rPr lang="en-CA" sz="1800" dirty="0"/>
              <a:t>), </a:t>
            </a:r>
            <a:r>
              <a:rPr lang="en-CA" dirty="0"/>
              <a:t>can be calculated from:</a:t>
            </a:r>
          </a:p>
          <a:p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4444E7-C107-4D56-B6EB-3AEDA86A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78" y="4724400"/>
            <a:ext cx="3276897" cy="12164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114403-853F-40B0-A784-3510531B07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0940" b="13000"/>
          <a:stretch/>
        </p:blipFill>
        <p:spPr>
          <a:xfrm>
            <a:off x="831899" y="6003244"/>
            <a:ext cx="3327088" cy="27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D4C880-00DA-47FE-A014-E0F7899DED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430" t="7221" b="13000"/>
          <a:stretch/>
        </p:blipFill>
        <p:spPr>
          <a:xfrm>
            <a:off x="984085" y="6422594"/>
            <a:ext cx="2362199" cy="2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46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42900" y="1555750"/>
            <a:ext cx="8458200" cy="4800600"/>
          </a:xfrm>
        </p:spPr>
        <p:txBody>
          <a:bodyPr/>
          <a:lstStyle/>
          <a:p>
            <a:r>
              <a:rPr lang="en-CA" sz="2000" dirty="0"/>
              <a:t>At a given wavelength, </a:t>
            </a:r>
            <a:r>
              <a:rPr lang="en-CA" sz="2000" dirty="0">
                <a:latin typeface="Symbol" panose="05050102010706020507" pitchFamily="18" charset="2"/>
              </a:rPr>
              <a:t>l</a:t>
            </a:r>
            <a:r>
              <a:rPr lang="en-CA" sz="2000" dirty="0"/>
              <a:t>, the </a:t>
            </a:r>
            <a:r>
              <a:rPr lang="en-CA" sz="2000" b="1" dirty="0"/>
              <a:t>energy emitted from the sun at that wavelength</a:t>
            </a:r>
            <a:r>
              <a:rPr lang="en-CA" sz="2000" dirty="0"/>
              <a:t>, F</a:t>
            </a:r>
            <a:r>
              <a:rPr lang="en-CA" sz="2000" baseline="-25000" dirty="0"/>
              <a:t>BB</a:t>
            </a:r>
            <a:r>
              <a:rPr lang="en-CA" sz="2000" dirty="0"/>
              <a:t>(</a:t>
            </a:r>
            <a:r>
              <a:rPr lang="en-CA" sz="2000" dirty="0">
                <a:latin typeface="Symbol" panose="05050102010706020507" pitchFamily="18" charset="2"/>
              </a:rPr>
              <a:t>l</a:t>
            </a:r>
            <a:r>
              <a:rPr lang="en-CA" sz="2000" dirty="0"/>
              <a:t>), can be calculated from equation given in previous slide. </a:t>
            </a:r>
          </a:p>
          <a:p>
            <a:endParaRPr lang="en-CA" sz="2000" dirty="0"/>
          </a:p>
          <a:p>
            <a:endParaRPr lang="en-CA" sz="2000" dirty="0"/>
          </a:p>
          <a:p>
            <a:r>
              <a:rPr lang="en-US" sz="2000" dirty="0"/>
              <a:t>The energy emitted from black-body radiation is the</a:t>
            </a:r>
            <a:r>
              <a:rPr lang="en-US" sz="2000" b="1" dirty="0"/>
              <a:t> sum of energy of all waves </a:t>
            </a:r>
            <a:r>
              <a:rPr lang="en-US" sz="2000" dirty="0"/>
              <a:t>emitted by the body, across all wavelengths</a:t>
            </a: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r>
              <a:rPr lang="en-CA" sz="2000" dirty="0"/>
              <a:t>Note that </a:t>
            </a:r>
            <a:r>
              <a:rPr lang="en-US" sz="2000" b="1" u="sng" dirty="0"/>
              <a:t>temperature</a:t>
            </a:r>
            <a:r>
              <a:rPr lang="en-US" sz="2000" b="1" dirty="0"/>
              <a:t> determines the wavelength at which peak black-body transmission of energy will occur. </a:t>
            </a:r>
          </a:p>
          <a:p>
            <a:endParaRPr lang="en-CA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3495" y="761238"/>
            <a:ext cx="8153400" cy="979250"/>
          </a:xfrm>
        </p:spPr>
        <p:txBody>
          <a:bodyPr/>
          <a:lstStyle/>
          <a:p>
            <a:r>
              <a:rPr lang="en-CA" dirty="0"/>
              <a:t>Wavelength, energy flux, absorption</a:t>
            </a:r>
            <a:br>
              <a:rPr lang="en-CA" dirty="0"/>
            </a:b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348409"/>
            <a:ext cx="2514600" cy="933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D0CF88-7714-4656-8553-B971E7AE1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17"/>
          <a:stretch/>
        </p:blipFill>
        <p:spPr>
          <a:xfrm>
            <a:off x="2277973" y="4333953"/>
            <a:ext cx="4961027" cy="818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1105F1-2DEB-453F-AEDA-ACDF5AC35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625" y="5806898"/>
            <a:ext cx="3401234" cy="685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45EC87-C343-4FA5-8448-F93D3F8BC677}"/>
              </a:ext>
            </a:extLst>
          </p:cNvPr>
          <p:cNvSpPr txBox="1"/>
          <p:nvPr/>
        </p:nvSpPr>
        <p:spPr>
          <a:xfrm>
            <a:off x="838200" y="5964992"/>
            <a:ext cx="508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Wavelength at which emitted energy is at its peak: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DD492-8CBA-40F3-B860-DA32592E274A}"/>
              </a:ext>
            </a:extLst>
          </p:cNvPr>
          <p:cNvSpPr txBox="1"/>
          <p:nvPr/>
        </p:nvSpPr>
        <p:spPr>
          <a:xfrm>
            <a:off x="3290483" y="3956050"/>
            <a:ext cx="347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Total energy emitted: </a:t>
            </a:r>
          </a:p>
        </p:txBody>
      </p:sp>
    </p:spTree>
    <p:extLst>
      <p:ext uri="{BB962C8B-B14F-4D97-AF65-F5344CB8AC3E}">
        <p14:creationId xmlns:p14="http://schemas.microsoft.com/office/powerpoint/2010/main" val="131186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0B420-EB7C-4431-8809-3B94022D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A9F9F-016E-4B46-A066-838F10A0B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Assuming 5770 K as the average observed surface temperature of the sun, determine at which wavelength the emitted energy peaks. What is the intensity in W/m</a:t>
            </a:r>
            <a:r>
              <a:rPr lang="en-CA" baseline="30000" dirty="0"/>
              <a:t>2</a:t>
            </a:r>
            <a:r>
              <a:rPr lang="en-CA" dirty="0"/>
              <a:t> at this wavelength. Compare these values with spectral emissivity of the sun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9E5993-00D8-45B2-B74A-CBE3ACAF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9778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60FD3-3D44-5B65-3CA2-34362CBA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A8050-D30C-B835-1503-06BE9652E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Sun’s radius is approximately 700,000 km</a:t>
            </a:r>
          </a:p>
          <a:p>
            <a:r>
              <a:rPr lang="en-CA" dirty="0"/>
              <a:t>Earth radius is approximately 6,400 km</a:t>
            </a:r>
          </a:p>
          <a:p>
            <a:r>
              <a:rPr lang="en-CA" dirty="0"/>
              <a:t>Distance between earth and sun is approximately 150,000,000 km</a:t>
            </a:r>
          </a:p>
          <a:p>
            <a:r>
              <a:rPr lang="en-CA" dirty="0"/>
              <a:t>Sun’s energy loses intensity (W/m</a:t>
            </a:r>
            <a:r>
              <a:rPr lang="en-CA" baseline="30000" dirty="0"/>
              <a:t>2</a:t>
            </a:r>
            <a:r>
              <a:rPr lang="en-CA" dirty="0"/>
              <a:t>) based on this this distance. This leads to the definition of </a:t>
            </a:r>
            <a:r>
              <a:rPr lang="en-CA" b="1" dirty="0"/>
              <a:t>solar constant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EED75A-38BD-3DFD-4AB9-059D2032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Sun-Earth Geometric Distances</a:t>
            </a:r>
          </a:p>
        </p:txBody>
      </p:sp>
    </p:spTree>
    <p:extLst>
      <p:ext uri="{BB962C8B-B14F-4D97-AF65-F5344CB8AC3E}">
        <p14:creationId xmlns:p14="http://schemas.microsoft.com/office/powerpoint/2010/main" val="352760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0" y="1762236"/>
            <a:ext cx="7810500" cy="4157662"/>
          </a:xfrm>
        </p:spPr>
        <p:txBody>
          <a:bodyPr/>
          <a:lstStyle/>
          <a:p>
            <a:r>
              <a:rPr lang="en-CA" sz="2000" dirty="0"/>
              <a:t>Energy flux (W/m</a:t>
            </a:r>
            <a:r>
              <a:rPr lang="en-CA" sz="2000" baseline="30000" dirty="0"/>
              <a:t>2</a:t>
            </a:r>
            <a:r>
              <a:rPr lang="en-CA" sz="2000" dirty="0"/>
              <a:t>) of sun energy on earth surface is known as solar constant S</a:t>
            </a:r>
            <a:r>
              <a:rPr lang="en-CA" sz="2000" baseline="-25000" dirty="0"/>
              <a:t>0</a:t>
            </a:r>
          </a:p>
          <a:p>
            <a:r>
              <a:rPr lang="en-CA" sz="2000" dirty="0"/>
              <a:t>Black body radiation:</a:t>
            </a:r>
          </a:p>
          <a:p>
            <a:endParaRPr lang="en-CA" sz="2000" dirty="0"/>
          </a:p>
          <a:p>
            <a:endParaRPr lang="en-CA" sz="2000" dirty="0"/>
          </a:p>
          <a:p>
            <a:r>
              <a:rPr lang="en-CA" sz="2000" dirty="0">
                <a:latin typeface="Symbol" panose="05050102010706020507" pitchFamily="18" charset="2"/>
              </a:rPr>
              <a:t>s</a:t>
            </a:r>
            <a:r>
              <a:rPr lang="en-CA" sz="2000" dirty="0"/>
              <a:t> is Stefan-Boltzmann constant, </a:t>
            </a:r>
            <a:r>
              <a:rPr lang="en-CA" sz="2000" dirty="0">
                <a:latin typeface="Symbol" panose="05050102010706020507" pitchFamily="18" charset="2"/>
              </a:rPr>
              <a:t>s </a:t>
            </a:r>
            <a:r>
              <a:rPr lang="en-CA" sz="2000" dirty="0"/>
              <a:t>=5.678x10-8 W/(m</a:t>
            </a:r>
            <a:r>
              <a:rPr lang="en-CA" sz="2000" baseline="30000" dirty="0"/>
              <a:t>2</a:t>
            </a:r>
            <a:r>
              <a:rPr lang="en-CA" sz="2000" dirty="0"/>
              <a:t>k</a:t>
            </a:r>
            <a:r>
              <a:rPr lang="en-CA" sz="2000" baseline="30000" dirty="0"/>
              <a:t>4</a:t>
            </a:r>
            <a:r>
              <a:rPr lang="en-CA" sz="2000" dirty="0"/>
              <a:t>)</a:t>
            </a:r>
          </a:p>
          <a:p>
            <a:r>
              <a:rPr lang="en-CA" sz="2000" dirty="0"/>
              <a:t>Given sun’s temperature, distance from earth to sun:</a:t>
            </a: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r>
              <a:rPr lang="en-CA" sz="2000" dirty="0"/>
              <a:t> </a:t>
            </a:r>
            <a:r>
              <a:rPr lang="en-CA" sz="2000" b="1" dirty="0"/>
              <a:t>S</a:t>
            </a:r>
            <a:r>
              <a:rPr lang="en-CA" sz="2000" b="1" baseline="-25000" dirty="0"/>
              <a:t>0 </a:t>
            </a:r>
            <a:r>
              <a:rPr lang="en-CA" sz="2000" b="1" dirty="0"/>
              <a:t>= 1368 W/m</a:t>
            </a:r>
            <a:r>
              <a:rPr lang="en-CA" sz="2000" b="1" baseline="30000" dirty="0"/>
              <a:t>2 </a:t>
            </a:r>
            <a:r>
              <a:rPr lang="en-CA" sz="2000" dirty="0"/>
              <a:t>is know as the </a:t>
            </a:r>
            <a:r>
              <a:rPr lang="en-CA" sz="2000" b="1" dirty="0"/>
              <a:t>solar constant. </a:t>
            </a:r>
            <a:r>
              <a:rPr lang="en-CA" sz="2000" dirty="0"/>
              <a:t>Values of 1368-1372 W/m</a:t>
            </a:r>
            <a:r>
              <a:rPr lang="en-CA" sz="2000" baseline="30000" dirty="0"/>
              <a:t>2 </a:t>
            </a:r>
            <a:r>
              <a:rPr lang="en-CA" sz="2000" dirty="0"/>
              <a:t>are reported in the literature</a:t>
            </a:r>
            <a:endParaRPr lang="en-CA" sz="2000" b="1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Solar Constant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814914"/>
            <a:ext cx="1579078" cy="6140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777" y="4455576"/>
            <a:ext cx="6154146" cy="8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9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0" y="1768475"/>
            <a:ext cx="8001000" cy="4587875"/>
          </a:xfrm>
        </p:spPr>
        <p:txBody>
          <a:bodyPr/>
          <a:lstStyle/>
          <a:p>
            <a:r>
              <a:rPr lang="en-CA" sz="1600" dirty="0"/>
              <a:t>Earth temperature can be estimated using a simplified energy balance on earth</a:t>
            </a:r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  <a:p>
            <a:r>
              <a:rPr lang="en-CA" sz="1600" dirty="0"/>
              <a:t>Where </a:t>
            </a:r>
            <a:r>
              <a:rPr lang="en-CA" sz="1600" b="1" dirty="0">
                <a:latin typeface="Symbol" panose="05050102010706020507" pitchFamily="18" charset="2"/>
              </a:rPr>
              <a:t>a</a:t>
            </a:r>
            <a:r>
              <a:rPr lang="en-CA" sz="1600" b="1" dirty="0"/>
              <a:t> is the fraction of light reflected back from the earth</a:t>
            </a:r>
            <a:r>
              <a:rPr lang="en-CA" sz="1600" dirty="0"/>
              <a:t>, known as albedo. Assuming </a:t>
            </a:r>
            <a:r>
              <a:rPr lang="en-CA" sz="1600" dirty="0">
                <a:latin typeface="Symbol" panose="05050102010706020507" pitchFamily="18" charset="2"/>
              </a:rPr>
              <a:t>a </a:t>
            </a:r>
            <a:r>
              <a:rPr lang="en-CA" sz="1600" dirty="0"/>
              <a:t>=0.3: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Earth Temperature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663825"/>
            <a:ext cx="2762250" cy="1504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4168775"/>
            <a:ext cx="19812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653494"/>
            <a:ext cx="2781300" cy="676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908" y="2871935"/>
            <a:ext cx="4672892" cy="19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AEE5DD-204D-40B5-9A92-D5C1FC6FA445}"/>
              </a:ext>
            </a:extLst>
          </p:cNvPr>
          <p:cNvSpPr txBox="1"/>
          <p:nvPr/>
        </p:nvSpPr>
        <p:spPr>
          <a:xfrm>
            <a:off x="4152900" y="5345564"/>
            <a:ext cx="4762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</a:rPr>
              <a:t>This value represents the average temperature of a planet orbiting our sun at the same radius as the Earth and with the same albedo, </a:t>
            </a:r>
            <a:r>
              <a:rPr lang="en-US" b="1" u="sng" dirty="0">
                <a:solidFill>
                  <a:srgbClr val="FF0000"/>
                </a:solidFill>
                <a:effectLst/>
              </a:rPr>
              <a:t>but with no atmosphere</a:t>
            </a:r>
            <a:r>
              <a:rPr lang="en-US" dirty="0">
                <a:solidFill>
                  <a:schemeClr val="bg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938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6200" y="1981200"/>
            <a:ext cx="9067800" cy="4876800"/>
          </a:xfrm>
        </p:spPr>
        <p:txBody>
          <a:bodyPr/>
          <a:lstStyle/>
          <a:p>
            <a:r>
              <a:rPr lang="en-US" sz="2000" dirty="0"/>
              <a:t>Consider two factors: </a:t>
            </a:r>
          </a:p>
          <a:p>
            <a:pPr lvl="1"/>
            <a:r>
              <a:rPr lang="en-US" sz="2000" dirty="0"/>
              <a:t>(1) the ability of different molecules </a:t>
            </a:r>
            <a:r>
              <a:rPr lang="en-US" sz="2000" b="1" dirty="0"/>
              <a:t>to absorb radiation at different wavelengths </a:t>
            </a:r>
          </a:p>
          <a:p>
            <a:pPr lvl="1"/>
            <a:r>
              <a:rPr lang="en-US" sz="2000" dirty="0"/>
              <a:t>(2) the extent to which radiation is already absorbed by </a:t>
            </a:r>
            <a:r>
              <a:rPr lang="en-US" sz="2000" b="1" dirty="0"/>
              <a:t>preexisting levels of gases</a:t>
            </a:r>
            <a:r>
              <a:rPr lang="en-US" sz="2000" dirty="0"/>
              <a:t> when concentration of some gases increases.</a:t>
            </a:r>
          </a:p>
          <a:p>
            <a:r>
              <a:rPr lang="en-US" sz="2000" dirty="0"/>
              <a:t>CO</a:t>
            </a:r>
            <a:r>
              <a:rPr lang="en-US" sz="2000" baseline="-25000" dirty="0"/>
              <a:t>2</a:t>
            </a:r>
            <a:r>
              <a:rPr lang="en-US" sz="2000" dirty="0"/>
              <a:t> molecule has a peak absorptive capacity in the range from approximately 12 to 14 </a:t>
            </a:r>
            <a:r>
              <a:rPr lang="en-US" sz="2000" dirty="0" err="1"/>
              <a:t>μm</a:t>
            </a:r>
            <a:r>
              <a:rPr lang="en-US" sz="2000" dirty="0"/>
              <a:t>, which </a:t>
            </a:r>
            <a:r>
              <a:rPr lang="en-US" sz="1800" b="1" dirty="0"/>
              <a:t>coincides with the peaking of the energy flux based on the Earth’s black-body temperature </a:t>
            </a:r>
            <a:r>
              <a:rPr lang="en-US" sz="2000" dirty="0"/>
              <a:t>(see next slide)</a:t>
            </a:r>
          </a:p>
          <a:p>
            <a:r>
              <a:rPr lang="en-US" sz="2000" dirty="0"/>
              <a:t>H</a:t>
            </a:r>
            <a:r>
              <a:rPr lang="en-US" sz="2000" baseline="-25000" dirty="0"/>
              <a:t>2</a:t>
            </a:r>
            <a:r>
              <a:rPr lang="en-US" sz="2000" dirty="0"/>
              <a:t>O has high absorption elsewhere on the spectrum, including </a:t>
            </a:r>
            <a:r>
              <a:rPr lang="en-US" sz="2000" b="1" dirty="0"/>
              <a:t>longer wavelengths (&gt;20 </a:t>
            </a:r>
            <a:r>
              <a:rPr lang="en-US" sz="2000" b="1" dirty="0" err="1"/>
              <a:t>μm</a:t>
            </a:r>
            <a:r>
              <a:rPr lang="en-US" sz="2000" b="1" dirty="0"/>
              <a:t>)</a:t>
            </a:r>
            <a:r>
              <a:rPr lang="en-US" sz="2000" dirty="0"/>
              <a:t> and some of the incoming </a:t>
            </a:r>
            <a:r>
              <a:rPr lang="en-US" sz="2000" b="1" dirty="0"/>
              <a:t>shorter waves from the sun</a:t>
            </a:r>
            <a:r>
              <a:rPr lang="en-US" sz="2000" dirty="0"/>
              <a:t>.</a:t>
            </a:r>
          </a:p>
          <a:p>
            <a:r>
              <a:rPr lang="en-US" sz="2000" b="1" dirty="0"/>
              <a:t>Increasing the amount of CO</a:t>
            </a:r>
            <a:r>
              <a:rPr lang="en-US" sz="2000" b="1" baseline="-25000" dirty="0"/>
              <a:t>2</a:t>
            </a:r>
            <a:r>
              <a:rPr lang="en-US" sz="2000" b="1" dirty="0"/>
              <a:t> in the atmosphere increases the absorption percent, leading to a warming of the average temperature of both the atmosphere and the Earth’s surface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CA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762000"/>
            <a:ext cx="8305800" cy="979250"/>
          </a:xfrm>
        </p:spPr>
        <p:txBody>
          <a:bodyPr/>
          <a:lstStyle/>
          <a:p>
            <a:r>
              <a:rPr lang="en-US" dirty="0"/>
              <a:t>Contribution of Specific Wavelengths and Gases to Greenhouse Effect</a:t>
            </a:r>
            <a:br>
              <a:rPr lang="en-US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9329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5DD1F3-96DA-47EF-B3C8-0015B467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33032-F57E-4E5A-AADF-C3178ECD0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39155" y="1350169"/>
            <a:ext cx="4806151" cy="4157662"/>
          </a:xfrm>
        </p:spPr>
        <p:txBody>
          <a:bodyPr/>
          <a:lstStyle/>
          <a:p>
            <a:r>
              <a:rPr lang="en-US" sz="1800" dirty="0">
                <a:effectLst/>
              </a:rPr>
              <a:t>As the solar flux passes through the atmosphere, it is attenuated by the presence of </a:t>
            </a:r>
            <a:r>
              <a:rPr lang="en-US" sz="1800" b="1" dirty="0">
                <a:effectLst/>
              </a:rPr>
              <a:t>oxygen (O</a:t>
            </a:r>
            <a:r>
              <a:rPr lang="en-US" sz="1800" b="1" baseline="-25000" dirty="0">
                <a:effectLst/>
              </a:rPr>
              <a:t>2</a:t>
            </a:r>
            <a:r>
              <a:rPr lang="en-US" sz="1800" b="1" dirty="0">
                <a:effectLst/>
              </a:rPr>
              <a:t>), ozone (O</a:t>
            </a:r>
            <a:r>
              <a:rPr lang="en-US" sz="1800" b="1" baseline="-25000" dirty="0">
                <a:effectLst/>
              </a:rPr>
              <a:t>3</a:t>
            </a:r>
            <a:r>
              <a:rPr lang="en-US" sz="1800" b="1" dirty="0">
                <a:effectLst/>
              </a:rPr>
              <a:t>), water vapor (H</a:t>
            </a:r>
            <a:r>
              <a:rPr lang="en-US" sz="1800" b="1" baseline="-25000" dirty="0">
                <a:effectLst/>
              </a:rPr>
              <a:t>2</a:t>
            </a:r>
            <a:r>
              <a:rPr lang="en-US" sz="1800" b="1" dirty="0">
                <a:effectLst/>
              </a:rPr>
              <a:t>O), and carbon dioxide (CO</a:t>
            </a:r>
            <a:r>
              <a:rPr lang="en-US" sz="1800" b="1" baseline="-25000" dirty="0">
                <a:effectLst/>
              </a:rPr>
              <a:t>2</a:t>
            </a:r>
            <a:r>
              <a:rPr lang="en-US" sz="1800" b="1" dirty="0">
                <a:effectLst/>
              </a:rPr>
              <a:t>). </a:t>
            </a:r>
            <a:r>
              <a:rPr lang="en-US" sz="1800" dirty="0">
                <a:effectLst/>
              </a:rPr>
              <a:t>As a result, the solar flux at the Earth’s surface is significantly less than the extraterrestrial solar flux. </a:t>
            </a:r>
          </a:p>
          <a:p>
            <a:r>
              <a:rPr lang="en-US" sz="1800" dirty="0">
                <a:effectLst/>
              </a:rPr>
              <a:t>As the solar flux traverses the atmosphere, both the magnitude and directional distributions are altered due to absorption and scattering. </a:t>
            </a:r>
          </a:p>
          <a:p>
            <a:endParaRPr lang="en-US" sz="1800" dirty="0">
              <a:effectLst/>
            </a:endParaRPr>
          </a:p>
          <a:p>
            <a:endParaRPr lang="en-CA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CA1DD7-D1F3-4F52-ADB5-79A791AB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54" y="762000"/>
            <a:ext cx="4213046" cy="979250"/>
          </a:xfrm>
        </p:spPr>
        <p:txBody>
          <a:bodyPr/>
          <a:lstStyle/>
          <a:p>
            <a:r>
              <a:rPr lang="en-CA" dirty="0"/>
              <a:t>Solar Irradiance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98E7D-6A2A-4510-BD8D-C43BBD043D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13" r="7064"/>
          <a:stretch/>
        </p:blipFill>
        <p:spPr>
          <a:xfrm>
            <a:off x="4766996" y="1065088"/>
            <a:ext cx="4280256" cy="5307604"/>
          </a:xfrm>
          <a:prstGeom prst="rect">
            <a:avLst/>
          </a:prstGeom>
        </p:spPr>
      </p:pic>
      <p:pic>
        <p:nvPicPr>
          <p:cNvPr id="7" name="Picture 1" descr="table_06_01.jpg">
            <a:extLst>
              <a:ext uri="{FF2B5EF4-FFF2-40B4-BE49-F238E27FC236}">
                <a16:creationId xmlns:a16="http://schemas.microsoft.com/office/drawing/2014/main" id="{7111F600-5A30-473E-8F82-5D348637A5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0"/>
          <a:stretch/>
        </p:blipFill>
        <p:spPr bwMode="auto">
          <a:xfrm>
            <a:off x="363270" y="4618037"/>
            <a:ext cx="436113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3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BE57CE-5C11-47DD-902F-8232B0E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1C9A6-DD20-41EE-BB0B-FFA23C47B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84" y="838200"/>
            <a:ext cx="7810500" cy="979250"/>
          </a:xfrm>
        </p:spPr>
        <p:txBody>
          <a:bodyPr/>
          <a:lstStyle/>
          <a:p>
            <a:r>
              <a:rPr lang="en-CA" dirty="0"/>
              <a:t>CO</a:t>
            </a:r>
            <a:r>
              <a:rPr lang="en-CA" baseline="-25000" dirty="0"/>
              <a:t>2</a:t>
            </a:r>
            <a:r>
              <a:rPr lang="en-CA" dirty="0"/>
              <a:t> and H</a:t>
            </a:r>
            <a:r>
              <a:rPr lang="en-CA" baseline="-25000" dirty="0"/>
              <a:t>2</a:t>
            </a:r>
            <a:r>
              <a:rPr lang="en-CA" dirty="0"/>
              <a:t>O Contribution to Global Warming</a:t>
            </a:r>
          </a:p>
        </p:txBody>
      </p:sp>
      <p:pic>
        <p:nvPicPr>
          <p:cNvPr id="5" name="Picture 1028" descr="Screen shot 2012-07-#4831A3.png                                000AA490&#10;epsilon omega                  7C2611F3:">
            <a:extLst>
              <a:ext uri="{FF2B5EF4-FFF2-40B4-BE49-F238E27FC236}">
                <a16:creationId xmlns:a16="http://schemas.microsoft.com/office/drawing/2014/main" id="{1DD0A352-5C73-4C60-8AF1-6B41F4A5D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7939"/>
          <a:stretch/>
        </p:blipFill>
        <p:spPr bwMode="auto">
          <a:xfrm>
            <a:off x="0" y="4020130"/>
            <a:ext cx="5123536" cy="2456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824B6C-0484-4AA7-91D7-761BB0072EE4}"/>
              </a:ext>
            </a:extLst>
          </p:cNvPr>
          <p:cNvSpPr txBox="1"/>
          <p:nvPr/>
        </p:nvSpPr>
        <p:spPr>
          <a:xfrm>
            <a:off x="5502179" y="4544482"/>
            <a:ext cx="3126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Distribution of relative energy of emission from sun and Earth black bodies by wavelength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1028" descr="Screen shot 2012-07-#4831AC.png                                000AA490&#10;epsilon omega                  7C2611F3:">
            <a:extLst>
              <a:ext uri="{FF2B5EF4-FFF2-40B4-BE49-F238E27FC236}">
                <a16:creationId xmlns:a16="http://schemas.microsoft.com/office/drawing/2014/main" id="{1345FAA2-BDC0-4B01-B77F-A6B80127A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1201"/>
            <a:ext cx="5486400" cy="1951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089572-6B73-47A8-BD31-C9915BE653C8}"/>
              </a:ext>
            </a:extLst>
          </p:cNvPr>
          <p:cNvSpPr/>
          <p:nvPr/>
        </p:nvSpPr>
        <p:spPr>
          <a:xfrm>
            <a:off x="3505200" y="4020130"/>
            <a:ext cx="304800" cy="2336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C73F89-E53F-4DDE-AA87-71731E0AB01A}"/>
              </a:ext>
            </a:extLst>
          </p:cNvPr>
          <p:cNvCxnSpPr>
            <a:endCxn id="9" idx="0"/>
          </p:cNvCxnSpPr>
          <p:nvPr/>
        </p:nvCxnSpPr>
        <p:spPr>
          <a:xfrm flipH="1">
            <a:off x="3657600" y="2971800"/>
            <a:ext cx="457200" cy="1048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5ECEFB-1E1F-463E-ABBD-73F5330394E1}"/>
              </a:ext>
            </a:extLst>
          </p:cNvPr>
          <p:cNvSpPr txBox="1"/>
          <p:nvPr/>
        </p:nvSpPr>
        <p:spPr>
          <a:xfrm>
            <a:off x="5943600" y="2178617"/>
            <a:ext cx="3048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the </a:t>
            </a:r>
            <a:r>
              <a:rPr lang="en-US" b="1" dirty="0">
                <a:solidFill>
                  <a:schemeClr val="bg1"/>
                </a:solidFill>
                <a:effectLst/>
              </a:rPr>
              <a:t>percent change in atmospheric water will not be as great as that of CO2</a:t>
            </a:r>
            <a:r>
              <a:rPr lang="en-US" dirty="0">
                <a:solidFill>
                  <a:schemeClr val="bg1"/>
                </a:solidFill>
                <a:effectLst/>
              </a:rPr>
              <a:t>, and hence the effect of changing concentration of water will not be as large.</a:t>
            </a:r>
          </a:p>
        </p:txBody>
      </p:sp>
    </p:spTree>
    <p:extLst>
      <p:ext uri="{BB962C8B-B14F-4D97-AF65-F5344CB8AC3E}">
        <p14:creationId xmlns:p14="http://schemas.microsoft.com/office/powerpoint/2010/main" val="3817044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6200" y="1711140"/>
            <a:ext cx="4343400" cy="4157662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goal of these models is estimating temperature rise on earth’s surface considering various </a:t>
            </a:r>
            <a:r>
              <a:rPr lang="en-US" sz="2000" b="1" dirty="0"/>
              <a:t>heat transfer mechanisms between sun, atmosphere, and earth’s surface</a:t>
            </a:r>
          </a:p>
          <a:p>
            <a:r>
              <a:rPr lang="en-US" sz="2000" dirty="0"/>
              <a:t>The model includes significant simplifications, but still provides valuable </a:t>
            </a:r>
            <a:r>
              <a:rPr lang="en-US" sz="2000" b="1" dirty="0"/>
              <a:t>qualitative results </a:t>
            </a:r>
            <a:r>
              <a:rPr lang="en-US" sz="2000" dirty="0"/>
              <a:t>for investigating various scenarios.   </a:t>
            </a:r>
            <a:endParaRPr lang="en-CA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668184"/>
            <a:ext cx="8077200" cy="979250"/>
          </a:xfrm>
        </p:spPr>
        <p:txBody>
          <a:bodyPr/>
          <a:lstStyle/>
          <a:p>
            <a:r>
              <a:rPr lang="en-CA" dirty="0"/>
              <a:t>Simplified Earth/Atmosphere Temperature Models</a:t>
            </a:r>
            <a:br>
              <a:rPr lang="en-CA" dirty="0"/>
            </a:b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57400"/>
            <a:ext cx="4133850" cy="39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87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0" y="1711140"/>
            <a:ext cx="4210050" cy="4157662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The simplifying assumptions for this model are as follows. </a:t>
            </a:r>
          </a:p>
          <a:p>
            <a:pPr lvl="1"/>
            <a:r>
              <a:rPr lang="en-US" sz="1400" dirty="0"/>
              <a:t>First, we are considering a </a:t>
            </a:r>
            <a:r>
              <a:rPr lang="en-US" sz="1400" b="1" dirty="0"/>
              <a:t>one-dimensional model </a:t>
            </a:r>
            <a:r>
              <a:rPr lang="en-US" sz="1400" dirty="0"/>
              <a:t>where energy is transferred along a line from space through the atmosphere to the Earth’s surface and back out to space; the </a:t>
            </a:r>
            <a:r>
              <a:rPr lang="en-US" sz="1400" b="1" dirty="0"/>
              <a:t>lateral transfer of energy </a:t>
            </a:r>
            <a:r>
              <a:rPr lang="en-US" sz="1400" dirty="0"/>
              <a:t>between adjacent areas of the surface or atmosphere is </a:t>
            </a:r>
            <a:r>
              <a:rPr lang="en-US" sz="1400" b="1" dirty="0"/>
              <a:t>not included</a:t>
            </a:r>
            <a:r>
              <a:rPr lang="en-US" sz="1400" dirty="0"/>
              <a:t>. </a:t>
            </a:r>
          </a:p>
          <a:p>
            <a:pPr lvl="1"/>
            <a:r>
              <a:rPr lang="en-US" sz="1400" dirty="0"/>
              <a:t>Second, the </a:t>
            </a:r>
            <a:r>
              <a:rPr lang="en-US" sz="1400" b="1" dirty="0"/>
              <a:t>atmosphere</a:t>
            </a:r>
            <a:r>
              <a:rPr lang="en-US" sz="1400" dirty="0"/>
              <a:t> is considered to have </a:t>
            </a:r>
            <a:r>
              <a:rPr lang="en-US" sz="1400" b="1" dirty="0"/>
              <a:t>uniform average temperature </a:t>
            </a:r>
            <a:r>
              <a:rPr lang="en-US" sz="1400" dirty="0"/>
              <a:t>Ta, and the </a:t>
            </a:r>
            <a:r>
              <a:rPr lang="en-US" sz="1400" b="1" dirty="0"/>
              <a:t>Earth’s surface </a:t>
            </a:r>
            <a:r>
              <a:rPr lang="en-US" sz="1400" dirty="0"/>
              <a:t>is considered to have </a:t>
            </a:r>
            <a:r>
              <a:rPr lang="en-US" sz="1400" b="1" dirty="0"/>
              <a:t>uniform average temperature </a:t>
            </a:r>
            <a:r>
              <a:rPr lang="en-US" sz="1400" b="1" dirty="0" err="1"/>
              <a:t>Ts</a:t>
            </a:r>
            <a:r>
              <a:rPr lang="en-US" sz="1400" dirty="0"/>
              <a:t>. </a:t>
            </a:r>
          </a:p>
          <a:p>
            <a:pPr lvl="1"/>
            <a:r>
              <a:rPr lang="en-US" sz="1400" dirty="0"/>
              <a:t>Third, only radiation and conduction are considered; in the interest of simplicity, </a:t>
            </a:r>
            <a:r>
              <a:rPr lang="en-US" sz="1400" b="1" dirty="0"/>
              <a:t>convection between surface and atmosphere is not included</a:t>
            </a:r>
            <a:r>
              <a:rPr lang="en-US" sz="1400" dirty="0"/>
              <a:t>. </a:t>
            </a:r>
          </a:p>
          <a:p>
            <a:pPr marL="393192" lvl="1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 goal of the model is to calculate equilibrium temperatures of the Earth’s surface and atmosphere, respectively, using an energy balance equation for each.</a:t>
            </a:r>
          </a:p>
          <a:p>
            <a:endParaRPr lang="en-CA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001951"/>
            <a:ext cx="8077200" cy="979250"/>
          </a:xfrm>
        </p:spPr>
        <p:txBody>
          <a:bodyPr/>
          <a:lstStyle/>
          <a:p>
            <a:r>
              <a:rPr lang="en-CA" dirty="0"/>
              <a:t>A model of earth-absorption system</a:t>
            </a:r>
            <a:br>
              <a:rPr lang="en-CA" dirty="0"/>
            </a:b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660" y="1600200"/>
            <a:ext cx="4133850" cy="39247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946770"/>
            <a:ext cx="5267154" cy="75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7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2400" y="1980399"/>
            <a:ext cx="4419600" cy="4157662"/>
          </a:xfrm>
        </p:spPr>
        <p:txBody>
          <a:bodyPr/>
          <a:lstStyle/>
          <a:p>
            <a:r>
              <a:rPr lang="en-US" sz="2000" dirty="0"/>
              <a:t>Mathematical model can be solved to get earth surface and atmospheric temperature assuming input parameters</a:t>
            </a:r>
          </a:p>
          <a:p>
            <a:r>
              <a:rPr lang="en-US" sz="2000" dirty="0"/>
              <a:t>The resulting outputs from the solver are </a:t>
            </a:r>
            <a:r>
              <a:rPr lang="en-US" sz="2000" dirty="0" err="1"/>
              <a:t>Ts</a:t>
            </a:r>
            <a:r>
              <a:rPr lang="en-US" sz="2000" dirty="0"/>
              <a:t> = 289.4 K, Ta = 248.4 K. </a:t>
            </a:r>
          </a:p>
          <a:p>
            <a:pPr lvl="1"/>
            <a:r>
              <a:rPr lang="en-US" sz="2000" dirty="0"/>
              <a:t>Note that due to the simplicity of the model, the results do not exactly reproduce the observed surface value of 288 K and observed value in the upper atmosphere of 255 K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Predictions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15" y="1980399"/>
            <a:ext cx="4019550" cy="36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19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B32063-0536-4EF1-8286-134DD60B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3027A-CDD6-44BF-97B7-1F68141514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2563813"/>
            <a:ext cx="8153400" cy="4157662"/>
          </a:xfrm>
        </p:spPr>
        <p:txBody>
          <a:bodyPr/>
          <a:lstStyle/>
          <a:p>
            <a:r>
              <a:rPr lang="en-US" sz="2800" dirty="0">
                <a:effectLst/>
              </a:rPr>
              <a:t>The four terms can be explained in the following way: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dirty="0">
                <a:effectLst/>
              </a:rPr>
              <a:t>Incoming energy flux from the sun: The amount </a:t>
            </a:r>
            <a:r>
              <a:rPr lang="en-US" sz="2000" b="1" dirty="0">
                <a:effectLst/>
              </a:rPr>
              <a:t>transmitted</a:t>
            </a:r>
            <a:r>
              <a:rPr lang="en-US" sz="2000" dirty="0">
                <a:effectLst/>
              </a:rPr>
              <a:t> by the atmosphere, after </a:t>
            </a:r>
            <a:r>
              <a:rPr lang="en-US" sz="2000" b="1" dirty="0">
                <a:effectLst/>
              </a:rPr>
              <a:t>taking out the amount reflected </a:t>
            </a:r>
            <a:r>
              <a:rPr lang="en-US" sz="2000" dirty="0">
                <a:effectLst/>
              </a:rPr>
              <a:t>by the surface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b="1" dirty="0">
                <a:effectLst/>
              </a:rPr>
              <a:t>Conductive heat transfer</a:t>
            </a:r>
            <a:r>
              <a:rPr lang="en-US" sz="2000" dirty="0">
                <a:effectLst/>
              </a:rPr>
              <a:t>: Energy transferred outward due to the temperature difference between surface and atmosphere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b="1" dirty="0">
                <a:effectLst/>
              </a:rPr>
              <a:t>Radiative heat transfer outward</a:t>
            </a:r>
            <a:r>
              <a:rPr lang="en-US" sz="2000" dirty="0">
                <a:effectLst/>
              </a:rPr>
              <a:t>: Black-body radiation outward, after </a:t>
            </a:r>
            <a:r>
              <a:rPr lang="en-US" sz="2000" b="1" dirty="0">
                <a:effectLst/>
              </a:rPr>
              <a:t>taking out the amount reflected back </a:t>
            </a:r>
            <a:r>
              <a:rPr lang="en-US" sz="2000" dirty="0">
                <a:effectLst/>
              </a:rPr>
              <a:t>to the surface by the atmosphere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b="1" dirty="0">
                <a:effectLst/>
              </a:rPr>
              <a:t>Radiative heat transfer inward</a:t>
            </a:r>
            <a:r>
              <a:rPr lang="en-US" sz="2000" dirty="0">
                <a:effectLst/>
              </a:rPr>
              <a:t>: From atmosphere to surface</a:t>
            </a:r>
          </a:p>
          <a:p>
            <a:endParaRPr lang="en-CA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667517-40E4-4237-BCBF-4C47AD67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01951"/>
            <a:ext cx="8839200" cy="979250"/>
          </a:xfrm>
        </p:spPr>
        <p:txBody>
          <a:bodyPr/>
          <a:lstStyle/>
          <a:p>
            <a:r>
              <a:rPr lang="en-CA" dirty="0"/>
              <a:t>Earth Energy Balance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E201E94-D01D-477A-8338-67AF4F3FC0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08" r="21495" b="42388"/>
          <a:stretch/>
        </p:blipFill>
        <p:spPr bwMode="auto">
          <a:xfrm>
            <a:off x="741101" y="1792394"/>
            <a:ext cx="7661797" cy="76200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7176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B32063-0536-4EF1-8286-134DD60B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3027A-CDD6-44BF-97B7-1F68141514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700338"/>
            <a:ext cx="9067800" cy="4157662"/>
          </a:xfrm>
        </p:spPr>
        <p:txBody>
          <a:bodyPr/>
          <a:lstStyle/>
          <a:p>
            <a:r>
              <a:rPr lang="en-US" sz="2800" dirty="0">
                <a:effectLst/>
              </a:rPr>
              <a:t>The four terms can be explained in the following way: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dirty="0">
                <a:effectLst/>
              </a:rPr>
              <a:t>Incoming energy flux from </a:t>
            </a:r>
            <a:r>
              <a:rPr lang="en-US" sz="2000" b="1" dirty="0">
                <a:effectLst/>
              </a:rPr>
              <a:t>solar gain</a:t>
            </a:r>
            <a:r>
              <a:rPr lang="en-US" sz="2000" dirty="0">
                <a:effectLst/>
              </a:rPr>
              <a:t>: The </a:t>
            </a:r>
            <a:r>
              <a:rPr lang="en-US" sz="2000" b="1" dirty="0">
                <a:effectLst/>
              </a:rPr>
              <a:t>amount retained </a:t>
            </a:r>
            <a:r>
              <a:rPr lang="en-US" sz="2000" dirty="0">
                <a:effectLst/>
              </a:rPr>
              <a:t>by the atmosphere, after taking out the amount </a:t>
            </a:r>
            <a:r>
              <a:rPr lang="en-US" sz="2000" b="1" dirty="0">
                <a:effectLst/>
              </a:rPr>
              <a:t>reflected by the atmosphere back to space</a:t>
            </a:r>
            <a:r>
              <a:rPr lang="en-US" sz="2000" dirty="0">
                <a:effectLst/>
              </a:rPr>
              <a:t>, and also the </a:t>
            </a:r>
            <a:r>
              <a:rPr lang="en-US" sz="2000" b="1" dirty="0">
                <a:effectLst/>
              </a:rPr>
              <a:t>amount transmitted to the surface</a:t>
            </a:r>
            <a:r>
              <a:rPr lang="en-US" sz="2000" dirty="0">
                <a:effectLst/>
              </a:rPr>
              <a:t>, of which a portion is </a:t>
            </a:r>
            <a:r>
              <a:rPr lang="en-US" sz="2000" b="1" dirty="0">
                <a:effectLst/>
              </a:rPr>
              <a:t>reflected back to the atmosphere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b="1" dirty="0">
                <a:effectLst/>
              </a:rPr>
              <a:t>Conductive heat transfer</a:t>
            </a:r>
            <a:r>
              <a:rPr lang="en-US" sz="2000" dirty="0">
                <a:effectLst/>
              </a:rPr>
              <a:t>: To atmosphere from surface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dirty="0">
                <a:effectLst/>
              </a:rPr>
              <a:t>Radiative heat transfer inward from Earth’s surface: </a:t>
            </a:r>
            <a:r>
              <a:rPr lang="en-US" sz="2000" b="1" dirty="0">
                <a:effectLst/>
              </a:rPr>
              <a:t>Radiation inward</a:t>
            </a:r>
            <a:r>
              <a:rPr lang="en-US" sz="2000" dirty="0">
                <a:effectLst/>
              </a:rPr>
              <a:t>, after taking out the amount </a:t>
            </a:r>
            <a:r>
              <a:rPr lang="en-US" sz="2000" b="1" dirty="0">
                <a:effectLst/>
              </a:rPr>
              <a:t>reflected back to the surface and transmitted to space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2000" b="1" dirty="0">
                <a:effectLst/>
              </a:rPr>
              <a:t>Radiative heat transfer outward</a:t>
            </a:r>
            <a:r>
              <a:rPr lang="en-US" sz="2000" dirty="0">
                <a:effectLst/>
              </a:rPr>
              <a:t>: From atmosphere both to surface and to space</a:t>
            </a:r>
            <a:endParaRPr lang="en-CA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667517-40E4-4237-BCBF-4C47AD67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01951"/>
            <a:ext cx="8839200" cy="979250"/>
          </a:xfrm>
        </p:spPr>
        <p:txBody>
          <a:bodyPr/>
          <a:lstStyle/>
          <a:p>
            <a:r>
              <a:rPr lang="en-CA" dirty="0"/>
              <a:t>Atmosphere Energy Balance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AC8D696-6730-42E6-8181-1399C2EB39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03" r="9474"/>
          <a:stretch/>
        </p:blipFill>
        <p:spPr bwMode="auto">
          <a:xfrm>
            <a:off x="648699" y="1905857"/>
            <a:ext cx="7922801" cy="594600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96360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 the model presented to model the effect of an ice age. </a:t>
            </a:r>
          </a:p>
          <a:p>
            <a:pPr lvl="1"/>
            <a:r>
              <a:rPr lang="en-US" dirty="0"/>
              <a:t>Suppose the combination of increased ice on the surface of the Earth and decreased CO2 in the atmosphere changes the parameters in the model as follows: α_s = 0.15, </a:t>
            </a:r>
            <a:r>
              <a:rPr lang="en-US" dirty="0" err="1"/>
              <a:t>t’_a</a:t>
            </a:r>
            <a:r>
              <a:rPr lang="en-US" dirty="0"/>
              <a:t> = 0.12, α’_a = 0.23. All other parameters are unchanged. What are the new values of </a:t>
            </a:r>
            <a:r>
              <a:rPr lang="en-US" i="1" dirty="0"/>
              <a:t>T</a:t>
            </a:r>
            <a:r>
              <a:rPr lang="en-US" i="1" baseline="-25000" dirty="0"/>
              <a:t>a</a:t>
            </a:r>
            <a:r>
              <a:rPr lang="en-US" dirty="0"/>
              <a:t> and </a:t>
            </a:r>
            <a:r>
              <a:rPr lang="en-US" i="1" dirty="0" err="1"/>
              <a:t>T</a:t>
            </a:r>
            <a:r>
              <a:rPr lang="en-US" i="1" baseline="-25000" dirty="0" err="1"/>
              <a:t>s</a:t>
            </a:r>
            <a:r>
              <a:rPr lang="en-US" dirty="0"/>
              <a:t>?</a:t>
            </a:r>
          </a:p>
          <a:p>
            <a:r>
              <a:rPr lang="en-US" i="1" dirty="0">
                <a:solidFill>
                  <a:srgbClr val="FF0000"/>
                </a:solidFill>
              </a:rPr>
              <a:t>Short Answer: </a:t>
            </a:r>
            <a:r>
              <a:rPr lang="en-US" i="1" dirty="0" err="1"/>
              <a:t>T</a:t>
            </a:r>
            <a:r>
              <a:rPr lang="en-US" i="1" baseline="-25000" dirty="0" err="1"/>
              <a:t>s</a:t>
            </a:r>
            <a:r>
              <a:rPr lang="en-US" dirty="0"/>
              <a:t> = 278.7°C, </a:t>
            </a:r>
            <a:r>
              <a:rPr lang="en-US" i="1" dirty="0"/>
              <a:t>T</a:t>
            </a:r>
            <a:r>
              <a:rPr lang="en-US" i="1" baseline="-25000" dirty="0"/>
              <a:t>a</a:t>
            </a:r>
            <a:r>
              <a:rPr lang="en-US" dirty="0"/>
              <a:t> = 243.1°C</a:t>
            </a:r>
          </a:p>
          <a:p>
            <a:r>
              <a:rPr lang="en-US" dirty="0">
                <a:solidFill>
                  <a:srgbClr val="FF0000"/>
                </a:solidFill>
              </a:rPr>
              <a:t>Complete solution is next slide. Try the problem before reviewing the solution next slide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3278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– Solution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70" r="9474"/>
          <a:stretch/>
        </p:blipFill>
        <p:spPr bwMode="auto">
          <a:xfrm>
            <a:off x="457200" y="3429000"/>
            <a:ext cx="4876800" cy="738805"/>
          </a:xfrm>
          <a:prstGeom prst="snip1Rect">
            <a:avLst>
              <a:gd name="adj" fmla="val 50000"/>
            </a:avLst>
          </a:prstGeom>
          <a:solidFill>
            <a:srgbClr val="FFFFFF"/>
          </a:solidFill>
        </p:spPr>
      </p:pic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646607"/>
            <a:ext cx="6510715" cy="98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1987921"/>
            <a:ext cx="8534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9144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approach to this problem is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 a solver model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find values of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US" altLang="en-US" sz="1600" b="0" i="1" u="none" strike="noStrike" cap="none" normalizeH="0" baseline="-300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US" altLang="en-US" sz="1600" b="0" i="1" u="none" strike="noStrike" cap="none" normalizeH="0" baseline="-3000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that satisfy the condition that the heat balance equation for both the atmosphere and surface layers balances. The values that satisfy this requirement are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US" altLang="en-US" sz="1600" b="0" i="1" u="none" strike="noStrike" cap="none" normalizeH="0" baseline="-300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243.1 K and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US" altLang="en-US" sz="1600" b="0" i="1" u="none" strike="noStrike" cap="none" normalizeH="0" baseline="-3000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278.7 K.</a:t>
            </a:r>
            <a:endParaRPr kumimoji="0" lang="en-CA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9144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9144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can be verified as follows: the general equations for the model are:</a:t>
            </a:r>
            <a:endParaRPr kumimoji="0" lang="en-CA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</a:tabLst>
            </a:pPr>
            <a:endParaRPr kumimoji="0" lang="en-CA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" y="4184023"/>
            <a:ext cx="88953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9144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Substituting new values for parameters and the correct values for temperature gives:</a:t>
            </a:r>
            <a:endParaRPr kumimoji="0" lang="en-CA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</a:tabLst>
            </a:pPr>
            <a:endParaRPr kumimoji="0" lang="en-CA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14400" y="5788224"/>
            <a:ext cx="29883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914400" algn="l"/>
              </a:tabLs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concludes the verification.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3666A-11D3-4001-8AAC-B97198E13062}"/>
              </a:ext>
            </a:extLst>
          </p:cNvPr>
          <p:cNvSpPr/>
          <p:nvPr/>
        </p:nvSpPr>
        <p:spPr>
          <a:xfrm>
            <a:off x="4724400" y="3429000"/>
            <a:ext cx="609600" cy="381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0270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14300" y="1752600"/>
            <a:ext cx="8915400" cy="4876800"/>
          </a:xfrm>
        </p:spPr>
        <p:txBody>
          <a:bodyPr/>
          <a:lstStyle/>
          <a:p>
            <a:r>
              <a:rPr lang="en-US" sz="2000" dirty="0"/>
              <a:t>Human use of energy emits large volumes of CO</a:t>
            </a:r>
            <a:r>
              <a:rPr lang="en-US" sz="2000" baseline="-25000" dirty="0"/>
              <a:t>2 </a:t>
            </a:r>
            <a:r>
              <a:rPr lang="en-US" sz="2000" dirty="0"/>
              <a:t>to the atmosphere due to our heavy dependence on </a:t>
            </a:r>
            <a:r>
              <a:rPr lang="en-US" sz="2000" b="1" dirty="0"/>
              <a:t>fossil fuels as an energy source</a:t>
            </a:r>
            <a:r>
              <a:rPr lang="en-US" sz="2000" dirty="0"/>
              <a:t>. </a:t>
            </a:r>
          </a:p>
          <a:p>
            <a:r>
              <a:rPr lang="en-US" sz="2000" dirty="0"/>
              <a:t>Energy conversion is the largest emitter of CO</a:t>
            </a:r>
            <a:r>
              <a:rPr lang="en-US" sz="2000" baseline="-25000" dirty="0"/>
              <a:t>2</a:t>
            </a:r>
            <a:r>
              <a:rPr lang="en-US" sz="2000" dirty="0"/>
              <a:t> in the world. </a:t>
            </a:r>
          </a:p>
          <a:p>
            <a:r>
              <a:rPr lang="en-US" sz="2000" dirty="0"/>
              <a:t>To date, research strongly suggests that, since CO</a:t>
            </a:r>
            <a:r>
              <a:rPr lang="en-US" sz="2000" baseline="-25000" dirty="0"/>
              <a:t>2</a:t>
            </a:r>
            <a:r>
              <a:rPr lang="en-US" sz="2000" dirty="0"/>
              <a:t> is such a potent greenhouse gas, doubling or tripling its atmospheric concentration will lead to an </a:t>
            </a:r>
            <a:r>
              <a:rPr lang="en-US" sz="2000" b="1" dirty="0"/>
              <a:t>increase in global average temperature </a:t>
            </a:r>
            <a:r>
              <a:rPr lang="en-US" sz="2000" dirty="0"/>
              <a:t>that can have severe negative repercussions on </a:t>
            </a:r>
            <a:r>
              <a:rPr lang="en-US" sz="2000" b="1" dirty="0"/>
              <a:t>local average temperature</a:t>
            </a:r>
            <a:r>
              <a:rPr lang="en-US" sz="2000" dirty="0"/>
              <a:t>, </a:t>
            </a:r>
            <a:r>
              <a:rPr lang="en-US" sz="2000" b="1" dirty="0"/>
              <a:t>amount of precipitation</a:t>
            </a:r>
            <a:r>
              <a:rPr lang="en-US" sz="2000" dirty="0"/>
              <a:t>, </a:t>
            </a:r>
            <a:r>
              <a:rPr lang="en-US" sz="2000" b="1" dirty="0"/>
              <a:t>frequency and intensity of extreme weather events</a:t>
            </a:r>
            <a:r>
              <a:rPr lang="en-US" sz="2000" dirty="0"/>
              <a:t>, and other concerns. </a:t>
            </a:r>
          </a:p>
          <a:p>
            <a:r>
              <a:rPr lang="en-US" sz="2000" dirty="0"/>
              <a:t>Other anthropogenic GHGs such as methane (CH</a:t>
            </a:r>
            <a:r>
              <a:rPr lang="en-US" sz="2000" baseline="-25000" dirty="0"/>
              <a:t>4</a:t>
            </a:r>
            <a:r>
              <a:rPr lang="en-US" sz="2000" dirty="0"/>
              <a:t>), nitrous oxide (N</a:t>
            </a:r>
            <a:r>
              <a:rPr lang="en-US" sz="2000" baseline="-25000" dirty="0"/>
              <a:t>2</a:t>
            </a:r>
            <a:r>
              <a:rPr lang="en-US" sz="2000" dirty="0"/>
              <a:t>O), and chlorofluorocarbons (CFCs) play a role as well. However, the effect is </a:t>
            </a:r>
            <a:r>
              <a:rPr lang="en-US" sz="2000" b="1" dirty="0"/>
              <a:t>not as significant as CO</a:t>
            </a:r>
            <a:r>
              <a:rPr lang="en-US" sz="2000" b="1" baseline="-25000" dirty="0"/>
              <a:t>2</a:t>
            </a:r>
            <a:r>
              <a:rPr lang="en-US" sz="2000" dirty="0"/>
              <a:t>.</a:t>
            </a:r>
          </a:p>
          <a:p>
            <a:r>
              <a:rPr lang="en-US" sz="2000" dirty="0"/>
              <a:t>Simplified mathematical model for climate change exist and used for </a:t>
            </a:r>
            <a:r>
              <a:rPr lang="en-US" sz="2000" b="1" dirty="0"/>
              <a:t>qualitative evaluation of the climate change</a:t>
            </a:r>
            <a:r>
              <a:rPr lang="en-US" sz="2000" dirty="0"/>
              <a:t>, earth and atmospheric temperature </a:t>
            </a:r>
            <a:endParaRPr lang="en-CA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95300" y="838200"/>
            <a:ext cx="7810500" cy="685800"/>
          </a:xfrm>
        </p:spPr>
        <p:txBody>
          <a:bodyPr/>
          <a:lstStyle/>
          <a:p>
            <a:r>
              <a:rPr lang="en-CA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9203411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Box 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54553</TotalTime>
  <Words>1783</Words>
  <Application>Microsoft Office PowerPoint</Application>
  <PresentationFormat>On-screen Show (4:3)</PresentationFormat>
  <Paragraphs>188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Constantia</vt:lpstr>
      <vt:lpstr>Symbol</vt:lpstr>
      <vt:lpstr>Verdana</vt:lpstr>
      <vt:lpstr>Wingdings</vt:lpstr>
      <vt:lpstr>Wingdings 2</vt:lpstr>
      <vt:lpstr>Flow</vt:lpstr>
      <vt:lpstr>PowerPoint Presentation</vt:lpstr>
      <vt:lpstr>References</vt:lpstr>
      <vt:lpstr>Weather vs. Climate</vt:lpstr>
      <vt:lpstr>Layers of the Atmosphere</vt:lpstr>
      <vt:lpstr>Greenhouse Gases</vt:lpstr>
      <vt:lpstr>Mathematical Modelling of Climate Change</vt:lpstr>
      <vt:lpstr>Spectral Emissivity</vt:lpstr>
      <vt:lpstr>Wavelength, energy flux, absorption </vt:lpstr>
      <vt:lpstr>Example</vt:lpstr>
      <vt:lpstr>Sun-Earth Geometric Distances</vt:lpstr>
      <vt:lpstr>Solar Constant</vt:lpstr>
      <vt:lpstr>Earth Temperature</vt:lpstr>
      <vt:lpstr>Contribution of Specific Wavelengths and Gases to Greenhouse Effect </vt:lpstr>
      <vt:lpstr>Solar Irradiance</vt:lpstr>
      <vt:lpstr>CO2 and H2O Contribution to Global Warming</vt:lpstr>
      <vt:lpstr>Simplified Earth/Atmosphere Temperature Models </vt:lpstr>
      <vt:lpstr>A model of earth-absorption system </vt:lpstr>
      <vt:lpstr>Model Predictions </vt:lpstr>
      <vt:lpstr>Earth Energy Balance</vt:lpstr>
      <vt:lpstr>Atmosphere Energy Balance</vt:lpstr>
      <vt:lpstr>Example</vt:lpstr>
      <vt:lpstr>Example – Solution </vt:lpstr>
      <vt:lpstr>Summary</vt:lpstr>
    </vt:vector>
  </TitlesOfParts>
  <Company>NTL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altit</dc:creator>
  <cp:lastModifiedBy>Amin Ghobeity</cp:lastModifiedBy>
  <cp:revision>2225</cp:revision>
  <dcterms:created xsi:type="dcterms:W3CDTF">2013-10-11T17:23:38Z</dcterms:created>
  <dcterms:modified xsi:type="dcterms:W3CDTF">2025-09-23T17:49:39Z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