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 id="2147483793" r:id="rId2"/>
  </p:sldMasterIdLst>
  <p:notesMasterIdLst>
    <p:notesMasterId r:id="rId49"/>
  </p:notesMasterIdLst>
  <p:handoutMasterIdLst>
    <p:handoutMasterId r:id="rId50"/>
  </p:handoutMasterIdLst>
  <p:sldIdLst>
    <p:sldId id="256" r:id="rId3"/>
    <p:sldId id="360" r:id="rId4"/>
    <p:sldId id="848" r:id="rId5"/>
    <p:sldId id="849" r:id="rId6"/>
    <p:sldId id="317" r:id="rId7"/>
    <p:sldId id="842" r:id="rId8"/>
    <p:sldId id="259" r:id="rId9"/>
    <p:sldId id="262" r:id="rId10"/>
    <p:sldId id="260" r:id="rId11"/>
    <p:sldId id="264" r:id="rId12"/>
    <p:sldId id="278" r:id="rId13"/>
    <p:sldId id="282" r:id="rId14"/>
    <p:sldId id="284" r:id="rId15"/>
    <p:sldId id="828" r:id="rId16"/>
    <p:sldId id="829" r:id="rId17"/>
    <p:sldId id="272" r:id="rId18"/>
    <p:sldId id="275" r:id="rId19"/>
    <p:sldId id="290" r:id="rId20"/>
    <p:sldId id="839" r:id="rId21"/>
    <p:sldId id="313" r:id="rId22"/>
    <p:sldId id="314" r:id="rId23"/>
    <p:sldId id="315" r:id="rId24"/>
    <p:sldId id="318" r:id="rId25"/>
    <p:sldId id="322" r:id="rId26"/>
    <p:sldId id="319" r:id="rId27"/>
    <p:sldId id="845" r:id="rId28"/>
    <p:sldId id="847" r:id="rId29"/>
    <p:sldId id="844" r:id="rId30"/>
    <p:sldId id="324" r:id="rId31"/>
    <p:sldId id="326" r:id="rId32"/>
    <p:sldId id="843" r:id="rId33"/>
    <p:sldId id="263" r:id="rId34"/>
    <p:sldId id="327" r:id="rId35"/>
    <p:sldId id="328" r:id="rId36"/>
    <p:sldId id="330" r:id="rId37"/>
    <p:sldId id="331" r:id="rId38"/>
    <p:sldId id="333" r:id="rId39"/>
    <p:sldId id="332" r:id="rId40"/>
    <p:sldId id="266" r:id="rId41"/>
    <p:sldId id="268" r:id="rId42"/>
    <p:sldId id="271" r:id="rId43"/>
    <p:sldId id="834" r:id="rId44"/>
    <p:sldId id="335" r:id="rId45"/>
    <p:sldId id="279" r:id="rId46"/>
    <p:sldId id="337" r:id="rId47"/>
    <p:sldId id="340"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eftel, Mona D" initials="ZMD"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1234" y="53"/>
      </p:cViewPr>
      <p:guideLst>
        <p:guide orient="horz" pos="2160"/>
        <p:guide pos="2880"/>
      </p:guideLst>
    </p:cSldViewPr>
  </p:slideViewPr>
  <p:notesTextViewPr>
    <p:cViewPr>
      <p:scale>
        <a:sx n="100" d="100"/>
        <a:sy n="100" d="100"/>
      </p:scale>
      <p:origin x="0" y="0"/>
    </p:cViewPr>
  </p:notesTextViewPr>
  <p:notesViewPr>
    <p:cSldViewPr>
      <p:cViewPr varScale="1">
        <p:scale>
          <a:sx n="70" d="100"/>
          <a:sy n="70" d="100"/>
        </p:scale>
        <p:origin x="-324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5D4A66-4E06-4F80-804F-A964EB6C0D0A}" type="datetimeFigureOut">
              <a:rPr lang="en-US" smtClean="0"/>
              <a:pPr/>
              <a:t>10/28/2025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340500-23C6-45C7-9626-EF17B47CA0A2}" type="slidenum">
              <a:rPr lang="en-US" smtClean="0"/>
              <a:pPr/>
              <a:t>‹#›</a:t>
            </a:fld>
            <a:endParaRPr lang="en-US" dirty="0"/>
          </a:p>
        </p:txBody>
      </p:sp>
    </p:spTree>
    <p:extLst>
      <p:ext uri="{BB962C8B-B14F-4D97-AF65-F5344CB8AC3E}">
        <p14:creationId xmlns:p14="http://schemas.microsoft.com/office/powerpoint/2010/main" val="25474727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0646D3D-12D9-42A1-A359-88470FD6EB52}" type="datetimeFigureOut">
              <a:rPr lang="en-US" smtClean="0"/>
              <a:pPr/>
              <a:t>10/27/2025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B58331F-8B33-4884-9995-3C14B2EEB352}" type="slidenum">
              <a:rPr lang="en-US" smtClean="0"/>
              <a:pPr/>
              <a:t>‹#›</a:t>
            </a:fld>
            <a:endParaRPr lang="en-US" dirty="0"/>
          </a:p>
        </p:txBody>
      </p:sp>
    </p:spTree>
    <p:extLst>
      <p:ext uri="{BB962C8B-B14F-4D97-AF65-F5344CB8AC3E}">
        <p14:creationId xmlns:p14="http://schemas.microsoft.com/office/powerpoint/2010/main" val="1053587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B58331F-8B33-4884-9995-3C14B2EEB352}" type="slidenum">
              <a:rPr lang="en-US" smtClean="0"/>
              <a:pPr/>
              <a:t>1</a:t>
            </a:fld>
            <a:endParaRPr lang="en-US" dirty="0"/>
          </a:p>
        </p:txBody>
      </p:sp>
    </p:spTree>
    <p:extLst>
      <p:ext uri="{BB962C8B-B14F-4D97-AF65-F5344CB8AC3E}">
        <p14:creationId xmlns:p14="http://schemas.microsoft.com/office/powerpoint/2010/main" val="3623211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712C229-9AD7-4D9E-99D3-D8B076CB774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63050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7" name="Slide Number Placeholder 26"/>
          <p:cNvSpPr>
            <a:spLocks noGrp="1"/>
          </p:cNvSpPr>
          <p:nvPr>
            <p:ph type="sldNum" sz="quarter" idx="12"/>
          </p:nvPr>
        </p:nvSpPr>
        <p:spPr/>
        <p:txBody>
          <a:bodyPr/>
          <a:lstStyle/>
          <a:p>
            <a:fld id="{122D24B2-5D52-46F7-B915-67CABB3AD0CF}" type="slidenum">
              <a:rPr lang="en-US" smtClean="0"/>
              <a:pPr/>
              <a:t>‹#›</a:t>
            </a:fld>
            <a:endParaRPr lang="en-US" dirty="0"/>
          </a:p>
        </p:txBody>
      </p:sp>
      <p:sp>
        <p:nvSpPr>
          <p:cNvPr id="4" name="Text Placeholder 3"/>
          <p:cNvSpPr>
            <a:spLocks noGrp="1"/>
          </p:cNvSpPr>
          <p:nvPr>
            <p:ph type="body" sz="quarter" idx="13"/>
          </p:nvPr>
        </p:nvSpPr>
        <p:spPr>
          <a:xfrm>
            <a:off x="609600" y="2133600"/>
            <a:ext cx="7810500" cy="4157662"/>
          </a:xfrm>
          <a:prstGeom prst="rect">
            <a:avLst/>
          </a:prstGeom>
        </p:spPr>
        <p:txBody>
          <a:bodyPr/>
          <a:lstStyle>
            <a:lvl1pPr marL="463550" indent="-463550">
              <a:buFont typeface="Wingdings" panose="05000000000000000000" pitchFamily="2" charset="2"/>
              <a:buChar char="q"/>
              <a:defRPr sz="2400">
                <a:solidFill>
                  <a:schemeClr val="bg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6" name="Title 5"/>
          <p:cNvSpPr>
            <a:spLocks noGrp="1"/>
          </p:cNvSpPr>
          <p:nvPr>
            <p:ph type="title"/>
          </p:nvPr>
        </p:nvSpPr>
        <p:spPr>
          <a:xfrm>
            <a:off x="609600" y="1001951"/>
            <a:ext cx="7810500" cy="979250"/>
          </a:xfrm>
          <a:prstGeom prst="rect">
            <a:avLst/>
          </a:prstGeom>
        </p:spPr>
        <p:txBody>
          <a:bodyPr/>
          <a:lstStyle>
            <a:lvl1pPr algn="l">
              <a:defRPr kumimoji="0" lang="en-US" sz="3600" b="1" kern="1200" dirty="0">
                <a:ln>
                  <a:noFill/>
                </a:ln>
                <a:solidFill>
                  <a:schemeClr val="accent2"/>
                </a:solidFill>
                <a:effectLst/>
                <a:latin typeface="Arial" panose="020B0604020202020204" pitchFamily="34" charset="0"/>
                <a:ea typeface="Verdana" panose="020B0604030504040204" pitchFamily="34" charset="0"/>
                <a:cs typeface="Arial" panose="020B0604020202020204" pitchFamily="34" charset="0"/>
              </a:defRPr>
            </a:lvl1pPr>
          </a:lstStyle>
          <a:p>
            <a:r>
              <a:rPr lang="en-US" dirty="0"/>
              <a:t>Click to edit Master title style</a:t>
            </a:r>
          </a:p>
        </p:txBody>
      </p:sp>
      <p:sp>
        <p:nvSpPr>
          <p:cNvPr id="10" name="Footer Placeholder 8"/>
          <p:cNvSpPr txBox="1">
            <a:spLocks/>
          </p:cNvSpPr>
          <p:nvPr userDrawn="1"/>
        </p:nvSpPr>
        <p:spPr>
          <a:xfrm>
            <a:off x="1333500" y="6364275"/>
            <a:ext cx="6972300" cy="3778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kumimoji="0" lang="en-US" sz="1100" kern="1200" dirty="0">
              <a:solidFill>
                <a:srgbClr val="002060"/>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00427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7" name="Slide Number Placeholder 26"/>
          <p:cNvSpPr>
            <a:spLocks noGrp="1"/>
          </p:cNvSpPr>
          <p:nvPr>
            <p:ph type="sldNum" sz="quarter" idx="12"/>
          </p:nvPr>
        </p:nvSpPr>
        <p:spPr/>
        <p:txBody>
          <a:bodyPr/>
          <a:lstStyle/>
          <a:p>
            <a:fld id="{122D24B2-5D52-46F7-B915-67CABB3AD0CF}" type="slidenum">
              <a:rPr lang="en-US" smtClean="0"/>
              <a:pPr/>
              <a:t>‹#›</a:t>
            </a:fld>
            <a:endParaRPr lang="en-US" dirty="0"/>
          </a:p>
        </p:txBody>
      </p:sp>
      <p:sp>
        <p:nvSpPr>
          <p:cNvPr id="4" name="Text Placeholder 3"/>
          <p:cNvSpPr>
            <a:spLocks noGrp="1"/>
          </p:cNvSpPr>
          <p:nvPr>
            <p:ph type="body" sz="quarter" idx="13"/>
          </p:nvPr>
        </p:nvSpPr>
        <p:spPr>
          <a:xfrm>
            <a:off x="609600" y="2133600"/>
            <a:ext cx="7810500" cy="4157662"/>
          </a:xfrm>
          <a:prstGeom prst="rect">
            <a:avLst/>
          </a:prstGeom>
        </p:spPr>
        <p:txBody>
          <a:bodyPr/>
          <a:lstStyle>
            <a:lvl1pPr marL="463550" indent="-463550">
              <a:buFont typeface="Wingdings" panose="05000000000000000000" pitchFamily="2" charset="2"/>
              <a:buChar char="q"/>
              <a:defRPr sz="2400">
                <a:solidFill>
                  <a:schemeClr val="bg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6" name="Title 5"/>
          <p:cNvSpPr>
            <a:spLocks noGrp="1"/>
          </p:cNvSpPr>
          <p:nvPr>
            <p:ph type="title"/>
          </p:nvPr>
        </p:nvSpPr>
        <p:spPr>
          <a:xfrm>
            <a:off x="609600" y="1001951"/>
            <a:ext cx="7810500" cy="979250"/>
          </a:xfrm>
          <a:prstGeom prst="rect">
            <a:avLst/>
          </a:prstGeom>
        </p:spPr>
        <p:txBody>
          <a:bodyPr/>
          <a:lstStyle>
            <a:lvl1pPr algn="l">
              <a:defRPr b="1">
                <a:solidFill>
                  <a:schemeClr val="accent2"/>
                </a:solidFill>
                <a:latin typeface="Arial" panose="020B0604020202020204" pitchFamily="34" charset="0"/>
                <a:cs typeface="Arial" panose="020B0604020202020204" pitchFamily="34" charset="0"/>
              </a:defRPr>
            </a:lvl1pPr>
          </a:lstStyle>
          <a:p>
            <a:r>
              <a:rPr lang="en-US" dirty="0"/>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Rounded Rectangle 15"/>
          <p:cNvSpPr/>
          <p:nvPr userDrawn="1"/>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userDrawn="1"/>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Footer Placeholder 4"/>
          <p:cNvSpPr>
            <a:spLocks noGrp="1"/>
          </p:cNvSpPr>
          <p:nvPr>
            <p:ph type="ftr" sz="quarter" idx="11"/>
          </p:nvPr>
        </p:nvSpPr>
        <p:spPr/>
        <p:txBody>
          <a:bodyPr/>
          <a:lstStyle/>
          <a:p>
            <a:r>
              <a:rPr lang="en-US" dirty="0"/>
              <a:t>©2019 Cengage Learning ®. May not be scanned, copied or duplicated, or posted to a publicly accessible website, in whole or in part. </a:t>
            </a:r>
          </a:p>
        </p:txBody>
      </p:sp>
      <p:sp>
        <p:nvSpPr>
          <p:cNvPr id="17" name="Slide Number Placeholder 4"/>
          <p:cNvSpPr>
            <a:spLocks noGrp="1"/>
          </p:cNvSpPr>
          <p:nvPr>
            <p:ph type="sldNum" sz="quarter" idx="12"/>
          </p:nvPr>
        </p:nvSpPr>
        <p:spPr>
          <a:xfrm>
            <a:off x="8001000" y="6250163"/>
            <a:ext cx="934040" cy="365125"/>
          </a:xfrm>
        </p:spPr>
        <p:txBody>
          <a:bodyPr/>
          <a:lstStyle/>
          <a:p>
            <a:fld id="{070107C2-BA80-4C15-96AE-A43002ADF025}" type="slidenum">
              <a:rPr lang="en-US" smtClean="0"/>
              <a:t>‹#›</a:t>
            </a:fld>
            <a:endParaRPr lang="en-US"/>
          </a:p>
        </p:txBody>
      </p:sp>
      <p:pic>
        <p:nvPicPr>
          <p:cNvPr id="2" name="Picture 1"/>
          <p:cNvPicPr>
            <a:picLocks noChangeAspect="1"/>
          </p:cNvPicPr>
          <p:nvPr userDrawn="1"/>
        </p:nvPicPr>
        <p:blipFill>
          <a:blip r:embed="rId2"/>
          <a:stretch>
            <a:fillRect/>
          </a:stretch>
        </p:blipFill>
        <p:spPr>
          <a:xfrm>
            <a:off x="490505" y="589492"/>
            <a:ext cx="4367513" cy="5430261"/>
          </a:xfrm>
          <a:prstGeom prst="rect">
            <a:avLst/>
          </a:prstGeom>
        </p:spPr>
      </p:pic>
      <p:sp>
        <p:nvSpPr>
          <p:cNvPr id="8" name="Text Placeholder 7"/>
          <p:cNvSpPr>
            <a:spLocks noGrp="1"/>
          </p:cNvSpPr>
          <p:nvPr>
            <p:ph type="body" sz="quarter" idx="13" hasCustomPrompt="1"/>
          </p:nvPr>
        </p:nvSpPr>
        <p:spPr>
          <a:xfrm>
            <a:off x="5397500" y="1600200"/>
            <a:ext cx="3213100" cy="762000"/>
          </a:xfrm>
        </p:spPr>
        <p:txBody>
          <a:bodyPr>
            <a:normAutofit/>
          </a:bodyPr>
          <a:lstStyle>
            <a:lvl1pPr marL="0" indent="0" algn="ctr">
              <a:buNone/>
              <a:defRPr sz="3200" baseline="0"/>
            </a:lvl1pPr>
          </a:lstStyle>
          <a:p>
            <a:pPr lvl="0"/>
            <a:r>
              <a:rPr lang="en-US" dirty="0"/>
              <a:t>Chapter #</a:t>
            </a:r>
          </a:p>
        </p:txBody>
      </p:sp>
      <p:sp>
        <p:nvSpPr>
          <p:cNvPr id="10" name="Text Placeholder 9"/>
          <p:cNvSpPr>
            <a:spLocks noGrp="1"/>
          </p:cNvSpPr>
          <p:nvPr>
            <p:ph type="body" sz="quarter" idx="14" hasCustomPrompt="1"/>
          </p:nvPr>
        </p:nvSpPr>
        <p:spPr>
          <a:xfrm>
            <a:off x="5568950" y="2590800"/>
            <a:ext cx="2898775" cy="838200"/>
          </a:xfrm>
        </p:spPr>
        <p:txBody>
          <a:bodyPr/>
          <a:lstStyle>
            <a:lvl1pPr marL="0" indent="0" algn="ctr">
              <a:buNone/>
              <a:defRPr baseline="0"/>
            </a:lvl1pPr>
          </a:lstStyle>
          <a:p>
            <a:pPr lvl="0"/>
            <a:r>
              <a:rPr lang="en-US" dirty="0"/>
              <a:t>Chapter Title</a:t>
            </a:r>
          </a:p>
        </p:txBody>
      </p:sp>
    </p:spTree>
    <p:extLst>
      <p:ext uri="{BB962C8B-B14F-4D97-AF65-F5344CB8AC3E}">
        <p14:creationId xmlns:p14="http://schemas.microsoft.com/office/powerpoint/2010/main" val="4153781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Slide Number Placeholder 4"/>
          <p:cNvSpPr>
            <a:spLocks noGrp="1"/>
          </p:cNvSpPr>
          <p:nvPr>
            <p:ph type="sldNum" sz="quarter" idx="12"/>
          </p:nvPr>
        </p:nvSpPr>
        <p:spPr/>
        <p:txBody>
          <a:bodyPr/>
          <a:lstStyle/>
          <a:p>
            <a:fld id="{070107C2-BA80-4C15-96AE-A43002ADF025}" type="slidenum">
              <a:rPr lang="en-US" smtClean="0"/>
              <a:t>‹#›</a:t>
            </a:fld>
            <a:endParaRPr lang="en-US"/>
          </a:p>
        </p:txBody>
      </p:sp>
    </p:spTree>
    <p:extLst>
      <p:ext uri="{BB962C8B-B14F-4D97-AF65-F5344CB8AC3E}">
        <p14:creationId xmlns:p14="http://schemas.microsoft.com/office/powerpoint/2010/main" val="1513760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Footer Placeholder 4"/>
          <p:cNvSpPr>
            <a:spLocks noGrp="1"/>
          </p:cNvSpPr>
          <p:nvPr>
            <p:ph type="ftr" sz="quarter" idx="11"/>
          </p:nvPr>
        </p:nvSpPr>
        <p:spPr/>
        <p:txBody>
          <a:bodyPr/>
          <a:lstStyle/>
          <a:p>
            <a:r>
              <a:rPr lang="en-US"/>
              <a:t>©2015 Cengage Learning Engineering. All Right Reserved.</a:t>
            </a:r>
            <a:endParaRPr lang="en-US" dirty="0"/>
          </a:p>
        </p:txBody>
      </p:sp>
      <p:sp>
        <p:nvSpPr>
          <p:cNvPr id="6" name="Slide Number Placeholder 5"/>
          <p:cNvSpPr>
            <a:spLocks noGrp="1"/>
          </p:cNvSpPr>
          <p:nvPr>
            <p:ph type="sldNum" sz="quarter" idx="12"/>
          </p:nvPr>
        </p:nvSpPr>
        <p:spPr/>
        <p:txBody>
          <a:bodyPr/>
          <a:lstStyle/>
          <a:p>
            <a:r>
              <a:rPr lang="en-US" dirty="0"/>
              <a:t>3</a:t>
            </a:r>
          </a:p>
        </p:txBody>
      </p:sp>
    </p:spTree>
    <p:extLst>
      <p:ext uri="{BB962C8B-B14F-4D97-AF65-F5344CB8AC3E}">
        <p14:creationId xmlns:p14="http://schemas.microsoft.com/office/powerpoint/2010/main" val="2768203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7409" y="632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100">
                <a:solidFill>
                  <a:srgbClr val="002060"/>
                </a:solidFill>
                <a:latin typeface="Verdana" panose="020B0604030504040204" pitchFamily="34" charset="0"/>
                <a:ea typeface="Verdana" panose="020B0604030504040204" pitchFamily="34" charset="0"/>
                <a:cs typeface="Verdana" panose="020B0604030504040204" pitchFamily="34" charset="0"/>
              </a:defRPr>
            </a:lvl1pPr>
          </a:lstStyle>
          <a:p>
            <a:fld id="{122D24B2-5D52-46F7-B915-67CABB3AD0CF}"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
        <p:nvSpPr>
          <p:cNvPr id="9" name="TextBox 8"/>
          <p:cNvSpPr txBox="1"/>
          <p:nvPr userDrawn="1"/>
        </p:nvSpPr>
        <p:spPr>
          <a:xfrm>
            <a:off x="0" y="0"/>
            <a:ext cx="9144000" cy="307777"/>
          </a:xfrm>
          <a:prstGeom prst="rect">
            <a:avLst/>
          </a:prstGeom>
          <a:noFill/>
        </p:spPr>
        <p:txBody>
          <a:bodyPr wrap="square" rtlCol="0">
            <a:spAutoFit/>
          </a:bodyPr>
          <a:lstStyle/>
          <a:p>
            <a:r>
              <a:rPr lang="en-US" sz="1400" dirty="0">
                <a:solidFill>
                  <a:schemeClr val="bg1"/>
                </a:solidFill>
                <a:latin typeface="Verdana" panose="020B0604030504040204" pitchFamily="34" charset="0"/>
                <a:ea typeface="Verdana" panose="020B0604030504040204" pitchFamily="34" charset="0"/>
                <a:cs typeface="Verdana" panose="020B0604030504040204" pitchFamily="34" charset="0"/>
              </a:rPr>
              <a:t>				</a:t>
            </a:r>
          </a:p>
        </p:txBody>
      </p:sp>
    </p:spTree>
  </p:cSld>
  <p:clrMap bg1="dk1" tx1="lt1" bg2="dk2" tx2="lt2" accent1="accent1" accent2="accent2" accent3="accent3" accent4="accent4" accent5="accent5" accent6="accent6" hlink="hlink" folHlink="folHlink"/>
  <p:sldLayoutIdLst>
    <p:sldLayoutId id="2147483758" r:id="rId1"/>
    <p:sldLayoutId id="2147483757" r:id="rId2"/>
  </p:sldLayoutIdLst>
  <p:hf hdr="0" ftr="0" dt="0"/>
  <p:txStyles>
    <p:titleStyle>
      <a:lvl1pPr algn="ctr" rtl="0" eaLnBrk="1" latinLnBrk="0" hangingPunct="1">
        <a:spcBef>
          <a:spcPct val="0"/>
        </a:spcBef>
        <a:buNone/>
        <a:defRPr kumimoji="0" sz="3600" b="0" kern="1200">
          <a:ln>
            <a:noFill/>
          </a:ln>
          <a:solidFill>
            <a:srgbClr val="002060"/>
          </a:solidFill>
          <a:effectLst/>
          <a:latin typeface="Verdana" panose="020B0604030504040204" pitchFamily="34" charset="0"/>
          <a:ea typeface="Verdana" panose="020B0604030504040204" pitchFamily="34" charset="0"/>
          <a:cs typeface="Verdana" panose="020B0604030504040204" pitchFamily="34" charset="0"/>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rgbClr val="002060"/>
          </a:solidFill>
          <a:latin typeface="Verdana" panose="020B0604030504040204" pitchFamily="34" charset="0"/>
          <a:ea typeface="Verdana" panose="020B0604030504040204" pitchFamily="34" charset="0"/>
          <a:cs typeface="Verdana" panose="020B0604030504040204" pitchFamily="34" charset="0"/>
        </a:defRPr>
      </a:lvl1pPr>
      <a:lvl2pPr marL="640080" indent="-246888" algn="l" rtl="0" eaLnBrk="1" latinLnBrk="0" hangingPunct="1">
        <a:spcBef>
          <a:spcPct val="20000"/>
        </a:spcBef>
        <a:buClr>
          <a:schemeClr val="accent1"/>
        </a:buClr>
        <a:buSzPct val="85000"/>
        <a:buFont typeface="Wingdings 2"/>
        <a:buChar char=""/>
        <a:defRPr kumimoji="0" sz="2400" kern="1200">
          <a:solidFill>
            <a:srgbClr val="002060"/>
          </a:solidFill>
          <a:latin typeface="Verdana" panose="020B0604030504040204" pitchFamily="34" charset="0"/>
          <a:ea typeface="Verdana" panose="020B0604030504040204" pitchFamily="34" charset="0"/>
          <a:cs typeface="Verdana" panose="020B0604030504040204" pitchFamily="34" charset="0"/>
        </a:defRPr>
      </a:lvl2pPr>
      <a:lvl3pPr marL="914400" indent="-246888" algn="l" rtl="0" eaLnBrk="1" latinLnBrk="0" hangingPunct="1">
        <a:spcBef>
          <a:spcPct val="20000"/>
        </a:spcBef>
        <a:buClr>
          <a:schemeClr val="accent2"/>
        </a:buClr>
        <a:buSzPct val="70000"/>
        <a:buFont typeface="Wingdings 2"/>
        <a:buChar char=""/>
        <a:defRPr kumimoji="0" sz="2100" kern="1200">
          <a:solidFill>
            <a:srgbClr val="002060"/>
          </a:solidFill>
          <a:latin typeface="Verdana" panose="020B0604030504040204" pitchFamily="34" charset="0"/>
          <a:ea typeface="Verdana" panose="020B0604030504040204" pitchFamily="34" charset="0"/>
          <a:cs typeface="Verdana" panose="020B0604030504040204" pitchFamily="34" charset="0"/>
        </a:defRPr>
      </a:lvl3pPr>
      <a:lvl4pPr marL="1188720" indent="-210312" algn="l" rtl="0" eaLnBrk="1" latinLnBrk="0" hangingPunct="1">
        <a:spcBef>
          <a:spcPct val="20000"/>
        </a:spcBef>
        <a:buClr>
          <a:schemeClr val="accent3"/>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4pPr>
      <a:lvl5pPr marL="1463040" indent="-210312" algn="l" rtl="0" eaLnBrk="1" latinLnBrk="0" hangingPunct="1">
        <a:spcBef>
          <a:spcPct val="20000"/>
        </a:spcBef>
        <a:buClr>
          <a:schemeClr val="accent4"/>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dirty="0"/>
              <a:t>Click to edit Master title style</a:t>
            </a:r>
          </a:p>
        </p:txBody>
      </p:sp>
      <p:sp>
        <p:nvSpPr>
          <p:cNvPr id="5" name="Footer Placeholder 4"/>
          <p:cNvSpPr>
            <a:spLocks noGrp="1"/>
          </p:cNvSpPr>
          <p:nvPr>
            <p:ph type="ftr" sz="quarter" idx="3"/>
          </p:nvPr>
        </p:nvSpPr>
        <p:spPr>
          <a:xfrm>
            <a:off x="193638" y="6250164"/>
            <a:ext cx="7807362" cy="365125"/>
          </a:xfrm>
          <a:prstGeom prst="rect">
            <a:avLst/>
          </a:prstGeom>
        </p:spPr>
        <p:txBody>
          <a:bodyPr vert="horz" lIns="91440" tIns="45720" rIns="91440" bIns="45720" rtlCol="0" anchor="ctr"/>
          <a:lstStyle>
            <a:lvl1pPr algn="l">
              <a:defRPr sz="1000">
                <a:solidFill>
                  <a:schemeClr val="tx2"/>
                </a:solidFill>
              </a:defRPr>
            </a:lvl1pPr>
          </a:lstStyle>
          <a:p>
            <a:r>
              <a:rPr lang="en-US" dirty="0"/>
              <a:t>©2019 Cengage Learning ®. May not be scanned, copied or duplicated, or posted to a publicly accessible website, in whole or in part. </a:t>
            </a:r>
          </a:p>
        </p:txBody>
      </p:sp>
      <p:sp>
        <p:nvSpPr>
          <p:cNvPr id="6" name="Slide Number Placeholder 5"/>
          <p:cNvSpPr>
            <a:spLocks noGrp="1"/>
          </p:cNvSpPr>
          <p:nvPr>
            <p:ph type="sldNum" sz="quarter" idx="4"/>
          </p:nvPr>
        </p:nvSpPr>
        <p:spPr>
          <a:xfrm>
            <a:off x="8001000" y="6250163"/>
            <a:ext cx="934040" cy="365125"/>
          </a:xfrm>
          <a:prstGeom prst="rect">
            <a:avLst/>
          </a:prstGeom>
        </p:spPr>
        <p:txBody>
          <a:bodyPr vert="horz" lIns="91440" tIns="45720" rIns="91440" bIns="45720" rtlCol="0" anchor="ctr"/>
          <a:lstStyle>
            <a:lvl1pPr algn="ctr">
              <a:defRPr sz="1000">
                <a:solidFill>
                  <a:schemeClr val="tx2"/>
                </a:solidFill>
              </a:defRPr>
            </a:lvl1pPr>
          </a:lstStyle>
          <a:p>
            <a:fld id="{070107C2-BA80-4C15-96AE-A43002ADF025}" type="slidenum">
              <a:rPr lang="en-US" smtClean="0"/>
              <a:t>‹#›</a:t>
            </a:fld>
            <a:endParaRPr lang="en-US" dirty="0"/>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39278177"/>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Lst>
  <p:hf hdr="0" dt="0"/>
  <p:txStyles>
    <p:titleStyle>
      <a:lvl1pPr algn="ctr" defTabSz="914400" rtl="0" eaLnBrk="1" latinLnBrk="0" hangingPunct="1">
        <a:spcBef>
          <a:spcPct val="0"/>
        </a:spcBef>
        <a:buNone/>
        <a:defRPr sz="3600" kern="1200">
          <a:solidFill>
            <a:srgbClr val="FFFFFF"/>
          </a:solidFill>
          <a:latin typeface="Verdana" panose="020B0604030504040204" pitchFamily="34" charset="0"/>
          <a:ea typeface="Verdana" panose="020B0604030504040204" pitchFamily="34" charset="0"/>
          <a:cs typeface="Verdana" panose="020B060403050404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Verdana" panose="020B0604030504040204" pitchFamily="34" charset="0"/>
          <a:ea typeface="Verdana" panose="020B0604030504040204" pitchFamily="34" charset="0"/>
          <a:cs typeface="Verdana" panose="020B0604030504040204" pitchFamily="34" charset="0"/>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Verdana" panose="020B0604030504040204" pitchFamily="34" charset="0"/>
          <a:ea typeface="Verdana" panose="020B0604030504040204" pitchFamily="34" charset="0"/>
          <a:cs typeface="Verdana" panose="020B0604030504040204" pitchFamily="34" charset="0"/>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Verdana" panose="020B0604030504040204" pitchFamily="34" charset="0"/>
          <a:ea typeface="Verdana" panose="020B0604030504040204" pitchFamily="34" charset="0"/>
          <a:cs typeface="Verdana" panose="020B0604030504040204" pitchFamily="34" charset="0"/>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Verdana" panose="020B0604030504040204" pitchFamily="34" charset="0"/>
          <a:ea typeface="Verdana" panose="020B0604030504040204" pitchFamily="34" charset="0"/>
          <a:cs typeface="Verdana" panose="020B0604030504040204" pitchFamily="34" charset="0"/>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cer-rec.gc.ca/en/data-analysis/energy-markets/provincial-territorial-energy-profiles/provincial-territorial-energy-profiles-canada.html" TargetMode="Externa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hyperlink" Target="https://www.cnsc-ccsn.gc.ca/eng/reactors/power-plants/nuclear-facilities/pickering-nuclear-generating-station/index.cfm" TargetMode="External"/><Relationship Id="rId2" Type="http://schemas.openxmlformats.org/officeDocument/2006/relationships/hyperlink" Target="https://www.cnsc-ccsn.gc.ca/eng/reactors/power-plants/nuclear-facilities/bruce-nuclear-generating-station/index.cfm" TargetMode="External"/><Relationship Id="rId1" Type="http://schemas.openxmlformats.org/officeDocument/2006/relationships/slideLayout" Target="../slideLayouts/slideLayout2.xml"/><Relationship Id="rId6" Type="http://schemas.openxmlformats.org/officeDocument/2006/relationships/image" Target="../media/image9.emf"/><Relationship Id="rId5" Type="http://schemas.openxmlformats.org/officeDocument/2006/relationships/image" Target="../media/image8.jpg"/><Relationship Id="rId4" Type="http://schemas.openxmlformats.org/officeDocument/2006/relationships/hyperlink" Target="https://www.cnsc-ccsn.gc.ca/eng/reactors/power-plants/nuclear-facilities/darlington-nuclear-generating-station/index.cf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4953000" y="1739900"/>
            <a:ext cx="3432048" cy="914400"/>
          </a:xfrm>
          <a:prstGeom prst="rect">
            <a:avLst/>
          </a:prstGeom>
        </p:spPr>
        <p:txBody>
          <a:bodyPr>
            <a:noAutofit/>
          </a:bodyPr>
          <a:lstStyle>
            <a:lvl1pPr algn="l" rtl="0" eaLnBrk="1" latinLnBrk="0" hangingPunct="1">
              <a:spcBef>
                <a:spcPct val="0"/>
              </a:spcBef>
              <a:buNone/>
              <a:defRPr kumimoji="0" sz="3600" b="1" kern="1200">
                <a:ln>
                  <a:noFill/>
                </a:ln>
                <a:solidFill>
                  <a:schemeClr val="accent2"/>
                </a:solidFill>
                <a:effectLst/>
                <a:latin typeface="Arial" panose="020B0604020202020204" pitchFamily="34" charset="0"/>
                <a:ea typeface="Verdana" panose="020B0604030504040204" pitchFamily="34" charset="0"/>
                <a:cs typeface="Arial" panose="020B0604020202020204" pitchFamily="34" charset="0"/>
              </a:defRPr>
            </a:lvl1pPr>
          </a:lstStyle>
          <a:p>
            <a:pPr algn="ctr"/>
            <a:r>
              <a:rPr lang="en-US" sz="4800" b="0" dirty="0">
                <a:solidFill>
                  <a:schemeClr val="accent1"/>
                </a:solidFill>
                <a:latin typeface="Verdana" panose="020B0604030504040204" pitchFamily="34" charset="0"/>
                <a:cs typeface="Verdana" panose="020B0604030504040204" pitchFamily="34" charset="0"/>
              </a:rPr>
              <a:t> </a:t>
            </a:r>
          </a:p>
        </p:txBody>
      </p:sp>
      <p:sp>
        <p:nvSpPr>
          <p:cNvPr id="14" name="Subtitle 2"/>
          <p:cNvSpPr txBox="1">
            <a:spLocks/>
          </p:cNvSpPr>
          <p:nvPr/>
        </p:nvSpPr>
        <p:spPr>
          <a:xfrm>
            <a:off x="533400" y="1447800"/>
            <a:ext cx="8458200" cy="4800600"/>
          </a:xfrm>
          <a:prstGeom prst="rect">
            <a:avLst/>
          </a:prstGeom>
        </p:spPr>
        <p:txBody>
          <a:bodyPr>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rgbClr val="002060"/>
                </a:solidFill>
                <a:latin typeface="Verdana" panose="020B0604030504040204" pitchFamily="34" charset="0"/>
                <a:ea typeface="Verdana" panose="020B0604030504040204" pitchFamily="34" charset="0"/>
                <a:cs typeface="Verdana" panose="020B0604030504040204" pitchFamily="34" charset="0"/>
              </a:defRPr>
            </a:lvl1pPr>
            <a:lvl2pPr marL="640080" indent="-246888" algn="l" rtl="0" eaLnBrk="1" latinLnBrk="0" hangingPunct="1">
              <a:spcBef>
                <a:spcPct val="20000"/>
              </a:spcBef>
              <a:buClr>
                <a:schemeClr val="accent1"/>
              </a:buClr>
              <a:buSzPct val="85000"/>
              <a:buFont typeface="Wingdings 2"/>
              <a:buChar char=""/>
              <a:defRPr kumimoji="0" sz="2400" kern="1200">
                <a:solidFill>
                  <a:srgbClr val="002060"/>
                </a:solidFill>
                <a:latin typeface="Verdana" panose="020B0604030504040204" pitchFamily="34" charset="0"/>
                <a:ea typeface="Verdana" panose="020B0604030504040204" pitchFamily="34" charset="0"/>
                <a:cs typeface="Verdana" panose="020B0604030504040204" pitchFamily="34" charset="0"/>
              </a:defRPr>
            </a:lvl2pPr>
            <a:lvl3pPr marL="914400" indent="-246888" algn="l" rtl="0" eaLnBrk="1" latinLnBrk="0" hangingPunct="1">
              <a:spcBef>
                <a:spcPct val="20000"/>
              </a:spcBef>
              <a:buClr>
                <a:schemeClr val="accent2"/>
              </a:buClr>
              <a:buSzPct val="70000"/>
              <a:buFont typeface="Wingdings 2"/>
              <a:buChar char=""/>
              <a:defRPr kumimoji="0" sz="2100" kern="1200">
                <a:solidFill>
                  <a:srgbClr val="002060"/>
                </a:solidFill>
                <a:latin typeface="Verdana" panose="020B0604030504040204" pitchFamily="34" charset="0"/>
                <a:ea typeface="Verdana" panose="020B0604030504040204" pitchFamily="34" charset="0"/>
                <a:cs typeface="Verdana" panose="020B0604030504040204" pitchFamily="34" charset="0"/>
              </a:defRPr>
            </a:lvl3pPr>
            <a:lvl4pPr marL="1188720" indent="-210312" algn="l" rtl="0" eaLnBrk="1" latinLnBrk="0" hangingPunct="1">
              <a:spcBef>
                <a:spcPct val="20000"/>
              </a:spcBef>
              <a:buClr>
                <a:schemeClr val="accent3"/>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4pPr>
            <a:lvl5pPr marL="1463040" indent="-210312" algn="l" rtl="0" eaLnBrk="1" latinLnBrk="0" hangingPunct="1">
              <a:spcBef>
                <a:spcPct val="20000"/>
              </a:spcBef>
              <a:buClr>
                <a:schemeClr val="accent4"/>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buFont typeface="Wingdings 2"/>
              <a:buNone/>
            </a:pPr>
            <a:r>
              <a:rPr lang="en-US" sz="3200" b="1" dirty="0">
                <a:solidFill>
                  <a:schemeClr val="accent2"/>
                </a:solidFill>
              </a:rPr>
              <a:t>Introduction to Energy Systems </a:t>
            </a:r>
          </a:p>
          <a:p>
            <a:pPr marL="0" indent="0">
              <a:buFont typeface="Wingdings 2"/>
              <a:buNone/>
            </a:pPr>
            <a:endParaRPr lang="en-US" sz="3200" dirty="0">
              <a:solidFill>
                <a:schemeClr val="accent2"/>
              </a:solidFill>
            </a:endParaRPr>
          </a:p>
          <a:p>
            <a:pPr marL="0" indent="0">
              <a:buFont typeface="Wingdings 2"/>
              <a:buNone/>
            </a:pPr>
            <a:r>
              <a:rPr lang="en-US" sz="3200" dirty="0">
                <a:solidFill>
                  <a:schemeClr val="accent2"/>
                </a:solidFill>
              </a:rPr>
              <a:t>Module 5</a:t>
            </a:r>
          </a:p>
          <a:p>
            <a:pPr marL="0" indent="0">
              <a:buFont typeface="Wingdings 2"/>
              <a:buNone/>
            </a:pPr>
            <a:endParaRPr lang="en-US" sz="3200" dirty="0">
              <a:solidFill>
                <a:schemeClr val="accent2"/>
              </a:solidFill>
            </a:endParaRPr>
          </a:p>
          <a:p>
            <a:pPr marL="0" indent="0">
              <a:buFont typeface="Wingdings 2"/>
              <a:buNone/>
            </a:pPr>
            <a:r>
              <a:rPr lang="en-US" sz="3200" dirty="0">
                <a:solidFill>
                  <a:schemeClr val="accent2"/>
                </a:solidFill>
              </a:rPr>
              <a:t>Nuclear Energy Systems</a:t>
            </a:r>
          </a:p>
          <a:p>
            <a:pPr marL="0" indent="0">
              <a:buFont typeface="Wingdings 2"/>
              <a:buNone/>
            </a:pPr>
            <a:endParaRPr lang="en-US" sz="3200" dirty="0">
              <a:solidFill>
                <a:schemeClr val="accent2"/>
              </a:solidFill>
            </a:endParaRPr>
          </a:p>
          <a:p>
            <a:pPr marL="0" indent="0">
              <a:buFont typeface="Wingdings 2"/>
              <a:buNone/>
            </a:pPr>
            <a:r>
              <a:rPr lang="en-US" sz="2400" dirty="0">
                <a:solidFill>
                  <a:schemeClr val="accent2"/>
                </a:solidFill>
              </a:rPr>
              <a:t>Prepared by: Prof. Amin Ghobeity</a:t>
            </a:r>
          </a:p>
          <a:p>
            <a:pPr marL="0" indent="0">
              <a:buFont typeface="Wingdings 2"/>
              <a:buNone/>
            </a:pPr>
            <a:r>
              <a:rPr lang="en-US" sz="2400" dirty="0">
                <a:solidFill>
                  <a:schemeClr val="accent2"/>
                </a:solidFill>
              </a:rPr>
              <a:t>Please do not distribute without permission</a:t>
            </a:r>
          </a:p>
        </p:txBody>
      </p:sp>
      <p:sp>
        <p:nvSpPr>
          <p:cNvPr id="16" name="Slide Number Placeholder 15"/>
          <p:cNvSpPr>
            <a:spLocks noGrp="1"/>
          </p:cNvSpPr>
          <p:nvPr>
            <p:ph type="sldNum" sz="quarter" idx="12"/>
          </p:nvPr>
        </p:nvSpPr>
        <p:spPr/>
        <p:txBody>
          <a:bodyPr/>
          <a:lstStyle/>
          <a:p>
            <a:fld id="{122D24B2-5D52-46F7-B915-67CABB3AD0CF}"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2</a:t>
            </a:fld>
            <a:endParaRPr lang="en-US" dirty="0"/>
          </a:p>
        </p:txBody>
      </p:sp>
      <p:sp>
        <p:nvSpPr>
          <p:cNvPr id="4" name="Title 3"/>
          <p:cNvSpPr>
            <a:spLocks noGrp="1"/>
          </p:cNvSpPr>
          <p:nvPr>
            <p:ph type="title"/>
          </p:nvPr>
        </p:nvSpPr>
        <p:spPr/>
        <p:txBody>
          <a:bodyPr/>
          <a:lstStyle/>
          <a:p>
            <a:r>
              <a:rPr lang="en-CA" dirty="0"/>
              <a:t>References</a:t>
            </a:r>
          </a:p>
        </p:txBody>
      </p:sp>
      <p:sp>
        <p:nvSpPr>
          <p:cNvPr id="15" name="TextBox 14">
            <a:extLst>
              <a:ext uri="{FF2B5EF4-FFF2-40B4-BE49-F238E27FC236}">
                <a16:creationId xmlns:a16="http://schemas.microsoft.com/office/drawing/2014/main" id="{49B3CC0A-3C29-4A1E-856C-3DB053DD31A0}"/>
              </a:ext>
            </a:extLst>
          </p:cNvPr>
          <p:cNvSpPr txBox="1"/>
          <p:nvPr/>
        </p:nvSpPr>
        <p:spPr>
          <a:xfrm>
            <a:off x="6894120" y="1872766"/>
            <a:ext cx="2021280" cy="646331"/>
          </a:xfrm>
          <a:prstGeom prst="rect">
            <a:avLst/>
          </a:prstGeom>
        </p:spPr>
        <p:txBody>
          <a:bodyPr wrap="square">
            <a:spAutoFit/>
          </a:bodyPr>
          <a:lstStyle>
            <a:defPPr>
              <a:defRPr lang="en-US"/>
            </a:defPPr>
            <a:lvl1pPr>
              <a:defRPr b="1" i="1">
                <a:solidFill>
                  <a:schemeClr val="bg1"/>
                </a:solidFill>
              </a:defRPr>
            </a:lvl1pPr>
          </a:lstStyle>
          <a:p>
            <a:r>
              <a:rPr lang="en-CA" dirty="0"/>
              <a:t>+ Instructor notes</a:t>
            </a:r>
            <a:endParaRPr lang="en-CA" i="0" dirty="0"/>
          </a:p>
        </p:txBody>
      </p:sp>
      <p:pic>
        <p:nvPicPr>
          <p:cNvPr id="7" name="Picture 6" descr="Text&#10;&#10;Description automatically generated with medium confidence">
            <a:extLst>
              <a:ext uri="{FF2B5EF4-FFF2-40B4-BE49-F238E27FC236}">
                <a16:creationId xmlns:a16="http://schemas.microsoft.com/office/drawing/2014/main" id="{CE9BE1D0-BD81-4184-A12C-53173F160D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6598" y="1863988"/>
            <a:ext cx="2223220" cy="2890186"/>
          </a:xfrm>
          <a:prstGeom prst="rect">
            <a:avLst/>
          </a:prstGeom>
        </p:spPr>
      </p:pic>
      <p:sp>
        <p:nvSpPr>
          <p:cNvPr id="13" name="TextBox 12">
            <a:extLst>
              <a:ext uri="{FF2B5EF4-FFF2-40B4-BE49-F238E27FC236}">
                <a16:creationId xmlns:a16="http://schemas.microsoft.com/office/drawing/2014/main" id="{B6A8699B-D97F-40CF-8C59-C90DA94C7991}"/>
              </a:ext>
            </a:extLst>
          </p:cNvPr>
          <p:cNvSpPr txBox="1"/>
          <p:nvPr/>
        </p:nvSpPr>
        <p:spPr>
          <a:xfrm>
            <a:off x="4181574" y="4963034"/>
            <a:ext cx="4581426" cy="923330"/>
          </a:xfrm>
          <a:prstGeom prst="rect">
            <a:avLst/>
          </a:prstGeom>
          <a:noFill/>
        </p:spPr>
        <p:txBody>
          <a:bodyPr wrap="square">
            <a:spAutoFit/>
          </a:bodyPr>
          <a:lstStyle/>
          <a:p>
            <a:r>
              <a:rPr lang="en-US" b="1" dirty="0">
                <a:solidFill>
                  <a:schemeClr val="bg1"/>
                </a:solidFill>
              </a:rPr>
              <a:t>Alternative Energy Systems and Applications Paperback</a:t>
            </a:r>
          </a:p>
          <a:p>
            <a:r>
              <a:rPr lang="en-US" b="1" dirty="0">
                <a:solidFill>
                  <a:schemeClr val="bg1"/>
                </a:solidFill>
              </a:rPr>
              <a:t>By Hodge</a:t>
            </a:r>
          </a:p>
        </p:txBody>
      </p:sp>
      <p:pic>
        <p:nvPicPr>
          <p:cNvPr id="9" name="Picture 8">
            <a:extLst>
              <a:ext uri="{FF2B5EF4-FFF2-40B4-BE49-F238E27FC236}">
                <a16:creationId xmlns:a16="http://schemas.microsoft.com/office/drawing/2014/main" id="{7613E41D-71F3-49FE-B2A8-430F85AC4F9F}"/>
              </a:ext>
            </a:extLst>
          </p:cNvPr>
          <p:cNvPicPr>
            <a:picLocks noChangeAspect="1"/>
          </p:cNvPicPr>
          <p:nvPr/>
        </p:nvPicPr>
        <p:blipFill>
          <a:blip r:embed="rId3"/>
          <a:stretch>
            <a:fillRect/>
          </a:stretch>
        </p:blipFill>
        <p:spPr>
          <a:xfrm>
            <a:off x="381000" y="1839772"/>
            <a:ext cx="2224647" cy="2952371"/>
          </a:xfrm>
          <a:prstGeom prst="rect">
            <a:avLst/>
          </a:prstGeom>
        </p:spPr>
      </p:pic>
      <p:sp>
        <p:nvSpPr>
          <p:cNvPr id="10" name="Rectangle 9">
            <a:extLst>
              <a:ext uri="{FF2B5EF4-FFF2-40B4-BE49-F238E27FC236}">
                <a16:creationId xmlns:a16="http://schemas.microsoft.com/office/drawing/2014/main" id="{45C71C71-AC2B-46CE-84EC-E72FA0007C35}"/>
              </a:ext>
            </a:extLst>
          </p:cNvPr>
          <p:cNvSpPr/>
          <p:nvPr/>
        </p:nvSpPr>
        <p:spPr>
          <a:xfrm>
            <a:off x="381000" y="4948108"/>
            <a:ext cx="3522980" cy="1569660"/>
          </a:xfrm>
          <a:prstGeom prst="rect">
            <a:avLst/>
          </a:prstGeom>
        </p:spPr>
        <p:txBody>
          <a:bodyPr wrap="square">
            <a:spAutoFit/>
          </a:bodyPr>
          <a:lstStyle/>
          <a:p>
            <a:r>
              <a:rPr lang="en-US" sz="1600" b="1" i="1" dirty="0">
                <a:solidFill>
                  <a:schemeClr val="bg1"/>
                </a:solidFill>
              </a:rPr>
              <a:t>Energy Systems Engineering: Evaluation and Implementation, 4</a:t>
            </a:r>
            <a:r>
              <a:rPr lang="en-US" sz="1600" b="1" i="1" baseline="30000" dirty="0">
                <a:solidFill>
                  <a:schemeClr val="bg1"/>
                </a:solidFill>
              </a:rPr>
              <a:t>th</a:t>
            </a:r>
            <a:r>
              <a:rPr lang="en-US" sz="1600" b="1" i="1" dirty="0">
                <a:solidFill>
                  <a:schemeClr val="bg1"/>
                </a:solidFill>
              </a:rPr>
              <a:t>  Ed.</a:t>
            </a:r>
          </a:p>
          <a:p>
            <a:r>
              <a:rPr lang="en-US" sz="1600" b="1" dirty="0">
                <a:solidFill>
                  <a:schemeClr val="bg1"/>
                </a:solidFill>
              </a:rPr>
              <a:t>McGraw-Hill, New York</a:t>
            </a:r>
            <a:r>
              <a:rPr lang="en-US" sz="1600" b="1">
                <a:solidFill>
                  <a:schemeClr val="bg1"/>
                </a:solidFill>
              </a:rPr>
              <a:t>, 2021</a:t>
            </a:r>
            <a:endParaRPr lang="en-US" sz="1600" b="1" dirty="0">
              <a:solidFill>
                <a:schemeClr val="bg1"/>
              </a:solidFill>
            </a:endParaRPr>
          </a:p>
          <a:p>
            <a:endParaRPr lang="en-US" sz="1600" b="1" dirty="0">
              <a:solidFill>
                <a:schemeClr val="bg1"/>
              </a:solidFill>
            </a:endParaRPr>
          </a:p>
          <a:p>
            <a:r>
              <a:rPr lang="en-US" sz="1600" b="1" dirty="0">
                <a:solidFill>
                  <a:srgbClr val="0070C0"/>
                </a:solidFill>
              </a:rPr>
              <a:t>Chapter 8 Nuclear Energy Systems</a:t>
            </a:r>
          </a:p>
        </p:txBody>
      </p:sp>
    </p:spTree>
    <p:extLst>
      <p:ext uri="{BB962C8B-B14F-4D97-AF65-F5344CB8AC3E}">
        <p14:creationId xmlns:p14="http://schemas.microsoft.com/office/powerpoint/2010/main" val="387325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23850D-B2A4-4B7E-95FC-F59AB7CC2208}"/>
              </a:ext>
            </a:extLst>
          </p:cNvPr>
          <p:cNvSpPr>
            <a:spLocks noGrp="1"/>
          </p:cNvSpPr>
          <p:nvPr>
            <p:ph type="sldNum" sz="quarter" idx="12"/>
          </p:nvPr>
        </p:nvSpPr>
        <p:spPr/>
        <p:txBody>
          <a:bodyPr/>
          <a:lstStyle/>
          <a:p>
            <a:fld id="{122D24B2-5D52-46F7-B915-67CABB3AD0CF}" type="slidenum">
              <a:rPr lang="en-US" smtClean="0"/>
              <a:pPr/>
              <a:t>3</a:t>
            </a:fld>
            <a:endParaRPr lang="en-US" dirty="0"/>
          </a:p>
        </p:txBody>
      </p:sp>
      <p:sp>
        <p:nvSpPr>
          <p:cNvPr id="4" name="Title 3">
            <a:extLst>
              <a:ext uri="{FF2B5EF4-FFF2-40B4-BE49-F238E27FC236}">
                <a16:creationId xmlns:a16="http://schemas.microsoft.com/office/drawing/2014/main" id="{73AA81A6-C3C2-45C6-BAEF-2EC329C55199}"/>
              </a:ext>
            </a:extLst>
          </p:cNvPr>
          <p:cNvSpPr>
            <a:spLocks noGrp="1"/>
          </p:cNvSpPr>
          <p:nvPr>
            <p:ph type="title"/>
          </p:nvPr>
        </p:nvSpPr>
        <p:spPr>
          <a:xfrm>
            <a:off x="580731" y="799822"/>
            <a:ext cx="7810500" cy="491648"/>
          </a:xfrm>
        </p:spPr>
        <p:txBody>
          <a:bodyPr/>
          <a:lstStyle/>
          <a:p>
            <a:r>
              <a:rPr lang="en-CA" dirty="0"/>
              <a:t>Motivation</a:t>
            </a:r>
          </a:p>
        </p:txBody>
      </p:sp>
      <p:pic>
        <p:nvPicPr>
          <p:cNvPr id="6" name="Picture 5">
            <a:extLst>
              <a:ext uri="{FF2B5EF4-FFF2-40B4-BE49-F238E27FC236}">
                <a16:creationId xmlns:a16="http://schemas.microsoft.com/office/drawing/2014/main" id="{3D2A9DAB-C23C-46A0-890C-15B1E7CAC1F5}"/>
              </a:ext>
            </a:extLst>
          </p:cNvPr>
          <p:cNvPicPr>
            <a:picLocks noChangeAspect="1"/>
          </p:cNvPicPr>
          <p:nvPr/>
        </p:nvPicPr>
        <p:blipFill>
          <a:blip r:embed="rId2"/>
          <a:stretch>
            <a:fillRect/>
          </a:stretch>
        </p:blipFill>
        <p:spPr>
          <a:xfrm>
            <a:off x="522402" y="1493599"/>
            <a:ext cx="3695700" cy="4362450"/>
          </a:xfrm>
          <a:prstGeom prst="rect">
            <a:avLst/>
          </a:prstGeom>
        </p:spPr>
      </p:pic>
      <p:sp>
        <p:nvSpPr>
          <p:cNvPr id="8" name="TextBox 7">
            <a:extLst>
              <a:ext uri="{FF2B5EF4-FFF2-40B4-BE49-F238E27FC236}">
                <a16:creationId xmlns:a16="http://schemas.microsoft.com/office/drawing/2014/main" id="{E25B8C29-5067-42E2-9365-0291360D45CA}"/>
              </a:ext>
            </a:extLst>
          </p:cNvPr>
          <p:cNvSpPr txBox="1"/>
          <p:nvPr/>
        </p:nvSpPr>
        <p:spPr>
          <a:xfrm>
            <a:off x="533400" y="5856049"/>
            <a:ext cx="4581426" cy="307777"/>
          </a:xfrm>
          <a:prstGeom prst="rect">
            <a:avLst/>
          </a:prstGeom>
          <a:noFill/>
        </p:spPr>
        <p:txBody>
          <a:bodyPr wrap="square">
            <a:spAutoFit/>
          </a:bodyPr>
          <a:lstStyle/>
          <a:p>
            <a:r>
              <a:rPr lang="en-CA" sz="1400" b="1" dirty="0">
                <a:solidFill>
                  <a:schemeClr val="bg1"/>
                </a:solidFill>
              </a:rPr>
              <a:t>Canada Electricity Production (2019)</a:t>
            </a:r>
            <a:endParaRPr lang="en-CA" sz="1400" dirty="0">
              <a:solidFill>
                <a:schemeClr val="bg1"/>
              </a:solidFill>
            </a:endParaRPr>
          </a:p>
        </p:txBody>
      </p:sp>
      <p:sp>
        <p:nvSpPr>
          <p:cNvPr id="10" name="TextBox 9">
            <a:extLst>
              <a:ext uri="{FF2B5EF4-FFF2-40B4-BE49-F238E27FC236}">
                <a16:creationId xmlns:a16="http://schemas.microsoft.com/office/drawing/2014/main" id="{D06A15F9-7950-4F81-920B-5640219A64C5}"/>
              </a:ext>
            </a:extLst>
          </p:cNvPr>
          <p:cNvSpPr txBox="1"/>
          <p:nvPr/>
        </p:nvSpPr>
        <p:spPr>
          <a:xfrm>
            <a:off x="228600" y="6611779"/>
            <a:ext cx="8458200" cy="246221"/>
          </a:xfrm>
          <a:prstGeom prst="rect">
            <a:avLst/>
          </a:prstGeom>
          <a:noFill/>
        </p:spPr>
        <p:txBody>
          <a:bodyPr wrap="square">
            <a:spAutoFit/>
          </a:bodyPr>
          <a:lstStyle/>
          <a:p>
            <a:r>
              <a:rPr lang="en-CA" sz="1000" dirty="0">
                <a:solidFill>
                  <a:schemeClr val="bg1"/>
                </a:solidFill>
                <a:hlinkClick r:id="rId3"/>
              </a:rPr>
              <a:t>https://www.cer-rec.gc.ca/en/data-analysis/energy-markets/provincial-territorial-energy-profiles/provincial-territorial-energy-profiles-canada.html</a:t>
            </a:r>
            <a:r>
              <a:rPr lang="en-CA" sz="1000" dirty="0">
                <a:solidFill>
                  <a:schemeClr val="bg1"/>
                </a:solidFill>
              </a:rPr>
              <a:t> </a:t>
            </a:r>
          </a:p>
        </p:txBody>
      </p:sp>
      <p:pic>
        <p:nvPicPr>
          <p:cNvPr id="12" name="Picture 11">
            <a:extLst>
              <a:ext uri="{FF2B5EF4-FFF2-40B4-BE49-F238E27FC236}">
                <a16:creationId xmlns:a16="http://schemas.microsoft.com/office/drawing/2014/main" id="{71E0EA8A-97DA-4085-ABB0-E0A5B38F4F31}"/>
              </a:ext>
            </a:extLst>
          </p:cNvPr>
          <p:cNvPicPr>
            <a:picLocks noChangeAspect="1"/>
          </p:cNvPicPr>
          <p:nvPr/>
        </p:nvPicPr>
        <p:blipFill>
          <a:blip r:embed="rId4"/>
          <a:stretch>
            <a:fillRect/>
          </a:stretch>
        </p:blipFill>
        <p:spPr>
          <a:xfrm>
            <a:off x="5077709" y="1450736"/>
            <a:ext cx="3219450" cy="4448175"/>
          </a:xfrm>
          <a:prstGeom prst="rect">
            <a:avLst/>
          </a:prstGeom>
        </p:spPr>
      </p:pic>
      <p:sp>
        <p:nvSpPr>
          <p:cNvPr id="13" name="TextBox 12">
            <a:extLst>
              <a:ext uri="{FF2B5EF4-FFF2-40B4-BE49-F238E27FC236}">
                <a16:creationId xmlns:a16="http://schemas.microsoft.com/office/drawing/2014/main" id="{1BA8896C-BA3C-46D4-AA98-3242A0C49ABF}"/>
              </a:ext>
            </a:extLst>
          </p:cNvPr>
          <p:cNvSpPr txBox="1"/>
          <p:nvPr/>
        </p:nvSpPr>
        <p:spPr>
          <a:xfrm>
            <a:off x="5486400" y="5863689"/>
            <a:ext cx="3276600" cy="307777"/>
          </a:xfrm>
          <a:prstGeom prst="rect">
            <a:avLst/>
          </a:prstGeom>
          <a:noFill/>
        </p:spPr>
        <p:txBody>
          <a:bodyPr wrap="square">
            <a:spAutoFit/>
          </a:bodyPr>
          <a:lstStyle/>
          <a:p>
            <a:r>
              <a:rPr lang="en-CA" sz="1400" b="1" dirty="0">
                <a:solidFill>
                  <a:schemeClr val="bg1"/>
                </a:solidFill>
              </a:rPr>
              <a:t>Ontario Electricity Production (2019)</a:t>
            </a:r>
            <a:endParaRPr lang="en-CA" sz="1400" dirty="0">
              <a:solidFill>
                <a:schemeClr val="bg1"/>
              </a:solidFill>
            </a:endParaRPr>
          </a:p>
        </p:txBody>
      </p:sp>
      <p:sp>
        <p:nvSpPr>
          <p:cNvPr id="14" name="Oval 13">
            <a:extLst>
              <a:ext uri="{FF2B5EF4-FFF2-40B4-BE49-F238E27FC236}">
                <a16:creationId xmlns:a16="http://schemas.microsoft.com/office/drawing/2014/main" id="{D8DFB281-497F-4F90-8423-96AB9BD0C6B1}"/>
              </a:ext>
            </a:extLst>
          </p:cNvPr>
          <p:cNvSpPr/>
          <p:nvPr/>
        </p:nvSpPr>
        <p:spPr>
          <a:xfrm>
            <a:off x="7078548" y="2743200"/>
            <a:ext cx="1608252" cy="1371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Oval 14">
            <a:extLst>
              <a:ext uri="{FF2B5EF4-FFF2-40B4-BE49-F238E27FC236}">
                <a16:creationId xmlns:a16="http://schemas.microsoft.com/office/drawing/2014/main" id="{0CAEE49E-5407-4FDA-84E3-11F4D2C1072B}"/>
              </a:ext>
            </a:extLst>
          </p:cNvPr>
          <p:cNvSpPr/>
          <p:nvPr/>
        </p:nvSpPr>
        <p:spPr>
          <a:xfrm>
            <a:off x="5143106" y="4463865"/>
            <a:ext cx="1608252" cy="30777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Oval 15">
            <a:extLst>
              <a:ext uri="{FF2B5EF4-FFF2-40B4-BE49-F238E27FC236}">
                <a16:creationId xmlns:a16="http://schemas.microsoft.com/office/drawing/2014/main" id="{97617710-0AA3-4046-BCB8-E52EEEFC6092}"/>
              </a:ext>
            </a:extLst>
          </p:cNvPr>
          <p:cNvSpPr/>
          <p:nvPr/>
        </p:nvSpPr>
        <p:spPr>
          <a:xfrm>
            <a:off x="2040411" y="4771642"/>
            <a:ext cx="1608252" cy="30777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Oval 16">
            <a:extLst>
              <a:ext uri="{FF2B5EF4-FFF2-40B4-BE49-F238E27FC236}">
                <a16:creationId xmlns:a16="http://schemas.microsoft.com/office/drawing/2014/main" id="{9A0D3EF1-2C81-403C-BB28-8E799FC63AB5}"/>
              </a:ext>
            </a:extLst>
          </p:cNvPr>
          <p:cNvSpPr/>
          <p:nvPr/>
        </p:nvSpPr>
        <p:spPr>
          <a:xfrm>
            <a:off x="573661" y="2989024"/>
            <a:ext cx="1608252" cy="1371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908478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59DB54-8CE6-4E84-B007-9F9D5E723C20}"/>
              </a:ext>
            </a:extLst>
          </p:cNvPr>
          <p:cNvSpPr>
            <a:spLocks noGrp="1"/>
          </p:cNvSpPr>
          <p:nvPr>
            <p:ph type="sldNum" sz="quarter" idx="12"/>
          </p:nvPr>
        </p:nvSpPr>
        <p:spPr/>
        <p:txBody>
          <a:bodyPr/>
          <a:lstStyle/>
          <a:p>
            <a:fld id="{122D24B2-5D52-46F7-B915-67CABB3AD0CF}" type="slidenum">
              <a:rPr lang="en-US" smtClean="0"/>
              <a:pPr/>
              <a:t>4</a:t>
            </a:fld>
            <a:endParaRPr lang="en-US" dirty="0"/>
          </a:p>
        </p:txBody>
      </p:sp>
      <p:sp>
        <p:nvSpPr>
          <p:cNvPr id="3" name="Text Placeholder 2">
            <a:extLst>
              <a:ext uri="{FF2B5EF4-FFF2-40B4-BE49-F238E27FC236}">
                <a16:creationId xmlns:a16="http://schemas.microsoft.com/office/drawing/2014/main" id="{1ACEA81D-233B-42DA-8838-C649C246114F}"/>
              </a:ext>
            </a:extLst>
          </p:cNvPr>
          <p:cNvSpPr>
            <a:spLocks noGrp="1"/>
          </p:cNvSpPr>
          <p:nvPr>
            <p:ph type="body" sz="quarter" idx="13"/>
          </p:nvPr>
        </p:nvSpPr>
        <p:spPr>
          <a:xfrm>
            <a:off x="626179" y="1681139"/>
            <a:ext cx="8382000" cy="4157662"/>
          </a:xfrm>
        </p:spPr>
        <p:txBody>
          <a:bodyPr/>
          <a:lstStyle/>
          <a:p>
            <a:r>
              <a:rPr lang="en-US" sz="2000" b="1" dirty="0"/>
              <a:t>Five nuclear power plants </a:t>
            </a:r>
            <a:r>
              <a:rPr lang="en-US" sz="2000" dirty="0"/>
              <a:t>in three provinces house </a:t>
            </a:r>
            <a:r>
              <a:rPr lang="en-US" sz="2000" b="1" dirty="0"/>
              <a:t>22 </a:t>
            </a:r>
            <a:r>
              <a:rPr lang="en-US" sz="2000" dirty="0"/>
              <a:t>nuclear power </a:t>
            </a:r>
            <a:r>
              <a:rPr lang="en-US" sz="2000" b="1" dirty="0"/>
              <a:t>reactors</a:t>
            </a:r>
          </a:p>
          <a:p>
            <a:r>
              <a:rPr lang="en-US" sz="2000" dirty="0">
                <a:solidFill>
                  <a:schemeClr val="bg1"/>
                </a:solidFill>
              </a:rPr>
              <a:t>All nuclear power reactors in Canada are </a:t>
            </a:r>
            <a:r>
              <a:rPr lang="en-US" sz="2000" b="1" dirty="0">
                <a:solidFill>
                  <a:schemeClr val="bg1"/>
                </a:solidFill>
              </a:rPr>
              <a:t>CANDU (Canadian Deuterium-Uranium) </a:t>
            </a:r>
            <a:r>
              <a:rPr lang="en-US" sz="2000" dirty="0">
                <a:solidFill>
                  <a:schemeClr val="bg1"/>
                </a:solidFill>
              </a:rPr>
              <a:t>reactors</a:t>
            </a:r>
            <a:endParaRPr lang="en-CA" sz="2000" dirty="0">
              <a:solidFill>
                <a:schemeClr val="bg1"/>
              </a:solidFill>
            </a:endParaRPr>
          </a:p>
          <a:p>
            <a:r>
              <a:rPr lang="en-CA" sz="2000" dirty="0"/>
              <a:t>Operating facilities in Ontario:</a:t>
            </a:r>
          </a:p>
          <a:p>
            <a:pPr lvl="1">
              <a:buFont typeface="Arial" panose="020B0604020202020204" pitchFamily="34" charset="0"/>
              <a:buChar char="•"/>
            </a:pPr>
            <a:r>
              <a:rPr lang="en-CA" sz="1800" dirty="0">
                <a:hlinkClick r:id="rId2"/>
              </a:rPr>
              <a:t>Bruce Nuclear </a:t>
            </a:r>
            <a:r>
              <a:rPr lang="en-CA" sz="1800" dirty="0"/>
              <a:t> </a:t>
            </a:r>
          </a:p>
          <a:p>
            <a:pPr lvl="1">
              <a:buFont typeface="Arial" panose="020B0604020202020204" pitchFamily="34" charset="0"/>
              <a:buChar char="•"/>
            </a:pPr>
            <a:r>
              <a:rPr lang="en-CA" sz="1800" dirty="0">
                <a:hlinkClick r:id="rId3"/>
              </a:rPr>
              <a:t>Pickering Nuclear </a:t>
            </a:r>
            <a:r>
              <a:rPr lang="en-CA" sz="1800" dirty="0"/>
              <a:t> </a:t>
            </a:r>
          </a:p>
          <a:p>
            <a:pPr lvl="1">
              <a:buFont typeface="Arial" panose="020B0604020202020204" pitchFamily="34" charset="0"/>
              <a:buChar char="•"/>
            </a:pPr>
            <a:r>
              <a:rPr lang="en-CA" sz="1800" dirty="0">
                <a:hlinkClick r:id="rId4"/>
              </a:rPr>
              <a:t>Darlington Nuclear </a:t>
            </a:r>
            <a:r>
              <a:rPr lang="en-CA" sz="1800" dirty="0"/>
              <a:t> </a:t>
            </a:r>
          </a:p>
          <a:p>
            <a:pPr marL="0" indent="0">
              <a:buNone/>
            </a:pPr>
            <a:endParaRPr lang="en-CA" sz="2000" dirty="0"/>
          </a:p>
        </p:txBody>
      </p:sp>
      <p:sp>
        <p:nvSpPr>
          <p:cNvPr id="4" name="Title 3">
            <a:extLst>
              <a:ext uri="{FF2B5EF4-FFF2-40B4-BE49-F238E27FC236}">
                <a16:creationId xmlns:a16="http://schemas.microsoft.com/office/drawing/2014/main" id="{3B89A9F8-74A0-4DB1-BE41-CD3A40402D6A}"/>
              </a:ext>
            </a:extLst>
          </p:cNvPr>
          <p:cNvSpPr>
            <a:spLocks noGrp="1"/>
          </p:cNvSpPr>
          <p:nvPr>
            <p:ph type="title"/>
          </p:nvPr>
        </p:nvSpPr>
        <p:spPr>
          <a:xfrm>
            <a:off x="626179" y="826745"/>
            <a:ext cx="7810500" cy="979250"/>
          </a:xfrm>
        </p:spPr>
        <p:txBody>
          <a:bodyPr/>
          <a:lstStyle/>
          <a:p>
            <a:r>
              <a:rPr lang="en-CA" dirty="0"/>
              <a:t>Nuclear Power Plants in Ontario </a:t>
            </a:r>
          </a:p>
        </p:txBody>
      </p:sp>
      <p:pic>
        <p:nvPicPr>
          <p:cNvPr id="8" name="Picture 7" descr="An aerial view of a city&#10;&#10;Description automatically generated with medium confidence">
            <a:extLst>
              <a:ext uri="{FF2B5EF4-FFF2-40B4-BE49-F238E27FC236}">
                <a16:creationId xmlns:a16="http://schemas.microsoft.com/office/drawing/2014/main" id="{91474AF3-DC0E-4081-9B81-EA09F47F72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49387" y="3514595"/>
            <a:ext cx="3824844" cy="2454275"/>
          </a:xfrm>
          <a:prstGeom prst="rect">
            <a:avLst/>
          </a:prstGeom>
        </p:spPr>
      </p:pic>
      <p:sp>
        <p:nvSpPr>
          <p:cNvPr id="10" name="TextBox 9">
            <a:extLst>
              <a:ext uri="{FF2B5EF4-FFF2-40B4-BE49-F238E27FC236}">
                <a16:creationId xmlns:a16="http://schemas.microsoft.com/office/drawing/2014/main" id="{6DB8EE6D-FE72-4A00-A6E6-2005169F8F7B}"/>
              </a:ext>
            </a:extLst>
          </p:cNvPr>
          <p:cNvSpPr txBox="1"/>
          <p:nvPr/>
        </p:nvSpPr>
        <p:spPr>
          <a:xfrm>
            <a:off x="4817179" y="5976891"/>
            <a:ext cx="4022021" cy="830997"/>
          </a:xfrm>
          <a:prstGeom prst="rect">
            <a:avLst/>
          </a:prstGeom>
          <a:noFill/>
        </p:spPr>
        <p:txBody>
          <a:bodyPr wrap="square">
            <a:spAutoFit/>
          </a:bodyPr>
          <a:lstStyle/>
          <a:p>
            <a:r>
              <a:rPr lang="en-CA" sz="1200" dirty="0">
                <a:solidFill>
                  <a:schemeClr val="bg1"/>
                </a:solidFill>
              </a:rPr>
              <a:t>Pickering Nuclear Generating Station</a:t>
            </a:r>
          </a:p>
          <a:p>
            <a:r>
              <a:rPr lang="en-CA" sz="1200" dirty="0">
                <a:solidFill>
                  <a:schemeClr val="bg1"/>
                </a:solidFill>
                <a:hlinkClick r:id="rId3"/>
              </a:rPr>
              <a:t>https://www.cnsc-ccsn.gc.ca/eng/reactors/power-plants/nuclear-facilities/pickering-nuclear-generating-station/index.cfm</a:t>
            </a:r>
            <a:r>
              <a:rPr lang="en-CA" sz="1200" dirty="0">
                <a:solidFill>
                  <a:schemeClr val="bg1"/>
                </a:solidFill>
              </a:rPr>
              <a:t> </a:t>
            </a:r>
          </a:p>
        </p:txBody>
      </p:sp>
      <p:pic>
        <p:nvPicPr>
          <p:cNvPr id="11" name="Picture 5">
            <a:extLst>
              <a:ext uri="{FF2B5EF4-FFF2-40B4-BE49-F238E27FC236}">
                <a16:creationId xmlns:a16="http://schemas.microsoft.com/office/drawing/2014/main" id="{6168BFAA-EC06-4DBF-B2FC-C8A57A95CD4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8558" y="4557562"/>
            <a:ext cx="4219087" cy="216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718773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5</a:t>
            </a:fld>
            <a:endParaRPr lang="en-US" dirty="0"/>
          </a:p>
        </p:txBody>
      </p:sp>
      <p:sp>
        <p:nvSpPr>
          <p:cNvPr id="3" name="Text Placeholder 2"/>
          <p:cNvSpPr>
            <a:spLocks noGrp="1"/>
          </p:cNvSpPr>
          <p:nvPr>
            <p:ph type="body" sz="quarter" idx="13"/>
          </p:nvPr>
        </p:nvSpPr>
        <p:spPr>
          <a:xfrm>
            <a:off x="76200" y="1752599"/>
            <a:ext cx="8915400" cy="4968875"/>
          </a:xfrm>
        </p:spPr>
        <p:txBody>
          <a:bodyPr/>
          <a:lstStyle/>
          <a:p>
            <a:pPr lvl="0"/>
            <a:r>
              <a:rPr lang="en-CA" sz="1800" dirty="0">
                <a:solidFill>
                  <a:srgbClr val="C00000"/>
                </a:solidFill>
              </a:rPr>
              <a:t>Nuclear energy fundamentals</a:t>
            </a:r>
          </a:p>
          <a:p>
            <a:pPr lvl="1"/>
            <a:r>
              <a:rPr lang="en-CA" sz="1800" dirty="0">
                <a:latin typeface="Verdana" panose="020B0604030504040204" pitchFamily="34" charset="0"/>
                <a:ea typeface="Verdana" panose="020B0604030504040204" pitchFamily="34" charset="0"/>
                <a:cs typeface="Verdana" panose="020B0604030504040204" pitchFamily="34" charset="0"/>
              </a:rPr>
              <a:t>The composition and stability of the nucleus.</a:t>
            </a:r>
          </a:p>
          <a:p>
            <a:pPr lvl="1"/>
            <a:r>
              <a:rPr lang="en-CA" sz="1800" dirty="0">
                <a:latin typeface="Verdana" panose="020B0604030504040204" pitchFamily="34" charset="0"/>
                <a:ea typeface="Verdana" panose="020B0604030504040204" pitchFamily="34" charset="0"/>
                <a:cs typeface="Verdana" panose="020B0604030504040204" pitchFamily="34" charset="0"/>
              </a:rPr>
              <a:t>The relationship of the binding energy of the nucleus to its properties.</a:t>
            </a:r>
          </a:p>
          <a:p>
            <a:pPr lvl="1"/>
            <a:r>
              <a:rPr lang="en-CA" sz="1800" dirty="0">
                <a:latin typeface="Verdana" panose="020B0604030504040204" pitchFamily="34" charset="0"/>
                <a:ea typeface="Verdana" panose="020B0604030504040204" pitchFamily="34" charset="0"/>
                <a:cs typeface="Verdana" panose="020B0604030504040204" pitchFamily="34" charset="0"/>
              </a:rPr>
              <a:t>The reactions </a:t>
            </a:r>
            <a:r>
              <a:rPr lang="en-CA" sz="1800" dirty="0">
                <a:latin typeface="Verdana" panose="020B0604030504040204" pitchFamily="34" charset="0"/>
              </a:rPr>
              <a:t>between neutrons and nuclei.</a:t>
            </a:r>
          </a:p>
          <a:p>
            <a:pPr lvl="1"/>
            <a:r>
              <a:rPr lang="en-CA" sz="1800" dirty="0">
                <a:latin typeface="Verdana" panose="020B0604030504040204" pitchFamily="34" charset="0"/>
                <a:ea typeface="Verdana" panose="020B0604030504040204" pitchFamily="34" charset="0"/>
                <a:cs typeface="Verdana" panose="020B0604030504040204" pitchFamily="34" charset="0"/>
              </a:rPr>
              <a:t>Fission processes in the isotopes of uranium.</a:t>
            </a:r>
          </a:p>
          <a:p>
            <a:pPr lvl="1"/>
            <a:r>
              <a:rPr lang="en-CA" sz="1800" dirty="0">
                <a:latin typeface="Verdana" panose="020B0604030504040204" pitchFamily="34" charset="0"/>
              </a:rPr>
              <a:t>Nuclear energy released from fissioning of U-235.</a:t>
            </a:r>
          </a:p>
          <a:p>
            <a:pPr lvl="1"/>
            <a:r>
              <a:rPr lang="en-CA" sz="1800" dirty="0">
                <a:latin typeface="Verdana" panose="020B0604030504040204" pitchFamily="34" charset="0"/>
                <a:ea typeface="Verdana" panose="020B0604030504040204" pitchFamily="34" charset="0"/>
                <a:cs typeface="Verdana" panose="020B0604030504040204" pitchFamily="34" charset="0"/>
              </a:rPr>
              <a:t>Critical reactions and thermal reactor control.</a:t>
            </a:r>
          </a:p>
          <a:p>
            <a:pPr lvl="0"/>
            <a:r>
              <a:rPr lang="en-CA" sz="1800" dirty="0">
                <a:solidFill>
                  <a:srgbClr val="C00000"/>
                </a:solidFill>
              </a:rPr>
              <a:t>Nuclear reactor designs</a:t>
            </a:r>
          </a:p>
          <a:p>
            <a:pPr lvl="1"/>
            <a:r>
              <a:rPr lang="en-CA" sz="1800" dirty="0">
                <a:latin typeface="Verdana" panose="020B0604030504040204" pitchFamily="34" charset="0"/>
              </a:rPr>
              <a:t>Boiling water reactor (BWR)</a:t>
            </a:r>
          </a:p>
          <a:p>
            <a:pPr lvl="1"/>
            <a:r>
              <a:rPr lang="en-CA" sz="1800" dirty="0">
                <a:latin typeface="Verdana" panose="020B0604030504040204" pitchFamily="34" charset="0"/>
              </a:rPr>
              <a:t>Pressurized water reactor (PWR)</a:t>
            </a:r>
          </a:p>
          <a:p>
            <a:pPr lvl="1"/>
            <a:r>
              <a:rPr lang="en-CA" sz="1800" dirty="0">
                <a:latin typeface="Verdana" panose="020B0604030504040204" pitchFamily="34" charset="0"/>
              </a:rPr>
              <a:t>Gas-cooled reactor (GCR)</a:t>
            </a:r>
          </a:p>
          <a:p>
            <a:pPr lvl="0"/>
            <a:r>
              <a:rPr lang="en-CA" sz="1800" dirty="0">
                <a:solidFill>
                  <a:srgbClr val="C00000"/>
                </a:solidFill>
              </a:rPr>
              <a:t>Nuclear power plants</a:t>
            </a:r>
          </a:p>
          <a:p>
            <a:pPr lvl="1"/>
            <a:r>
              <a:rPr lang="en-CA" sz="1800" dirty="0">
                <a:solidFill>
                  <a:srgbClr val="002060"/>
                </a:solidFill>
                <a:latin typeface="Verdana" panose="020B0604030504040204" pitchFamily="34" charset="0"/>
              </a:rPr>
              <a:t>Nuclear reactor safety and the reasons and consequences of nuclear accidents.</a:t>
            </a:r>
            <a:endParaRPr lang="en-CA" sz="1800" dirty="0">
              <a:solidFill>
                <a:srgbClr val="C00000"/>
              </a:solidFill>
            </a:endParaRPr>
          </a:p>
        </p:txBody>
      </p:sp>
      <p:sp>
        <p:nvSpPr>
          <p:cNvPr id="4" name="Title 3"/>
          <p:cNvSpPr>
            <a:spLocks noGrp="1"/>
          </p:cNvSpPr>
          <p:nvPr>
            <p:ph type="title"/>
          </p:nvPr>
        </p:nvSpPr>
        <p:spPr>
          <a:xfrm>
            <a:off x="609600" y="1001951"/>
            <a:ext cx="7810500" cy="750647"/>
          </a:xfrm>
        </p:spPr>
        <p:txBody>
          <a:bodyPr/>
          <a:lstStyle/>
          <a:p>
            <a:r>
              <a:rPr lang="en-CA" dirty="0"/>
              <a:t>Learning Outcome</a:t>
            </a:r>
          </a:p>
        </p:txBody>
      </p:sp>
    </p:spTree>
    <p:extLst>
      <p:ext uri="{BB962C8B-B14F-4D97-AF65-F5344CB8AC3E}">
        <p14:creationId xmlns:p14="http://schemas.microsoft.com/office/powerpoint/2010/main" val="2987327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1F87A-59DA-4B32-9EA7-5B8A647E36BF}"/>
              </a:ext>
            </a:extLst>
          </p:cNvPr>
          <p:cNvSpPr>
            <a:spLocks noGrp="1"/>
          </p:cNvSpPr>
          <p:nvPr>
            <p:ph type="title"/>
          </p:nvPr>
        </p:nvSpPr>
        <p:spPr>
          <a:xfrm>
            <a:off x="457200" y="3124200"/>
            <a:ext cx="8229600" cy="1252728"/>
          </a:xfrm>
        </p:spPr>
        <p:txBody>
          <a:bodyPr/>
          <a:lstStyle/>
          <a:p>
            <a:r>
              <a:rPr lang="en-CA" dirty="0">
                <a:solidFill>
                  <a:schemeClr val="tx1"/>
                </a:solidFill>
              </a:rPr>
              <a:t>Part 1 Atomic Binding Energy</a:t>
            </a:r>
          </a:p>
        </p:txBody>
      </p:sp>
      <p:sp>
        <p:nvSpPr>
          <p:cNvPr id="3" name="Slide Number Placeholder 2">
            <a:extLst>
              <a:ext uri="{FF2B5EF4-FFF2-40B4-BE49-F238E27FC236}">
                <a16:creationId xmlns:a16="http://schemas.microsoft.com/office/drawing/2014/main" id="{B1339B4A-D053-4591-8D61-41EC837E5ABD}"/>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70107C2-BA80-4C15-96AE-A43002ADF025}" type="slidenum">
              <a:rPr kumimoji="0" lang="en-US" sz="1000" b="0" i="0" u="none" strike="noStrike" kern="1200" cap="none" spc="0" normalizeH="0" baseline="0" noProof="0" smtClean="0">
                <a:ln>
                  <a:noFill/>
                </a:ln>
                <a:solidFill>
                  <a:srgbClr val="4E5B6F"/>
                </a:solidFill>
                <a:effectLst/>
                <a:uLnTx/>
                <a:uFillTx/>
                <a:latin typeface="Candar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srgbClr val="4E5B6F"/>
              </a:solidFill>
              <a:effectLst/>
              <a:uLnTx/>
              <a:uFillTx/>
              <a:latin typeface="Candara"/>
              <a:ea typeface="+mn-ea"/>
              <a:cs typeface="+mn-cs"/>
            </a:endParaRPr>
          </a:p>
        </p:txBody>
      </p:sp>
    </p:spTree>
    <p:extLst>
      <p:ext uri="{BB962C8B-B14F-4D97-AF65-F5344CB8AC3E}">
        <p14:creationId xmlns:p14="http://schemas.microsoft.com/office/powerpoint/2010/main" val="2095221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Nucleons</a:t>
            </a:r>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70107C2-BA80-4C15-96AE-A43002ADF025}" type="slidenum">
              <a:rPr kumimoji="0" lang="en-US" sz="1000" b="0" i="0" u="none" strike="noStrike" kern="1200" cap="none" spc="0" normalizeH="0" baseline="0" noProof="0" smtClean="0">
                <a:ln>
                  <a:noFill/>
                </a:ln>
                <a:solidFill>
                  <a:srgbClr val="4E5B6F"/>
                </a:solidFill>
                <a:effectLst/>
                <a:uLnTx/>
                <a:uFillTx/>
                <a:latin typeface="Candar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srgbClr val="4E5B6F"/>
              </a:solidFill>
              <a:effectLst/>
              <a:uLnTx/>
              <a:uFillTx/>
              <a:latin typeface="Candara"/>
              <a:ea typeface="+mn-ea"/>
              <a:cs typeface="+mn-cs"/>
            </a:endParaRPr>
          </a:p>
        </p:txBody>
      </p:sp>
      <p:sp>
        <p:nvSpPr>
          <p:cNvPr id="5" name="Rectangle 4"/>
          <p:cNvSpPr/>
          <p:nvPr/>
        </p:nvSpPr>
        <p:spPr>
          <a:xfrm>
            <a:off x="152400" y="2373868"/>
            <a:ext cx="8915400" cy="452431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Neutron and protons are collectively referred to as </a:t>
            </a:r>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nucleons</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and the total number of nucleons,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is referred to as </a:t>
            </a:r>
            <a:r>
              <a:rPr kumimoji="0" lang="en-CA" sz="240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the mass number</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2400" dirty="0">
              <a:solidFill>
                <a:prstClr val="black"/>
              </a:solidFill>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1"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Z</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a:t>
            </a:r>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the atomic number</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 the number of </a:t>
            </a:r>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protons</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in 	the 	nucleus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2400" b="1" i="1" dirty="0">
                <a:solidFill>
                  <a:prstClr val="black"/>
                </a:solidFill>
                <a:latin typeface="Verdana" panose="020B0604030504040204" pitchFamily="34" charset="0"/>
                <a:ea typeface="Verdana" panose="020B0604030504040204" pitchFamily="34" charset="0"/>
                <a:cs typeface="Verdana" panose="020B0604030504040204" pitchFamily="34" charset="0"/>
              </a:rPr>
              <a:t>A</a:t>
            </a:r>
            <a:r>
              <a:rPr lang="en-CA" sz="2400" dirty="0">
                <a:solidFill>
                  <a:prstClr val="black"/>
                </a:solidFill>
                <a:latin typeface="Verdana" panose="020B0604030504040204" pitchFamily="34" charset="0"/>
                <a:ea typeface="Verdana" panose="020B0604030504040204" pitchFamily="34" charset="0"/>
                <a:cs typeface="Verdana" panose="020B0604030504040204" pitchFamily="34" charset="0"/>
              </a:rPr>
              <a:t>: </a:t>
            </a:r>
            <a:r>
              <a:rPr lang="en-CA" sz="2400" b="1" dirty="0">
                <a:solidFill>
                  <a:prstClr val="black"/>
                </a:solidFill>
                <a:latin typeface="Verdana" panose="020B0604030504040204" pitchFamily="34" charset="0"/>
                <a:ea typeface="Verdana" panose="020B0604030504040204" pitchFamily="34" charset="0"/>
                <a:cs typeface="Verdana" panose="020B0604030504040204" pitchFamily="34" charset="0"/>
              </a:rPr>
              <a:t>the mass number </a:t>
            </a:r>
            <a:r>
              <a:rPr lang="en-CA" sz="2400" dirty="0">
                <a:solidFill>
                  <a:prstClr val="black"/>
                </a:solidFill>
                <a:latin typeface="Verdana" panose="020B0604030504040204" pitchFamily="34" charset="0"/>
                <a:ea typeface="Verdana" panose="020B0604030504040204" pitchFamily="34" charset="0"/>
                <a:cs typeface="Verdana" panose="020B0604030504040204" pitchFamily="34" charset="0"/>
              </a:rPr>
              <a:t>– sum of </a:t>
            </a:r>
            <a:r>
              <a:rPr lang="en-CA" sz="2400" b="1" dirty="0">
                <a:solidFill>
                  <a:prstClr val="black"/>
                </a:solidFill>
                <a:latin typeface="Verdana" panose="020B0604030504040204" pitchFamily="34" charset="0"/>
                <a:ea typeface="Verdana" panose="020B0604030504040204" pitchFamily="34" charset="0"/>
                <a:cs typeface="Verdana" panose="020B0604030504040204" pitchFamily="34" charset="0"/>
              </a:rPr>
              <a:t>neutrons</a:t>
            </a:r>
            <a:r>
              <a:rPr lang="en-CA" sz="2400" dirty="0">
                <a:solidFill>
                  <a:prstClr val="black"/>
                </a:solidFill>
                <a:latin typeface="Verdana" panose="020B0604030504040204" pitchFamily="34" charset="0"/>
                <a:ea typeface="Verdana" panose="020B0604030504040204" pitchFamily="34" charset="0"/>
                <a:cs typeface="Verdana" panose="020B0604030504040204" pitchFamily="34" charset="0"/>
              </a:rPr>
              <a:t> and </a:t>
            </a:r>
            <a:r>
              <a:rPr lang="en-CA" sz="2400" b="1" dirty="0">
                <a:solidFill>
                  <a:prstClr val="black"/>
                </a:solidFill>
                <a:latin typeface="Verdana" panose="020B0604030504040204" pitchFamily="34" charset="0"/>
                <a:ea typeface="Verdana" panose="020B0604030504040204" pitchFamily="34" charset="0"/>
                <a:cs typeface="Verdana" panose="020B0604030504040204" pitchFamily="34" charset="0"/>
              </a:rPr>
              <a:t>protons</a:t>
            </a:r>
            <a:r>
              <a:rPr lang="en-CA" sz="2400" dirty="0">
                <a:solidFill>
                  <a:prstClr val="black"/>
                </a:solidFill>
                <a:latin typeface="Verdana" panose="020B0604030504040204" pitchFamily="34" charset="0"/>
                <a:ea typeface="Verdana" panose="020B0604030504040204" pitchFamily="34" charset="0"/>
                <a:cs typeface="Verdana" panose="020B0604030504040204" pitchFamily="34" charset="0"/>
              </a:rPr>
              <a:t> 	in the nucleus</a:t>
            </a:r>
            <a:endPar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p:cNvPicPr>
            <a:picLocks noChangeAspect="1"/>
          </p:cNvPicPr>
          <p:nvPr/>
        </p:nvPicPr>
        <p:blipFill rotWithShape="1">
          <a:blip r:embed="rId2"/>
          <a:srcRect r="54815" b="-17084"/>
          <a:stretch/>
        </p:blipFill>
        <p:spPr>
          <a:xfrm>
            <a:off x="1905000" y="3473816"/>
            <a:ext cx="2895600" cy="522238"/>
          </a:xfrm>
          <a:prstGeom prst="rect">
            <a:avLst/>
          </a:prstGeom>
        </p:spPr>
      </p:pic>
    </p:spTree>
    <p:extLst>
      <p:ext uri="{BB962C8B-B14F-4D97-AF65-F5344CB8AC3E}">
        <p14:creationId xmlns:p14="http://schemas.microsoft.com/office/powerpoint/2010/main" val="3908631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Atomic mass unit</a:t>
            </a:r>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70107C2-BA80-4C15-96AE-A43002ADF025}" type="slidenum">
              <a:rPr kumimoji="0" lang="en-US" sz="1000" b="0" i="0" u="none" strike="noStrike" kern="1200" cap="none" spc="0" normalizeH="0" baseline="0" noProof="0" smtClean="0">
                <a:ln>
                  <a:noFill/>
                </a:ln>
                <a:solidFill>
                  <a:srgbClr val="4E5B6F"/>
                </a:solidFill>
                <a:effectLst/>
                <a:uLnTx/>
                <a:uFillTx/>
                <a:latin typeface="Candar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srgbClr val="4E5B6F"/>
              </a:solidFill>
              <a:effectLst/>
              <a:uLnTx/>
              <a:uFillTx/>
              <a:latin typeface="Candara"/>
              <a:ea typeface="+mn-ea"/>
              <a:cs typeface="+mn-cs"/>
            </a:endParaRPr>
          </a:p>
        </p:txBody>
      </p:sp>
      <p:sp>
        <p:nvSpPr>
          <p:cNvPr id="5" name="Rectangle 4"/>
          <p:cNvSpPr/>
          <p:nvPr/>
        </p:nvSpPr>
        <p:spPr>
          <a:xfrm>
            <a:off x="609600" y="2459504"/>
            <a:ext cx="8077200" cy="193899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Masses are given as masses of neutral atoms in atomic mass units (</a:t>
            </a:r>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amu</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or simply </a:t>
            </a:r>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u</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where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1 amu = 1.6605402×10</a:t>
            </a:r>
            <a:r>
              <a:rPr kumimoji="0" lang="en-CA" sz="2400" b="0" i="0" u="none" strike="noStrike" kern="1200" cap="none" spc="0" normalizeH="0" baseline="3000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-27</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kg</a:t>
            </a:r>
          </a:p>
        </p:txBody>
      </p:sp>
      <p:pic>
        <p:nvPicPr>
          <p:cNvPr id="6" name="Picture 5">
            <a:extLst>
              <a:ext uri="{FF2B5EF4-FFF2-40B4-BE49-F238E27FC236}">
                <a16:creationId xmlns:a16="http://schemas.microsoft.com/office/drawing/2014/main" id="{B7ABE747-B4F4-44D4-B970-44BEEB3F40E3}"/>
              </a:ext>
            </a:extLst>
          </p:cNvPr>
          <p:cNvPicPr>
            <a:picLocks noChangeAspect="1"/>
          </p:cNvPicPr>
          <p:nvPr/>
        </p:nvPicPr>
        <p:blipFill>
          <a:blip r:embed="rId2"/>
          <a:stretch>
            <a:fillRect/>
          </a:stretch>
        </p:blipFill>
        <p:spPr>
          <a:xfrm>
            <a:off x="457200" y="4701518"/>
            <a:ext cx="4570773" cy="1555715"/>
          </a:xfrm>
          <a:prstGeom prst="rect">
            <a:avLst/>
          </a:prstGeom>
        </p:spPr>
      </p:pic>
    </p:spTree>
    <p:extLst>
      <p:ext uri="{BB962C8B-B14F-4D97-AF65-F5344CB8AC3E}">
        <p14:creationId xmlns:p14="http://schemas.microsoft.com/office/powerpoint/2010/main" val="998872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Isotopes</a:t>
            </a:r>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70107C2-BA80-4C15-96AE-A43002ADF025}" type="slidenum">
              <a:rPr kumimoji="0" lang="en-US" sz="1000" b="0" i="0" u="none" strike="noStrike" kern="1200" cap="none" spc="0" normalizeH="0" baseline="0" noProof="0" smtClean="0">
                <a:ln>
                  <a:noFill/>
                </a:ln>
                <a:solidFill>
                  <a:srgbClr val="4E5B6F"/>
                </a:solidFill>
                <a:effectLst/>
                <a:uLnTx/>
                <a:uFillTx/>
                <a:latin typeface="Candar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a:ln>
                <a:noFill/>
              </a:ln>
              <a:solidFill>
                <a:srgbClr val="4E5B6F"/>
              </a:solidFill>
              <a:effectLst/>
              <a:uLnTx/>
              <a:uFillTx/>
              <a:latin typeface="Candara"/>
              <a:ea typeface="+mn-ea"/>
              <a:cs typeface="+mn-cs"/>
            </a:endParaRPr>
          </a:p>
        </p:txBody>
      </p:sp>
      <p:sp>
        <p:nvSpPr>
          <p:cNvPr id="5" name="Rectangle 4"/>
          <p:cNvSpPr/>
          <p:nvPr/>
        </p:nvSpPr>
        <p:spPr>
          <a:xfrm>
            <a:off x="138497" y="2438400"/>
            <a:ext cx="8796543"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An element can have several isotopes all of which have the </a:t>
            </a:r>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same value of </a:t>
            </a:r>
            <a:r>
              <a:rPr kumimoji="0" lang="en-CA" sz="2400" b="1"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Z</a:t>
            </a:r>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but different values of </a:t>
            </a:r>
            <a:r>
              <a:rPr kumimoji="0" lang="en-CA" sz="2400" b="1"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N</a:t>
            </a:r>
            <a:r>
              <a:rPr kumimoji="0" lang="en-CA" sz="2400" b="0"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t>
            </a:r>
          </a:p>
        </p:txBody>
      </p:sp>
      <p:pic>
        <p:nvPicPr>
          <p:cNvPr id="6" name="Picture 5">
            <a:extLst>
              <a:ext uri="{FF2B5EF4-FFF2-40B4-BE49-F238E27FC236}">
                <a16:creationId xmlns:a16="http://schemas.microsoft.com/office/drawing/2014/main" id="{C894DCDA-9538-4C5B-99F4-215EE803713C}"/>
              </a:ext>
            </a:extLst>
          </p:cNvPr>
          <p:cNvPicPr>
            <a:picLocks noChangeAspect="1"/>
          </p:cNvPicPr>
          <p:nvPr/>
        </p:nvPicPr>
        <p:blipFill>
          <a:blip r:embed="rId2"/>
          <a:stretch>
            <a:fillRect/>
          </a:stretch>
        </p:blipFill>
        <p:spPr>
          <a:xfrm>
            <a:off x="228600" y="3733800"/>
            <a:ext cx="5457825" cy="2419350"/>
          </a:xfrm>
          <a:prstGeom prst="rect">
            <a:avLst/>
          </a:prstGeom>
        </p:spPr>
      </p:pic>
      <p:sp>
        <p:nvSpPr>
          <p:cNvPr id="7" name="Rectangle 6">
            <a:extLst>
              <a:ext uri="{FF2B5EF4-FFF2-40B4-BE49-F238E27FC236}">
                <a16:creationId xmlns:a16="http://schemas.microsoft.com/office/drawing/2014/main" id="{0408E1CE-1FB8-4122-B6ED-3E79E6A14307}"/>
              </a:ext>
            </a:extLst>
          </p:cNvPr>
          <p:cNvSpPr/>
          <p:nvPr/>
        </p:nvSpPr>
        <p:spPr>
          <a:xfrm>
            <a:off x="5734641" y="4109671"/>
            <a:ext cx="3200399" cy="203132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Carbon nuclei with 6 or 7 neutrons are stable.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Carbon nuclei with 3 to 6 or 7 to 10 neutrons are unstable.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Carbon nuclei with less than 3 or more than 10 neutrons are not observed.</a:t>
            </a:r>
            <a:endParaRPr kumimoji="0" lang="en-US"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67127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2400" dirty="0"/>
              <a:t>The known stable and unstable nuclides as a function of </a:t>
            </a:r>
            <a:r>
              <a:rPr lang="en-CA" sz="2400" i="1" dirty="0"/>
              <a:t>Z</a:t>
            </a:r>
            <a:r>
              <a:rPr lang="en-CA" sz="2400" dirty="0"/>
              <a:t> are shown on a </a:t>
            </a:r>
            <a:r>
              <a:rPr lang="en-CA" sz="2400" dirty="0" err="1"/>
              <a:t>Segrè</a:t>
            </a:r>
            <a:r>
              <a:rPr lang="en-CA" sz="2400" dirty="0"/>
              <a:t> plot</a:t>
            </a:r>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70107C2-BA80-4C15-96AE-A43002ADF025}" type="slidenum">
              <a:rPr kumimoji="0" lang="en-US" sz="1000" b="0" i="0" u="none" strike="noStrike" kern="1200" cap="none" spc="0" normalizeH="0" baseline="0" noProof="0" smtClean="0">
                <a:ln>
                  <a:noFill/>
                </a:ln>
                <a:solidFill>
                  <a:srgbClr val="4E5B6F"/>
                </a:solidFill>
                <a:effectLst/>
                <a:uLnTx/>
                <a:uFillTx/>
                <a:latin typeface="Candar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srgbClr val="4E5B6F"/>
              </a:solidFill>
              <a:effectLst/>
              <a:uLnTx/>
              <a:uFillTx/>
              <a:latin typeface="Candara"/>
              <a:ea typeface="+mn-ea"/>
              <a:cs typeface="+mn-cs"/>
            </a:endParaRPr>
          </a:p>
        </p:txBody>
      </p:sp>
      <p:pic>
        <p:nvPicPr>
          <p:cNvPr id="3" name="Picture 2"/>
          <p:cNvPicPr>
            <a:picLocks noChangeAspect="1"/>
          </p:cNvPicPr>
          <p:nvPr/>
        </p:nvPicPr>
        <p:blipFill>
          <a:blip r:embed="rId2"/>
          <a:stretch>
            <a:fillRect/>
          </a:stretch>
        </p:blipFill>
        <p:spPr>
          <a:xfrm>
            <a:off x="208960" y="2394125"/>
            <a:ext cx="4556369" cy="4038600"/>
          </a:xfrm>
          <a:prstGeom prst="rect">
            <a:avLst/>
          </a:prstGeom>
        </p:spPr>
      </p:pic>
      <p:sp>
        <p:nvSpPr>
          <p:cNvPr id="5" name="Rectangle 4">
            <a:extLst>
              <a:ext uri="{FF2B5EF4-FFF2-40B4-BE49-F238E27FC236}">
                <a16:creationId xmlns:a16="http://schemas.microsoft.com/office/drawing/2014/main" id="{445B79AA-4304-47FB-998C-1BAA0943F91E}"/>
              </a:ext>
            </a:extLst>
          </p:cNvPr>
          <p:cNvSpPr/>
          <p:nvPr/>
        </p:nvSpPr>
        <p:spPr>
          <a:xfrm>
            <a:off x="4871301" y="2819400"/>
            <a:ext cx="4063739" cy="31700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0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Light nuclei </a:t>
            </a:r>
            <a:r>
              <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are stable with </a:t>
            </a:r>
            <a:r>
              <a:rPr kumimoji="0" lang="en-CA" sz="2000" b="1"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N</a:t>
            </a:r>
            <a:r>
              <a:rPr kumimoji="0" lang="en-CA" sz="20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t>
            </a:r>
            <a:r>
              <a:rPr kumimoji="0" lang="en-CA" sz="2000" b="1"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Z</a:t>
            </a:r>
            <a:r>
              <a:rPr kumimoji="0" lang="en-CA" sz="20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but </a:t>
            </a:r>
            <a:r>
              <a:rPr kumimoji="0" lang="en-CA" sz="2000" b="1"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Verdana" panose="020B0604030504040204" pitchFamily="34" charset="0"/>
              </a:rPr>
              <a:t>heavy nuclei require </a:t>
            </a:r>
            <a:r>
              <a:rPr kumimoji="0" lang="en-CA" sz="2000" b="1" i="1"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Verdana" panose="020B0604030504040204" pitchFamily="34" charset="0"/>
              </a:rPr>
              <a:t>N</a:t>
            </a:r>
            <a:r>
              <a:rPr kumimoji="0" lang="en-CA" sz="2000" b="1"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Verdana" panose="020B0604030504040204" pitchFamily="34" charset="0"/>
              </a:rPr>
              <a:t>&gt;</a:t>
            </a:r>
            <a:r>
              <a:rPr kumimoji="0" lang="en-CA" sz="2000" b="1" i="1"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Verdana" panose="020B0604030504040204" pitchFamily="34" charset="0"/>
              </a:rPr>
              <a:t>Z</a:t>
            </a:r>
            <a:r>
              <a:rPr kumimoji="0" lang="en-CA" sz="2000" b="1"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Verdana" panose="020B0604030504040204" pitchFamily="34" charset="0"/>
              </a:rPr>
              <a:t> to be stable</a:t>
            </a:r>
            <a:r>
              <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This is </a:t>
            </a:r>
            <a:r>
              <a:rPr kumimoji="0" lang="en-CA" sz="20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 crucial feature for the operation of a nuclear reactor</a:t>
            </a:r>
            <a:r>
              <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637688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Binding Energy</a:t>
            </a:r>
          </a:p>
        </p:txBody>
      </p:sp>
      <p:sp>
        <p:nvSpPr>
          <p:cNvPr id="4" name="Slide Number Placeholder 3"/>
          <p:cNvSpPr>
            <a:spLocks noGrp="1"/>
          </p:cNvSpPr>
          <p:nvPr>
            <p:ph type="sldNum" sz="quarter" idx="12"/>
          </p:nvPr>
        </p:nvSpPr>
        <p:spPr>
          <a:xfrm>
            <a:off x="8001000" y="5499831"/>
            <a:ext cx="93404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70107C2-BA80-4C15-96AE-A43002ADF025}" type="slidenum">
              <a:rPr kumimoji="0" lang="en-US" sz="1000" b="0" i="0" u="none" strike="noStrike" kern="1200" cap="none" spc="0" normalizeH="0" baseline="0" noProof="0" smtClean="0">
                <a:ln>
                  <a:noFill/>
                </a:ln>
                <a:solidFill>
                  <a:srgbClr val="4E5B6F"/>
                </a:solidFill>
                <a:effectLst/>
                <a:uLnTx/>
                <a:uFillTx/>
                <a:latin typeface="Candar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a:ln>
                <a:noFill/>
              </a:ln>
              <a:solidFill>
                <a:srgbClr val="4E5B6F"/>
              </a:solidFill>
              <a:effectLst/>
              <a:uLnTx/>
              <a:uFillTx/>
              <a:latin typeface="Candara"/>
              <a:ea typeface="+mn-ea"/>
              <a:cs typeface="+mn-cs"/>
            </a:endParaRPr>
          </a:p>
        </p:txBody>
      </p:sp>
      <p:sp>
        <p:nvSpPr>
          <p:cNvPr id="5" name="Rectangle 4"/>
          <p:cNvSpPr/>
          <p:nvPr/>
        </p:nvSpPr>
        <p:spPr>
          <a:xfrm>
            <a:off x="304800" y="2392912"/>
            <a:ext cx="8229600"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The neutrons and protons in the nucleus are held together by the </a:t>
            </a:r>
            <a:r>
              <a:rPr kumimoji="0" lang="en-CA"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nuclear binding energy</a:t>
            </a:r>
            <a:r>
              <a:rPr kumimoji="0" lang="en-CA"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t>
            </a:r>
            <a:endParaRPr kumimoji="0" lang="en-US"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6" name="TextBox 5">
            <a:extLst>
              <a:ext uri="{FF2B5EF4-FFF2-40B4-BE49-F238E27FC236}">
                <a16:creationId xmlns:a16="http://schemas.microsoft.com/office/drawing/2014/main" id="{F56E762E-9A12-4CFA-80A4-3F9CA83DEE90}"/>
              </a:ext>
            </a:extLst>
          </p:cNvPr>
          <p:cNvSpPr txBox="1"/>
          <p:nvPr/>
        </p:nvSpPr>
        <p:spPr>
          <a:xfrm>
            <a:off x="304800" y="3059668"/>
            <a:ext cx="8382000" cy="369332"/>
          </a:xfrm>
          <a:prstGeom prst="rect">
            <a:avLst/>
          </a:prstGeom>
          <a:noFill/>
        </p:spPr>
        <p:txBody>
          <a:bodyPr wrap="square">
            <a:spAutoFit/>
          </a:bodyPr>
          <a:lstStyle/>
          <a:p>
            <a:r>
              <a:rPr lang="en-US" dirty="0">
                <a:effectLst/>
              </a:rPr>
              <a:t>Using Einstein’s relationship between energy and mass:</a:t>
            </a:r>
          </a:p>
        </p:txBody>
      </p:sp>
      <p:sp>
        <p:nvSpPr>
          <p:cNvPr id="8" name="TextBox 7">
            <a:extLst>
              <a:ext uri="{FF2B5EF4-FFF2-40B4-BE49-F238E27FC236}">
                <a16:creationId xmlns:a16="http://schemas.microsoft.com/office/drawing/2014/main" id="{EB7E5D8F-C31C-421E-9C79-ADE5BE2C8302}"/>
              </a:ext>
            </a:extLst>
          </p:cNvPr>
          <p:cNvSpPr txBox="1"/>
          <p:nvPr/>
        </p:nvSpPr>
        <p:spPr>
          <a:xfrm>
            <a:off x="304800" y="3946719"/>
            <a:ext cx="8534400" cy="646331"/>
          </a:xfrm>
          <a:prstGeom prst="rect">
            <a:avLst/>
          </a:prstGeom>
          <a:noFill/>
        </p:spPr>
        <p:txBody>
          <a:bodyPr wrap="square">
            <a:spAutoFit/>
          </a:bodyPr>
          <a:lstStyle/>
          <a:p>
            <a:r>
              <a:rPr lang="en-US" dirty="0">
                <a:effectLst/>
              </a:rPr>
              <a:t>we can calculate the mass of a nucleus with neutrons and protons (N, Z) and binding energy B(N, Z) using</a:t>
            </a:r>
          </a:p>
        </p:txBody>
      </p:sp>
      <p:pic>
        <p:nvPicPr>
          <p:cNvPr id="10" name="Picture 9">
            <a:extLst>
              <a:ext uri="{FF2B5EF4-FFF2-40B4-BE49-F238E27FC236}">
                <a16:creationId xmlns:a16="http://schemas.microsoft.com/office/drawing/2014/main" id="{63ABE3E0-8984-4E91-8926-43B1D3C181CF}"/>
              </a:ext>
            </a:extLst>
          </p:cNvPr>
          <p:cNvPicPr>
            <a:picLocks noChangeAspect="1"/>
          </p:cNvPicPr>
          <p:nvPr/>
        </p:nvPicPr>
        <p:blipFill rotWithShape="1">
          <a:blip r:embed="rId2"/>
          <a:srcRect b="73088"/>
          <a:stretch/>
        </p:blipFill>
        <p:spPr>
          <a:xfrm>
            <a:off x="2895600" y="3426229"/>
            <a:ext cx="3419475" cy="520490"/>
          </a:xfrm>
          <a:prstGeom prst="rect">
            <a:avLst/>
          </a:prstGeom>
        </p:spPr>
      </p:pic>
      <p:pic>
        <p:nvPicPr>
          <p:cNvPr id="12" name="Picture 11">
            <a:extLst>
              <a:ext uri="{FF2B5EF4-FFF2-40B4-BE49-F238E27FC236}">
                <a16:creationId xmlns:a16="http://schemas.microsoft.com/office/drawing/2014/main" id="{D22CF66B-BEE2-48D6-A62A-52735DE7138A}"/>
              </a:ext>
            </a:extLst>
          </p:cNvPr>
          <p:cNvPicPr>
            <a:picLocks noChangeAspect="1"/>
          </p:cNvPicPr>
          <p:nvPr/>
        </p:nvPicPr>
        <p:blipFill rotWithShape="1">
          <a:blip r:embed="rId2"/>
          <a:srcRect t="65022"/>
          <a:stretch/>
        </p:blipFill>
        <p:spPr>
          <a:xfrm>
            <a:off x="2626488" y="4464438"/>
            <a:ext cx="3917188" cy="774944"/>
          </a:xfrm>
          <a:prstGeom prst="rect">
            <a:avLst/>
          </a:prstGeom>
        </p:spPr>
      </p:pic>
      <p:sp>
        <p:nvSpPr>
          <p:cNvPr id="14" name="TextBox 13">
            <a:extLst>
              <a:ext uri="{FF2B5EF4-FFF2-40B4-BE49-F238E27FC236}">
                <a16:creationId xmlns:a16="http://schemas.microsoft.com/office/drawing/2014/main" id="{55EE3AB5-D76F-4731-A266-026FEE0C6EDB}"/>
              </a:ext>
            </a:extLst>
          </p:cNvPr>
          <p:cNvSpPr txBox="1"/>
          <p:nvPr/>
        </p:nvSpPr>
        <p:spPr>
          <a:xfrm>
            <a:off x="307157" y="5266091"/>
            <a:ext cx="8382000" cy="1477328"/>
          </a:xfrm>
          <a:prstGeom prst="rect">
            <a:avLst/>
          </a:prstGeom>
          <a:noFill/>
        </p:spPr>
        <p:txBody>
          <a:bodyPr wrap="square">
            <a:spAutoFit/>
          </a:bodyPr>
          <a:lstStyle/>
          <a:p>
            <a:r>
              <a:rPr lang="en-US" dirty="0">
                <a:effectLst/>
              </a:rPr>
              <a:t>In other words, the mass of a nucleus is the mass of the individual particles within the nucleus, minus the mass equivalent of the binding energy which holds the nucleus together. </a:t>
            </a:r>
            <a:r>
              <a:rPr lang="en-US" b="1" dirty="0">
                <a:effectLst/>
              </a:rPr>
              <a:t>It is this binding energy which is released in order to exploit nuclear energy for useful purposes. </a:t>
            </a:r>
            <a:r>
              <a:rPr lang="en-US" dirty="0">
                <a:effectLst/>
              </a:rPr>
              <a:t>This energy is released through various mechanisms (e.g., gamma decay)</a:t>
            </a:r>
          </a:p>
        </p:txBody>
      </p:sp>
    </p:spTree>
    <p:extLst>
      <p:ext uri="{BB962C8B-B14F-4D97-AF65-F5344CB8AC3E}">
        <p14:creationId xmlns:p14="http://schemas.microsoft.com/office/powerpoint/2010/main" val="4230962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Nuclear and atomic masses</a:t>
            </a:r>
            <a:endParaRPr lang="en-US" dirty="0"/>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70107C2-BA80-4C15-96AE-A43002ADF025}" type="slidenum">
              <a:rPr kumimoji="0" lang="en-US" sz="1000" b="0" i="0" u="none" strike="noStrike" kern="1200" cap="none" spc="0" normalizeH="0" baseline="0" noProof="0" smtClean="0">
                <a:ln>
                  <a:noFill/>
                </a:ln>
                <a:solidFill>
                  <a:srgbClr val="4E5B6F"/>
                </a:solidFill>
                <a:effectLst/>
                <a:uLnTx/>
                <a:uFillTx/>
                <a:latin typeface="Candar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a:ln>
                <a:noFill/>
              </a:ln>
              <a:solidFill>
                <a:srgbClr val="4E5B6F"/>
              </a:solidFill>
              <a:effectLst/>
              <a:uLnTx/>
              <a:uFillTx/>
              <a:latin typeface="Candara"/>
              <a:ea typeface="+mn-ea"/>
              <a:cs typeface="+mn-cs"/>
            </a:endParaRPr>
          </a:p>
        </p:txBody>
      </p:sp>
      <p:sp>
        <p:nvSpPr>
          <p:cNvPr id="5" name="Rectangle 4"/>
          <p:cNvSpPr/>
          <p:nvPr/>
        </p:nvSpPr>
        <p:spPr>
          <a:xfrm>
            <a:off x="304800" y="2364763"/>
            <a:ext cx="8534400" cy="295465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The mass of a bound nucleus with </a:t>
            </a:r>
            <a:r>
              <a:rPr kumimoji="0" lang="en-CA" sz="2400" b="0"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N</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neutrons and Z protons will be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The mass of a neutral atom also includes the electron mass and the </a:t>
            </a:r>
            <a:r>
              <a:rPr kumimoji="0" lang="en-CA" sz="2400" b="1"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Verdana" panose="020B0604030504040204" pitchFamily="34" charset="0"/>
              </a:rPr>
              <a:t>electronic binding energy, </a:t>
            </a:r>
            <a:r>
              <a:rPr kumimoji="0" lang="en-CA" sz="2400" b="1" i="1"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Verdana" panose="020B0604030504040204" pitchFamily="34" charset="0"/>
              </a:rPr>
              <a:t>b</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black"/>
              </a:solidFill>
              <a:effectLst/>
              <a:uLnTx/>
              <a:uFillTx/>
              <a:latin typeface="Candara"/>
              <a:ea typeface="+mn-ea"/>
              <a:cs typeface="+mn-cs"/>
            </a:endParaRPr>
          </a:p>
        </p:txBody>
      </p:sp>
      <p:pic>
        <p:nvPicPr>
          <p:cNvPr id="6" name="Picture 5"/>
          <p:cNvPicPr>
            <a:picLocks noChangeAspect="1"/>
          </p:cNvPicPr>
          <p:nvPr/>
        </p:nvPicPr>
        <p:blipFill rotWithShape="1">
          <a:blip r:embed="rId2"/>
          <a:srcRect r="19499"/>
          <a:stretch/>
        </p:blipFill>
        <p:spPr>
          <a:xfrm>
            <a:off x="838200" y="3353632"/>
            <a:ext cx="5943600" cy="837368"/>
          </a:xfrm>
          <a:prstGeom prst="rect">
            <a:avLst/>
          </a:prstGeom>
        </p:spPr>
      </p:pic>
      <p:pic>
        <p:nvPicPr>
          <p:cNvPr id="7" name="Picture 6"/>
          <p:cNvPicPr>
            <a:picLocks noChangeAspect="1"/>
          </p:cNvPicPr>
          <p:nvPr/>
        </p:nvPicPr>
        <p:blipFill rotWithShape="1">
          <a:blip r:embed="rId3"/>
          <a:srcRect r="19084"/>
          <a:stretch/>
        </p:blipFill>
        <p:spPr>
          <a:xfrm>
            <a:off x="827988" y="5319418"/>
            <a:ext cx="6350758" cy="742908"/>
          </a:xfrm>
          <a:prstGeom prst="rect">
            <a:avLst/>
          </a:prstGeom>
        </p:spPr>
      </p:pic>
    </p:spTree>
    <p:extLst>
      <p:ext uri="{BB962C8B-B14F-4D97-AF65-F5344CB8AC3E}">
        <p14:creationId xmlns:p14="http://schemas.microsoft.com/office/powerpoint/2010/main" val="3403324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Units in Einstein’s relation</a:t>
            </a:r>
            <a:endParaRPr lang="en-US" dirty="0"/>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70107C2-BA80-4C15-96AE-A43002ADF025}" type="slidenum">
              <a:rPr kumimoji="0" lang="en-US" sz="1000" b="0" i="0" u="none" strike="noStrike" kern="1200" cap="none" spc="0" normalizeH="0" baseline="0" noProof="0" smtClean="0">
                <a:ln>
                  <a:noFill/>
                </a:ln>
                <a:solidFill>
                  <a:srgbClr val="4E5B6F"/>
                </a:solidFill>
                <a:effectLst/>
                <a:uLnTx/>
                <a:uFillTx/>
                <a:latin typeface="Candar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a:ln>
                <a:noFill/>
              </a:ln>
              <a:solidFill>
                <a:srgbClr val="4E5B6F"/>
              </a:solidFill>
              <a:effectLst/>
              <a:uLnTx/>
              <a:uFillTx/>
              <a:latin typeface="Candara"/>
              <a:ea typeface="+mn-ea"/>
              <a:cs typeface="+mn-cs"/>
            </a:endParaRPr>
          </a:p>
        </p:txBody>
      </p:sp>
      <p:sp>
        <p:nvSpPr>
          <p:cNvPr id="5" name="Rectangle 4"/>
          <p:cNvSpPr/>
          <p:nvPr/>
        </p:nvSpPr>
        <p:spPr>
          <a:xfrm>
            <a:off x="533400" y="2286000"/>
            <a:ext cx="8305800" cy="406265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In Einstein’s relation mass is commonly expressed in atomic mass units (u) and energy is commonly expressed in </a:t>
            </a:r>
            <a:r>
              <a:rPr kumimoji="0" lang="en-CA" sz="2400" b="0"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Verdana" panose="020B0604030504040204" pitchFamily="34" charset="0"/>
              </a:rPr>
              <a:t>millions of electron volts </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t>
            </a:r>
            <a:r>
              <a:rPr kumimoji="0" lang="en-CA" sz="2400" b="0"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Verdana" panose="020B0604030504040204" pitchFamily="34" charset="0"/>
              </a:rPr>
              <a:t>MeV</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So the speed of light squared is expressed in MeV/u with a value of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c</a:t>
            </a:r>
            <a:r>
              <a:rPr kumimoji="0" lang="en-CA" sz="2400" b="0" i="0" u="none" strike="noStrike" kern="1200" cap="none" spc="0" normalizeH="0" baseline="3000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2</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 931.494 MeV/u</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2400" dirty="0">
              <a:solidFill>
                <a:prstClr val="black"/>
              </a:solidFill>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1 MeV = 1.602 x 10</a:t>
            </a:r>
            <a:r>
              <a:rPr kumimoji="0" lang="en-CA" sz="2400" b="0" i="0" u="none" strike="noStrike" kern="1200" cap="none" spc="0" normalizeH="0" baseline="3000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-13</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J</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34831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E127A-0961-4A88-867B-1D81EC13FCDD}"/>
              </a:ext>
            </a:extLst>
          </p:cNvPr>
          <p:cNvSpPr>
            <a:spLocks noGrp="1"/>
          </p:cNvSpPr>
          <p:nvPr>
            <p:ph type="title"/>
          </p:nvPr>
        </p:nvSpPr>
        <p:spPr>
          <a:xfrm>
            <a:off x="114300" y="381000"/>
            <a:ext cx="8915400" cy="1252728"/>
          </a:xfrm>
        </p:spPr>
        <p:txBody>
          <a:bodyPr/>
          <a:lstStyle/>
          <a:p>
            <a:r>
              <a:rPr lang="en-CA" dirty="0"/>
              <a:t>Binding Energy – Empirical Relations</a:t>
            </a:r>
          </a:p>
        </p:txBody>
      </p:sp>
      <p:sp>
        <p:nvSpPr>
          <p:cNvPr id="3" name="Slide Number Placeholder 2">
            <a:extLst>
              <a:ext uri="{FF2B5EF4-FFF2-40B4-BE49-F238E27FC236}">
                <a16:creationId xmlns:a16="http://schemas.microsoft.com/office/drawing/2014/main" id="{9F3B2710-030C-4F55-ADF7-3EBCC29E35E7}"/>
              </a:ext>
            </a:extLst>
          </p:cNvPr>
          <p:cNvSpPr>
            <a:spLocks noGrp="1"/>
          </p:cNvSpPr>
          <p:nvPr>
            <p:ph type="sldNum" sz="quarter" idx="12"/>
          </p:nvPr>
        </p:nvSpPr>
        <p:spPr>
          <a:xfrm>
            <a:off x="8001000" y="6248400"/>
            <a:ext cx="934040" cy="365125"/>
          </a:xfrm>
        </p:spPr>
        <p:txBody>
          <a:bodyPr/>
          <a:lstStyle/>
          <a:p>
            <a:fld id="{070107C2-BA80-4C15-96AE-A43002ADF025}" type="slidenum">
              <a:rPr lang="en-US" smtClean="0"/>
              <a:t>14</a:t>
            </a:fld>
            <a:endParaRPr lang="en-US" dirty="0"/>
          </a:p>
        </p:txBody>
      </p:sp>
      <p:pic>
        <p:nvPicPr>
          <p:cNvPr id="5" name="Picture 4">
            <a:extLst>
              <a:ext uri="{FF2B5EF4-FFF2-40B4-BE49-F238E27FC236}">
                <a16:creationId xmlns:a16="http://schemas.microsoft.com/office/drawing/2014/main" id="{CAAD7E37-0A8D-454E-B0ED-0C8214E1EE81}"/>
              </a:ext>
            </a:extLst>
          </p:cNvPr>
          <p:cNvPicPr>
            <a:picLocks noChangeAspect="1"/>
          </p:cNvPicPr>
          <p:nvPr/>
        </p:nvPicPr>
        <p:blipFill rotWithShape="1">
          <a:blip r:embed="rId2"/>
          <a:srcRect l="58036" t="25244" r="8036" b="31932"/>
          <a:stretch/>
        </p:blipFill>
        <p:spPr>
          <a:xfrm>
            <a:off x="1840957" y="3149921"/>
            <a:ext cx="5462086" cy="1219200"/>
          </a:xfrm>
          <a:prstGeom prst="rect">
            <a:avLst/>
          </a:prstGeom>
        </p:spPr>
      </p:pic>
      <p:sp>
        <p:nvSpPr>
          <p:cNvPr id="7" name="TextBox 6">
            <a:extLst>
              <a:ext uri="{FF2B5EF4-FFF2-40B4-BE49-F238E27FC236}">
                <a16:creationId xmlns:a16="http://schemas.microsoft.com/office/drawing/2014/main" id="{046A4D86-2873-4DA4-8B6F-B699F40CB4D9}"/>
              </a:ext>
            </a:extLst>
          </p:cNvPr>
          <p:cNvSpPr txBox="1"/>
          <p:nvPr/>
        </p:nvSpPr>
        <p:spPr>
          <a:xfrm>
            <a:off x="228600" y="2688256"/>
            <a:ext cx="7924800" cy="646331"/>
          </a:xfrm>
          <a:prstGeom prst="rect">
            <a:avLst/>
          </a:prstGeom>
          <a:noFill/>
        </p:spPr>
        <p:txBody>
          <a:bodyPr wrap="square">
            <a:spAutoFit/>
          </a:bodyPr>
          <a:lstStyle/>
          <a:p>
            <a:r>
              <a:rPr lang="en-US" dirty="0">
                <a:effectLst/>
              </a:rPr>
              <a:t>From experimental observation, the following semiempirical formula for binding energy B of a nucleus as a function of A and Z has been derived:</a:t>
            </a:r>
          </a:p>
        </p:txBody>
      </p:sp>
      <p:sp>
        <p:nvSpPr>
          <p:cNvPr id="9" name="TextBox 8">
            <a:extLst>
              <a:ext uri="{FF2B5EF4-FFF2-40B4-BE49-F238E27FC236}">
                <a16:creationId xmlns:a16="http://schemas.microsoft.com/office/drawing/2014/main" id="{F92EB6BA-F155-4661-8072-E141C2D10AEB}"/>
              </a:ext>
            </a:extLst>
          </p:cNvPr>
          <p:cNvSpPr txBox="1"/>
          <p:nvPr/>
        </p:nvSpPr>
        <p:spPr>
          <a:xfrm>
            <a:off x="324440" y="3986501"/>
            <a:ext cx="8610600" cy="369332"/>
          </a:xfrm>
          <a:prstGeom prst="rect">
            <a:avLst/>
          </a:prstGeom>
          <a:noFill/>
        </p:spPr>
        <p:txBody>
          <a:bodyPr wrap="square">
            <a:spAutoFit/>
          </a:bodyPr>
          <a:lstStyle/>
          <a:p>
            <a:r>
              <a:rPr lang="en-US" dirty="0">
                <a:effectLst/>
              </a:rPr>
              <a:t>C1 = 2.5 × 10</a:t>
            </a:r>
            <a:r>
              <a:rPr lang="en-US" baseline="30000" dirty="0">
                <a:effectLst/>
              </a:rPr>
              <a:t>–12</a:t>
            </a:r>
            <a:r>
              <a:rPr lang="en-US" dirty="0">
                <a:effectLst/>
              </a:rPr>
              <a:t> J, C2 = –2.6 × 10</a:t>
            </a:r>
            <a:r>
              <a:rPr lang="en-US" baseline="30000" dirty="0">
                <a:effectLst/>
              </a:rPr>
              <a:t>–12</a:t>
            </a:r>
            <a:r>
              <a:rPr lang="en-US" dirty="0">
                <a:effectLst/>
              </a:rPr>
              <a:t> J, C3 = –0.114 × 10</a:t>
            </a:r>
            <a:r>
              <a:rPr lang="en-US" baseline="30000" dirty="0">
                <a:effectLst/>
              </a:rPr>
              <a:t>–12</a:t>
            </a:r>
            <a:r>
              <a:rPr lang="en-US" dirty="0">
                <a:effectLst/>
              </a:rPr>
              <a:t> J, and C4 = –3.8 × 10</a:t>
            </a:r>
            <a:r>
              <a:rPr lang="en-US" baseline="30000" dirty="0">
                <a:effectLst/>
              </a:rPr>
              <a:t>–12</a:t>
            </a:r>
            <a:r>
              <a:rPr lang="en-US" dirty="0">
                <a:effectLst/>
              </a:rPr>
              <a:t> J.</a:t>
            </a:r>
          </a:p>
        </p:txBody>
      </p:sp>
      <p:sp>
        <p:nvSpPr>
          <p:cNvPr id="11" name="TextBox 10">
            <a:extLst>
              <a:ext uri="{FF2B5EF4-FFF2-40B4-BE49-F238E27FC236}">
                <a16:creationId xmlns:a16="http://schemas.microsoft.com/office/drawing/2014/main" id="{680E71DC-7DC5-45D1-8649-819EEFE95643}"/>
              </a:ext>
            </a:extLst>
          </p:cNvPr>
          <p:cNvSpPr txBox="1"/>
          <p:nvPr/>
        </p:nvSpPr>
        <p:spPr>
          <a:xfrm>
            <a:off x="304800" y="4546082"/>
            <a:ext cx="8534400" cy="923330"/>
          </a:xfrm>
          <a:prstGeom prst="rect">
            <a:avLst/>
          </a:prstGeom>
          <a:noFill/>
        </p:spPr>
        <p:txBody>
          <a:bodyPr wrap="square">
            <a:spAutoFit/>
          </a:bodyPr>
          <a:lstStyle/>
          <a:p>
            <a:r>
              <a:rPr lang="en-US" dirty="0">
                <a:effectLst/>
              </a:rPr>
              <a:t>The ratio Z/A that results in the lowest energy state for the binding energy of the nucleus, and hence is predicted to be the </a:t>
            </a:r>
            <a:r>
              <a:rPr lang="en-US" b="1" dirty="0">
                <a:effectLst/>
              </a:rPr>
              <a:t>most likely value for a given value of A</a:t>
            </a:r>
            <a:r>
              <a:rPr lang="en-US" dirty="0">
                <a:effectLst/>
              </a:rPr>
              <a:t>, can be approximated by a related, empirically derived formula:</a:t>
            </a:r>
          </a:p>
        </p:txBody>
      </p:sp>
      <p:pic>
        <p:nvPicPr>
          <p:cNvPr id="13" name="Picture 12">
            <a:extLst>
              <a:ext uri="{FF2B5EF4-FFF2-40B4-BE49-F238E27FC236}">
                <a16:creationId xmlns:a16="http://schemas.microsoft.com/office/drawing/2014/main" id="{9A8F1639-BF6B-446F-9426-08807BB40C32}"/>
              </a:ext>
            </a:extLst>
          </p:cNvPr>
          <p:cNvPicPr>
            <a:picLocks noChangeAspect="1"/>
          </p:cNvPicPr>
          <p:nvPr/>
        </p:nvPicPr>
        <p:blipFill>
          <a:blip r:embed="rId3"/>
          <a:stretch>
            <a:fillRect/>
          </a:stretch>
        </p:blipFill>
        <p:spPr>
          <a:xfrm>
            <a:off x="1981200" y="5469412"/>
            <a:ext cx="4819650" cy="1038225"/>
          </a:xfrm>
          <a:prstGeom prst="rect">
            <a:avLst/>
          </a:prstGeom>
        </p:spPr>
      </p:pic>
    </p:spTree>
    <p:extLst>
      <p:ext uri="{BB962C8B-B14F-4D97-AF65-F5344CB8AC3E}">
        <p14:creationId xmlns:p14="http://schemas.microsoft.com/office/powerpoint/2010/main" val="552051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D41AD-6BEC-438B-B378-FD933D75E2B7}"/>
              </a:ext>
            </a:extLst>
          </p:cNvPr>
          <p:cNvSpPr>
            <a:spLocks noGrp="1"/>
          </p:cNvSpPr>
          <p:nvPr>
            <p:ph type="title"/>
          </p:nvPr>
        </p:nvSpPr>
        <p:spPr/>
        <p:txBody>
          <a:bodyPr/>
          <a:lstStyle/>
          <a:p>
            <a:r>
              <a:rPr lang="en-CA" dirty="0"/>
              <a:t>Binding Energy – Summary</a:t>
            </a:r>
          </a:p>
        </p:txBody>
      </p:sp>
      <p:sp>
        <p:nvSpPr>
          <p:cNvPr id="3" name="Slide Number Placeholder 2">
            <a:extLst>
              <a:ext uri="{FF2B5EF4-FFF2-40B4-BE49-F238E27FC236}">
                <a16:creationId xmlns:a16="http://schemas.microsoft.com/office/drawing/2014/main" id="{B4786488-08E0-4348-B44A-0D6DBB46FF37}"/>
              </a:ext>
            </a:extLst>
          </p:cNvPr>
          <p:cNvSpPr>
            <a:spLocks noGrp="1"/>
          </p:cNvSpPr>
          <p:nvPr>
            <p:ph type="sldNum" sz="quarter" idx="12"/>
          </p:nvPr>
        </p:nvSpPr>
        <p:spPr/>
        <p:txBody>
          <a:bodyPr/>
          <a:lstStyle/>
          <a:p>
            <a:fld id="{070107C2-BA80-4C15-96AE-A43002ADF025}" type="slidenum">
              <a:rPr lang="en-US" smtClean="0"/>
              <a:t>15</a:t>
            </a:fld>
            <a:endParaRPr lang="en-US"/>
          </a:p>
        </p:txBody>
      </p:sp>
      <p:sp>
        <p:nvSpPr>
          <p:cNvPr id="5" name="TextBox 4">
            <a:extLst>
              <a:ext uri="{FF2B5EF4-FFF2-40B4-BE49-F238E27FC236}">
                <a16:creationId xmlns:a16="http://schemas.microsoft.com/office/drawing/2014/main" id="{C543EAA9-982E-41D5-89A4-0237D503DE3C}"/>
              </a:ext>
            </a:extLst>
          </p:cNvPr>
          <p:cNvSpPr txBox="1"/>
          <p:nvPr/>
        </p:nvSpPr>
        <p:spPr>
          <a:xfrm>
            <a:off x="304800" y="2286000"/>
            <a:ext cx="8534400" cy="4401205"/>
          </a:xfrm>
          <a:prstGeom prst="rect">
            <a:avLst/>
          </a:prstGeom>
          <a:noFill/>
        </p:spPr>
        <p:txBody>
          <a:bodyPr wrap="square">
            <a:spAutoFit/>
          </a:bodyPr>
          <a:lstStyle/>
          <a:p>
            <a:pPr marL="342900" indent="-342900">
              <a:buFont typeface="Wingdings" panose="05000000000000000000" pitchFamily="2" charset="2"/>
              <a:buChar char="Ø"/>
            </a:pPr>
            <a:r>
              <a:rPr lang="en-US" sz="2000" dirty="0"/>
              <a:t>T</a:t>
            </a:r>
            <a:r>
              <a:rPr lang="en-US" sz="2000" dirty="0">
                <a:effectLst/>
              </a:rPr>
              <a:t>he binding energy of the nucleus tells us first that for light atoms, the number of neutrons and protons in the nucleus will be approximately equal, but for heavier atoms, the number of neutrons will exceed the number of protons. </a:t>
            </a:r>
            <a:endParaRPr lang="en-US" sz="2000" dirty="0"/>
          </a:p>
          <a:p>
            <a:endParaRPr lang="en-US" sz="2000" dirty="0">
              <a:effectLst/>
            </a:endParaRPr>
          </a:p>
          <a:p>
            <a:pPr marL="342900" indent="-342900">
              <a:buFont typeface="Wingdings" panose="05000000000000000000" pitchFamily="2" charset="2"/>
              <a:buChar char="Ø"/>
            </a:pPr>
            <a:r>
              <a:rPr lang="en-US" sz="2000" dirty="0">
                <a:effectLst/>
              </a:rPr>
              <a:t>Second, atoms with the strongest nuclear binding energy per nucleon occur in the middle of the periodic table, while those with the weakest binding energy occur at </a:t>
            </a:r>
            <a:r>
              <a:rPr lang="en-US" sz="2000" b="1" dirty="0">
                <a:effectLst/>
              </a:rPr>
              <a:t>either the light </a:t>
            </a:r>
            <a:r>
              <a:rPr lang="en-US" sz="2000" dirty="0">
                <a:effectLst/>
              </a:rPr>
              <a:t>or </a:t>
            </a:r>
            <a:r>
              <a:rPr lang="en-US" sz="2000" b="1" dirty="0">
                <a:effectLst/>
              </a:rPr>
              <a:t>heavy end of the element spectrum</a:t>
            </a:r>
            <a:r>
              <a:rPr lang="en-US" sz="2000" dirty="0">
                <a:effectLst/>
              </a:rPr>
              <a:t>. </a:t>
            </a:r>
          </a:p>
          <a:p>
            <a:endParaRPr lang="en-US" sz="2000" dirty="0"/>
          </a:p>
          <a:p>
            <a:pPr marL="342900" indent="-342900">
              <a:buFont typeface="Wingdings" panose="05000000000000000000" pitchFamily="2" charset="2"/>
              <a:buChar char="Ø"/>
            </a:pPr>
            <a:r>
              <a:rPr lang="en-US" sz="2000" dirty="0">
                <a:effectLst/>
              </a:rPr>
              <a:t>Nuclei with the lowest binding energy per nucleon will be the easiest to either </a:t>
            </a:r>
            <a:r>
              <a:rPr lang="en-US" sz="2000" i="1" dirty="0">
                <a:effectLst/>
              </a:rPr>
              <a:t>fuse together </a:t>
            </a:r>
            <a:r>
              <a:rPr lang="en-US" sz="2000" dirty="0">
                <a:effectLst/>
              </a:rPr>
              <a:t>(</a:t>
            </a:r>
            <a:r>
              <a:rPr lang="en-US" sz="2000" dirty="0">
                <a:solidFill>
                  <a:srgbClr val="0070C0"/>
                </a:solidFill>
                <a:effectLst/>
              </a:rPr>
              <a:t>nuclear </a:t>
            </a:r>
            <a:r>
              <a:rPr lang="en-US" sz="2000" b="1" dirty="0">
                <a:solidFill>
                  <a:srgbClr val="0070C0"/>
                </a:solidFill>
                <a:effectLst/>
              </a:rPr>
              <a:t>fusion</a:t>
            </a:r>
            <a:r>
              <a:rPr lang="en-US" sz="2000" dirty="0">
                <a:solidFill>
                  <a:srgbClr val="0070C0"/>
                </a:solidFill>
                <a:effectLst/>
              </a:rPr>
              <a:t> reactions</a:t>
            </a:r>
            <a:r>
              <a:rPr lang="en-US" sz="2000" dirty="0">
                <a:effectLst/>
              </a:rPr>
              <a:t>) or </a:t>
            </a:r>
            <a:r>
              <a:rPr lang="en-US" sz="2000" i="1" dirty="0">
                <a:effectLst/>
              </a:rPr>
              <a:t>break apart </a:t>
            </a:r>
            <a:r>
              <a:rPr lang="en-US" sz="2000" dirty="0">
                <a:effectLst/>
              </a:rPr>
              <a:t>(</a:t>
            </a:r>
            <a:r>
              <a:rPr lang="en-US" sz="2000" dirty="0">
                <a:solidFill>
                  <a:srgbClr val="0070C0"/>
                </a:solidFill>
                <a:effectLst/>
              </a:rPr>
              <a:t>nuclear </a:t>
            </a:r>
            <a:r>
              <a:rPr lang="en-US" sz="2000" b="1" dirty="0">
                <a:solidFill>
                  <a:srgbClr val="0070C0"/>
                </a:solidFill>
                <a:effectLst/>
              </a:rPr>
              <a:t>fission</a:t>
            </a:r>
            <a:r>
              <a:rPr lang="en-US" sz="2000" dirty="0">
                <a:solidFill>
                  <a:srgbClr val="0070C0"/>
                </a:solidFill>
                <a:effectLst/>
              </a:rPr>
              <a:t> reaction</a:t>
            </a:r>
            <a:r>
              <a:rPr lang="en-US" sz="2000" dirty="0">
                <a:effectLst/>
              </a:rPr>
              <a:t>). Therefore, the elements that are most suited for use in nuclear energy are either very light or very heavy.</a:t>
            </a:r>
          </a:p>
        </p:txBody>
      </p:sp>
    </p:spTree>
    <p:extLst>
      <p:ext uri="{BB962C8B-B14F-4D97-AF65-F5344CB8AC3E}">
        <p14:creationId xmlns:p14="http://schemas.microsoft.com/office/powerpoint/2010/main" val="1779024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Nuclear reactions</a:t>
            </a:r>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70107C2-BA80-4C15-96AE-A43002ADF025}" type="slidenum">
              <a:rPr kumimoji="0" lang="en-US" sz="1000" b="0" i="0" u="none" strike="noStrike" kern="1200" cap="none" spc="0" normalizeH="0" baseline="0" noProof="0" smtClean="0">
                <a:ln>
                  <a:noFill/>
                </a:ln>
                <a:solidFill>
                  <a:srgbClr val="4E5B6F"/>
                </a:solidFill>
                <a:effectLst/>
                <a:uLnTx/>
                <a:uFillTx/>
                <a:latin typeface="Candar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000" b="0" i="0" u="none" strike="noStrike" kern="1200" cap="none" spc="0" normalizeH="0" baseline="0" noProof="0">
              <a:ln>
                <a:noFill/>
              </a:ln>
              <a:solidFill>
                <a:srgbClr val="4E5B6F"/>
              </a:solidFill>
              <a:effectLst/>
              <a:uLnTx/>
              <a:uFillTx/>
              <a:latin typeface="Candara"/>
              <a:ea typeface="+mn-ea"/>
              <a:cs typeface="+mn-cs"/>
            </a:endParaRPr>
          </a:p>
        </p:txBody>
      </p:sp>
      <p:sp>
        <p:nvSpPr>
          <p:cNvPr id="5" name="Rectangle 4"/>
          <p:cNvSpPr/>
          <p:nvPr/>
        </p:nvSpPr>
        <p:spPr>
          <a:xfrm>
            <a:off x="609600" y="2743200"/>
            <a:ext cx="8077200" cy="187743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Nuclear reactions occur when a nucleus (A) is struck by a particle (a) resulting in the production of a nucleus (B) and a particle (b)</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dirty="0">
              <a:ln>
                <a:noFill/>
              </a:ln>
              <a:solidFill>
                <a:prstClr val="black"/>
              </a:solidFill>
              <a:effectLst/>
              <a:uLnTx/>
              <a:uFillTx/>
              <a:latin typeface="Candara"/>
              <a:ea typeface="+mn-ea"/>
              <a:cs typeface="+mn-cs"/>
            </a:endParaRPr>
          </a:p>
        </p:txBody>
      </p:sp>
      <p:pic>
        <p:nvPicPr>
          <p:cNvPr id="3" name="Picture 2"/>
          <p:cNvPicPr>
            <a:picLocks noChangeAspect="1"/>
          </p:cNvPicPr>
          <p:nvPr/>
        </p:nvPicPr>
        <p:blipFill rotWithShape="1">
          <a:blip r:embed="rId3"/>
          <a:srcRect r="36145"/>
          <a:stretch/>
        </p:blipFill>
        <p:spPr>
          <a:xfrm>
            <a:off x="505905" y="3681918"/>
            <a:ext cx="4038600" cy="814934"/>
          </a:xfrm>
          <a:prstGeom prst="rect">
            <a:avLst/>
          </a:prstGeom>
        </p:spPr>
      </p:pic>
      <p:sp>
        <p:nvSpPr>
          <p:cNvPr id="6" name="Rectangle 5">
            <a:extLst>
              <a:ext uri="{FF2B5EF4-FFF2-40B4-BE49-F238E27FC236}">
                <a16:creationId xmlns:a16="http://schemas.microsoft.com/office/drawing/2014/main" id="{9FA27750-AD11-44D9-9FBA-0B7664656AD0}"/>
              </a:ext>
            </a:extLst>
          </p:cNvPr>
          <p:cNvSpPr/>
          <p:nvPr/>
        </p:nvSpPr>
        <p:spPr>
          <a:xfrm>
            <a:off x="615099" y="4496852"/>
            <a:ext cx="8077200" cy="206210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An example of a nuclear reaction 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where the </a:t>
            </a:r>
            <a:r>
              <a:rPr kumimoji="0" lang="en-CA" sz="1600" b="0" i="0" u="none" strike="noStrike" kern="1200" cap="none" spc="0" normalizeH="0" baseline="3000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14</a:t>
            </a:r>
            <a:r>
              <a:rPr kumimoji="0" lang="en-CA"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N nucleus captured the incident neutron and emitted one of its protons leaving a </a:t>
            </a:r>
            <a:r>
              <a:rPr kumimoji="0" lang="en-CA" sz="1600" b="0" i="0" u="none" strike="noStrike" kern="1200" cap="none" spc="0" normalizeH="0" baseline="3000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14</a:t>
            </a:r>
            <a:r>
              <a:rPr kumimoji="0" lang="en-CA"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C nucleus behind.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100" b="0" i="0" u="none" strike="noStrike" kern="1200" cap="none" spc="0" normalizeH="0" baseline="0" noProof="0" dirty="0">
              <a:ln>
                <a:noFill/>
              </a:ln>
              <a:solidFill>
                <a:prstClr val="black"/>
              </a:solidFill>
              <a:effectLst/>
              <a:uLnTx/>
              <a:uFillTx/>
              <a:latin typeface="Candara"/>
              <a:ea typeface="+mn-ea"/>
              <a:cs typeface="+mn-cs"/>
            </a:endParaRPr>
          </a:p>
        </p:txBody>
      </p:sp>
      <p:pic>
        <p:nvPicPr>
          <p:cNvPr id="7" name="Picture 6">
            <a:extLst>
              <a:ext uri="{FF2B5EF4-FFF2-40B4-BE49-F238E27FC236}">
                <a16:creationId xmlns:a16="http://schemas.microsoft.com/office/drawing/2014/main" id="{1E8A87B2-10B1-4A22-9250-8513E4ED2C34}"/>
              </a:ext>
            </a:extLst>
          </p:cNvPr>
          <p:cNvPicPr>
            <a:picLocks noChangeAspect="1"/>
          </p:cNvPicPr>
          <p:nvPr/>
        </p:nvPicPr>
        <p:blipFill rotWithShape="1">
          <a:blip r:embed="rId4"/>
          <a:srcRect r="55403"/>
          <a:stretch/>
        </p:blipFill>
        <p:spPr>
          <a:xfrm>
            <a:off x="633167" y="5023038"/>
            <a:ext cx="2795833" cy="628650"/>
          </a:xfrm>
          <a:prstGeom prst="rect">
            <a:avLst/>
          </a:prstGeom>
        </p:spPr>
      </p:pic>
    </p:spTree>
    <p:extLst>
      <p:ext uri="{BB962C8B-B14F-4D97-AF65-F5344CB8AC3E}">
        <p14:creationId xmlns:p14="http://schemas.microsoft.com/office/powerpoint/2010/main" val="1714522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Gamma Decay</a:t>
            </a:r>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70107C2-BA80-4C15-96AE-A43002ADF025}" type="slidenum">
              <a:rPr kumimoji="0" lang="en-US" sz="1000" b="0" i="0" u="none" strike="noStrike" kern="1200" cap="none" spc="0" normalizeH="0" baseline="0" noProof="0" smtClean="0">
                <a:ln>
                  <a:noFill/>
                </a:ln>
                <a:solidFill>
                  <a:srgbClr val="4E5B6F"/>
                </a:solidFill>
                <a:effectLst/>
                <a:uLnTx/>
                <a:uFillTx/>
                <a:latin typeface="Candar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000" b="0" i="0" u="none" strike="noStrike" kern="1200" cap="none" spc="0" normalizeH="0" baseline="0" noProof="0">
              <a:ln>
                <a:noFill/>
              </a:ln>
              <a:solidFill>
                <a:srgbClr val="4E5B6F"/>
              </a:solidFill>
              <a:effectLst/>
              <a:uLnTx/>
              <a:uFillTx/>
              <a:latin typeface="Candara"/>
              <a:ea typeface="+mn-ea"/>
              <a:cs typeface="+mn-cs"/>
            </a:endParaRPr>
          </a:p>
        </p:txBody>
      </p:sp>
      <p:sp>
        <p:nvSpPr>
          <p:cNvPr id="5" name="Rectangle 4"/>
          <p:cNvSpPr/>
          <p:nvPr/>
        </p:nvSpPr>
        <p:spPr>
          <a:xfrm>
            <a:off x="855260" y="2433734"/>
            <a:ext cx="7848600" cy="430887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The (</a:t>
            </a:r>
            <a:r>
              <a:rPr kumimoji="0" lang="en-CA" sz="28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n,</a:t>
            </a:r>
            <a:r>
              <a:rPr kumimoji="0" lang="en-CA" sz="3200" b="0" i="0" u="none" strike="noStrike" kern="1200" cap="none" spc="0" normalizeH="0" baseline="0" noProof="0" dirty="0" err="1">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γ</a:t>
            </a:r>
            <a:r>
              <a:rPr kumimoji="0" lang="en-CA" sz="2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reaction results when </a:t>
            </a:r>
            <a:r>
              <a:rPr kumimoji="0" lang="en-CA" sz="280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 nucleus captures a neutron and is left in an excited state</a:t>
            </a:r>
            <a:r>
              <a:rPr kumimoji="0" lang="en-CA" sz="2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which then decays by </a:t>
            </a:r>
            <a:r>
              <a:rPr kumimoji="0" lang="en-CA" sz="2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gamma emission</a:t>
            </a:r>
            <a:r>
              <a:rPr kumimoji="0" lang="en-CA" sz="2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e.g.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80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This is an important reaction for nuclear reactors.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black"/>
              </a:solidFill>
              <a:effectLst/>
              <a:uLnTx/>
              <a:uFillTx/>
              <a:latin typeface="Candara"/>
              <a:ea typeface="+mn-ea"/>
              <a:cs typeface="+mn-cs"/>
            </a:endParaRPr>
          </a:p>
        </p:txBody>
      </p:sp>
      <p:pic>
        <p:nvPicPr>
          <p:cNvPr id="3" name="Picture 2"/>
          <p:cNvPicPr>
            <a:picLocks noChangeAspect="1"/>
          </p:cNvPicPr>
          <p:nvPr/>
        </p:nvPicPr>
        <p:blipFill rotWithShape="1">
          <a:blip r:embed="rId2"/>
          <a:srcRect r="14856"/>
          <a:stretch/>
        </p:blipFill>
        <p:spPr>
          <a:xfrm>
            <a:off x="855260" y="4237454"/>
            <a:ext cx="5240740" cy="935174"/>
          </a:xfrm>
          <a:prstGeom prst="rect">
            <a:avLst/>
          </a:prstGeom>
        </p:spPr>
      </p:pic>
    </p:spTree>
    <p:extLst>
      <p:ext uri="{BB962C8B-B14F-4D97-AF65-F5344CB8AC3E}">
        <p14:creationId xmlns:p14="http://schemas.microsoft.com/office/powerpoint/2010/main" val="4265051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Summary</a:t>
            </a:r>
            <a:endParaRPr lang="en-US" dirty="0"/>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70107C2-BA80-4C15-96AE-A43002ADF025}" type="slidenum">
              <a:rPr kumimoji="0" lang="en-US" sz="1000" b="0" i="0" u="none" strike="noStrike" kern="1200" cap="none" spc="0" normalizeH="0" baseline="0" noProof="0" smtClean="0">
                <a:ln>
                  <a:noFill/>
                </a:ln>
                <a:solidFill>
                  <a:srgbClr val="4E5B6F"/>
                </a:solidFill>
                <a:effectLst/>
                <a:uLnTx/>
                <a:uFillTx/>
                <a:latin typeface="Candar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000" b="0" i="0" u="none" strike="noStrike" kern="1200" cap="none" spc="0" normalizeH="0" baseline="0" noProof="0">
              <a:ln>
                <a:noFill/>
              </a:ln>
              <a:solidFill>
                <a:srgbClr val="4E5B6F"/>
              </a:solidFill>
              <a:effectLst/>
              <a:uLnTx/>
              <a:uFillTx/>
              <a:latin typeface="Candara"/>
              <a:ea typeface="+mn-ea"/>
              <a:cs typeface="+mn-cs"/>
            </a:endParaRPr>
          </a:p>
        </p:txBody>
      </p:sp>
      <p:sp>
        <p:nvSpPr>
          <p:cNvPr id="5" name="Rectangle 4"/>
          <p:cNvSpPr/>
          <p:nvPr/>
        </p:nvSpPr>
        <p:spPr>
          <a:xfrm>
            <a:off x="587604" y="2556425"/>
            <a:ext cx="8077200" cy="4093428"/>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The nucleus consists of neutrons and protons held together by the strong interaction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Light nuclei have approximately equal numbers of neutrons and protons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Heavy nuclei have more neutrons than protons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Unstable nuclei can decay by beta decay, alpha decay or gamma decay</a:t>
            </a:r>
          </a:p>
          <a:p>
            <a:pPr marR="0" lvl="0" algn="l" defTabSz="914400" rtl="0" eaLnBrk="1" fontAlgn="auto" latinLnBrk="0" hangingPunct="1">
              <a:lnSpc>
                <a:spcPct val="100000"/>
              </a:lnSpc>
              <a:spcBef>
                <a:spcPts val="0"/>
              </a:spcBef>
              <a:spcAft>
                <a:spcPts val="0"/>
              </a:spcAft>
              <a:buClrTx/>
              <a:buSzTx/>
              <a:tabLst/>
              <a:defRPr/>
            </a:pPr>
            <a:endPar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Nuclear binding energy can be released during nuclear decays and nuclear reactions</a:t>
            </a:r>
          </a:p>
        </p:txBody>
      </p:sp>
    </p:spTree>
    <p:extLst>
      <p:ext uri="{BB962C8B-B14F-4D97-AF65-F5344CB8AC3E}">
        <p14:creationId xmlns:p14="http://schemas.microsoft.com/office/powerpoint/2010/main" val="4224595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1F87A-59DA-4B32-9EA7-5B8A647E36BF}"/>
              </a:ext>
            </a:extLst>
          </p:cNvPr>
          <p:cNvSpPr>
            <a:spLocks noGrp="1"/>
          </p:cNvSpPr>
          <p:nvPr>
            <p:ph type="title"/>
          </p:nvPr>
        </p:nvSpPr>
        <p:spPr>
          <a:xfrm>
            <a:off x="457200" y="3124200"/>
            <a:ext cx="8229600" cy="1252728"/>
          </a:xfrm>
        </p:spPr>
        <p:txBody>
          <a:bodyPr/>
          <a:lstStyle/>
          <a:p>
            <a:r>
              <a:rPr lang="en-CA" dirty="0">
                <a:solidFill>
                  <a:schemeClr val="tx1"/>
                </a:solidFill>
              </a:rPr>
              <a:t>Part 2 Nuclear Fission</a:t>
            </a:r>
          </a:p>
        </p:txBody>
      </p:sp>
      <p:sp>
        <p:nvSpPr>
          <p:cNvPr id="3" name="Slide Number Placeholder 2">
            <a:extLst>
              <a:ext uri="{FF2B5EF4-FFF2-40B4-BE49-F238E27FC236}">
                <a16:creationId xmlns:a16="http://schemas.microsoft.com/office/drawing/2014/main" id="{B1339B4A-D053-4591-8D61-41EC837E5ABD}"/>
              </a:ext>
            </a:extLst>
          </p:cNvPr>
          <p:cNvSpPr>
            <a:spLocks noGrp="1"/>
          </p:cNvSpPr>
          <p:nvPr>
            <p:ph type="sldNum" sz="quarter" idx="12"/>
          </p:nvPr>
        </p:nvSpPr>
        <p:spPr/>
        <p:txBody>
          <a:bodyPr/>
          <a:lstStyle/>
          <a:p>
            <a:fld id="{070107C2-BA80-4C15-96AE-A43002ADF025}" type="slidenum">
              <a:rPr lang="en-US" smtClean="0"/>
              <a:t>19</a:t>
            </a:fld>
            <a:endParaRPr lang="en-US"/>
          </a:p>
        </p:txBody>
      </p:sp>
    </p:spTree>
    <p:extLst>
      <p:ext uri="{BB962C8B-B14F-4D97-AF65-F5344CB8AC3E}">
        <p14:creationId xmlns:p14="http://schemas.microsoft.com/office/powerpoint/2010/main" val="63905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Fission energy</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20</a:t>
            </a:fld>
            <a:endParaRPr lang="en-US"/>
          </a:p>
        </p:txBody>
      </p:sp>
      <p:sp>
        <p:nvSpPr>
          <p:cNvPr id="5" name="Rectangle 4"/>
          <p:cNvSpPr/>
          <p:nvPr/>
        </p:nvSpPr>
        <p:spPr>
          <a:xfrm>
            <a:off x="914400" y="2362200"/>
            <a:ext cx="7620000" cy="3754874"/>
          </a:xfrm>
          <a:prstGeom prst="rect">
            <a:avLst/>
          </a:prstGeom>
        </p:spPr>
        <p:txBody>
          <a:bodyPr wrap="square">
            <a:spAutoFit/>
          </a:bodyPr>
          <a:lstStyle/>
          <a:p>
            <a:endParaRPr lang="en-CA" dirty="0"/>
          </a:p>
          <a:p>
            <a:r>
              <a:rPr lang="en-CA" sz="2000" dirty="0">
                <a:latin typeface="Verdana" panose="020B0604030504040204" pitchFamily="34" charset="0"/>
                <a:ea typeface="Verdana" panose="020B0604030504040204" pitchFamily="34" charset="0"/>
                <a:cs typeface="Verdana" panose="020B0604030504040204" pitchFamily="34" charset="0"/>
              </a:rPr>
              <a:t>Nuclear reactions can be endothermic or exothermic and either require additional energy to proceed or produce excess energy, respectively.</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Reactions in which the total mass increases are endothermic and reactions where </a:t>
            </a:r>
            <a:r>
              <a:rPr lang="en-CA" sz="2000" b="1" dirty="0">
                <a:latin typeface="Verdana" panose="020B0604030504040204" pitchFamily="34" charset="0"/>
                <a:ea typeface="Verdana" panose="020B0604030504040204" pitchFamily="34" charset="0"/>
                <a:cs typeface="Verdana" panose="020B0604030504040204" pitchFamily="34" charset="0"/>
              </a:rPr>
              <a:t>the total mass decreases are exothermic</a:t>
            </a:r>
            <a:r>
              <a:rPr lang="en-CA" sz="2000" dirty="0">
                <a:latin typeface="Verdana" panose="020B0604030504040204" pitchFamily="34" charset="0"/>
                <a:ea typeface="Verdana" panose="020B0604030504040204" pitchFamily="34" charset="0"/>
                <a:cs typeface="Verdana" panose="020B0604030504040204" pitchFamily="34" charset="0"/>
              </a:rPr>
              <a:t>.</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Changes in the mass represent changes in the nuclear binding energy.</a:t>
            </a:r>
          </a:p>
          <a:p>
            <a:endParaRPr lang="en-CA"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775809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Exothermic reactions</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21</a:t>
            </a:fld>
            <a:endParaRPr lang="en-US"/>
          </a:p>
        </p:txBody>
      </p:sp>
      <p:sp>
        <p:nvSpPr>
          <p:cNvPr id="5" name="Rectangle 4"/>
          <p:cNvSpPr/>
          <p:nvPr/>
        </p:nvSpPr>
        <p:spPr>
          <a:xfrm>
            <a:off x="664590" y="2286000"/>
            <a:ext cx="8022210" cy="4062651"/>
          </a:xfrm>
          <a:prstGeom prst="rect">
            <a:avLst/>
          </a:prstGeom>
        </p:spPr>
        <p:txBody>
          <a:bodyPr wrap="square">
            <a:spAutoFit/>
          </a:bodyPr>
          <a:lstStyle/>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Nuclear reactions (like chemical reactions) can be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exothermic (if they </a:t>
            </a:r>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give up energy</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or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endothermic (if they </a:t>
            </a:r>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require energy </a:t>
            </a:r>
            <a:r>
              <a:rPr kumimoji="0" lang="en-CA"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to proceed) </a:t>
            </a:r>
          </a:p>
          <a:p>
            <a:endParaRPr lang="en-CA" sz="2400" dirty="0">
              <a:latin typeface="Verdana" panose="020B0604030504040204" pitchFamily="34" charset="0"/>
              <a:ea typeface="Verdana" panose="020B0604030504040204" pitchFamily="34" charset="0"/>
              <a:cs typeface="Verdana" panose="020B0604030504040204" pitchFamily="34" charset="0"/>
            </a:endParaRPr>
          </a:p>
          <a:p>
            <a:r>
              <a:rPr lang="en-CA" sz="2400" dirty="0">
                <a:latin typeface="Verdana" panose="020B0604030504040204" pitchFamily="34" charset="0"/>
                <a:ea typeface="Verdana" panose="020B0604030504040204" pitchFamily="34" charset="0"/>
                <a:cs typeface="Verdana" panose="020B0604030504040204" pitchFamily="34" charset="0"/>
              </a:rPr>
              <a:t>Exothermic reactions can be used to produce useful energy in the form of heat which can be used to generate electricity.</a:t>
            </a:r>
          </a:p>
          <a:p>
            <a:endParaRPr lang="en-CA"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120829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Energy per fission</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22</a:t>
            </a:fld>
            <a:endParaRPr lang="en-US"/>
          </a:p>
        </p:txBody>
      </p:sp>
      <p:sp>
        <p:nvSpPr>
          <p:cNvPr id="5" name="Rectangle 4"/>
          <p:cNvSpPr/>
          <p:nvPr/>
        </p:nvSpPr>
        <p:spPr>
          <a:xfrm>
            <a:off x="457200" y="2057400"/>
            <a:ext cx="8305800" cy="5293757"/>
          </a:xfrm>
          <a:prstGeom prst="rect">
            <a:avLst/>
          </a:prstGeom>
        </p:spPr>
        <p:txBody>
          <a:bodyPr wrap="square">
            <a:spAutoFit/>
          </a:bodyPr>
          <a:lstStyle/>
          <a:p>
            <a:endParaRPr lang="en-CA" dirty="0"/>
          </a:p>
          <a:p>
            <a:r>
              <a:rPr lang="en-CA" sz="2000" baseline="30000" dirty="0">
                <a:latin typeface="Verdana" panose="020B0604030504040204" pitchFamily="34" charset="0"/>
                <a:ea typeface="Verdana" panose="020B0604030504040204" pitchFamily="34" charset="0"/>
                <a:cs typeface="Verdana" panose="020B0604030504040204" pitchFamily="34" charset="0"/>
              </a:rPr>
              <a:t>238</a:t>
            </a:r>
            <a:r>
              <a:rPr lang="en-CA" sz="2000" dirty="0">
                <a:latin typeface="Verdana" panose="020B0604030504040204" pitchFamily="34" charset="0"/>
                <a:ea typeface="Verdana" panose="020B0604030504040204" pitchFamily="34" charset="0"/>
                <a:cs typeface="Verdana" panose="020B0604030504040204" pitchFamily="34" charset="0"/>
              </a:rPr>
              <a:t>U is an example of a heavy nucleus that produces energy when undergoing fission.</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baseline="30000" dirty="0">
                <a:latin typeface="Verdana" panose="020B0604030504040204" pitchFamily="34" charset="0"/>
                <a:ea typeface="Verdana" panose="020B0604030504040204" pitchFamily="34" charset="0"/>
                <a:cs typeface="Verdana" panose="020B0604030504040204" pitchFamily="34" charset="0"/>
              </a:rPr>
              <a:t>238</a:t>
            </a:r>
            <a:r>
              <a:rPr lang="en-CA" sz="2000" dirty="0">
                <a:latin typeface="Verdana" panose="020B0604030504040204" pitchFamily="34" charset="0"/>
                <a:ea typeface="Verdana" panose="020B0604030504040204" pitchFamily="34" charset="0"/>
                <a:cs typeface="Verdana" panose="020B0604030504040204" pitchFamily="34" charset="0"/>
              </a:rPr>
              <a:t>U has binding energy of about 7.57 MeV per nucleon for a total nuclear binding energy of</a:t>
            </a:r>
          </a:p>
          <a:p>
            <a:r>
              <a:rPr lang="en-CA" sz="2000" dirty="0">
                <a:latin typeface="Verdana" panose="020B0604030504040204" pitchFamily="34" charset="0"/>
                <a:ea typeface="Verdana" panose="020B0604030504040204" pitchFamily="34" charset="0"/>
                <a:cs typeface="Verdana" panose="020B0604030504040204" pitchFamily="34" charset="0"/>
              </a:rPr>
              <a:t>	(238)×(7.57 MeV) = 1800 MeV</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If a </a:t>
            </a:r>
            <a:r>
              <a:rPr lang="en-CA" sz="2000" baseline="30000" dirty="0">
                <a:latin typeface="Verdana" panose="020B0604030504040204" pitchFamily="34" charset="0"/>
                <a:ea typeface="Verdana" panose="020B0604030504040204" pitchFamily="34" charset="0"/>
                <a:cs typeface="Verdana" panose="020B0604030504040204" pitchFamily="34" charset="0"/>
              </a:rPr>
              <a:t>238</a:t>
            </a:r>
            <a:r>
              <a:rPr lang="en-CA" sz="2000" dirty="0">
                <a:latin typeface="Verdana" panose="020B0604030504040204" pitchFamily="34" charset="0"/>
                <a:ea typeface="Verdana" panose="020B0604030504040204" pitchFamily="34" charset="0"/>
                <a:cs typeface="Verdana" panose="020B0604030504040204" pitchFamily="34" charset="0"/>
              </a:rPr>
              <a:t>U nucleus breaks into two nuclei with 119 nucleons then each fission fragment will have about 8.50 MeV per nucleon for a total binding energy of</a:t>
            </a:r>
          </a:p>
          <a:p>
            <a:r>
              <a:rPr lang="en-CA" sz="2000" dirty="0">
                <a:latin typeface="Verdana" panose="020B0604030504040204" pitchFamily="34" charset="0"/>
                <a:ea typeface="Verdana" panose="020B0604030504040204" pitchFamily="34" charset="0"/>
                <a:cs typeface="Verdana" panose="020B0604030504040204" pitchFamily="34" charset="0"/>
              </a:rPr>
              <a:t>	(238)×(8.50 MeV) = 2020 MeV</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For an energy release of </a:t>
            </a:r>
          </a:p>
          <a:p>
            <a:r>
              <a:rPr lang="en-CA" sz="2000" dirty="0">
                <a:latin typeface="Verdana" panose="020B0604030504040204" pitchFamily="34" charset="0"/>
                <a:ea typeface="Verdana" panose="020B0604030504040204" pitchFamily="34" charset="0"/>
                <a:cs typeface="Verdana" panose="020B0604030504040204" pitchFamily="34" charset="0"/>
              </a:rPr>
              <a:t>	(2020 MeV) - (1800 MeV) = 220 MeV per fission</a:t>
            </a:r>
          </a:p>
          <a:p>
            <a:endParaRPr lang="en-CA" sz="2000" dirty="0">
              <a:latin typeface="Verdana" panose="020B0604030504040204" pitchFamily="34" charset="0"/>
              <a:ea typeface="Verdana" panose="020B0604030504040204" pitchFamily="34" charset="0"/>
              <a:cs typeface="Verdana" panose="020B0604030504040204" pitchFamily="34" charset="0"/>
            </a:endParaRPr>
          </a:p>
          <a:p>
            <a:endParaRPr lang="en-CA"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983181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Spontaneous fission</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23</a:t>
            </a:fld>
            <a:endParaRPr lang="en-US"/>
          </a:p>
        </p:txBody>
      </p:sp>
      <p:sp>
        <p:nvSpPr>
          <p:cNvPr id="5" name="Rectangle 4"/>
          <p:cNvSpPr/>
          <p:nvPr/>
        </p:nvSpPr>
        <p:spPr>
          <a:xfrm>
            <a:off x="914400" y="2438400"/>
            <a:ext cx="7696200" cy="2800767"/>
          </a:xfrm>
          <a:prstGeom prst="rect">
            <a:avLst/>
          </a:prstGeom>
        </p:spPr>
        <p:txBody>
          <a:bodyPr wrap="square">
            <a:spAutoFit/>
          </a:bodyPr>
          <a:lstStyle/>
          <a:p>
            <a:endParaRPr lang="en-CA" dirty="0"/>
          </a:p>
          <a:p>
            <a:r>
              <a:rPr lang="en-CA" sz="2000" dirty="0">
                <a:latin typeface="Verdana" panose="020B0604030504040204" pitchFamily="34" charset="0"/>
                <a:ea typeface="Verdana" panose="020B0604030504040204" pitchFamily="34" charset="0"/>
                <a:cs typeface="Verdana" panose="020B0604030504040204" pitchFamily="34" charset="0"/>
              </a:rPr>
              <a:t>Spontaneous fission is a very slow process.</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The probability of fission can be greatly increased by providing additional energy to the nucleus.</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One convenient way of providing energy is by </a:t>
            </a:r>
            <a:r>
              <a:rPr lang="en-CA" sz="2000" b="1" dirty="0">
                <a:solidFill>
                  <a:srgbClr val="0070C0"/>
                </a:solidFill>
                <a:latin typeface="Verdana" panose="020B0604030504040204" pitchFamily="34" charset="0"/>
                <a:ea typeface="Verdana" panose="020B0604030504040204" pitchFamily="34" charset="0"/>
                <a:cs typeface="Verdana" panose="020B0604030504040204" pitchFamily="34" charset="0"/>
              </a:rPr>
              <a:t>neutron bombardment</a:t>
            </a:r>
            <a:r>
              <a:rPr lang="en-CA" sz="2000" dirty="0">
                <a:latin typeface="Verdana" panose="020B0604030504040204" pitchFamily="34" charset="0"/>
                <a:ea typeface="Verdana" panose="020B0604030504040204" pitchFamily="34" charset="0"/>
                <a:cs typeface="Verdana" panose="020B0604030504040204" pitchFamily="34" charset="0"/>
              </a:rPr>
              <a:t>.</a:t>
            </a:r>
          </a:p>
          <a:p>
            <a:endParaRPr lang="en-CA" dirty="0"/>
          </a:p>
        </p:txBody>
      </p:sp>
    </p:spTree>
    <p:extLst>
      <p:ext uri="{BB962C8B-B14F-4D97-AF65-F5344CB8AC3E}">
        <p14:creationId xmlns:p14="http://schemas.microsoft.com/office/powerpoint/2010/main" val="14505111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Typical fission reactions</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24</a:t>
            </a:fld>
            <a:endParaRPr lang="en-US"/>
          </a:p>
        </p:txBody>
      </p:sp>
      <p:sp>
        <p:nvSpPr>
          <p:cNvPr id="5" name="Rectangle 4"/>
          <p:cNvSpPr/>
          <p:nvPr/>
        </p:nvSpPr>
        <p:spPr>
          <a:xfrm>
            <a:off x="450130" y="1575345"/>
            <a:ext cx="8229600" cy="4985980"/>
          </a:xfrm>
          <a:prstGeom prst="rect">
            <a:avLst/>
          </a:prstGeom>
        </p:spPr>
        <p:txBody>
          <a:bodyPr wrap="square">
            <a:spAutoFit/>
          </a:bodyPr>
          <a:lstStyle/>
          <a:p>
            <a:endParaRPr lang="en-CA" dirty="0"/>
          </a:p>
          <a:p>
            <a:r>
              <a:rPr lang="en-CA" sz="2000" dirty="0">
                <a:latin typeface="Verdana" panose="020B0604030504040204" pitchFamily="34" charset="0"/>
                <a:ea typeface="Verdana" panose="020B0604030504040204" pitchFamily="34" charset="0"/>
                <a:cs typeface="Verdana" panose="020B0604030504040204" pitchFamily="34" charset="0"/>
              </a:rPr>
              <a:t>Fissile </a:t>
            </a:r>
            <a:r>
              <a:rPr lang="en-CA" sz="2000" baseline="30000" dirty="0">
                <a:latin typeface="Verdana" panose="020B0604030504040204" pitchFamily="34" charset="0"/>
                <a:ea typeface="Verdana" panose="020B0604030504040204" pitchFamily="34" charset="0"/>
                <a:cs typeface="Verdana" panose="020B0604030504040204" pitchFamily="34" charset="0"/>
              </a:rPr>
              <a:t>235</a:t>
            </a:r>
            <a:r>
              <a:rPr lang="en-CA" sz="2000" dirty="0">
                <a:latin typeface="Verdana" panose="020B0604030504040204" pitchFamily="34" charset="0"/>
                <a:ea typeface="Verdana" panose="020B0604030504040204" pitchFamily="34" charset="0"/>
                <a:cs typeface="Verdana" panose="020B0604030504040204" pitchFamily="34" charset="0"/>
              </a:rPr>
              <a:t>U can be used as a fission reactor fuel.</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A typical fission process might be</a:t>
            </a:r>
          </a:p>
          <a:p>
            <a:endParaRPr lang="en-CA" sz="2000" dirty="0">
              <a:latin typeface="Verdana" panose="020B0604030504040204" pitchFamily="34" charset="0"/>
              <a:ea typeface="Verdana" panose="020B0604030504040204" pitchFamily="34" charset="0"/>
              <a:cs typeface="Verdana" panose="020B0604030504040204" pitchFamily="34" charset="0"/>
            </a:endParaRPr>
          </a:p>
          <a:p>
            <a:endParaRPr lang="en-CA" sz="2000" dirty="0">
              <a:latin typeface="Verdana" panose="020B0604030504040204" pitchFamily="34" charset="0"/>
              <a:ea typeface="Verdana" panose="020B0604030504040204" pitchFamily="34" charset="0"/>
              <a:cs typeface="Verdana" panose="020B0604030504040204" pitchFamily="34" charset="0"/>
            </a:endParaRP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The left over neutrons (in this case three of them) are explained by the </a:t>
            </a:r>
            <a:r>
              <a:rPr lang="en-CA" sz="2000" dirty="0" err="1">
                <a:latin typeface="Verdana" panose="020B0604030504040204" pitchFamily="34" charset="0"/>
                <a:ea typeface="Verdana" panose="020B0604030504040204" pitchFamily="34" charset="0"/>
                <a:cs typeface="Verdana" panose="020B0604030504040204" pitchFamily="34" charset="0"/>
              </a:rPr>
              <a:t>Segrè</a:t>
            </a:r>
            <a:r>
              <a:rPr lang="en-CA" sz="2000" dirty="0">
                <a:latin typeface="Verdana" panose="020B0604030504040204" pitchFamily="34" charset="0"/>
                <a:ea typeface="Verdana" panose="020B0604030504040204" pitchFamily="34" charset="0"/>
                <a:cs typeface="Verdana" panose="020B0604030504040204" pitchFamily="34" charset="0"/>
              </a:rPr>
              <a:t> plot - </a:t>
            </a:r>
            <a:r>
              <a:rPr lang="en-CA" sz="2000" b="1" dirty="0">
                <a:latin typeface="Verdana" panose="020B0604030504040204" pitchFamily="34" charset="0"/>
                <a:ea typeface="Verdana" panose="020B0604030504040204" pitchFamily="34" charset="0"/>
                <a:cs typeface="Verdana" panose="020B0604030504040204" pitchFamily="34" charset="0"/>
              </a:rPr>
              <a:t>heavy nuclei require a greater </a:t>
            </a:r>
            <a:r>
              <a:rPr lang="en-CA" sz="2000" b="1" i="1" dirty="0">
                <a:latin typeface="Verdana" panose="020B0604030504040204" pitchFamily="34" charset="0"/>
                <a:ea typeface="Verdana" panose="020B0604030504040204" pitchFamily="34" charset="0"/>
                <a:cs typeface="Verdana" panose="020B0604030504040204" pitchFamily="34" charset="0"/>
              </a:rPr>
              <a:t>N</a:t>
            </a:r>
            <a:r>
              <a:rPr lang="en-CA" sz="2000" b="1" dirty="0">
                <a:latin typeface="Verdana" panose="020B0604030504040204" pitchFamily="34" charset="0"/>
                <a:ea typeface="Verdana" panose="020B0604030504040204" pitchFamily="34" charset="0"/>
                <a:cs typeface="Verdana" panose="020B0604030504040204" pitchFamily="34" charset="0"/>
              </a:rPr>
              <a:t>/</a:t>
            </a:r>
            <a:r>
              <a:rPr lang="en-CA" sz="2000" b="1" i="1" dirty="0">
                <a:latin typeface="Verdana" panose="020B0604030504040204" pitchFamily="34" charset="0"/>
                <a:ea typeface="Verdana" panose="020B0604030504040204" pitchFamily="34" charset="0"/>
                <a:cs typeface="Verdana" panose="020B0604030504040204" pitchFamily="34" charset="0"/>
              </a:rPr>
              <a:t>Z</a:t>
            </a:r>
            <a:r>
              <a:rPr lang="en-CA" sz="2000" b="1" dirty="0">
                <a:latin typeface="Verdana" panose="020B0604030504040204" pitchFamily="34" charset="0"/>
                <a:ea typeface="Verdana" panose="020B0604030504040204" pitchFamily="34" charset="0"/>
                <a:cs typeface="Verdana" panose="020B0604030504040204" pitchFamily="34" charset="0"/>
              </a:rPr>
              <a:t> ratio than lighter nuclei to be stable</a:t>
            </a:r>
            <a:r>
              <a:rPr lang="en-CA" sz="2000" dirty="0">
                <a:latin typeface="Verdana" panose="020B0604030504040204" pitchFamily="34" charset="0"/>
                <a:ea typeface="Verdana" panose="020B0604030504040204" pitchFamily="34" charset="0"/>
                <a:cs typeface="Verdana" panose="020B0604030504040204" pitchFamily="34" charset="0"/>
              </a:rPr>
              <a:t>.</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Thus when a heavy nucleus breaks into two lighter nuclei neutrons will be left over.</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b="1" dirty="0">
                <a:solidFill>
                  <a:srgbClr val="0070C0"/>
                </a:solidFill>
                <a:latin typeface="Verdana" panose="020B0604030504040204" pitchFamily="34" charset="0"/>
                <a:ea typeface="Verdana" panose="020B0604030504040204" pitchFamily="34" charset="0"/>
                <a:cs typeface="Verdana" panose="020B0604030504040204" pitchFamily="34" charset="0"/>
              </a:rPr>
              <a:t>These neutrons are what fuel further induced fission processes and create a chain reaction</a:t>
            </a:r>
            <a:r>
              <a:rPr lang="en-CA" sz="2000" dirty="0">
                <a:latin typeface="Verdana" panose="020B0604030504040204" pitchFamily="34" charset="0"/>
                <a:ea typeface="Verdana" panose="020B0604030504040204" pitchFamily="34" charset="0"/>
                <a:cs typeface="Verdana" panose="020B0604030504040204" pitchFamily="34" charset="0"/>
              </a:rPr>
              <a:t>.</a:t>
            </a:r>
          </a:p>
        </p:txBody>
      </p:sp>
      <p:pic>
        <p:nvPicPr>
          <p:cNvPr id="6" name="Picture 5"/>
          <p:cNvPicPr>
            <a:picLocks noChangeAspect="1"/>
          </p:cNvPicPr>
          <p:nvPr/>
        </p:nvPicPr>
        <p:blipFill>
          <a:blip r:embed="rId2"/>
          <a:stretch>
            <a:fillRect/>
          </a:stretch>
        </p:blipFill>
        <p:spPr>
          <a:xfrm>
            <a:off x="681441" y="2977857"/>
            <a:ext cx="7766977" cy="451143"/>
          </a:xfrm>
          <a:prstGeom prst="rect">
            <a:avLst/>
          </a:prstGeom>
        </p:spPr>
      </p:pic>
    </p:spTree>
    <p:extLst>
      <p:ext uri="{BB962C8B-B14F-4D97-AF65-F5344CB8AC3E}">
        <p14:creationId xmlns:p14="http://schemas.microsoft.com/office/powerpoint/2010/main" val="25130437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Isotopes of Uranium</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25</a:t>
            </a:fld>
            <a:endParaRPr lang="en-US"/>
          </a:p>
        </p:txBody>
      </p:sp>
      <p:sp>
        <p:nvSpPr>
          <p:cNvPr id="5" name="Rectangle 4"/>
          <p:cNvSpPr/>
          <p:nvPr/>
        </p:nvSpPr>
        <p:spPr>
          <a:xfrm>
            <a:off x="723900" y="2514600"/>
            <a:ext cx="7696200" cy="3447098"/>
          </a:xfrm>
          <a:prstGeom prst="rect">
            <a:avLst/>
          </a:prstGeom>
        </p:spPr>
        <p:txBody>
          <a:bodyPr wrap="square">
            <a:spAutoFit/>
          </a:bodyPr>
          <a:lstStyle/>
          <a:p>
            <a:endParaRPr lang="en-CA" dirty="0"/>
          </a:p>
          <a:p>
            <a:r>
              <a:rPr lang="en-CA" sz="2000" dirty="0">
                <a:latin typeface="Verdana" panose="020B0604030504040204" pitchFamily="34" charset="0"/>
                <a:ea typeface="Verdana" panose="020B0604030504040204" pitchFamily="34" charset="0"/>
                <a:cs typeface="Verdana" panose="020B0604030504040204" pitchFamily="34" charset="0"/>
              </a:rPr>
              <a:t>Uranium and Thorium are the only two naturally occurring elements that are suitable for nuclear fission.</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All current nuclear reactors use uranium as a fuel.</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Isotopes of uranium</a:t>
            </a:r>
          </a:p>
          <a:p>
            <a:endParaRPr lang="en-CA"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sz="2000" b="1" baseline="30000" dirty="0">
                <a:latin typeface="Verdana" panose="020B0604030504040204" pitchFamily="34" charset="0"/>
                <a:ea typeface="Verdana" panose="020B0604030504040204" pitchFamily="34" charset="0"/>
                <a:cs typeface="Verdana" panose="020B0604030504040204" pitchFamily="34" charset="0"/>
              </a:rPr>
              <a:t>235</a:t>
            </a:r>
            <a:r>
              <a:rPr lang="en-CA" sz="2000" b="1" dirty="0">
                <a:latin typeface="Verdana" panose="020B0604030504040204" pitchFamily="34" charset="0"/>
                <a:ea typeface="Verdana" panose="020B0604030504040204" pitchFamily="34" charset="0"/>
                <a:cs typeface="Verdana" panose="020B0604030504040204" pitchFamily="34" charset="0"/>
              </a:rPr>
              <a:t>U</a:t>
            </a:r>
            <a:r>
              <a:rPr lang="en-CA" sz="2000" dirty="0">
                <a:latin typeface="Verdana" panose="020B0604030504040204" pitchFamily="34" charset="0"/>
                <a:ea typeface="Verdana" panose="020B0604030504040204" pitchFamily="34" charset="0"/>
                <a:cs typeface="Verdana" panose="020B0604030504040204" pitchFamily="34" charset="0"/>
              </a:rPr>
              <a:t>  0.72% naturally abundant</a:t>
            </a:r>
          </a:p>
          <a:p>
            <a:pPr marL="342900" indent="-342900">
              <a:buFont typeface="Arial" panose="020B0604020202020204" pitchFamily="34" charset="0"/>
              <a:buChar char="•"/>
            </a:pPr>
            <a:endParaRPr lang="en-CA"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sz="2000" b="1" baseline="30000" dirty="0">
                <a:latin typeface="Verdana" panose="020B0604030504040204" pitchFamily="34" charset="0"/>
                <a:ea typeface="Verdana" panose="020B0604030504040204" pitchFamily="34" charset="0"/>
                <a:cs typeface="Verdana" panose="020B0604030504040204" pitchFamily="34" charset="0"/>
              </a:rPr>
              <a:t>238</a:t>
            </a:r>
            <a:r>
              <a:rPr lang="en-CA" sz="2000" b="1" dirty="0">
                <a:latin typeface="Verdana" panose="020B0604030504040204" pitchFamily="34" charset="0"/>
                <a:ea typeface="Verdana" panose="020B0604030504040204" pitchFamily="34" charset="0"/>
                <a:cs typeface="Verdana" panose="020B0604030504040204" pitchFamily="34" charset="0"/>
              </a:rPr>
              <a:t>U</a:t>
            </a:r>
            <a:r>
              <a:rPr lang="en-CA" sz="2000" dirty="0">
                <a:latin typeface="Verdana" panose="020B0604030504040204" pitchFamily="34" charset="0"/>
                <a:ea typeface="Verdana" panose="020B0604030504040204" pitchFamily="34" charset="0"/>
                <a:cs typeface="Verdana" panose="020B0604030504040204" pitchFamily="34" charset="0"/>
              </a:rPr>
              <a:t>  99.28% naturally abundant</a:t>
            </a:r>
          </a:p>
        </p:txBody>
      </p:sp>
    </p:spTree>
    <p:extLst>
      <p:ext uri="{BB962C8B-B14F-4D97-AF65-F5344CB8AC3E}">
        <p14:creationId xmlns:p14="http://schemas.microsoft.com/office/powerpoint/2010/main" val="31887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BB144-2297-4432-8E2E-FC6CE8DC3D6F}"/>
              </a:ext>
            </a:extLst>
          </p:cNvPr>
          <p:cNvSpPr>
            <a:spLocks noGrp="1"/>
          </p:cNvSpPr>
          <p:nvPr>
            <p:ph type="title"/>
          </p:nvPr>
        </p:nvSpPr>
        <p:spPr>
          <a:xfrm>
            <a:off x="152400" y="338328"/>
            <a:ext cx="8782640" cy="1252728"/>
          </a:xfrm>
        </p:spPr>
        <p:txBody>
          <a:bodyPr>
            <a:normAutofit/>
          </a:bodyPr>
          <a:lstStyle/>
          <a:p>
            <a:r>
              <a:rPr lang="en-CA" sz="3200" dirty="0"/>
              <a:t>Energy Released per Fission of U-235</a:t>
            </a:r>
          </a:p>
        </p:txBody>
      </p:sp>
      <p:sp>
        <p:nvSpPr>
          <p:cNvPr id="3" name="Slide Number Placeholder 2">
            <a:extLst>
              <a:ext uri="{FF2B5EF4-FFF2-40B4-BE49-F238E27FC236}">
                <a16:creationId xmlns:a16="http://schemas.microsoft.com/office/drawing/2014/main" id="{93AE456D-AE9C-4AE8-BF8C-CBEFE647ABF1}"/>
              </a:ext>
            </a:extLst>
          </p:cNvPr>
          <p:cNvSpPr>
            <a:spLocks noGrp="1"/>
          </p:cNvSpPr>
          <p:nvPr>
            <p:ph type="sldNum" sz="quarter" idx="12"/>
          </p:nvPr>
        </p:nvSpPr>
        <p:spPr/>
        <p:txBody>
          <a:bodyPr/>
          <a:lstStyle/>
          <a:p>
            <a:fld id="{070107C2-BA80-4C15-96AE-A43002ADF025}" type="slidenum">
              <a:rPr lang="en-US" smtClean="0"/>
              <a:t>26</a:t>
            </a:fld>
            <a:endParaRPr lang="en-US"/>
          </a:p>
        </p:txBody>
      </p:sp>
      <p:pic>
        <p:nvPicPr>
          <p:cNvPr id="7" name="Picture 6">
            <a:extLst>
              <a:ext uri="{FF2B5EF4-FFF2-40B4-BE49-F238E27FC236}">
                <a16:creationId xmlns:a16="http://schemas.microsoft.com/office/drawing/2014/main" id="{298D1370-619B-46FB-9619-6422C28A1672}"/>
              </a:ext>
            </a:extLst>
          </p:cNvPr>
          <p:cNvPicPr>
            <a:picLocks noChangeAspect="1"/>
          </p:cNvPicPr>
          <p:nvPr/>
        </p:nvPicPr>
        <p:blipFill>
          <a:blip r:embed="rId2"/>
          <a:stretch>
            <a:fillRect/>
          </a:stretch>
        </p:blipFill>
        <p:spPr>
          <a:xfrm>
            <a:off x="914695" y="2192048"/>
            <a:ext cx="7258050" cy="2019300"/>
          </a:xfrm>
          <a:prstGeom prst="rect">
            <a:avLst/>
          </a:prstGeom>
        </p:spPr>
      </p:pic>
      <p:sp>
        <p:nvSpPr>
          <p:cNvPr id="9" name="TextBox 8">
            <a:extLst>
              <a:ext uri="{FF2B5EF4-FFF2-40B4-BE49-F238E27FC236}">
                <a16:creationId xmlns:a16="http://schemas.microsoft.com/office/drawing/2014/main" id="{E11C373D-C3B0-440B-8EA8-1966D684E283}"/>
              </a:ext>
            </a:extLst>
          </p:cNvPr>
          <p:cNvSpPr txBox="1"/>
          <p:nvPr/>
        </p:nvSpPr>
        <p:spPr>
          <a:xfrm>
            <a:off x="48705" y="4076594"/>
            <a:ext cx="9095295" cy="1815882"/>
          </a:xfrm>
          <a:prstGeom prst="rect">
            <a:avLst/>
          </a:prstGeom>
          <a:noFill/>
        </p:spPr>
        <p:txBody>
          <a:bodyPr wrap="square">
            <a:spAutoFit/>
          </a:bodyPr>
          <a:lstStyle/>
          <a:p>
            <a:r>
              <a:rPr lang="en-US" sz="1600" dirty="0">
                <a:effectLst/>
              </a:rPr>
              <a:t>In Eq. (8-7), the splitting of U-236 into Krypton and Barium is </a:t>
            </a:r>
            <a:r>
              <a:rPr lang="en-US" sz="1600" i="1" dirty="0">
                <a:effectLst/>
              </a:rPr>
              <a:t>a representative fission </a:t>
            </a:r>
            <a:r>
              <a:rPr lang="en-US" sz="1600" dirty="0">
                <a:effectLst/>
              </a:rPr>
              <a:t>reaction, though it is not the only one (as mentioned in the following slides); other products of fission are possible. Also, the exact number of neutrons released varies with the products of fission; </a:t>
            </a:r>
            <a:r>
              <a:rPr lang="en-US" sz="1600" b="1" dirty="0">
                <a:effectLst/>
              </a:rPr>
              <a:t>the production of 2.4 neutrons represents the average number of neutrons released</a:t>
            </a:r>
            <a:r>
              <a:rPr lang="en-US" sz="1600" dirty="0">
                <a:effectLst/>
              </a:rPr>
              <a:t>. In Eq. (8-8), the excess nuclear energy that normally drives fission of the U-236 is eliminated by radioactive decay and γ -ray emission, and the atom remains as U-236. Splitting of the U-236 nucleus into smaller nuclei [Eq. (8-7)] </a:t>
            </a:r>
            <a:r>
              <a:rPr lang="en-US" sz="1600" b="1" dirty="0">
                <a:effectLst/>
              </a:rPr>
              <a:t>occurs in about 85% of cases, while in the remaining 15% of cases, the atom remains as U-236.</a:t>
            </a:r>
          </a:p>
        </p:txBody>
      </p:sp>
      <p:sp>
        <p:nvSpPr>
          <p:cNvPr id="5" name="TextBox 4">
            <a:extLst>
              <a:ext uri="{FF2B5EF4-FFF2-40B4-BE49-F238E27FC236}">
                <a16:creationId xmlns:a16="http://schemas.microsoft.com/office/drawing/2014/main" id="{37E56A8D-8D8E-4FE2-B0D4-1ADE393A05B3}"/>
              </a:ext>
            </a:extLst>
          </p:cNvPr>
          <p:cNvSpPr txBox="1"/>
          <p:nvPr/>
        </p:nvSpPr>
        <p:spPr>
          <a:xfrm>
            <a:off x="304800" y="1761221"/>
            <a:ext cx="8534400" cy="646331"/>
          </a:xfrm>
          <a:prstGeom prst="rect">
            <a:avLst/>
          </a:prstGeom>
          <a:noFill/>
        </p:spPr>
        <p:txBody>
          <a:bodyPr wrap="square">
            <a:spAutoFit/>
          </a:bodyPr>
          <a:lstStyle/>
          <a:p>
            <a:r>
              <a:rPr lang="en-US" dirty="0">
                <a:effectLst/>
              </a:rPr>
              <a:t>When a U-235 nucleus is struck by a thermal neutron, the neutron is absorbed (8-6) and then </a:t>
            </a:r>
            <a:r>
              <a:rPr lang="en-US" i="1" u="sng" dirty="0">
                <a:effectLst/>
              </a:rPr>
              <a:t>one of two reactions (8-6) or (8-7) follows</a:t>
            </a:r>
            <a:r>
              <a:rPr lang="en-US" dirty="0">
                <a:effectLst/>
              </a:rPr>
              <a:t>:</a:t>
            </a:r>
          </a:p>
        </p:txBody>
      </p:sp>
      <p:sp>
        <p:nvSpPr>
          <p:cNvPr id="11" name="TextBox 10">
            <a:extLst>
              <a:ext uri="{FF2B5EF4-FFF2-40B4-BE49-F238E27FC236}">
                <a16:creationId xmlns:a16="http://schemas.microsoft.com/office/drawing/2014/main" id="{DF963937-C1BB-4E32-9D8A-8604E31F16B0}"/>
              </a:ext>
            </a:extLst>
          </p:cNvPr>
          <p:cNvSpPr txBox="1"/>
          <p:nvPr/>
        </p:nvSpPr>
        <p:spPr>
          <a:xfrm>
            <a:off x="76200" y="6144558"/>
            <a:ext cx="8991600" cy="369332"/>
          </a:xfrm>
          <a:prstGeom prst="rect">
            <a:avLst/>
          </a:prstGeom>
          <a:noFill/>
        </p:spPr>
        <p:txBody>
          <a:bodyPr wrap="square">
            <a:spAutoFit/>
          </a:bodyPr>
          <a:lstStyle/>
          <a:p>
            <a:r>
              <a:rPr lang="en-US" b="1" dirty="0"/>
              <a:t>The fission of one atom of uranium-235 releases ~200 MeV (3.24</a:t>
            </a:r>
            <a:r>
              <a:rPr lang="en-US" b="1" dirty="0">
                <a:effectLst/>
              </a:rPr>
              <a:t>×</a:t>
            </a:r>
            <a:r>
              <a:rPr lang="en-US" b="1" dirty="0"/>
              <a:t>10</a:t>
            </a:r>
            <a:r>
              <a:rPr lang="en-US" b="1" baseline="30000" dirty="0"/>
              <a:t>−11</a:t>
            </a:r>
            <a:r>
              <a:rPr lang="en-US" b="1" dirty="0"/>
              <a:t> J) inside the reactor. </a:t>
            </a:r>
            <a:endParaRPr lang="en-CA" b="1" dirty="0"/>
          </a:p>
        </p:txBody>
      </p:sp>
    </p:spTree>
    <p:extLst>
      <p:ext uri="{BB962C8B-B14F-4D97-AF65-F5344CB8AC3E}">
        <p14:creationId xmlns:p14="http://schemas.microsoft.com/office/powerpoint/2010/main" val="17381492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737E4-5AA2-418F-8B89-0A0335CC9F79}"/>
              </a:ext>
            </a:extLst>
          </p:cNvPr>
          <p:cNvSpPr>
            <a:spLocks noGrp="1"/>
          </p:cNvSpPr>
          <p:nvPr>
            <p:ph type="title"/>
          </p:nvPr>
        </p:nvSpPr>
        <p:spPr/>
        <p:txBody>
          <a:bodyPr>
            <a:normAutofit/>
          </a:bodyPr>
          <a:lstStyle/>
          <a:p>
            <a:r>
              <a:rPr lang="en-CA" sz="3200" dirty="0"/>
              <a:t>Energy Released per Fission of U-235</a:t>
            </a:r>
          </a:p>
        </p:txBody>
      </p:sp>
      <p:sp>
        <p:nvSpPr>
          <p:cNvPr id="3" name="Slide Number Placeholder 2">
            <a:extLst>
              <a:ext uri="{FF2B5EF4-FFF2-40B4-BE49-F238E27FC236}">
                <a16:creationId xmlns:a16="http://schemas.microsoft.com/office/drawing/2014/main" id="{860019CF-7418-4A2E-A7B8-198952C2AA2A}"/>
              </a:ext>
            </a:extLst>
          </p:cNvPr>
          <p:cNvSpPr>
            <a:spLocks noGrp="1"/>
          </p:cNvSpPr>
          <p:nvPr>
            <p:ph type="sldNum" sz="quarter" idx="12"/>
          </p:nvPr>
        </p:nvSpPr>
        <p:spPr/>
        <p:txBody>
          <a:bodyPr/>
          <a:lstStyle/>
          <a:p>
            <a:fld id="{070107C2-BA80-4C15-96AE-A43002ADF025}" type="slidenum">
              <a:rPr lang="en-US" smtClean="0"/>
              <a:t>27</a:t>
            </a:fld>
            <a:endParaRPr lang="en-US"/>
          </a:p>
        </p:txBody>
      </p:sp>
      <p:pic>
        <p:nvPicPr>
          <p:cNvPr id="5" name="Picture 4">
            <a:extLst>
              <a:ext uri="{FF2B5EF4-FFF2-40B4-BE49-F238E27FC236}">
                <a16:creationId xmlns:a16="http://schemas.microsoft.com/office/drawing/2014/main" id="{F8A02E8F-4AC6-42F1-92B0-4092E634821F}"/>
              </a:ext>
            </a:extLst>
          </p:cNvPr>
          <p:cNvPicPr>
            <a:picLocks noChangeAspect="1"/>
          </p:cNvPicPr>
          <p:nvPr/>
        </p:nvPicPr>
        <p:blipFill>
          <a:blip r:embed="rId2"/>
          <a:stretch>
            <a:fillRect/>
          </a:stretch>
        </p:blipFill>
        <p:spPr>
          <a:xfrm>
            <a:off x="0" y="4292840"/>
            <a:ext cx="9144000" cy="1957323"/>
          </a:xfrm>
          <a:prstGeom prst="rect">
            <a:avLst/>
          </a:prstGeom>
        </p:spPr>
      </p:pic>
      <p:pic>
        <p:nvPicPr>
          <p:cNvPr id="6" name="Picture 5">
            <a:extLst>
              <a:ext uri="{FF2B5EF4-FFF2-40B4-BE49-F238E27FC236}">
                <a16:creationId xmlns:a16="http://schemas.microsoft.com/office/drawing/2014/main" id="{E3F280AD-4592-4594-A709-A67A52AC99C2}"/>
              </a:ext>
            </a:extLst>
          </p:cNvPr>
          <p:cNvPicPr>
            <a:picLocks noChangeAspect="1"/>
          </p:cNvPicPr>
          <p:nvPr/>
        </p:nvPicPr>
        <p:blipFill>
          <a:blip r:embed="rId3"/>
          <a:stretch>
            <a:fillRect/>
          </a:stretch>
        </p:blipFill>
        <p:spPr>
          <a:xfrm>
            <a:off x="1119187" y="2161817"/>
            <a:ext cx="6905625" cy="1921250"/>
          </a:xfrm>
          <a:prstGeom prst="rect">
            <a:avLst/>
          </a:prstGeom>
        </p:spPr>
      </p:pic>
    </p:spTree>
    <p:extLst>
      <p:ext uri="{BB962C8B-B14F-4D97-AF65-F5344CB8AC3E}">
        <p14:creationId xmlns:p14="http://schemas.microsoft.com/office/powerpoint/2010/main" val="23208791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05882-63D2-4C8C-8684-2EDCDCAE0815}"/>
              </a:ext>
            </a:extLst>
          </p:cNvPr>
          <p:cNvSpPr>
            <a:spLocks noGrp="1"/>
          </p:cNvSpPr>
          <p:nvPr>
            <p:ph type="title"/>
          </p:nvPr>
        </p:nvSpPr>
        <p:spPr/>
        <p:txBody>
          <a:bodyPr/>
          <a:lstStyle/>
          <a:p>
            <a:r>
              <a:rPr lang="en-CA" dirty="0"/>
              <a:t>Chain Reaction of Uranium</a:t>
            </a:r>
          </a:p>
        </p:txBody>
      </p:sp>
      <p:sp>
        <p:nvSpPr>
          <p:cNvPr id="3" name="Slide Number Placeholder 2">
            <a:extLst>
              <a:ext uri="{FF2B5EF4-FFF2-40B4-BE49-F238E27FC236}">
                <a16:creationId xmlns:a16="http://schemas.microsoft.com/office/drawing/2014/main" id="{59FFE43F-F31B-453B-97D4-F63402E79C8E}"/>
              </a:ext>
            </a:extLst>
          </p:cNvPr>
          <p:cNvSpPr>
            <a:spLocks noGrp="1"/>
          </p:cNvSpPr>
          <p:nvPr>
            <p:ph type="sldNum" sz="quarter" idx="12"/>
          </p:nvPr>
        </p:nvSpPr>
        <p:spPr/>
        <p:txBody>
          <a:bodyPr/>
          <a:lstStyle/>
          <a:p>
            <a:fld id="{070107C2-BA80-4C15-96AE-A43002ADF025}" type="slidenum">
              <a:rPr lang="en-US" smtClean="0"/>
              <a:t>28</a:t>
            </a:fld>
            <a:endParaRPr lang="en-US"/>
          </a:p>
        </p:txBody>
      </p:sp>
      <p:sp>
        <p:nvSpPr>
          <p:cNvPr id="5" name="TextBox 4">
            <a:extLst>
              <a:ext uri="{FF2B5EF4-FFF2-40B4-BE49-F238E27FC236}">
                <a16:creationId xmlns:a16="http://schemas.microsoft.com/office/drawing/2014/main" id="{13B04D0F-7F18-4B6B-BD83-1736498338DB}"/>
              </a:ext>
            </a:extLst>
          </p:cNvPr>
          <p:cNvSpPr txBox="1"/>
          <p:nvPr/>
        </p:nvSpPr>
        <p:spPr>
          <a:xfrm>
            <a:off x="228600" y="2346761"/>
            <a:ext cx="8382000" cy="4247317"/>
          </a:xfrm>
          <a:prstGeom prst="rect">
            <a:avLst/>
          </a:prstGeom>
          <a:noFill/>
        </p:spPr>
        <p:txBody>
          <a:bodyPr wrap="square">
            <a:spAutoFit/>
          </a:bodyPr>
          <a:lstStyle/>
          <a:p>
            <a:pPr marL="285750" indent="-285750">
              <a:buFont typeface="Arial" panose="020B0604020202020204" pitchFamily="34" charset="0"/>
              <a:buChar char="•"/>
            </a:pPr>
            <a:r>
              <a:rPr lang="en-US" dirty="0">
                <a:effectLst/>
              </a:rPr>
              <a:t>Uranium fission in many different ways, resulting in various fission products. A general nuclear reaction for a large cohort of U-235 atoms will result in the “average” reaction:</a:t>
            </a:r>
          </a:p>
          <a:p>
            <a:endParaRPr lang="en-US" dirty="0"/>
          </a:p>
          <a:p>
            <a:endParaRPr lang="en-US" dirty="0">
              <a:effectLst/>
            </a:endParaRPr>
          </a:p>
          <a:p>
            <a:endParaRPr lang="en-US" dirty="0"/>
          </a:p>
          <a:p>
            <a:r>
              <a:rPr lang="en-US" dirty="0">
                <a:effectLst/>
              </a:rPr>
              <a:t>where </a:t>
            </a:r>
            <a:r>
              <a:rPr lang="en-US" b="1" baseline="-25000" dirty="0">
                <a:effectLst/>
              </a:rPr>
              <a:t>Z1</a:t>
            </a:r>
            <a:r>
              <a:rPr lang="en-US" b="1" dirty="0">
                <a:effectLst/>
              </a:rPr>
              <a:t>FF</a:t>
            </a:r>
            <a:r>
              <a:rPr lang="en-US" b="1" baseline="30000" dirty="0">
                <a:effectLst/>
              </a:rPr>
              <a:t>A1</a:t>
            </a:r>
            <a:r>
              <a:rPr lang="en-US" b="1" dirty="0">
                <a:effectLst/>
              </a:rPr>
              <a:t> and </a:t>
            </a:r>
            <a:r>
              <a:rPr lang="en-US" b="1" baseline="-25000" dirty="0">
                <a:effectLst/>
              </a:rPr>
              <a:t>Z2</a:t>
            </a:r>
            <a:r>
              <a:rPr lang="en-US" b="1" dirty="0">
                <a:effectLst/>
              </a:rPr>
              <a:t>FF</a:t>
            </a:r>
            <a:r>
              <a:rPr lang="en-US" b="1" baseline="30000" dirty="0">
                <a:effectLst/>
              </a:rPr>
              <a:t>A2</a:t>
            </a:r>
            <a:r>
              <a:rPr lang="en-US" b="1" dirty="0">
                <a:effectLst/>
              </a:rPr>
              <a:t> are the fission fragments </a:t>
            </a:r>
            <a:r>
              <a:rPr lang="en-US" dirty="0">
                <a:effectLst/>
              </a:rPr>
              <a:t>of the reaction. Examples:</a:t>
            </a:r>
          </a:p>
          <a:p>
            <a:endParaRPr lang="en-US" dirty="0">
              <a:effectLst/>
            </a:endParaRPr>
          </a:p>
          <a:p>
            <a:endParaRPr lang="en-US" dirty="0"/>
          </a:p>
          <a:p>
            <a:endParaRPr lang="en-US" dirty="0">
              <a:effectLst/>
            </a:endParaRPr>
          </a:p>
          <a:p>
            <a:endParaRPr lang="en-US" dirty="0">
              <a:effectLst/>
            </a:endParaRPr>
          </a:p>
          <a:p>
            <a:r>
              <a:rPr lang="en-US" dirty="0">
                <a:effectLst/>
              </a:rPr>
              <a:t>The mass numbers of the fission fragments and the neutrons emitted must sum to 236. On average, </a:t>
            </a:r>
            <a:r>
              <a:rPr lang="en-US" b="1" dirty="0">
                <a:effectLst/>
              </a:rPr>
              <a:t>2.43 neutrons are produced</a:t>
            </a:r>
            <a:r>
              <a:rPr lang="en-US" dirty="0">
                <a:effectLst/>
              </a:rPr>
              <a:t>. If the reaction is to be sustained, then </a:t>
            </a:r>
            <a:r>
              <a:rPr lang="en-US" b="1" dirty="0">
                <a:solidFill>
                  <a:srgbClr val="0070C0"/>
                </a:solidFill>
                <a:effectLst/>
              </a:rPr>
              <a:t>at least one of the 2.43 neutrons must be absorbed and result in the fission of the nucleus of another U235 atom</a:t>
            </a:r>
            <a:r>
              <a:rPr lang="en-US" dirty="0">
                <a:effectLst/>
              </a:rPr>
              <a:t>. </a:t>
            </a:r>
          </a:p>
        </p:txBody>
      </p:sp>
      <p:pic>
        <p:nvPicPr>
          <p:cNvPr id="7" name="Picture 6">
            <a:extLst>
              <a:ext uri="{FF2B5EF4-FFF2-40B4-BE49-F238E27FC236}">
                <a16:creationId xmlns:a16="http://schemas.microsoft.com/office/drawing/2014/main" id="{B57FB21A-D6D7-46C8-BE16-2550DDCA6D93}"/>
              </a:ext>
            </a:extLst>
          </p:cNvPr>
          <p:cNvPicPr>
            <a:picLocks noChangeAspect="1"/>
          </p:cNvPicPr>
          <p:nvPr/>
        </p:nvPicPr>
        <p:blipFill>
          <a:blip r:embed="rId2"/>
          <a:stretch>
            <a:fillRect/>
          </a:stretch>
        </p:blipFill>
        <p:spPr>
          <a:xfrm>
            <a:off x="1981200" y="3501508"/>
            <a:ext cx="4772026" cy="428508"/>
          </a:xfrm>
          <a:prstGeom prst="rect">
            <a:avLst/>
          </a:prstGeom>
        </p:spPr>
      </p:pic>
      <p:pic>
        <p:nvPicPr>
          <p:cNvPr id="9" name="Picture 8">
            <a:extLst>
              <a:ext uri="{FF2B5EF4-FFF2-40B4-BE49-F238E27FC236}">
                <a16:creationId xmlns:a16="http://schemas.microsoft.com/office/drawing/2014/main" id="{49817649-6072-4A95-81BF-E20843A67BE7}"/>
              </a:ext>
            </a:extLst>
          </p:cNvPr>
          <p:cNvPicPr>
            <a:picLocks noChangeAspect="1"/>
          </p:cNvPicPr>
          <p:nvPr/>
        </p:nvPicPr>
        <p:blipFill>
          <a:blip r:embed="rId3"/>
          <a:stretch>
            <a:fillRect/>
          </a:stretch>
        </p:blipFill>
        <p:spPr>
          <a:xfrm>
            <a:off x="2209800" y="4671346"/>
            <a:ext cx="3676650" cy="781050"/>
          </a:xfrm>
          <a:prstGeom prst="rect">
            <a:avLst/>
          </a:prstGeom>
        </p:spPr>
      </p:pic>
    </p:spTree>
    <p:extLst>
      <p:ext uri="{BB962C8B-B14F-4D97-AF65-F5344CB8AC3E}">
        <p14:creationId xmlns:p14="http://schemas.microsoft.com/office/powerpoint/2010/main" val="2851586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7899"/>
            <a:ext cx="8229600" cy="1252728"/>
          </a:xfrm>
        </p:spPr>
        <p:txBody>
          <a:bodyPr>
            <a:normAutofit fontScale="90000"/>
          </a:bodyPr>
          <a:lstStyle/>
          <a:p>
            <a:br>
              <a:rPr lang="en-CA" dirty="0"/>
            </a:br>
            <a:r>
              <a:rPr lang="en-CA" dirty="0"/>
              <a:t>Stable chain reaction in uranium</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29</a:t>
            </a:fld>
            <a:endParaRPr lang="en-US"/>
          </a:p>
        </p:txBody>
      </p:sp>
      <p:sp>
        <p:nvSpPr>
          <p:cNvPr id="5" name="Rectangle 4"/>
          <p:cNvSpPr/>
          <p:nvPr/>
        </p:nvSpPr>
        <p:spPr>
          <a:xfrm>
            <a:off x="914400" y="2362200"/>
            <a:ext cx="7924800" cy="4370427"/>
          </a:xfrm>
          <a:prstGeom prst="rect">
            <a:avLst/>
          </a:prstGeom>
        </p:spPr>
        <p:txBody>
          <a:bodyPr wrap="square">
            <a:spAutoFit/>
          </a:bodyPr>
          <a:lstStyle/>
          <a:p>
            <a:endParaRPr lang="en-CA" dirty="0"/>
          </a:p>
          <a:p>
            <a:r>
              <a:rPr lang="en-CA" sz="2000" dirty="0">
                <a:latin typeface="Verdana" panose="020B0604030504040204" pitchFamily="34" charset="0"/>
                <a:ea typeface="Verdana" panose="020B0604030504040204" pitchFamily="34" charset="0"/>
                <a:cs typeface="Verdana" panose="020B0604030504040204" pitchFamily="34" charset="0"/>
              </a:rPr>
              <a:t>If exactly one fission neutron goes on to induce another fission then the chain reaction will be stable (</a:t>
            </a:r>
            <a:r>
              <a:rPr lang="en-CA" sz="2000" b="1" dirty="0">
                <a:solidFill>
                  <a:srgbClr val="0070C0"/>
                </a:solidFill>
                <a:latin typeface="Verdana" panose="020B0604030504040204" pitchFamily="34" charset="0"/>
                <a:ea typeface="Verdana" panose="020B0604030504040204" pitchFamily="34" charset="0"/>
                <a:cs typeface="Verdana" panose="020B0604030504040204" pitchFamily="34" charset="0"/>
              </a:rPr>
              <a:t>critical process</a:t>
            </a:r>
            <a:r>
              <a:rPr lang="en-CA" sz="2000" dirty="0">
                <a:latin typeface="Verdana" panose="020B0604030504040204" pitchFamily="34" charset="0"/>
                <a:ea typeface="Verdana" panose="020B0604030504040204" pitchFamily="34" charset="0"/>
                <a:cs typeface="Verdana" panose="020B0604030504040204" pitchFamily="34" charset="0"/>
              </a:rPr>
              <a:t>).</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If, on the average, less than one fission neutron induces further fissions, then the reaction will die out (</a:t>
            </a:r>
            <a:r>
              <a:rPr lang="en-CA" sz="2000" b="1" dirty="0">
                <a:solidFill>
                  <a:srgbClr val="0070C0"/>
                </a:solidFill>
                <a:latin typeface="Verdana" panose="020B0604030504040204" pitchFamily="34" charset="0"/>
                <a:ea typeface="Verdana" panose="020B0604030504040204" pitchFamily="34" charset="0"/>
              </a:rPr>
              <a:t>subcr</a:t>
            </a:r>
            <a:r>
              <a:rPr lang="en-CA" sz="2000" b="1" dirty="0">
                <a:solidFill>
                  <a:srgbClr val="0070C0"/>
                </a:solidFill>
                <a:latin typeface="Verdana" panose="020B0604030504040204" pitchFamily="34" charset="0"/>
                <a:ea typeface="Verdana" panose="020B0604030504040204" pitchFamily="34" charset="0"/>
                <a:cs typeface="Verdana" panose="020B0604030504040204" pitchFamily="34" charset="0"/>
              </a:rPr>
              <a:t>itical process</a:t>
            </a:r>
            <a:r>
              <a:rPr lang="en-CA" sz="2000" dirty="0">
                <a:latin typeface="Verdana" panose="020B0604030504040204" pitchFamily="34" charset="0"/>
                <a:ea typeface="Verdana" panose="020B0604030504040204" pitchFamily="34" charset="0"/>
                <a:cs typeface="Verdana" panose="020B0604030504040204" pitchFamily="34" charset="0"/>
              </a:rPr>
              <a:t>).</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If, on the average, more than one fission neutron induces further fissions, then the reaction will be uncontrolled (</a:t>
            </a:r>
            <a:r>
              <a:rPr lang="en-CA" sz="2000" b="1" dirty="0">
                <a:solidFill>
                  <a:srgbClr val="0070C0"/>
                </a:solidFill>
                <a:latin typeface="Verdana" panose="020B0604030504040204" pitchFamily="34" charset="0"/>
                <a:ea typeface="Verdana" panose="020B0604030504040204" pitchFamily="34" charset="0"/>
              </a:rPr>
              <a:t>supercritica</a:t>
            </a:r>
            <a:r>
              <a:rPr lang="en-CA" sz="2000" b="1" dirty="0">
                <a:solidFill>
                  <a:srgbClr val="0070C0"/>
                </a:solidFill>
                <a:latin typeface="Verdana" panose="020B0604030504040204" pitchFamily="34" charset="0"/>
                <a:ea typeface="Verdana" panose="020B0604030504040204" pitchFamily="34" charset="0"/>
                <a:cs typeface="Verdana" panose="020B0604030504040204" pitchFamily="34" charset="0"/>
              </a:rPr>
              <a:t>l process</a:t>
            </a:r>
            <a:r>
              <a:rPr lang="en-CA" sz="2000" dirty="0">
                <a:latin typeface="Verdana" panose="020B0604030504040204" pitchFamily="34" charset="0"/>
                <a:ea typeface="Verdana" panose="020B0604030504040204" pitchFamily="34" charset="0"/>
                <a:cs typeface="Verdana" panose="020B0604030504040204" pitchFamily="34" charset="0"/>
              </a:rPr>
              <a:t>).</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We need to ensure that the chain reaction is stable.</a:t>
            </a:r>
          </a:p>
        </p:txBody>
      </p:sp>
    </p:spTree>
    <p:extLst>
      <p:ext uri="{BB962C8B-B14F-4D97-AF65-F5344CB8AC3E}">
        <p14:creationId xmlns:p14="http://schemas.microsoft.com/office/powerpoint/2010/main" val="31542642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The best way to induce fission</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30</a:t>
            </a:fld>
            <a:endParaRPr lang="en-US"/>
          </a:p>
        </p:txBody>
      </p:sp>
      <p:sp>
        <p:nvSpPr>
          <p:cNvPr id="5" name="Rectangle 4"/>
          <p:cNvSpPr/>
          <p:nvPr/>
        </p:nvSpPr>
        <p:spPr>
          <a:xfrm>
            <a:off x="304800" y="2286000"/>
            <a:ext cx="8630240" cy="4431983"/>
          </a:xfrm>
          <a:prstGeom prst="rect">
            <a:avLst/>
          </a:prstGeom>
        </p:spPr>
        <p:txBody>
          <a:bodyPr wrap="square">
            <a:spAutoFit/>
          </a:bodyPr>
          <a:lstStyle/>
          <a:p>
            <a:endParaRPr lang="en-CA" dirty="0"/>
          </a:p>
          <a:p>
            <a:r>
              <a:rPr lang="en-CA" sz="2400" dirty="0">
                <a:latin typeface="Verdana" panose="020B0604030504040204" pitchFamily="34" charset="0"/>
                <a:ea typeface="Verdana" panose="020B0604030504040204" pitchFamily="34" charset="0"/>
                <a:cs typeface="Verdana" panose="020B0604030504040204" pitchFamily="34" charset="0"/>
              </a:rPr>
              <a:t>The best way of inducing fission is to allow a neutron to be incident on a </a:t>
            </a:r>
            <a:r>
              <a:rPr lang="en-CA" sz="2400" baseline="30000" dirty="0">
                <a:latin typeface="Verdana" panose="020B0604030504040204" pitchFamily="34" charset="0"/>
                <a:ea typeface="Verdana" panose="020B0604030504040204" pitchFamily="34" charset="0"/>
                <a:cs typeface="Verdana" panose="020B0604030504040204" pitchFamily="34" charset="0"/>
              </a:rPr>
              <a:t>235</a:t>
            </a:r>
            <a:r>
              <a:rPr lang="en-CA" sz="2400" dirty="0">
                <a:latin typeface="Verdana" panose="020B0604030504040204" pitchFamily="34" charset="0"/>
                <a:ea typeface="Verdana" panose="020B0604030504040204" pitchFamily="34" charset="0"/>
                <a:cs typeface="Verdana" panose="020B0604030504040204" pitchFamily="34" charset="0"/>
              </a:rPr>
              <a:t>U nucleus at very low energy.</a:t>
            </a:r>
          </a:p>
          <a:p>
            <a:endParaRPr lang="en-CA" sz="2400" dirty="0">
              <a:latin typeface="Verdana" panose="020B0604030504040204" pitchFamily="34" charset="0"/>
              <a:ea typeface="Verdana" panose="020B0604030504040204" pitchFamily="34" charset="0"/>
              <a:cs typeface="Verdana" panose="020B0604030504040204" pitchFamily="34" charset="0"/>
            </a:endParaRPr>
          </a:p>
          <a:p>
            <a:r>
              <a:rPr lang="en-CA" sz="2400" dirty="0">
                <a:latin typeface="Verdana" panose="020B0604030504040204" pitchFamily="34" charset="0"/>
                <a:ea typeface="Verdana" panose="020B0604030504040204" pitchFamily="34" charset="0"/>
                <a:cs typeface="Verdana" panose="020B0604030504040204" pitchFamily="34" charset="0"/>
              </a:rPr>
              <a:t>Neutrons are emitted with energies around </a:t>
            </a:r>
          </a:p>
          <a:p>
            <a:r>
              <a:rPr lang="en-CA" sz="2400" dirty="0">
                <a:latin typeface="Verdana" panose="020B0604030504040204" pitchFamily="34" charset="0"/>
                <a:ea typeface="Verdana" panose="020B0604030504040204" pitchFamily="34" charset="0"/>
                <a:cs typeface="Verdana" panose="020B0604030504040204" pitchFamily="34" charset="0"/>
              </a:rPr>
              <a:t>2 MeV so they need to be slowed down - this reactor design is a </a:t>
            </a:r>
            <a:r>
              <a:rPr lang="en-CA" sz="2400" dirty="0">
                <a:solidFill>
                  <a:srgbClr val="0070C0"/>
                </a:solidFill>
                <a:latin typeface="Verdana" panose="020B0604030504040204" pitchFamily="34" charset="0"/>
                <a:ea typeface="Verdana" panose="020B0604030504040204" pitchFamily="34" charset="0"/>
                <a:cs typeface="Verdana" panose="020B0604030504040204" pitchFamily="34" charset="0"/>
              </a:rPr>
              <a:t>thermal neutron reactor</a:t>
            </a:r>
            <a:r>
              <a:rPr lang="en-CA" sz="2400" dirty="0">
                <a:latin typeface="Verdana" panose="020B0604030504040204" pitchFamily="34" charset="0"/>
                <a:ea typeface="Verdana" panose="020B0604030504040204" pitchFamily="34" charset="0"/>
                <a:cs typeface="Verdana" panose="020B0604030504040204" pitchFamily="34" charset="0"/>
              </a:rPr>
              <a:t>.</a:t>
            </a:r>
          </a:p>
          <a:p>
            <a:endParaRPr lang="en-CA" sz="2400" dirty="0">
              <a:latin typeface="Verdana" panose="020B0604030504040204" pitchFamily="34" charset="0"/>
              <a:ea typeface="Verdana" panose="020B0604030504040204" pitchFamily="34" charset="0"/>
              <a:cs typeface="Verdana" panose="020B0604030504040204" pitchFamily="34" charset="0"/>
            </a:endParaRPr>
          </a:p>
          <a:p>
            <a:r>
              <a:rPr lang="en-CA" sz="2400" dirty="0">
                <a:latin typeface="Verdana" panose="020B0604030504040204" pitchFamily="34" charset="0"/>
                <a:ea typeface="Verdana" panose="020B0604030504040204" pitchFamily="34" charset="0"/>
                <a:cs typeface="Verdana" panose="020B0604030504040204" pitchFamily="34" charset="0"/>
              </a:rPr>
              <a:t>This situation is achieved by the </a:t>
            </a:r>
            <a:r>
              <a:rPr lang="en-CA" sz="2400" b="1" dirty="0">
                <a:solidFill>
                  <a:srgbClr val="0070C0"/>
                </a:solidFill>
                <a:latin typeface="Verdana" panose="020B0604030504040204" pitchFamily="34" charset="0"/>
                <a:ea typeface="Verdana" panose="020B0604030504040204" pitchFamily="34" charset="0"/>
                <a:cs typeface="Verdana" panose="020B0604030504040204" pitchFamily="34" charset="0"/>
              </a:rPr>
              <a:t>design of the reactor (PART 3)</a:t>
            </a:r>
          </a:p>
          <a:p>
            <a:endParaRPr lang="en-CA" sz="2400" dirty="0">
              <a:latin typeface="Verdana" panose="020B0604030504040204" pitchFamily="34" charset="0"/>
              <a:ea typeface="Verdana" panose="020B0604030504040204" pitchFamily="34" charset="0"/>
              <a:cs typeface="Verdana" panose="020B0604030504040204" pitchFamily="34" charset="0"/>
            </a:endParaRPr>
          </a:p>
          <a:p>
            <a:endParaRPr lang="en-CA"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729900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1F87A-59DA-4B32-9EA7-5B8A647E36BF}"/>
              </a:ext>
            </a:extLst>
          </p:cNvPr>
          <p:cNvSpPr>
            <a:spLocks noGrp="1"/>
          </p:cNvSpPr>
          <p:nvPr>
            <p:ph type="title"/>
          </p:nvPr>
        </p:nvSpPr>
        <p:spPr>
          <a:xfrm>
            <a:off x="457200" y="3124200"/>
            <a:ext cx="8229600" cy="1252728"/>
          </a:xfrm>
        </p:spPr>
        <p:txBody>
          <a:bodyPr/>
          <a:lstStyle/>
          <a:p>
            <a:r>
              <a:rPr lang="en-CA" dirty="0">
                <a:solidFill>
                  <a:schemeClr val="tx1"/>
                </a:solidFill>
              </a:rPr>
              <a:t>Part 3 Nuclear Reactor Design</a:t>
            </a:r>
          </a:p>
        </p:txBody>
      </p:sp>
      <p:sp>
        <p:nvSpPr>
          <p:cNvPr id="3" name="Slide Number Placeholder 2">
            <a:extLst>
              <a:ext uri="{FF2B5EF4-FFF2-40B4-BE49-F238E27FC236}">
                <a16:creationId xmlns:a16="http://schemas.microsoft.com/office/drawing/2014/main" id="{B1339B4A-D053-4591-8D61-41EC837E5ABD}"/>
              </a:ext>
            </a:extLst>
          </p:cNvPr>
          <p:cNvSpPr>
            <a:spLocks noGrp="1"/>
          </p:cNvSpPr>
          <p:nvPr>
            <p:ph type="sldNum" sz="quarter" idx="12"/>
          </p:nvPr>
        </p:nvSpPr>
        <p:spPr/>
        <p:txBody>
          <a:bodyPr/>
          <a:lstStyle/>
          <a:p>
            <a:fld id="{070107C2-BA80-4C15-96AE-A43002ADF025}" type="slidenum">
              <a:rPr lang="en-US" smtClean="0"/>
              <a:t>31</a:t>
            </a:fld>
            <a:endParaRPr lang="en-US"/>
          </a:p>
        </p:txBody>
      </p:sp>
    </p:spTree>
    <p:extLst>
      <p:ext uri="{BB962C8B-B14F-4D97-AF65-F5344CB8AC3E}">
        <p14:creationId xmlns:p14="http://schemas.microsoft.com/office/powerpoint/2010/main" val="5286954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Typical fission reactor design</a:t>
            </a: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32</a:t>
            </a:fld>
            <a:endParaRPr lang="en-US"/>
          </a:p>
        </p:txBody>
      </p:sp>
      <p:pic>
        <p:nvPicPr>
          <p:cNvPr id="3" name="Picture 2"/>
          <p:cNvPicPr>
            <a:picLocks noChangeAspect="1"/>
          </p:cNvPicPr>
          <p:nvPr/>
        </p:nvPicPr>
        <p:blipFill>
          <a:blip r:embed="rId2"/>
          <a:stretch>
            <a:fillRect/>
          </a:stretch>
        </p:blipFill>
        <p:spPr>
          <a:xfrm>
            <a:off x="1876425" y="2593255"/>
            <a:ext cx="5391150" cy="4257675"/>
          </a:xfrm>
          <a:prstGeom prst="rect">
            <a:avLst/>
          </a:prstGeom>
        </p:spPr>
      </p:pic>
    </p:spTree>
    <p:extLst>
      <p:ext uri="{BB962C8B-B14F-4D97-AF65-F5344CB8AC3E}">
        <p14:creationId xmlns:p14="http://schemas.microsoft.com/office/powerpoint/2010/main" val="12766266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sz="3100" dirty="0"/>
              <a:t>Important components of the fission reactor</a:t>
            </a:r>
            <a:br>
              <a:rPr lang="en-CA" sz="3100" dirty="0"/>
            </a:br>
            <a:endParaRPr lang="en-US" sz="3100" dirty="0"/>
          </a:p>
        </p:txBody>
      </p:sp>
      <p:sp>
        <p:nvSpPr>
          <p:cNvPr id="4" name="Slide Number Placeholder 3"/>
          <p:cNvSpPr>
            <a:spLocks noGrp="1"/>
          </p:cNvSpPr>
          <p:nvPr>
            <p:ph type="sldNum" sz="quarter" idx="12"/>
          </p:nvPr>
        </p:nvSpPr>
        <p:spPr/>
        <p:txBody>
          <a:bodyPr/>
          <a:lstStyle/>
          <a:p>
            <a:fld id="{070107C2-BA80-4C15-96AE-A43002ADF025}" type="slidenum">
              <a:rPr lang="en-US" smtClean="0"/>
              <a:t>33</a:t>
            </a:fld>
            <a:endParaRPr lang="en-US"/>
          </a:p>
        </p:txBody>
      </p:sp>
      <p:sp>
        <p:nvSpPr>
          <p:cNvPr id="5" name="Rectangle 4"/>
          <p:cNvSpPr/>
          <p:nvPr/>
        </p:nvSpPr>
        <p:spPr>
          <a:xfrm>
            <a:off x="468573" y="2514600"/>
            <a:ext cx="8229600" cy="2523768"/>
          </a:xfrm>
          <a:prstGeom prst="rect">
            <a:avLst/>
          </a:prstGeom>
        </p:spPr>
        <p:txBody>
          <a:bodyPr wrap="square">
            <a:spAutoFit/>
          </a:bodyPr>
          <a:lstStyle/>
          <a:p>
            <a:endParaRPr lang="en-CA" dirty="0"/>
          </a:p>
          <a:p>
            <a:r>
              <a:rPr lang="en-CA" sz="2000" dirty="0">
                <a:latin typeface="Verdana" panose="020B0604030504040204" pitchFamily="34" charset="0"/>
                <a:ea typeface="Verdana" panose="020B0604030504040204" pitchFamily="34" charset="0"/>
                <a:cs typeface="Verdana" panose="020B0604030504040204" pitchFamily="34" charset="0"/>
              </a:rPr>
              <a:t>1. </a:t>
            </a:r>
            <a:r>
              <a:rPr lang="en-CA" sz="2000" dirty="0">
                <a:solidFill>
                  <a:srgbClr val="0070C0"/>
                </a:solidFill>
                <a:latin typeface="Verdana" panose="020B0604030504040204" pitchFamily="34" charset="0"/>
                <a:ea typeface="Verdana" panose="020B0604030504040204" pitchFamily="34" charset="0"/>
                <a:cs typeface="Verdana" panose="020B0604030504040204" pitchFamily="34" charset="0"/>
              </a:rPr>
              <a:t>Fuel assembly </a:t>
            </a:r>
            <a:r>
              <a:rPr lang="en-CA" sz="2000" dirty="0">
                <a:latin typeface="Verdana" panose="020B0604030504040204" pitchFamily="34" charset="0"/>
                <a:ea typeface="Verdana" panose="020B0604030504040204" pitchFamily="34" charset="0"/>
                <a:cs typeface="Verdana" panose="020B0604030504040204" pitchFamily="34" charset="0"/>
              </a:rPr>
              <a:t>- mixture of </a:t>
            </a:r>
            <a:r>
              <a:rPr lang="en-CA" sz="2000" baseline="30000" dirty="0">
                <a:latin typeface="Verdana" panose="020B0604030504040204" pitchFamily="34" charset="0"/>
                <a:ea typeface="Verdana" panose="020B0604030504040204" pitchFamily="34" charset="0"/>
                <a:cs typeface="Verdana" panose="020B0604030504040204" pitchFamily="34" charset="0"/>
              </a:rPr>
              <a:t>235</a:t>
            </a:r>
            <a:r>
              <a:rPr lang="en-CA" sz="2000" dirty="0">
                <a:latin typeface="Verdana" panose="020B0604030504040204" pitchFamily="34" charset="0"/>
                <a:ea typeface="Verdana" panose="020B0604030504040204" pitchFamily="34" charset="0"/>
                <a:cs typeface="Verdana" panose="020B0604030504040204" pitchFamily="34" charset="0"/>
              </a:rPr>
              <a:t>U and </a:t>
            </a:r>
            <a:r>
              <a:rPr lang="en-CA" sz="2000" baseline="30000" dirty="0">
                <a:latin typeface="Verdana" panose="020B0604030504040204" pitchFamily="34" charset="0"/>
                <a:ea typeface="Verdana" panose="020B0604030504040204" pitchFamily="34" charset="0"/>
                <a:cs typeface="Verdana" panose="020B0604030504040204" pitchFamily="34" charset="0"/>
              </a:rPr>
              <a:t>238</a:t>
            </a:r>
            <a:r>
              <a:rPr lang="en-CA" sz="2000" dirty="0">
                <a:latin typeface="Verdana" panose="020B0604030504040204" pitchFamily="34" charset="0"/>
                <a:ea typeface="Verdana" panose="020B0604030504040204" pitchFamily="34" charset="0"/>
                <a:cs typeface="Verdana" panose="020B0604030504040204" pitchFamily="34" charset="0"/>
              </a:rPr>
              <a:t>U</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2. </a:t>
            </a:r>
            <a:r>
              <a:rPr lang="en-CA" sz="2000" dirty="0">
                <a:solidFill>
                  <a:srgbClr val="0070C0"/>
                </a:solidFill>
                <a:latin typeface="Verdana" panose="020B0604030504040204" pitchFamily="34" charset="0"/>
                <a:ea typeface="Verdana" panose="020B0604030504040204" pitchFamily="34" charset="0"/>
                <a:cs typeface="Verdana" panose="020B0604030504040204" pitchFamily="34" charset="0"/>
              </a:rPr>
              <a:t>Moderator </a:t>
            </a:r>
            <a:r>
              <a:rPr lang="en-CA" sz="2000" dirty="0">
                <a:latin typeface="Verdana" panose="020B0604030504040204" pitchFamily="34" charset="0"/>
                <a:ea typeface="Verdana" panose="020B0604030504040204" pitchFamily="34" charset="0"/>
                <a:cs typeface="Verdana" panose="020B0604030504040204" pitchFamily="34" charset="0"/>
              </a:rPr>
              <a:t>- material that will </a:t>
            </a:r>
            <a:r>
              <a:rPr lang="en-CA" sz="2000" b="1" dirty="0">
                <a:latin typeface="Verdana" panose="020B0604030504040204" pitchFamily="34" charset="0"/>
                <a:ea typeface="Verdana" panose="020B0604030504040204" pitchFamily="34" charset="0"/>
                <a:cs typeface="Verdana" panose="020B0604030504040204" pitchFamily="34" charset="0"/>
              </a:rPr>
              <a:t>slow down </a:t>
            </a:r>
            <a:r>
              <a:rPr lang="en-CA" sz="2000" dirty="0">
                <a:latin typeface="Verdana" panose="020B0604030504040204" pitchFamily="34" charset="0"/>
                <a:ea typeface="Verdana" panose="020B0604030504040204" pitchFamily="34" charset="0"/>
                <a:cs typeface="Verdana" panose="020B0604030504040204" pitchFamily="34" charset="0"/>
              </a:rPr>
              <a:t>neutrons as they 	travel from one fuel element to the next</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3. </a:t>
            </a:r>
            <a:r>
              <a:rPr lang="en-CA" sz="2000" dirty="0">
                <a:solidFill>
                  <a:srgbClr val="0070C0"/>
                </a:solidFill>
                <a:latin typeface="Verdana" panose="020B0604030504040204" pitchFamily="34" charset="0"/>
                <a:ea typeface="Verdana" panose="020B0604030504040204" pitchFamily="34" charset="0"/>
                <a:cs typeface="Verdana" panose="020B0604030504040204" pitchFamily="34" charset="0"/>
              </a:rPr>
              <a:t>Control rods </a:t>
            </a:r>
            <a:r>
              <a:rPr lang="en-CA" sz="2000" dirty="0">
                <a:latin typeface="Verdana" panose="020B0604030504040204" pitchFamily="34" charset="0"/>
                <a:ea typeface="Verdana" panose="020B0604030504040204" pitchFamily="34" charset="0"/>
                <a:cs typeface="Verdana" panose="020B0604030504040204" pitchFamily="34" charset="0"/>
              </a:rPr>
              <a:t>- material that </a:t>
            </a:r>
            <a:r>
              <a:rPr lang="en-CA" sz="2000" b="1" dirty="0">
                <a:latin typeface="Verdana" panose="020B0604030504040204" pitchFamily="34" charset="0"/>
                <a:ea typeface="Verdana" panose="020B0604030504040204" pitchFamily="34" charset="0"/>
                <a:cs typeface="Verdana" panose="020B0604030504040204" pitchFamily="34" charset="0"/>
              </a:rPr>
              <a:t>absorbs</a:t>
            </a:r>
            <a:r>
              <a:rPr lang="en-CA" sz="2000" dirty="0">
                <a:latin typeface="Verdana" panose="020B0604030504040204" pitchFamily="34" charset="0"/>
                <a:ea typeface="Verdana" panose="020B0604030504040204" pitchFamily="34" charset="0"/>
                <a:cs typeface="Verdana" panose="020B0604030504040204" pitchFamily="34" charset="0"/>
              </a:rPr>
              <a:t> neutrons to prevent 	them from reaching another fuel element</a:t>
            </a:r>
          </a:p>
        </p:txBody>
      </p:sp>
    </p:spTree>
    <p:extLst>
      <p:ext uri="{BB962C8B-B14F-4D97-AF65-F5344CB8AC3E}">
        <p14:creationId xmlns:p14="http://schemas.microsoft.com/office/powerpoint/2010/main" val="41768650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Fission reactor control</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34</a:t>
            </a:fld>
            <a:endParaRPr lang="en-US"/>
          </a:p>
        </p:txBody>
      </p:sp>
      <p:sp>
        <p:nvSpPr>
          <p:cNvPr id="5" name="Rectangle 4"/>
          <p:cNvSpPr/>
          <p:nvPr/>
        </p:nvSpPr>
        <p:spPr>
          <a:xfrm>
            <a:off x="647700" y="2380519"/>
            <a:ext cx="7848600" cy="3139321"/>
          </a:xfrm>
          <a:prstGeom prst="rect">
            <a:avLst/>
          </a:prstGeom>
        </p:spPr>
        <p:txBody>
          <a:bodyPr wrap="square">
            <a:spAutoFit/>
          </a:bodyPr>
          <a:lstStyle/>
          <a:p>
            <a:endParaRPr lang="en-CA" dirty="0"/>
          </a:p>
          <a:p>
            <a:r>
              <a:rPr lang="en-CA" sz="2400" dirty="0">
                <a:latin typeface="Verdana" panose="020B0604030504040204" pitchFamily="34" charset="0"/>
                <a:ea typeface="Verdana" panose="020B0604030504040204" pitchFamily="34" charset="0"/>
                <a:cs typeface="Verdana" panose="020B0604030504040204" pitchFamily="34" charset="0"/>
              </a:rPr>
              <a:t>We need to ensure that exactly 1 neutron induces another fission in order to create a controlled chain reaction.</a:t>
            </a:r>
          </a:p>
          <a:p>
            <a:endParaRPr lang="en-CA" sz="2400" dirty="0">
              <a:latin typeface="Verdana" panose="020B0604030504040204" pitchFamily="34" charset="0"/>
              <a:ea typeface="Verdana" panose="020B0604030504040204" pitchFamily="34" charset="0"/>
              <a:cs typeface="Verdana" panose="020B0604030504040204" pitchFamily="34" charset="0"/>
            </a:endParaRPr>
          </a:p>
          <a:p>
            <a:r>
              <a:rPr lang="en-CA" sz="2400" dirty="0">
                <a:latin typeface="Verdana" panose="020B0604030504040204" pitchFamily="34" charset="0"/>
                <a:ea typeface="Verdana" panose="020B0604030504040204" pitchFamily="34" charset="0"/>
                <a:cs typeface="Verdana" panose="020B0604030504040204" pitchFamily="34" charset="0"/>
              </a:rPr>
              <a:t>Fission reactions are much too fast to control by moving control rods.</a:t>
            </a:r>
          </a:p>
          <a:p>
            <a:endParaRPr lang="en-CA" dirty="0"/>
          </a:p>
          <a:p>
            <a:endParaRPr lang="en-CA" dirty="0"/>
          </a:p>
        </p:txBody>
      </p:sp>
    </p:spTree>
    <p:extLst>
      <p:ext uri="{BB962C8B-B14F-4D97-AF65-F5344CB8AC3E}">
        <p14:creationId xmlns:p14="http://schemas.microsoft.com/office/powerpoint/2010/main" val="12106567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Types of fission reactors</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35</a:t>
            </a:fld>
            <a:endParaRPr lang="en-US"/>
          </a:p>
        </p:txBody>
      </p:sp>
      <p:sp>
        <p:nvSpPr>
          <p:cNvPr id="5" name="Rectangle 4"/>
          <p:cNvSpPr/>
          <p:nvPr/>
        </p:nvSpPr>
        <p:spPr>
          <a:xfrm>
            <a:off x="990600" y="2892437"/>
            <a:ext cx="7391400" cy="2400657"/>
          </a:xfrm>
          <a:prstGeom prst="rect">
            <a:avLst/>
          </a:prstGeom>
        </p:spPr>
        <p:txBody>
          <a:bodyPr wrap="square">
            <a:spAutoFit/>
          </a:bodyPr>
          <a:lstStyle/>
          <a:p>
            <a:endParaRPr lang="en-CA" dirty="0"/>
          </a:p>
          <a:p>
            <a:r>
              <a:rPr lang="en-CA" sz="2400" dirty="0">
                <a:latin typeface="Verdana" panose="020B0604030504040204" pitchFamily="34" charset="0"/>
                <a:ea typeface="Verdana" panose="020B0604030504040204" pitchFamily="34" charset="0"/>
                <a:cs typeface="Verdana" panose="020B0604030504040204" pitchFamily="34" charset="0"/>
              </a:rPr>
              <a:t>Different types of fission reactors differ in the material that is used for the </a:t>
            </a:r>
            <a:r>
              <a:rPr lang="en-CA" sz="2400" b="1" dirty="0">
                <a:latin typeface="Verdana" panose="020B0604030504040204" pitchFamily="34" charset="0"/>
                <a:ea typeface="Verdana" panose="020B0604030504040204" pitchFamily="34" charset="0"/>
                <a:cs typeface="Verdana" panose="020B0604030504040204" pitchFamily="34" charset="0"/>
              </a:rPr>
              <a:t>moderator</a:t>
            </a:r>
            <a:r>
              <a:rPr lang="en-CA" sz="2400" dirty="0">
                <a:latin typeface="Verdana" panose="020B0604030504040204" pitchFamily="34" charset="0"/>
                <a:ea typeface="Verdana" panose="020B0604030504040204" pitchFamily="34" charset="0"/>
                <a:cs typeface="Verdana" panose="020B0604030504040204" pitchFamily="34" charset="0"/>
              </a:rPr>
              <a:t> and </a:t>
            </a:r>
            <a:r>
              <a:rPr lang="en-CA" sz="2400" b="1" dirty="0">
                <a:latin typeface="Verdana" panose="020B0604030504040204" pitchFamily="34" charset="0"/>
                <a:ea typeface="Verdana" panose="020B0604030504040204" pitchFamily="34" charset="0"/>
                <a:cs typeface="Verdana" panose="020B0604030504040204" pitchFamily="34" charset="0"/>
              </a:rPr>
              <a:t>the way in which heat is extracted </a:t>
            </a:r>
            <a:r>
              <a:rPr lang="en-CA" sz="2400" dirty="0">
                <a:latin typeface="Verdana" panose="020B0604030504040204" pitchFamily="34" charset="0"/>
                <a:ea typeface="Verdana" panose="020B0604030504040204" pitchFamily="34" charset="0"/>
                <a:cs typeface="Verdana" panose="020B0604030504040204" pitchFamily="34" charset="0"/>
              </a:rPr>
              <a:t>from the reactor.</a:t>
            </a:r>
          </a:p>
          <a:p>
            <a:endParaRPr lang="en-CA" dirty="0"/>
          </a:p>
          <a:p>
            <a:endParaRPr lang="en-CA" dirty="0"/>
          </a:p>
        </p:txBody>
      </p:sp>
    </p:spTree>
    <p:extLst>
      <p:ext uri="{BB962C8B-B14F-4D97-AF65-F5344CB8AC3E}">
        <p14:creationId xmlns:p14="http://schemas.microsoft.com/office/powerpoint/2010/main" val="6460372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Moderator materials</a:t>
            </a: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36</a:t>
            </a:fld>
            <a:endParaRPr lang="en-US"/>
          </a:p>
        </p:txBody>
      </p:sp>
      <p:sp>
        <p:nvSpPr>
          <p:cNvPr id="5" name="Rectangle 4"/>
          <p:cNvSpPr/>
          <p:nvPr/>
        </p:nvSpPr>
        <p:spPr>
          <a:xfrm>
            <a:off x="426563" y="2149019"/>
            <a:ext cx="8401640" cy="4708981"/>
          </a:xfrm>
          <a:prstGeom prst="rect">
            <a:avLst/>
          </a:prstGeom>
        </p:spPr>
        <p:txBody>
          <a:bodyPr wrap="square">
            <a:spAutoFit/>
          </a:bodyPr>
          <a:lstStyle/>
          <a:p>
            <a:r>
              <a:rPr lang="en-CA" sz="2000" dirty="0">
                <a:latin typeface="Verdana" panose="020B0604030504040204" pitchFamily="34" charset="0"/>
                <a:ea typeface="Verdana" panose="020B0604030504040204" pitchFamily="34" charset="0"/>
                <a:cs typeface="Verdana" panose="020B0604030504040204" pitchFamily="34" charset="0"/>
              </a:rPr>
              <a:t>An effective moderator material must </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1. be </a:t>
            </a:r>
            <a:r>
              <a:rPr lang="en-CA" sz="2000" b="1" dirty="0">
                <a:latin typeface="Verdana" panose="020B0604030504040204" pitchFamily="34" charset="0"/>
                <a:ea typeface="Verdana" panose="020B0604030504040204" pitchFamily="34" charset="0"/>
                <a:cs typeface="Verdana" panose="020B0604030504040204" pitchFamily="34" charset="0"/>
              </a:rPr>
              <a:t>fairly dense </a:t>
            </a:r>
            <a:r>
              <a:rPr lang="en-CA" sz="2000" dirty="0">
                <a:latin typeface="Verdana" panose="020B0604030504040204" pitchFamily="34" charset="0"/>
                <a:ea typeface="Verdana" panose="020B0604030504040204" pitchFamily="34" charset="0"/>
                <a:cs typeface="Verdana" panose="020B0604030504040204" pitchFamily="34" charset="0"/>
              </a:rPr>
              <a:t>(to have a high density of nuclei for 	reactions)</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2. be comprised of </a:t>
            </a:r>
            <a:r>
              <a:rPr lang="en-CA" sz="2000" b="1" dirty="0">
                <a:latin typeface="Verdana" panose="020B0604030504040204" pitchFamily="34" charset="0"/>
                <a:ea typeface="Verdana" panose="020B0604030504040204" pitchFamily="34" charset="0"/>
                <a:cs typeface="Verdana" panose="020B0604030504040204" pitchFamily="34" charset="0"/>
              </a:rPr>
              <a:t>light nuclei </a:t>
            </a:r>
            <a:r>
              <a:rPr lang="en-CA" sz="2000" dirty="0">
                <a:latin typeface="Verdana" panose="020B0604030504040204" pitchFamily="34" charset="0"/>
                <a:ea typeface="Verdana" panose="020B0604030504040204" pitchFamily="34" charset="0"/>
                <a:cs typeface="Verdana" panose="020B0604030504040204" pitchFamily="34" charset="0"/>
              </a:rPr>
              <a:t>(to maximize the energy 	transfer during collisions with neutrons)</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3. </a:t>
            </a:r>
            <a:r>
              <a:rPr lang="en-CA" sz="2000" b="1" dirty="0">
                <a:latin typeface="Verdana" panose="020B0604030504040204" pitchFamily="34" charset="0"/>
                <a:ea typeface="Verdana" panose="020B0604030504040204" pitchFamily="34" charset="0"/>
                <a:cs typeface="Verdana" panose="020B0604030504040204" pitchFamily="34" charset="0"/>
              </a:rPr>
              <a:t>not absorb neutrons </a:t>
            </a:r>
            <a:r>
              <a:rPr lang="en-CA" sz="2000" dirty="0">
                <a:latin typeface="Verdana" panose="020B0604030504040204" pitchFamily="34" charset="0"/>
                <a:ea typeface="Verdana" panose="020B0604030504040204" pitchFamily="34" charset="0"/>
                <a:cs typeface="Verdana" panose="020B0604030504040204" pitchFamily="34" charset="0"/>
              </a:rPr>
              <a:t>but merely slow them down</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4. </a:t>
            </a:r>
            <a:r>
              <a:rPr lang="en-CA" sz="2000" b="1" dirty="0">
                <a:latin typeface="Verdana" panose="020B0604030504040204" pitchFamily="34" charset="0"/>
                <a:ea typeface="Verdana" panose="020B0604030504040204" pitchFamily="34" charset="0"/>
                <a:cs typeface="Verdana" panose="020B0604030504040204" pitchFamily="34" charset="0"/>
              </a:rPr>
              <a:t>not produce hazardous materials</a:t>
            </a:r>
            <a:r>
              <a:rPr lang="en-CA" sz="2000" dirty="0">
                <a:latin typeface="Verdana" panose="020B0604030504040204" pitchFamily="34" charset="0"/>
                <a:ea typeface="Verdana" panose="020B0604030504040204" pitchFamily="34" charset="0"/>
                <a:cs typeface="Verdana" panose="020B0604030504040204" pitchFamily="34" charset="0"/>
              </a:rPr>
              <a:t> during reactions with 	neutrons</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5. be relatively </a:t>
            </a:r>
            <a:r>
              <a:rPr lang="en-CA" sz="2000" b="1" dirty="0">
                <a:latin typeface="Verdana" panose="020B0604030504040204" pitchFamily="34" charset="0"/>
                <a:ea typeface="Verdana" panose="020B0604030504040204" pitchFamily="34" charset="0"/>
                <a:cs typeface="Verdana" panose="020B0604030504040204" pitchFamily="34" charset="0"/>
              </a:rPr>
              <a:t>nontoxic</a:t>
            </a:r>
            <a:r>
              <a:rPr lang="en-CA" sz="2000" dirty="0">
                <a:latin typeface="Verdana" panose="020B0604030504040204" pitchFamily="34" charset="0"/>
                <a:ea typeface="Verdana" panose="020B0604030504040204" pitchFamily="34" charset="0"/>
                <a:cs typeface="Verdana" panose="020B0604030504040204" pitchFamily="34" charset="0"/>
              </a:rPr>
              <a:t>, </a:t>
            </a:r>
            <a:r>
              <a:rPr lang="en-CA" sz="2000" b="1" dirty="0">
                <a:latin typeface="Verdana" panose="020B0604030504040204" pitchFamily="34" charset="0"/>
                <a:ea typeface="Verdana" panose="020B0604030504040204" pitchFamily="34" charset="0"/>
                <a:cs typeface="Verdana" panose="020B0604030504040204" pitchFamily="34" charset="0"/>
              </a:rPr>
              <a:t>inexpensive</a:t>
            </a:r>
            <a:r>
              <a:rPr lang="en-CA" sz="2000" dirty="0">
                <a:latin typeface="Verdana" panose="020B0604030504040204" pitchFamily="34" charset="0"/>
                <a:ea typeface="Verdana" panose="020B0604030504040204" pitchFamily="34" charset="0"/>
                <a:cs typeface="Verdana" panose="020B0604030504040204" pitchFamily="34" charset="0"/>
              </a:rPr>
              <a:t> and </a:t>
            </a:r>
            <a:r>
              <a:rPr lang="en-CA" sz="2000" b="1" dirty="0">
                <a:latin typeface="Verdana" panose="020B0604030504040204" pitchFamily="34" charset="0"/>
                <a:ea typeface="Verdana" panose="020B0604030504040204" pitchFamily="34" charset="0"/>
                <a:cs typeface="Verdana" panose="020B0604030504040204" pitchFamily="34" charset="0"/>
              </a:rPr>
              <a:t>chemically stable</a:t>
            </a:r>
          </a:p>
        </p:txBody>
      </p:sp>
    </p:spTree>
    <p:extLst>
      <p:ext uri="{BB962C8B-B14F-4D97-AF65-F5344CB8AC3E}">
        <p14:creationId xmlns:p14="http://schemas.microsoft.com/office/powerpoint/2010/main" val="1138950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Acceptable moderator materials</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37</a:t>
            </a:fld>
            <a:endParaRPr lang="en-US"/>
          </a:p>
        </p:txBody>
      </p:sp>
      <p:sp>
        <p:nvSpPr>
          <p:cNvPr id="5" name="Rectangle 4"/>
          <p:cNvSpPr/>
          <p:nvPr/>
        </p:nvSpPr>
        <p:spPr>
          <a:xfrm>
            <a:off x="1046629" y="2209800"/>
            <a:ext cx="7640171" cy="3323987"/>
          </a:xfrm>
          <a:prstGeom prst="rect">
            <a:avLst/>
          </a:prstGeom>
        </p:spPr>
        <p:txBody>
          <a:bodyPr wrap="square">
            <a:spAutoFit/>
          </a:bodyPr>
          <a:lstStyle/>
          <a:p>
            <a:endParaRPr lang="en-CA" dirty="0"/>
          </a:p>
          <a:p>
            <a:r>
              <a:rPr lang="en-CA" sz="2400" dirty="0">
                <a:latin typeface="Verdana" panose="020B0604030504040204" pitchFamily="34" charset="0"/>
                <a:ea typeface="Verdana" panose="020B0604030504040204" pitchFamily="34" charset="0"/>
                <a:cs typeface="Verdana" panose="020B0604030504040204" pitchFamily="34" charset="0"/>
              </a:rPr>
              <a:t>Commercial power reactors use one of three moderator materials</a:t>
            </a:r>
          </a:p>
          <a:p>
            <a:endParaRPr lang="en-CA"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sz="2400" dirty="0">
                <a:latin typeface="Verdana" panose="020B0604030504040204" pitchFamily="34" charset="0"/>
                <a:ea typeface="Verdana" panose="020B0604030504040204" pitchFamily="34" charset="0"/>
                <a:cs typeface="Verdana" panose="020B0604030504040204" pitchFamily="34" charset="0"/>
              </a:rPr>
              <a:t>H</a:t>
            </a:r>
            <a:r>
              <a:rPr lang="en-CA" sz="2400" baseline="-25000" dirty="0">
                <a:latin typeface="Verdana" panose="020B0604030504040204" pitchFamily="34" charset="0"/>
                <a:ea typeface="Verdana" panose="020B0604030504040204" pitchFamily="34" charset="0"/>
                <a:cs typeface="Verdana" panose="020B0604030504040204" pitchFamily="34" charset="0"/>
              </a:rPr>
              <a:t>2</a:t>
            </a:r>
            <a:r>
              <a:rPr lang="en-CA" sz="2400" dirty="0">
                <a:latin typeface="Verdana" panose="020B0604030504040204" pitchFamily="34" charset="0"/>
                <a:ea typeface="Verdana" panose="020B0604030504040204" pitchFamily="34" charset="0"/>
                <a:cs typeface="Verdana" panose="020B0604030504040204" pitchFamily="34" charset="0"/>
              </a:rPr>
              <a:t>O  (light water)</a:t>
            </a:r>
          </a:p>
          <a:p>
            <a:endParaRPr lang="en-CA"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sz="2400" dirty="0">
                <a:latin typeface="Verdana" panose="020B0604030504040204" pitchFamily="34" charset="0"/>
                <a:ea typeface="Verdana" panose="020B0604030504040204" pitchFamily="34" charset="0"/>
                <a:cs typeface="Verdana" panose="020B0604030504040204" pitchFamily="34" charset="0"/>
              </a:rPr>
              <a:t>D</a:t>
            </a:r>
            <a:r>
              <a:rPr lang="en-CA" sz="2400" baseline="-25000" dirty="0">
                <a:latin typeface="Verdana" panose="020B0604030504040204" pitchFamily="34" charset="0"/>
                <a:ea typeface="Verdana" panose="020B0604030504040204" pitchFamily="34" charset="0"/>
                <a:cs typeface="Verdana" panose="020B0604030504040204" pitchFamily="34" charset="0"/>
              </a:rPr>
              <a:t>2</a:t>
            </a:r>
            <a:r>
              <a:rPr lang="en-CA" sz="2400" dirty="0">
                <a:latin typeface="Verdana" panose="020B0604030504040204" pitchFamily="34" charset="0"/>
                <a:ea typeface="Verdana" panose="020B0604030504040204" pitchFamily="34" charset="0"/>
                <a:cs typeface="Verdana" panose="020B0604030504040204" pitchFamily="34" charset="0"/>
              </a:rPr>
              <a:t>O  (heavy water)</a:t>
            </a:r>
          </a:p>
          <a:p>
            <a:pPr marL="342900" indent="-342900">
              <a:buFont typeface="Arial" panose="020B0604020202020204" pitchFamily="34" charset="0"/>
              <a:buChar char="•"/>
            </a:pPr>
            <a:endParaRPr lang="en-CA"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sz="2400" dirty="0">
                <a:latin typeface="Verdana" panose="020B0604030504040204" pitchFamily="34" charset="0"/>
                <a:ea typeface="Verdana" panose="020B0604030504040204" pitchFamily="34" charset="0"/>
                <a:cs typeface="Verdana" panose="020B0604030504040204" pitchFamily="34" charset="0"/>
              </a:rPr>
              <a:t>Graphite</a:t>
            </a:r>
          </a:p>
        </p:txBody>
      </p:sp>
    </p:spTree>
    <p:extLst>
      <p:ext uri="{BB962C8B-B14F-4D97-AF65-F5344CB8AC3E}">
        <p14:creationId xmlns:p14="http://schemas.microsoft.com/office/powerpoint/2010/main" val="3485744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Heat transport methods</a:t>
            </a: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38</a:t>
            </a:fld>
            <a:endParaRPr lang="en-US"/>
          </a:p>
        </p:txBody>
      </p:sp>
      <p:sp>
        <p:nvSpPr>
          <p:cNvPr id="5" name="Rectangle 4"/>
          <p:cNvSpPr/>
          <p:nvPr/>
        </p:nvSpPr>
        <p:spPr>
          <a:xfrm>
            <a:off x="454843" y="2521860"/>
            <a:ext cx="7754471" cy="4093428"/>
          </a:xfrm>
          <a:prstGeom prst="rect">
            <a:avLst/>
          </a:prstGeom>
        </p:spPr>
        <p:txBody>
          <a:bodyPr wrap="square">
            <a:spAutoFit/>
          </a:bodyPr>
          <a:lstStyle/>
          <a:p>
            <a:r>
              <a:rPr lang="en-CA" sz="2000" dirty="0">
                <a:latin typeface="Verdana" panose="020B0604030504040204" pitchFamily="34" charset="0"/>
                <a:ea typeface="Verdana" panose="020B0604030504040204" pitchFamily="34" charset="0"/>
                <a:cs typeface="Verdana" panose="020B0604030504040204" pitchFamily="34" charset="0"/>
              </a:rPr>
              <a:t>Heat may be transported out of the reactor to operate turbines using the following methods</a:t>
            </a:r>
          </a:p>
          <a:p>
            <a:endParaRPr lang="en-CA"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sz="2000" b="1" dirty="0">
                <a:latin typeface="Verdana" panose="020B0604030504040204" pitchFamily="34" charset="0"/>
                <a:ea typeface="Verdana" panose="020B0604030504040204" pitchFamily="34" charset="0"/>
                <a:cs typeface="Verdana" panose="020B0604030504040204" pitchFamily="34" charset="0"/>
              </a:rPr>
              <a:t>Boiling water reactor </a:t>
            </a:r>
            <a:r>
              <a:rPr lang="en-CA" sz="2000" dirty="0">
                <a:latin typeface="Verdana" panose="020B0604030504040204" pitchFamily="34" charset="0"/>
                <a:ea typeface="Verdana" panose="020B0604030504040204" pitchFamily="34" charset="0"/>
                <a:cs typeface="Verdana" panose="020B0604030504040204" pitchFamily="34" charset="0"/>
              </a:rPr>
              <a:t>- where the water which cools the reactor boils to produce stem to drive the turbine</a:t>
            </a:r>
          </a:p>
          <a:p>
            <a:pPr marL="342900" indent="-342900">
              <a:buFont typeface="Arial" panose="020B0604020202020204" pitchFamily="34" charset="0"/>
              <a:buChar char="•"/>
            </a:pPr>
            <a:endParaRPr lang="en-CA"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sz="2000" b="1" dirty="0">
                <a:latin typeface="Verdana" panose="020B0604030504040204" pitchFamily="34" charset="0"/>
                <a:ea typeface="Verdana" panose="020B0604030504040204" pitchFamily="34" charset="0"/>
                <a:cs typeface="Verdana" panose="020B0604030504040204" pitchFamily="34" charset="0"/>
              </a:rPr>
              <a:t>Pressurized water reactor </a:t>
            </a:r>
            <a:r>
              <a:rPr lang="en-CA" sz="2000" dirty="0">
                <a:latin typeface="Verdana" panose="020B0604030504040204" pitchFamily="34" charset="0"/>
                <a:ea typeface="Verdana" panose="020B0604030504040204" pitchFamily="34" charset="0"/>
                <a:cs typeface="Verdana" panose="020B0604030504040204" pitchFamily="34" charset="0"/>
              </a:rPr>
              <a:t>- where the water used to cool the reactor is kept under pressure and transfers its heat to water which boils by means of a heat exchanger</a:t>
            </a:r>
          </a:p>
          <a:p>
            <a:pPr marL="342900" indent="-342900">
              <a:buFont typeface="Arial" panose="020B0604020202020204" pitchFamily="34" charset="0"/>
              <a:buChar char="•"/>
            </a:pPr>
            <a:endParaRPr lang="en-CA"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sz="2000" b="1" dirty="0">
                <a:latin typeface="Verdana" panose="020B0604030504040204" pitchFamily="34" charset="0"/>
                <a:ea typeface="Verdana" panose="020B0604030504040204" pitchFamily="34" charset="0"/>
                <a:cs typeface="Verdana" panose="020B0604030504040204" pitchFamily="34" charset="0"/>
              </a:rPr>
              <a:t>Gas cooled reactors </a:t>
            </a:r>
            <a:r>
              <a:rPr lang="en-CA" sz="2000" dirty="0">
                <a:latin typeface="Verdana" panose="020B0604030504040204" pitchFamily="34" charset="0"/>
                <a:ea typeface="Verdana" panose="020B0604030504040204" pitchFamily="34" charset="0"/>
                <a:cs typeface="Verdana" panose="020B0604030504040204" pitchFamily="34" charset="0"/>
              </a:rPr>
              <a:t>- where a gas is used to cool the reactor and transfers heat to water through a heat exchanger</a:t>
            </a:r>
          </a:p>
        </p:txBody>
      </p:sp>
    </p:spTree>
    <p:extLst>
      <p:ext uri="{BB962C8B-B14F-4D97-AF65-F5344CB8AC3E}">
        <p14:creationId xmlns:p14="http://schemas.microsoft.com/office/powerpoint/2010/main" val="3960205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Schematic of a boiling water reactor </a:t>
            </a:r>
            <a:endParaRPr lang="en-US" sz="3200" dirty="0"/>
          </a:p>
        </p:txBody>
      </p:sp>
      <p:sp>
        <p:nvSpPr>
          <p:cNvPr id="4" name="Slide Number Placeholder 3"/>
          <p:cNvSpPr>
            <a:spLocks noGrp="1"/>
          </p:cNvSpPr>
          <p:nvPr>
            <p:ph type="sldNum" sz="quarter" idx="12"/>
          </p:nvPr>
        </p:nvSpPr>
        <p:spPr/>
        <p:txBody>
          <a:bodyPr/>
          <a:lstStyle/>
          <a:p>
            <a:fld id="{070107C2-BA80-4C15-96AE-A43002ADF025}" type="slidenum">
              <a:rPr lang="en-US" smtClean="0"/>
              <a:t>39</a:t>
            </a:fld>
            <a:endParaRPr lang="en-US"/>
          </a:p>
        </p:txBody>
      </p:sp>
      <p:sp>
        <p:nvSpPr>
          <p:cNvPr id="6" name="Rectangle 5"/>
          <p:cNvSpPr/>
          <p:nvPr/>
        </p:nvSpPr>
        <p:spPr>
          <a:xfrm>
            <a:off x="876862" y="2378449"/>
            <a:ext cx="7620000" cy="400110"/>
          </a:xfrm>
          <a:prstGeom prst="rect">
            <a:avLst/>
          </a:prstGeom>
        </p:spPr>
        <p:txBody>
          <a:bodyPr wrap="square">
            <a:spAutoFit/>
          </a:bodyPr>
          <a:lstStyle/>
          <a:p>
            <a:r>
              <a:rPr lang="en-CA" sz="2000" dirty="0">
                <a:latin typeface="Verdana" panose="020B0604030504040204" pitchFamily="34" charset="0"/>
                <a:ea typeface="Verdana" panose="020B0604030504040204" pitchFamily="34" charset="0"/>
                <a:cs typeface="Verdana" panose="020B0604030504040204" pitchFamily="34" charset="0"/>
              </a:rPr>
              <a:t>Water is used as </a:t>
            </a:r>
            <a:r>
              <a:rPr lang="en-CA" sz="2000" b="1" dirty="0">
                <a:latin typeface="Verdana" panose="020B0604030504040204" pitchFamily="34" charset="0"/>
                <a:ea typeface="Verdana" panose="020B0604030504040204" pitchFamily="34" charset="0"/>
                <a:cs typeface="Verdana" panose="020B0604030504040204" pitchFamily="34" charset="0"/>
              </a:rPr>
              <a:t>both the moderator and the coolant</a:t>
            </a:r>
            <a:endParaRPr lang="en-US" sz="2000" b="1"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p:cNvPicPr>
            <a:picLocks noChangeAspect="1"/>
          </p:cNvPicPr>
          <p:nvPr/>
        </p:nvPicPr>
        <p:blipFill>
          <a:blip r:embed="rId2"/>
          <a:stretch>
            <a:fillRect/>
          </a:stretch>
        </p:blipFill>
        <p:spPr>
          <a:xfrm>
            <a:off x="1365018" y="2748593"/>
            <a:ext cx="6643688" cy="4109407"/>
          </a:xfrm>
          <a:prstGeom prst="rect">
            <a:avLst/>
          </a:prstGeom>
        </p:spPr>
      </p:pic>
    </p:spTree>
    <p:extLst>
      <p:ext uri="{BB962C8B-B14F-4D97-AF65-F5344CB8AC3E}">
        <p14:creationId xmlns:p14="http://schemas.microsoft.com/office/powerpoint/2010/main" val="14791939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2800"/>
              <a:t>Schematic of a pressurized water reactor</a:t>
            </a:r>
            <a:endParaRPr lang="en-US" sz="2800" dirty="0"/>
          </a:p>
        </p:txBody>
      </p:sp>
      <p:sp>
        <p:nvSpPr>
          <p:cNvPr id="4" name="Slide Number Placeholder 3"/>
          <p:cNvSpPr>
            <a:spLocks noGrp="1"/>
          </p:cNvSpPr>
          <p:nvPr>
            <p:ph type="sldNum" sz="quarter" idx="12"/>
          </p:nvPr>
        </p:nvSpPr>
        <p:spPr/>
        <p:txBody>
          <a:bodyPr/>
          <a:lstStyle/>
          <a:p>
            <a:fld id="{070107C2-BA80-4C15-96AE-A43002ADF025}" type="slidenum">
              <a:rPr lang="en-US" smtClean="0"/>
              <a:t>40</a:t>
            </a:fld>
            <a:endParaRPr lang="en-US"/>
          </a:p>
        </p:txBody>
      </p:sp>
      <p:sp>
        <p:nvSpPr>
          <p:cNvPr id="6" name="Rectangle 5"/>
          <p:cNvSpPr/>
          <p:nvPr/>
        </p:nvSpPr>
        <p:spPr>
          <a:xfrm>
            <a:off x="152400" y="2450094"/>
            <a:ext cx="5714999" cy="707886"/>
          </a:xfrm>
          <a:prstGeom prst="rect">
            <a:avLst/>
          </a:prstGeom>
        </p:spPr>
        <p:txBody>
          <a:bodyPr wrap="square">
            <a:spAutoFit/>
          </a:bodyPr>
          <a:lstStyle/>
          <a:p>
            <a:r>
              <a:rPr lang="en-CA" sz="2000" dirty="0">
                <a:latin typeface="Verdana" panose="020B0604030504040204" pitchFamily="34" charset="0"/>
                <a:ea typeface="Verdana" panose="020B0604030504040204" pitchFamily="34" charset="0"/>
                <a:cs typeface="Verdana" panose="020B0604030504040204" pitchFamily="34" charset="0"/>
              </a:rPr>
              <a:t>The moderator and coolant may be either light (H</a:t>
            </a:r>
            <a:r>
              <a:rPr lang="en-CA" sz="2000" baseline="-25000" dirty="0">
                <a:latin typeface="Verdana" panose="020B0604030504040204" pitchFamily="34" charset="0"/>
                <a:ea typeface="Verdana" panose="020B0604030504040204" pitchFamily="34" charset="0"/>
                <a:cs typeface="Verdana" panose="020B0604030504040204" pitchFamily="34" charset="0"/>
              </a:rPr>
              <a:t>2</a:t>
            </a:r>
            <a:r>
              <a:rPr lang="en-CA" sz="2000" dirty="0">
                <a:latin typeface="Verdana" panose="020B0604030504040204" pitchFamily="34" charset="0"/>
                <a:ea typeface="Verdana" panose="020B0604030504040204" pitchFamily="34" charset="0"/>
                <a:cs typeface="Verdana" panose="020B0604030504040204" pitchFamily="34" charset="0"/>
              </a:rPr>
              <a:t>O) or heavy water (D</a:t>
            </a:r>
            <a:r>
              <a:rPr lang="en-CA" sz="2000" baseline="-25000" dirty="0">
                <a:latin typeface="Verdana" panose="020B0604030504040204" pitchFamily="34" charset="0"/>
                <a:ea typeface="Verdana" panose="020B0604030504040204" pitchFamily="34" charset="0"/>
                <a:cs typeface="Verdana" panose="020B0604030504040204" pitchFamily="34" charset="0"/>
              </a:rPr>
              <a:t>2</a:t>
            </a:r>
            <a:r>
              <a:rPr lang="en-CA" sz="2000" dirty="0">
                <a:latin typeface="Verdana" panose="020B0604030504040204" pitchFamily="34" charset="0"/>
                <a:ea typeface="Verdana" panose="020B0604030504040204" pitchFamily="34" charset="0"/>
                <a:cs typeface="Verdana" panose="020B0604030504040204" pitchFamily="34" charset="0"/>
              </a:rPr>
              <a:t>O)</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p:cNvPicPr>
            <a:picLocks noChangeAspect="1"/>
          </p:cNvPicPr>
          <p:nvPr/>
        </p:nvPicPr>
        <p:blipFill>
          <a:blip r:embed="rId2"/>
          <a:stretch>
            <a:fillRect/>
          </a:stretch>
        </p:blipFill>
        <p:spPr>
          <a:xfrm>
            <a:off x="304800" y="3157980"/>
            <a:ext cx="5410200" cy="3600450"/>
          </a:xfrm>
          <a:prstGeom prst="rect">
            <a:avLst/>
          </a:prstGeom>
        </p:spPr>
      </p:pic>
      <p:pic>
        <p:nvPicPr>
          <p:cNvPr id="7" name="Picture 6">
            <a:extLst>
              <a:ext uri="{FF2B5EF4-FFF2-40B4-BE49-F238E27FC236}">
                <a16:creationId xmlns:a16="http://schemas.microsoft.com/office/drawing/2014/main" id="{28D3A125-BC23-46AB-ABC9-7E0A3E1926D4}"/>
              </a:ext>
            </a:extLst>
          </p:cNvPr>
          <p:cNvPicPr>
            <a:picLocks noChangeAspect="1"/>
          </p:cNvPicPr>
          <p:nvPr/>
        </p:nvPicPr>
        <p:blipFill>
          <a:blip r:embed="rId3"/>
          <a:stretch>
            <a:fillRect/>
          </a:stretch>
        </p:blipFill>
        <p:spPr>
          <a:xfrm>
            <a:off x="6029325" y="3186259"/>
            <a:ext cx="2905715" cy="2667081"/>
          </a:xfrm>
          <a:prstGeom prst="rect">
            <a:avLst/>
          </a:prstGeom>
        </p:spPr>
      </p:pic>
    </p:spTree>
    <p:extLst>
      <p:ext uri="{BB962C8B-B14F-4D97-AF65-F5344CB8AC3E}">
        <p14:creationId xmlns:p14="http://schemas.microsoft.com/office/powerpoint/2010/main" val="7568382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Gas (He) cooled graphite moderated reactor</a:t>
            </a: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41</a:t>
            </a:fld>
            <a:endParaRPr lang="en-US"/>
          </a:p>
        </p:txBody>
      </p:sp>
      <p:pic>
        <p:nvPicPr>
          <p:cNvPr id="3" name="Picture 2"/>
          <p:cNvPicPr>
            <a:picLocks noChangeAspect="1"/>
          </p:cNvPicPr>
          <p:nvPr/>
        </p:nvPicPr>
        <p:blipFill>
          <a:blip r:embed="rId2"/>
          <a:stretch>
            <a:fillRect/>
          </a:stretch>
        </p:blipFill>
        <p:spPr>
          <a:xfrm>
            <a:off x="2090737" y="2204113"/>
            <a:ext cx="4962525" cy="4067175"/>
          </a:xfrm>
          <a:prstGeom prst="rect">
            <a:avLst/>
          </a:prstGeom>
        </p:spPr>
      </p:pic>
    </p:spTree>
    <p:extLst>
      <p:ext uri="{BB962C8B-B14F-4D97-AF65-F5344CB8AC3E}">
        <p14:creationId xmlns:p14="http://schemas.microsoft.com/office/powerpoint/2010/main" val="35028499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2800" dirty="0"/>
              <a:t>Water cooled graphite moderated reactor</a:t>
            </a:r>
            <a:endParaRPr lang="en-US" sz="2800" dirty="0"/>
          </a:p>
        </p:txBody>
      </p:sp>
      <p:sp>
        <p:nvSpPr>
          <p:cNvPr id="4" name="Slide Number Placeholder 3"/>
          <p:cNvSpPr>
            <a:spLocks noGrp="1"/>
          </p:cNvSpPr>
          <p:nvPr>
            <p:ph type="sldNum" sz="quarter" idx="12"/>
          </p:nvPr>
        </p:nvSpPr>
        <p:spPr/>
        <p:txBody>
          <a:bodyPr/>
          <a:lstStyle/>
          <a:p>
            <a:fld id="{070107C2-BA80-4C15-96AE-A43002ADF025}" type="slidenum">
              <a:rPr lang="en-US" smtClean="0"/>
              <a:t>42</a:t>
            </a:fld>
            <a:endParaRPr lang="en-US"/>
          </a:p>
        </p:txBody>
      </p:sp>
      <p:pic>
        <p:nvPicPr>
          <p:cNvPr id="3" name="Picture 2"/>
          <p:cNvPicPr>
            <a:picLocks noChangeAspect="1"/>
          </p:cNvPicPr>
          <p:nvPr/>
        </p:nvPicPr>
        <p:blipFill>
          <a:blip r:embed="rId2"/>
          <a:stretch>
            <a:fillRect/>
          </a:stretch>
        </p:blipFill>
        <p:spPr>
          <a:xfrm>
            <a:off x="1762125" y="1821038"/>
            <a:ext cx="5619750" cy="4429125"/>
          </a:xfrm>
          <a:prstGeom prst="rect">
            <a:avLst/>
          </a:prstGeom>
        </p:spPr>
      </p:pic>
    </p:spTree>
    <p:extLst>
      <p:ext uri="{BB962C8B-B14F-4D97-AF65-F5344CB8AC3E}">
        <p14:creationId xmlns:p14="http://schemas.microsoft.com/office/powerpoint/2010/main" val="34790677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Nuclear safety</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43</a:t>
            </a:fld>
            <a:endParaRPr lang="en-US"/>
          </a:p>
        </p:txBody>
      </p:sp>
      <p:sp>
        <p:nvSpPr>
          <p:cNvPr id="5" name="Rectangle 4"/>
          <p:cNvSpPr/>
          <p:nvPr/>
        </p:nvSpPr>
        <p:spPr>
          <a:xfrm>
            <a:off x="685800" y="2362200"/>
            <a:ext cx="8001000" cy="3323987"/>
          </a:xfrm>
          <a:prstGeom prst="rect">
            <a:avLst/>
          </a:prstGeom>
        </p:spPr>
        <p:txBody>
          <a:bodyPr wrap="square">
            <a:spAutoFit/>
          </a:bodyPr>
          <a:lstStyle/>
          <a:p>
            <a:endParaRPr lang="en-CA" dirty="0"/>
          </a:p>
          <a:p>
            <a:r>
              <a:rPr lang="en-CA" sz="2400" dirty="0">
                <a:latin typeface="Verdana" panose="020B0604030504040204" pitchFamily="34" charset="0"/>
                <a:ea typeface="Verdana" panose="020B0604030504040204" pitchFamily="34" charset="0"/>
                <a:cs typeface="Verdana" panose="020B0604030504040204" pitchFamily="34" charset="0"/>
              </a:rPr>
              <a:t>Three notable nuclear accidents have occurred at commercial power reactors</a:t>
            </a:r>
          </a:p>
          <a:p>
            <a:endParaRPr lang="en-CA"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sz="2400" dirty="0">
                <a:latin typeface="Verdana" panose="020B0604030504040204" pitchFamily="34" charset="0"/>
                <a:ea typeface="Verdana" panose="020B0604030504040204" pitchFamily="34" charset="0"/>
                <a:cs typeface="Verdana" panose="020B0604030504040204" pitchFamily="34" charset="0"/>
              </a:rPr>
              <a:t>Three Mile Island</a:t>
            </a:r>
          </a:p>
          <a:p>
            <a:pPr marL="342900" indent="-342900">
              <a:buFont typeface="Arial" panose="020B0604020202020204" pitchFamily="34" charset="0"/>
              <a:buChar char="•"/>
            </a:pPr>
            <a:endParaRPr lang="en-CA"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sz="2400" dirty="0">
                <a:latin typeface="Verdana" panose="020B0604030504040204" pitchFamily="34" charset="0"/>
                <a:ea typeface="Verdana" panose="020B0604030504040204" pitchFamily="34" charset="0"/>
                <a:cs typeface="Verdana" panose="020B0604030504040204" pitchFamily="34" charset="0"/>
              </a:rPr>
              <a:t>Chernobyl</a:t>
            </a:r>
          </a:p>
          <a:p>
            <a:pPr marL="342900" indent="-342900">
              <a:buFont typeface="Arial" panose="020B0604020202020204" pitchFamily="34" charset="0"/>
              <a:buChar char="•"/>
            </a:pPr>
            <a:endParaRPr lang="en-CA"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sz="2400" dirty="0">
                <a:latin typeface="Verdana" panose="020B0604030504040204" pitchFamily="34" charset="0"/>
                <a:ea typeface="Verdana" panose="020B0604030504040204" pitchFamily="34" charset="0"/>
                <a:cs typeface="Verdana" panose="020B0604030504040204" pitchFamily="34" charset="0"/>
              </a:rPr>
              <a:t>Fukushima</a:t>
            </a:r>
          </a:p>
        </p:txBody>
      </p:sp>
    </p:spTree>
    <p:extLst>
      <p:ext uri="{BB962C8B-B14F-4D97-AF65-F5344CB8AC3E}">
        <p14:creationId xmlns:p14="http://schemas.microsoft.com/office/powerpoint/2010/main" val="21205472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79851"/>
            <a:ext cx="8229600" cy="1252728"/>
          </a:xfrm>
        </p:spPr>
        <p:txBody>
          <a:bodyPr>
            <a:normAutofit fontScale="90000"/>
          </a:bodyPr>
          <a:lstStyle/>
          <a:p>
            <a:br>
              <a:rPr lang="en-CA" dirty="0"/>
            </a:br>
            <a:r>
              <a:rPr lang="en-CA" dirty="0"/>
              <a:t>Three Mile Island (Pennsylvania)</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44</a:t>
            </a:fld>
            <a:endParaRPr lang="en-US"/>
          </a:p>
        </p:txBody>
      </p:sp>
      <p:pic>
        <p:nvPicPr>
          <p:cNvPr id="3" name="Picture 2"/>
          <p:cNvPicPr>
            <a:picLocks noChangeAspect="1"/>
          </p:cNvPicPr>
          <p:nvPr/>
        </p:nvPicPr>
        <p:blipFill>
          <a:blip r:embed="rId2"/>
          <a:stretch>
            <a:fillRect/>
          </a:stretch>
        </p:blipFill>
        <p:spPr>
          <a:xfrm>
            <a:off x="4092805" y="2796821"/>
            <a:ext cx="4876800" cy="3818467"/>
          </a:xfrm>
          <a:prstGeom prst="rect">
            <a:avLst/>
          </a:prstGeom>
        </p:spPr>
      </p:pic>
      <p:sp>
        <p:nvSpPr>
          <p:cNvPr id="6" name="Rectangle 5">
            <a:extLst>
              <a:ext uri="{FF2B5EF4-FFF2-40B4-BE49-F238E27FC236}">
                <a16:creationId xmlns:a16="http://schemas.microsoft.com/office/drawing/2014/main" id="{B75F0100-50B8-4087-9FD8-F19C76FE482D}"/>
              </a:ext>
            </a:extLst>
          </p:cNvPr>
          <p:cNvSpPr/>
          <p:nvPr/>
        </p:nvSpPr>
        <p:spPr>
          <a:xfrm>
            <a:off x="300481" y="2743978"/>
            <a:ext cx="3635604" cy="4047262"/>
          </a:xfrm>
          <a:prstGeom prst="rect">
            <a:avLst/>
          </a:prstGeom>
        </p:spPr>
        <p:txBody>
          <a:bodyPr wrap="square">
            <a:spAutoFit/>
          </a:bodyPr>
          <a:lstStyle/>
          <a:p>
            <a:endParaRPr lang="en-CA" sz="100" dirty="0"/>
          </a:p>
          <a:p>
            <a:r>
              <a:rPr lang="en-CA" sz="1600" dirty="0">
                <a:latin typeface="Verdana" panose="020B0604030504040204" pitchFamily="34" charset="0"/>
                <a:ea typeface="Verdana" panose="020B0604030504040204" pitchFamily="34" charset="0"/>
                <a:cs typeface="Verdana" panose="020B0604030504040204" pitchFamily="34" charset="0"/>
              </a:rPr>
              <a:t>March 28, 1979</a:t>
            </a:r>
          </a:p>
          <a:p>
            <a:endParaRPr lang="en-CA" sz="1600" dirty="0">
              <a:latin typeface="Verdana" panose="020B0604030504040204" pitchFamily="34" charset="0"/>
              <a:ea typeface="Verdana" panose="020B0604030504040204" pitchFamily="34" charset="0"/>
              <a:cs typeface="Verdana" panose="020B0604030504040204" pitchFamily="34" charset="0"/>
            </a:endParaRPr>
          </a:p>
          <a:p>
            <a:r>
              <a:rPr lang="en-CA" sz="1600" dirty="0">
                <a:latin typeface="Verdana" panose="020B0604030504040204" pitchFamily="34" charset="0"/>
                <a:ea typeface="Verdana" panose="020B0604030504040204" pitchFamily="34" charset="0"/>
                <a:cs typeface="Verdana" panose="020B0604030504040204" pitchFamily="34" charset="0"/>
              </a:rPr>
              <a:t>Failure of a relief valve and water pump caused the reactor to overheat.</a:t>
            </a:r>
          </a:p>
          <a:p>
            <a:endParaRPr lang="en-CA" sz="1600" dirty="0">
              <a:latin typeface="Verdana" panose="020B0604030504040204" pitchFamily="34" charset="0"/>
              <a:ea typeface="Verdana" panose="020B0604030504040204" pitchFamily="34" charset="0"/>
              <a:cs typeface="Verdana" panose="020B0604030504040204" pitchFamily="34" charset="0"/>
            </a:endParaRPr>
          </a:p>
          <a:p>
            <a:r>
              <a:rPr lang="en-CA" sz="1600" dirty="0">
                <a:latin typeface="Verdana" panose="020B0604030504040204" pitchFamily="34" charset="0"/>
                <a:ea typeface="Verdana" panose="020B0604030504040204" pitchFamily="34" charset="0"/>
                <a:cs typeface="Verdana" panose="020B0604030504040204" pitchFamily="34" charset="0"/>
              </a:rPr>
              <a:t>A small amount of radioactive material released to the atmosphere.</a:t>
            </a:r>
          </a:p>
          <a:p>
            <a:endParaRPr lang="en-CA" sz="1600" dirty="0">
              <a:latin typeface="Verdana" panose="020B0604030504040204" pitchFamily="34" charset="0"/>
              <a:ea typeface="Verdana" panose="020B0604030504040204" pitchFamily="34" charset="0"/>
              <a:cs typeface="Verdana" panose="020B0604030504040204" pitchFamily="34" charset="0"/>
            </a:endParaRPr>
          </a:p>
          <a:p>
            <a:r>
              <a:rPr lang="en-CA" sz="1600" dirty="0">
                <a:latin typeface="Verdana" panose="020B0604030504040204" pitchFamily="34" charset="0"/>
                <a:ea typeface="Verdana" panose="020B0604030504040204" pitchFamily="34" charset="0"/>
                <a:cs typeface="Verdana" panose="020B0604030504040204" pitchFamily="34" charset="0"/>
              </a:rPr>
              <a:t>No immediate adverse health effects.</a:t>
            </a:r>
          </a:p>
          <a:p>
            <a:r>
              <a:rPr lang="en-CA" sz="1600" dirty="0">
                <a:latin typeface="Verdana" panose="020B0604030504040204" pitchFamily="34" charset="0"/>
                <a:ea typeface="Verdana" panose="020B0604030504040204" pitchFamily="34" charset="0"/>
                <a:cs typeface="Verdana" panose="020B0604030504040204" pitchFamily="34" charset="0"/>
              </a:rPr>
              <a:t>No anticipated long term health effects.</a:t>
            </a:r>
          </a:p>
          <a:p>
            <a:endParaRPr lang="en-CA" sz="1600" dirty="0">
              <a:latin typeface="Verdana" panose="020B0604030504040204" pitchFamily="34" charset="0"/>
              <a:ea typeface="Verdana" panose="020B0604030504040204" pitchFamily="34" charset="0"/>
              <a:cs typeface="Verdana" panose="020B0604030504040204" pitchFamily="34" charset="0"/>
            </a:endParaRPr>
          </a:p>
          <a:p>
            <a:endParaRPr lang="en-CA" sz="16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123245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Chernobyl (Ukraine)</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45</a:t>
            </a:fld>
            <a:endParaRPr lang="en-US"/>
          </a:p>
        </p:txBody>
      </p:sp>
      <p:sp>
        <p:nvSpPr>
          <p:cNvPr id="6" name="Rectangle 5"/>
          <p:cNvSpPr/>
          <p:nvPr/>
        </p:nvSpPr>
        <p:spPr>
          <a:xfrm>
            <a:off x="228600" y="1981200"/>
            <a:ext cx="4876800" cy="2308324"/>
          </a:xfrm>
          <a:prstGeom prst="rect">
            <a:avLst/>
          </a:prstGeom>
        </p:spPr>
        <p:txBody>
          <a:bodyPr wrap="square">
            <a:spAutoFit/>
          </a:bodyPr>
          <a:lstStyle/>
          <a:p>
            <a:endParaRPr lang="en-CA" sz="1400" dirty="0"/>
          </a:p>
          <a:p>
            <a:endParaRPr lang="en-CA" sz="1600" dirty="0">
              <a:latin typeface="Verdana" panose="020B0604030504040204" pitchFamily="34" charset="0"/>
              <a:ea typeface="Verdana" panose="020B0604030504040204" pitchFamily="34" charset="0"/>
              <a:cs typeface="Verdana" panose="020B0604030504040204" pitchFamily="34" charset="0"/>
            </a:endParaRPr>
          </a:p>
          <a:p>
            <a:r>
              <a:rPr lang="en-CA" sz="1600" dirty="0">
                <a:latin typeface="Verdana" panose="020B0604030504040204" pitchFamily="34" charset="0"/>
                <a:ea typeface="Verdana" panose="020B0604030504040204" pitchFamily="34" charset="0"/>
                <a:cs typeface="Verdana" panose="020B0604030504040204" pitchFamily="34" charset="0"/>
              </a:rPr>
              <a:t>In Soviet Union (now part of the Ukraine)</a:t>
            </a:r>
          </a:p>
          <a:p>
            <a:endParaRPr lang="en-CA" sz="1600" dirty="0">
              <a:latin typeface="Verdana" panose="020B0604030504040204" pitchFamily="34" charset="0"/>
              <a:ea typeface="Verdana" panose="020B0604030504040204" pitchFamily="34" charset="0"/>
              <a:cs typeface="Verdana" panose="020B0604030504040204" pitchFamily="34" charset="0"/>
            </a:endParaRPr>
          </a:p>
          <a:p>
            <a:r>
              <a:rPr lang="en-CA" sz="1600" dirty="0">
                <a:latin typeface="Verdana" panose="020B0604030504040204" pitchFamily="34" charset="0"/>
                <a:ea typeface="Verdana" panose="020B0604030504040204" pitchFamily="34" charset="0"/>
                <a:cs typeface="Verdana" panose="020B0604030504040204" pitchFamily="34" charset="0"/>
              </a:rPr>
              <a:t>Water-cooled graphite-moderated reactor</a:t>
            </a:r>
          </a:p>
          <a:p>
            <a:endParaRPr lang="en-CA" sz="1600" dirty="0">
              <a:latin typeface="Verdana" panose="020B0604030504040204" pitchFamily="34" charset="0"/>
              <a:ea typeface="Verdana" panose="020B0604030504040204" pitchFamily="34" charset="0"/>
              <a:cs typeface="Verdana" panose="020B0604030504040204" pitchFamily="34" charset="0"/>
            </a:endParaRPr>
          </a:p>
          <a:p>
            <a:r>
              <a:rPr lang="en-CA" sz="1600" dirty="0">
                <a:latin typeface="Verdana" panose="020B0604030504040204" pitchFamily="34" charset="0"/>
                <a:ea typeface="Verdana" panose="020B0604030504040204" pitchFamily="34" charset="0"/>
                <a:cs typeface="Verdana" panose="020B0604030504040204" pitchFamily="34" charset="0"/>
              </a:rPr>
              <a:t>Typical Russian design (RBMK) </a:t>
            </a:r>
          </a:p>
          <a:p>
            <a:endParaRPr lang="en-CA" sz="1600" dirty="0">
              <a:latin typeface="Verdana" panose="020B0604030504040204" pitchFamily="34" charset="0"/>
              <a:ea typeface="Verdana" panose="020B0604030504040204" pitchFamily="34" charset="0"/>
              <a:cs typeface="Verdana" panose="020B0604030504040204" pitchFamily="34" charset="0"/>
            </a:endParaRPr>
          </a:p>
          <a:p>
            <a:endParaRPr lang="en-CA" sz="1600" dirty="0">
              <a:latin typeface="Verdana" panose="020B0604030504040204" pitchFamily="34" charset="0"/>
              <a:ea typeface="Verdana" panose="020B0604030504040204" pitchFamily="34" charset="0"/>
              <a:cs typeface="Verdana" panose="020B0604030504040204" pitchFamily="34" charset="0"/>
            </a:endParaRPr>
          </a:p>
        </p:txBody>
      </p:sp>
      <p:pic>
        <p:nvPicPr>
          <p:cNvPr id="5" name="Picture 4">
            <a:extLst>
              <a:ext uri="{FF2B5EF4-FFF2-40B4-BE49-F238E27FC236}">
                <a16:creationId xmlns:a16="http://schemas.microsoft.com/office/drawing/2014/main" id="{59192D7F-E620-41EE-9BDD-AFA71E1D62B2}"/>
              </a:ext>
            </a:extLst>
          </p:cNvPr>
          <p:cNvPicPr>
            <a:picLocks noChangeAspect="1"/>
          </p:cNvPicPr>
          <p:nvPr/>
        </p:nvPicPr>
        <p:blipFill>
          <a:blip r:embed="rId2"/>
          <a:stretch>
            <a:fillRect/>
          </a:stretch>
        </p:blipFill>
        <p:spPr>
          <a:xfrm>
            <a:off x="5000625" y="2133600"/>
            <a:ext cx="4143375" cy="4564315"/>
          </a:xfrm>
          <a:prstGeom prst="rect">
            <a:avLst/>
          </a:prstGeom>
        </p:spPr>
      </p:pic>
      <p:sp>
        <p:nvSpPr>
          <p:cNvPr id="7" name="Rectangle 6">
            <a:extLst>
              <a:ext uri="{FF2B5EF4-FFF2-40B4-BE49-F238E27FC236}">
                <a16:creationId xmlns:a16="http://schemas.microsoft.com/office/drawing/2014/main" id="{E48974BC-846F-48DE-9626-BAC45D2DFBBB}"/>
              </a:ext>
            </a:extLst>
          </p:cNvPr>
          <p:cNvSpPr/>
          <p:nvPr/>
        </p:nvSpPr>
        <p:spPr>
          <a:xfrm>
            <a:off x="245882" y="4029965"/>
            <a:ext cx="4745217" cy="2585323"/>
          </a:xfrm>
          <a:prstGeom prst="rect">
            <a:avLst/>
          </a:prstGeom>
        </p:spPr>
        <p:txBody>
          <a:bodyPr wrap="square">
            <a:spAutoFit/>
          </a:bodyPr>
          <a:lstStyle/>
          <a:p>
            <a:r>
              <a:rPr lang="en-CA" sz="1600" dirty="0">
                <a:latin typeface="Verdana" panose="020B0604030504040204" pitchFamily="34" charset="0"/>
                <a:ea typeface="Verdana" panose="020B0604030504040204" pitchFamily="34" charset="0"/>
                <a:cs typeface="Verdana" panose="020B0604030504040204" pitchFamily="34" charset="0"/>
              </a:rPr>
              <a:t>Began April 25, 1986</a:t>
            </a:r>
          </a:p>
          <a:p>
            <a:endParaRPr lang="en-CA" sz="1600" dirty="0">
              <a:latin typeface="Verdana" panose="020B0604030504040204" pitchFamily="34" charset="0"/>
              <a:ea typeface="Verdana" panose="020B0604030504040204" pitchFamily="34" charset="0"/>
              <a:cs typeface="Verdana" panose="020B0604030504040204" pitchFamily="34" charset="0"/>
            </a:endParaRPr>
          </a:p>
          <a:p>
            <a:endParaRPr lang="en-CA" sz="1600" dirty="0">
              <a:latin typeface="Verdana" panose="020B0604030504040204" pitchFamily="34" charset="0"/>
              <a:ea typeface="Verdana" panose="020B0604030504040204" pitchFamily="34" charset="0"/>
              <a:cs typeface="Verdana" panose="020B0604030504040204" pitchFamily="34" charset="0"/>
            </a:endParaRPr>
          </a:p>
          <a:p>
            <a:r>
              <a:rPr lang="en-CA" sz="1600" dirty="0">
                <a:latin typeface="Verdana" panose="020B0604030504040204" pitchFamily="34" charset="0"/>
                <a:ea typeface="Verdana" panose="020B0604030504040204" pitchFamily="34" charset="0"/>
                <a:cs typeface="Verdana" panose="020B0604030504040204" pitchFamily="34" charset="0"/>
              </a:rPr>
              <a:t>Reactor became unstable as a result of some operator tests.</a:t>
            </a:r>
          </a:p>
          <a:p>
            <a:endParaRPr lang="en-CA" sz="1600" dirty="0">
              <a:latin typeface="Verdana" panose="020B0604030504040204" pitchFamily="34" charset="0"/>
              <a:ea typeface="Verdana" panose="020B0604030504040204" pitchFamily="34" charset="0"/>
              <a:cs typeface="Verdana" panose="020B0604030504040204" pitchFamily="34" charset="0"/>
            </a:endParaRPr>
          </a:p>
          <a:p>
            <a:r>
              <a:rPr lang="en-CA" sz="1600" dirty="0">
                <a:latin typeface="Verdana" panose="020B0604030504040204" pitchFamily="34" charset="0"/>
                <a:ea typeface="Verdana" panose="020B0604030504040204" pitchFamily="34" charset="0"/>
                <a:cs typeface="Verdana" panose="020B0604030504040204" pitchFamily="34" charset="0"/>
              </a:rPr>
              <a:t>Overheating of reactor </a:t>
            </a:r>
            <a:r>
              <a:rPr lang="en-CA" sz="1600" b="1" dirty="0">
                <a:latin typeface="Verdana" panose="020B0604030504040204" pitchFamily="34" charset="0"/>
                <a:ea typeface="Verdana" panose="020B0604030504040204" pitchFamily="34" charset="0"/>
                <a:cs typeface="Verdana" panose="020B0604030504040204" pitchFamily="34" charset="0"/>
              </a:rPr>
              <a:t>caused water to decompose</a:t>
            </a:r>
            <a:r>
              <a:rPr lang="en-CA" sz="1600" dirty="0">
                <a:latin typeface="Verdana" panose="020B0604030504040204" pitchFamily="34" charset="0"/>
                <a:ea typeface="Verdana" panose="020B0604030504040204" pitchFamily="34" charset="0"/>
                <a:cs typeface="Verdana" panose="020B0604030504040204" pitchFamily="34" charset="0"/>
              </a:rPr>
              <a:t>, releasing hydrogen which exploded.</a:t>
            </a:r>
          </a:p>
          <a:p>
            <a:endParaRPr lang="en-CA" sz="16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5572981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Fukushima </a:t>
            </a:r>
            <a:r>
              <a:rPr lang="en-CA" dirty="0" err="1"/>
              <a:t>Dai-ichi</a:t>
            </a:r>
            <a:r>
              <a:rPr lang="en-CA" dirty="0"/>
              <a:t> (Japan)</a:t>
            </a: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46</a:t>
            </a:fld>
            <a:endParaRPr lang="en-US"/>
          </a:p>
        </p:txBody>
      </p:sp>
      <p:sp>
        <p:nvSpPr>
          <p:cNvPr id="5" name="Rectangle 4"/>
          <p:cNvSpPr/>
          <p:nvPr/>
        </p:nvSpPr>
        <p:spPr>
          <a:xfrm>
            <a:off x="2438400" y="1291735"/>
            <a:ext cx="4572000" cy="677108"/>
          </a:xfrm>
          <a:prstGeom prst="rect">
            <a:avLst/>
          </a:prstGeom>
        </p:spPr>
        <p:txBody>
          <a:bodyPr>
            <a:spAutoFit/>
          </a:bodyPr>
          <a:lstStyle/>
          <a:p>
            <a:r>
              <a:rPr lang="en-CA" sz="2000" dirty="0">
                <a:latin typeface="Verdana" panose="020B0604030504040204" pitchFamily="34" charset="0"/>
                <a:ea typeface="Verdana" panose="020B0604030504040204" pitchFamily="34" charset="0"/>
                <a:cs typeface="Verdana" panose="020B0604030504040204" pitchFamily="34" charset="0"/>
              </a:rPr>
              <a:t>Facility consisting of six BWRs</a:t>
            </a:r>
          </a:p>
          <a:p>
            <a:endParaRPr lang="en-CA" dirty="0"/>
          </a:p>
        </p:txBody>
      </p:sp>
      <p:pic>
        <p:nvPicPr>
          <p:cNvPr id="3" name="Picture 2"/>
          <p:cNvPicPr>
            <a:picLocks noChangeAspect="1"/>
          </p:cNvPicPr>
          <p:nvPr/>
        </p:nvPicPr>
        <p:blipFill>
          <a:blip r:embed="rId2"/>
          <a:stretch>
            <a:fillRect/>
          </a:stretch>
        </p:blipFill>
        <p:spPr>
          <a:xfrm>
            <a:off x="4343400" y="1662314"/>
            <a:ext cx="3754225" cy="2519872"/>
          </a:xfrm>
          <a:prstGeom prst="rect">
            <a:avLst/>
          </a:prstGeom>
        </p:spPr>
      </p:pic>
      <p:sp>
        <p:nvSpPr>
          <p:cNvPr id="6" name="Rectangle 5">
            <a:extLst>
              <a:ext uri="{FF2B5EF4-FFF2-40B4-BE49-F238E27FC236}">
                <a16:creationId xmlns:a16="http://schemas.microsoft.com/office/drawing/2014/main" id="{303B7BB8-E43F-48A1-A667-25CCC642D8B9}"/>
              </a:ext>
            </a:extLst>
          </p:cNvPr>
          <p:cNvSpPr/>
          <p:nvPr/>
        </p:nvSpPr>
        <p:spPr>
          <a:xfrm>
            <a:off x="76200" y="2273056"/>
            <a:ext cx="4267200" cy="4247317"/>
          </a:xfrm>
          <a:prstGeom prst="rect">
            <a:avLst/>
          </a:prstGeom>
        </p:spPr>
        <p:txBody>
          <a:bodyPr wrap="square">
            <a:spAutoFit/>
          </a:bodyPr>
          <a:lstStyle/>
          <a:p>
            <a:endParaRPr lang="en-CA" sz="1400" dirty="0"/>
          </a:p>
          <a:p>
            <a:r>
              <a:rPr lang="en-CA" sz="1600" dirty="0">
                <a:latin typeface="Verdana" panose="020B0604030504040204" pitchFamily="34" charset="0"/>
                <a:ea typeface="Verdana" panose="020B0604030504040204" pitchFamily="34" charset="0"/>
                <a:cs typeface="Verdana" panose="020B0604030504040204" pitchFamily="34" charset="0"/>
              </a:rPr>
              <a:t>Accident on March 11, 2011</a:t>
            </a:r>
          </a:p>
          <a:p>
            <a:endParaRPr lang="en-CA" sz="1600" dirty="0">
              <a:latin typeface="Verdana" panose="020B0604030504040204" pitchFamily="34" charset="0"/>
              <a:ea typeface="Verdana" panose="020B0604030504040204" pitchFamily="34" charset="0"/>
              <a:cs typeface="Verdana" panose="020B0604030504040204" pitchFamily="34" charset="0"/>
            </a:endParaRPr>
          </a:p>
          <a:p>
            <a:r>
              <a:rPr lang="en-CA" sz="1600" dirty="0">
                <a:latin typeface="Verdana" panose="020B0604030504040204" pitchFamily="34" charset="0"/>
                <a:ea typeface="Verdana" panose="020B0604030504040204" pitchFamily="34" charset="0"/>
                <a:cs typeface="Verdana" panose="020B0604030504040204" pitchFamily="34" charset="0"/>
              </a:rPr>
              <a:t>Electrical infrastructure damaged by tsunami caused by off-shore earthquake</a:t>
            </a:r>
          </a:p>
          <a:p>
            <a:endParaRPr lang="en-CA" sz="1600" dirty="0">
              <a:latin typeface="Verdana" panose="020B0604030504040204" pitchFamily="34" charset="0"/>
              <a:ea typeface="Verdana" panose="020B0604030504040204" pitchFamily="34" charset="0"/>
              <a:cs typeface="Verdana" panose="020B0604030504040204" pitchFamily="34" charset="0"/>
            </a:endParaRPr>
          </a:p>
          <a:p>
            <a:r>
              <a:rPr lang="en-CA" sz="1600" dirty="0">
                <a:latin typeface="Verdana" panose="020B0604030504040204" pitchFamily="34" charset="0"/>
                <a:ea typeface="Verdana" panose="020B0604030504040204" pitchFamily="34" charset="0"/>
                <a:cs typeface="Verdana" panose="020B0604030504040204" pitchFamily="34" charset="0"/>
              </a:rPr>
              <a:t>Loss of coolant caused reactors to overheat leading to explosions</a:t>
            </a:r>
          </a:p>
          <a:p>
            <a:endParaRPr lang="en-CA" sz="1600" dirty="0">
              <a:latin typeface="Verdana" panose="020B0604030504040204" pitchFamily="34" charset="0"/>
              <a:ea typeface="Verdana" panose="020B0604030504040204" pitchFamily="34" charset="0"/>
              <a:cs typeface="Verdana" panose="020B0604030504040204" pitchFamily="34" charset="0"/>
            </a:endParaRPr>
          </a:p>
          <a:p>
            <a:r>
              <a:rPr lang="en-CA" sz="1600" dirty="0">
                <a:latin typeface="Verdana" panose="020B0604030504040204" pitchFamily="34" charset="0"/>
                <a:ea typeface="Verdana" panose="020B0604030504040204" pitchFamily="34" charset="0"/>
                <a:cs typeface="Verdana" panose="020B0604030504040204" pitchFamily="34" charset="0"/>
              </a:rPr>
              <a:t>Estimated release of radioactive material about 10 - 20% that of Chernobyl</a:t>
            </a:r>
          </a:p>
          <a:p>
            <a:endParaRPr lang="en-CA" sz="1600" dirty="0">
              <a:latin typeface="Verdana" panose="020B0604030504040204" pitchFamily="34" charset="0"/>
              <a:ea typeface="Verdana" panose="020B0604030504040204" pitchFamily="34" charset="0"/>
              <a:cs typeface="Verdana" panose="020B0604030504040204" pitchFamily="34" charset="0"/>
            </a:endParaRPr>
          </a:p>
          <a:p>
            <a:r>
              <a:rPr lang="en-CA" sz="1600" dirty="0">
                <a:latin typeface="Verdana" panose="020B0604030504040204" pitchFamily="34" charset="0"/>
                <a:ea typeface="Verdana" panose="020B0604030504040204" pitchFamily="34" charset="0"/>
                <a:cs typeface="Verdana" panose="020B0604030504040204" pitchFamily="34" charset="0"/>
              </a:rPr>
              <a:t>Long term health effects yet to be determined</a:t>
            </a:r>
          </a:p>
          <a:p>
            <a:endParaRPr lang="en-CA" sz="1600" dirty="0">
              <a:latin typeface="Verdana" panose="020B0604030504040204" pitchFamily="34" charset="0"/>
              <a:ea typeface="Verdana" panose="020B0604030504040204" pitchFamily="34" charset="0"/>
              <a:cs typeface="Verdana" panose="020B0604030504040204" pitchFamily="34" charset="0"/>
            </a:endParaRPr>
          </a:p>
        </p:txBody>
      </p:sp>
      <p:pic>
        <p:nvPicPr>
          <p:cNvPr id="7" name="Picture 6">
            <a:extLst>
              <a:ext uri="{FF2B5EF4-FFF2-40B4-BE49-F238E27FC236}">
                <a16:creationId xmlns:a16="http://schemas.microsoft.com/office/drawing/2014/main" id="{9E9BCA8D-DA9F-4B6A-A9EF-00FEB86C2C77}"/>
              </a:ext>
            </a:extLst>
          </p:cNvPr>
          <p:cNvPicPr>
            <a:picLocks noChangeAspect="1"/>
          </p:cNvPicPr>
          <p:nvPr/>
        </p:nvPicPr>
        <p:blipFill>
          <a:blip r:embed="rId3"/>
          <a:stretch>
            <a:fillRect/>
          </a:stretch>
        </p:blipFill>
        <p:spPr>
          <a:xfrm>
            <a:off x="4267200" y="4182186"/>
            <a:ext cx="3733800" cy="2685051"/>
          </a:xfrm>
          <a:prstGeom prst="rect">
            <a:avLst/>
          </a:prstGeom>
        </p:spPr>
      </p:pic>
    </p:spTree>
    <p:extLst>
      <p:ext uri="{BB962C8B-B14F-4D97-AF65-F5344CB8AC3E}">
        <p14:creationId xmlns:p14="http://schemas.microsoft.com/office/powerpoint/2010/main" val="28778366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Flow">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1_Waveform">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34226</TotalTime>
  <Words>2545</Words>
  <Application>Microsoft Office PowerPoint</Application>
  <PresentationFormat>On-screen Show (4:3)</PresentationFormat>
  <Paragraphs>363</Paragraphs>
  <Slides>46</Slides>
  <Notes>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46</vt:i4>
      </vt:variant>
    </vt:vector>
  </HeadingPairs>
  <TitlesOfParts>
    <vt:vector size="57" baseType="lpstr">
      <vt:lpstr>Arial</vt:lpstr>
      <vt:lpstr>Calibri</vt:lpstr>
      <vt:lpstr>Candara</vt:lpstr>
      <vt:lpstr>Constantia</vt:lpstr>
      <vt:lpstr>Symbol</vt:lpstr>
      <vt:lpstr>Times New Roman</vt:lpstr>
      <vt:lpstr>Verdana</vt:lpstr>
      <vt:lpstr>Wingdings</vt:lpstr>
      <vt:lpstr>Wingdings 2</vt:lpstr>
      <vt:lpstr>Flow</vt:lpstr>
      <vt:lpstr>1_Waveform</vt:lpstr>
      <vt:lpstr>PowerPoint Presentation</vt:lpstr>
      <vt:lpstr>References</vt:lpstr>
      <vt:lpstr>Motivation</vt:lpstr>
      <vt:lpstr>Nuclear Power Plants in Ontario </vt:lpstr>
      <vt:lpstr>Learning Outcome</vt:lpstr>
      <vt:lpstr>Part 1 Atomic Binding Energy</vt:lpstr>
      <vt:lpstr>Nucleons</vt:lpstr>
      <vt:lpstr>Atomic mass unit</vt:lpstr>
      <vt:lpstr>Isotopes</vt:lpstr>
      <vt:lpstr>The known stable and unstable nuclides as a function of Z are shown on a Segrè plot</vt:lpstr>
      <vt:lpstr>Binding Energy</vt:lpstr>
      <vt:lpstr>Nuclear and atomic masses</vt:lpstr>
      <vt:lpstr>Units in Einstein’s relation</vt:lpstr>
      <vt:lpstr>Binding Energy – Empirical Relations</vt:lpstr>
      <vt:lpstr>Binding Energy – Summary</vt:lpstr>
      <vt:lpstr>Nuclear reactions</vt:lpstr>
      <vt:lpstr>Gamma Decay</vt:lpstr>
      <vt:lpstr>Summary</vt:lpstr>
      <vt:lpstr>Part 2 Nuclear Fission</vt:lpstr>
      <vt:lpstr> Fission energy </vt:lpstr>
      <vt:lpstr> Exothermic reactions </vt:lpstr>
      <vt:lpstr> Energy per fission </vt:lpstr>
      <vt:lpstr> Spontaneous fission </vt:lpstr>
      <vt:lpstr> Typical fission reactions </vt:lpstr>
      <vt:lpstr> Isotopes of Uranium </vt:lpstr>
      <vt:lpstr>Energy Released per Fission of U-235</vt:lpstr>
      <vt:lpstr>Energy Released per Fission of U-235</vt:lpstr>
      <vt:lpstr>Chain Reaction of Uranium</vt:lpstr>
      <vt:lpstr> Stable chain reaction in uranium </vt:lpstr>
      <vt:lpstr> The best way to induce fission </vt:lpstr>
      <vt:lpstr>Part 3 Nuclear Reactor Design</vt:lpstr>
      <vt:lpstr>Typical fission reactor design</vt:lpstr>
      <vt:lpstr> Important components of the fission reactor </vt:lpstr>
      <vt:lpstr> Fission reactor control </vt:lpstr>
      <vt:lpstr> Types of fission reactors </vt:lpstr>
      <vt:lpstr>Moderator materials</vt:lpstr>
      <vt:lpstr> Acceptable moderator materials </vt:lpstr>
      <vt:lpstr>Heat transport methods</vt:lpstr>
      <vt:lpstr>Schematic of a boiling water reactor </vt:lpstr>
      <vt:lpstr>Schematic of a pressurized water reactor</vt:lpstr>
      <vt:lpstr>Gas (He) cooled graphite moderated reactor</vt:lpstr>
      <vt:lpstr>Water cooled graphite moderated reactor</vt:lpstr>
      <vt:lpstr> Nuclear safety </vt:lpstr>
      <vt:lpstr> Three Mile Island (Pennsylvania) </vt:lpstr>
      <vt:lpstr> Chernobyl (Ukraine) </vt:lpstr>
      <vt:lpstr>Fukushima Dai-ichi (Japan)</vt:lpstr>
    </vt:vector>
  </TitlesOfParts>
  <Company>NTL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altit</dc:creator>
  <cp:lastModifiedBy>Amin Ghobeity</cp:lastModifiedBy>
  <cp:revision>2222</cp:revision>
  <dcterms:created xsi:type="dcterms:W3CDTF">2013-10-11T17:23:38Z</dcterms:created>
  <dcterms:modified xsi:type="dcterms:W3CDTF">2025-10-28T17:57:59Z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