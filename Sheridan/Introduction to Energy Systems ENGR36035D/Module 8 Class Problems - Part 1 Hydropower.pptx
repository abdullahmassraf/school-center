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CD1A-4F45-40EF-AE2C-53CB2F637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3FBAD-95CD-42DB-A0F2-CE4C8768E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2492D-E6CB-4FB7-A582-7C94A9ACA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1DF9-D121-458C-8BF9-593733DFC2B3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01244-74A4-4F72-BC4B-D4766CCF4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95329-8892-4803-9DD5-379744608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CFCC-1553-40E1-98A7-3C81967F27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3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C3264-7A4D-4577-936F-D3EA31019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F05E6-37C9-4521-905F-7BAFDB6CC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298E5-CBD9-4874-B53C-9D1895D1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1DF9-D121-458C-8BF9-593733DFC2B3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4528C-82E7-4DAC-9925-126DB1963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CEF13-17D9-40B8-95E1-51A3D406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CFCC-1553-40E1-98A7-3C81967F27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971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9D8E0-8835-48DB-93BB-906F5A761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DAF34-0B79-4FE9-97BE-29B9CCA73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76B05-7766-43BF-B2EB-DAF87E61D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1DF9-D121-458C-8BF9-593733DFC2B3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FFE83-249B-4A7C-9E71-2B15A293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63B77-52F8-4C2C-8BE3-E4B2FF5B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CFCC-1553-40E1-98A7-3C81967F27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9159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ABB06-387C-4FFF-8DFA-B299DE576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9598A-E073-48D8-A79A-C9E4B2540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7C892-82B0-4BE5-BCB7-67F6E1C85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9C01A-4D17-4714-8E81-18A3C7FE6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1DF9-D121-458C-8BF9-593733DFC2B3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E4147-0502-4BC3-9E06-2E2A8429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B57C6-0135-4CBB-875A-3B28C597A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CFCC-1553-40E1-98A7-3C81967F27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9288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6DAA-AF4F-4101-BB80-69E1814B7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58072-FA4C-49FC-8DF7-ED324BF43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E716F3-6386-4AAF-A74F-B66B7D5EC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996856-2835-4700-A44A-2BAF7BFBC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0B43D3-5518-4D9B-9B4C-2FA848FC9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F24A03-F323-4611-A5A1-35D0223DD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1DF9-D121-458C-8BF9-593733DFC2B3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C63AE-7897-4618-81EE-930436CA6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962FA-6342-47D7-96FA-A6F2F68E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CFCC-1553-40E1-98A7-3C81967F27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5451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C9EA6-CD30-4FDD-BF24-218AF7A68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DDF45-EE13-4B62-96FD-D6FC45EF4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1DF9-D121-458C-8BF9-593733DFC2B3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FB79A-1E4E-42B5-B360-C3E096111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7ACF2-8045-4C6A-B822-71C41AB90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CFCC-1553-40E1-98A7-3C81967F27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0256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783EB4-0EC8-4529-9E4E-D76343F4A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1DF9-D121-458C-8BF9-593733DFC2B3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B6713B-4962-4071-87EF-A2B958F97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3C06E-DC83-47DF-9BD3-2A7F80297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CFCC-1553-40E1-98A7-3C81967F27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9415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430C2-D4CD-402D-9476-B143225F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D578D-5EB8-4654-883E-88EB9690C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4978C-F151-4B8F-9398-F56045DE7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E0F02-8E1B-4A52-A010-CDE0761FE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1DF9-D121-458C-8BF9-593733DFC2B3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6CD857-77A5-440D-8EBA-BDA417DBA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529-1742-40F6-8D3B-40425AD41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CFCC-1553-40E1-98A7-3C81967F27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420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457AF-6FD6-4C1F-88CB-50D295E4A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0366D-4235-4D76-A853-BB6D9F34B7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696BF-A1AB-4BED-B84B-93822938A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BA4D6-C882-4B71-BB21-C75B3FB4C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1DF9-D121-458C-8BF9-593733DFC2B3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399C2-1D0F-4DB3-A6B5-0BF664E4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3ECB9-686F-4ECF-9773-4B9E837F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CFCC-1553-40E1-98A7-3C81967F27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4160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24EFB-57EF-4C31-984C-DA4CC52B5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8A75E-43AA-498A-B3F9-2BC902F86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A816E-922F-4E53-BC87-E3203B29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1DF9-D121-458C-8BF9-593733DFC2B3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70361-89B5-4DE8-BE53-803CAE799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C76D8-279A-4762-A2B3-9FF00C6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CFCC-1553-40E1-98A7-3C81967F27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6512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B37DC-FD39-4359-98A3-5B108498C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6676D7-0D70-4EFF-9BD9-47BC6D3BE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B918F-F337-48DC-9176-AAF7C086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1DF9-D121-458C-8BF9-593733DFC2B3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D1F88-61E6-41FE-BE7C-084F48945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8F793-C515-4C67-8D16-C216DF32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ECFCC-1553-40E1-98A7-3C81967F27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021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37FAAC-5E8A-4605-B97C-954A46ACE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C8FA7-B729-41C0-86A7-35DF4EB37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EFE65-FB9C-4120-AFE8-C91ED561D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51DF9-D121-458C-8BF9-593733DFC2B3}" type="datetimeFigureOut">
              <a:rPr lang="en-CA" smtClean="0"/>
              <a:t>2021-09-08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85B4F-676D-43DB-A853-EB0ACF53E9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2A013-923F-4D07-9113-3E2777540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ECFCC-1553-40E1-98A7-3C81967F27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7405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BF0EF-988C-471D-8ED6-2A8F13DBBD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Module 8 Class Problems </a:t>
            </a:r>
            <a:br>
              <a:rPr lang="en-CA"/>
            </a:b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0E45C-D54B-4434-84F4-126C83FCA9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  <a:p>
            <a:r>
              <a:rPr lang="en-CA" dirty="0"/>
              <a:t>Part 1 Hydropower</a:t>
            </a:r>
          </a:p>
        </p:txBody>
      </p:sp>
    </p:spTree>
    <p:extLst>
      <p:ext uri="{BB962C8B-B14F-4D97-AF65-F5344CB8AC3E}">
        <p14:creationId xmlns:p14="http://schemas.microsoft.com/office/powerpoint/2010/main" val="598975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D8B569-9F42-4561-BB66-278D9142F6F9}"/>
              </a:ext>
            </a:extLst>
          </p:cNvPr>
          <p:cNvSpPr txBox="1"/>
          <p:nvPr/>
        </p:nvSpPr>
        <p:spPr>
          <a:xfrm>
            <a:off x="276317" y="290244"/>
            <a:ext cx="11639366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1" dirty="0"/>
              <a:t>Q1</a:t>
            </a:r>
            <a:r>
              <a:rPr lang="en-US" sz="1800" dirty="0"/>
              <a:t>. A hydropower station in Japan commissioned a new turbine and a generator with the following specifications:</a:t>
            </a:r>
          </a:p>
          <a:p>
            <a:pPr indent="-238125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883025" algn="l"/>
              </a:tabLst>
            </a:pPr>
            <a:r>
              <a:rPr lang="en-US" sz="1800" dirty="0"/>
              <a:t>mass flow rate = 207,000 kg/s</a:t>
            </a:r>
          </a:p>
          <a:p>
            <a:pPr indent="-238125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883025" algn="l"/>
              </a:tabLst>
            </a:pPr>
            <a:r>
              <a:rPr lang="en-US" sz="1800" dirty="0"/>
              <a:t>Net head (elevation change minus losses) = 48 m</a:t>
            </a:r>
          </a:p>
          <a:p>
            <a:pPr indent="-238125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3883025" algn="l"/>
              </a:tabLst>
            </a:pPr>
            <a:r>
              <a:rPr lang="en-US" sz="1800" dirty="0"/>
              <a:t>overall efficiency = 89%</a:t>
            </a:r>
          </a:p>
          <a:p>
            <a:pPr marL="0" indent="0">
              <a:spcBef>
                <a:spcPts val="0"/>
              </a:spcBef>
              <a:buNone/>
              <a:tabLst>
                <a:tab pos="3883025" algn="l"/>
              </a:tabLst>
            </a:pPr>
            <a:r>
              <a:rPr lang="en-US" sz="1800" dirty="0"/>
              <a:t>What is the power output of this system?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9216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44EF8F-6CF2-4141-AC4B-BBE995F92E41}"/>
              </a:ext>
            </a:extLst>
          </p:cNvPr>
          <p:cNvSpPr txBox="1"/>
          <p:nvPr/>
        </p:nvSpPr>
        <p:spPr>
          <a:xfrm>
            <a:off x="614778" y="446504"/>
            <a:ext cx="106687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Q2. </a:t>
            </a:r>
            <a:r>
              <a:rPr lang="en-US" dirty="0">
                <a:effectLst/>
              </a:rPr>
              <a:t>A proposed design for a hydroelectric project is based on a discharge of 0.25 m</a:t>
            </a:r>
            <a:r>
              <a:rPr lang="en-US" baseline="30000" dirty="0">
                <a:effectLst/>
              </a:rPr>
              <a:t>3</a:t>
            </a:r>
            <a:r>
              <a:rPr lang="en-US" dirty="0">
                <a:effectLst/>
              </a:rPr>
              <a:t>/sec through the penstock and turbine as shown in Figure. Total minor losses can be estimated by k=0.78. Determine the power in kW that can be expected from the facility, if the turbine efficiency is 0.85.</a:t>
            </a:r>
          </a:p>
          <a:p>
            <a:r>
              <a:rPr lang="en-US" dirty="0"/>
              <a:t>Using turbine’s specific speed, </a:t>
            </a:r>
            <a:r>
              <a:rPr lang="en-US" dirty="0">
                <a:effectLst/>
              </a:rPr>
              <a:t>determine the type of turbine to be installed if the desired rotational speed is 1200 RPM</a:t>
            </a:r>
          </a:p>
          <a:p>
            <a:endParaRPr lang="en-US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37EC63-863C-4D97-B847-BF9667DE2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41" y="1643632"/>
            <a:ext cx="4728790" cy="249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77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8D3556-24FC-4B48-B40D-CACEAAEB08ED}"/>
              </a:ext>
            </a:extLst>
          </p:cNvPr>
          <p:cNvSpPr txBox="1"/>
          <p:nvPr/>
        </p:nvSpPr>
        <p:spPr>
          <a:xfrm>
            <a:off x="321815" y="288498"/>
            <a:ext cx="1153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Q3. </a:t>
            </a:r>
            <a:r>
              <a:rPr lang="en-US" dirty="0">
                <a:effectLst/>
              </a:rPr>
              <a:t>A turbine develops 15,500 hp with a decrease in head of 37 ft and a rotational speed of 106 RPM. What type of turbine is best suited for this application?</a:t>
            </a:r>
          </a:p>
        </p:txBody>
      </p:sp>
    </p:spTree>
    <p:extLst>
      <p:ext uri="{BB962C8B-B14F-4D97-AF65-F5344CB8AC3E}">
        <p14:creationId xmlns:p14="http://schemas.microsoft.com/office/powerpoint/2010/main" val="2133783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910589-6F2D-4B44-9EDC-73F24104C63E}"/>
              </a:ext>
            </a:extLst>
          </p:cNvPr>
          <p:cNvSpPr txBox="1"/>
          <p:nvPr/>
        </p:nvSpPr>
        <p:spPr>
          <a:xfrm>
            <a:off x="215282" y="400326"/>
            <a:ext cx="1178732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Q4. </a:t>
            </a:r>
            <a:r>
              <a:rPr lang="en-US" dirty="0">
                <a:effectLst/>
              </a:rPr>
              <a:t>A developer has constructed an elevated reservoir, as shown in the sketch, and estimates that a flow rate of 200 L/min is available on a continuous basis. </a:t>
            </a:r>
          </a:p>
          <a:p>
            <a:pPr marL="342900" indent="-342900">
              <a:buAutoNum type="alphaLcParenBoth"/>
            </a:pPr>
            <a:r>
              <a:rPr lang="en-US" dirty="0">
                <a:effectLst/>
              </a:rPr>
              <a:t>Determine the power in kW that can be expected from the arrangement, if the turbine efficiency is 0.85. </a:t>
            </a:r>
          </a:p>
          <a:p>
            <a:pPr marL="342900" indent="-342900">
              <a:buAutoNum type="alphaLcParenBoth"/>
            </a:pPr>
            <a:r>
              <a:rPr lang="en-US" dirty="0"/>
              <a:t>if the turbine runs approximately 4000 </a:t>
            </a:r>
            <a:r>
              <a:rPr lang="en-US" dirty="0" err="1"/>
              <a:t>hrs</a:t>
            </a:r>
            <a:r>
              <a:rPr lang="en-US" dirty="0"/>
              <a:t> in the year, determine the yearly electricity production of the plant. </a:t>
            </a:r>
          </a:p>
          <a:p>
            <a:pPr marL="342900" indent="-342900">
              <a:buAutoNum type="alphaLcParenBoth"/>
            </a:pPr>
            <a:r>
              <a:rPr lang="en-US" dirty="0"/>
              <a:t>if the cost of the installed cost of this hydropower is 2500 $/kW, determine the LCOE from this plant. Assume negligible operating costs </a:t>
            </a:r>
            <a:endParaRPr lang="en-US" dirty="0">
              <a:effectLst/>
            </a:endParaRPr>
          </a:p>
          <a:p>
            <a:endParaRPr lang="en-US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7B1100-5BDB-4FE8-9E0A-1CF6DADB1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645" y="1833516"/>
            <a:ext cx="622183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123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577FF3-05E1-4375-B94E-055286423485}"/>
              </a:ext>
            </a:extLst>
          </p:cNvPr>
          <p:cNvSpPr txBox="1"/>
          <p:nvPr/>
        </p:nvSpPr>
        <p:spPr>
          <a:xfrm>
            <a:off x="197528" y="368397"/>
            <a:ext cx="117873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Q5. </a:t>
            </a:r>
            <a:r>
              <a:rPr lang="en-US" dirty="0">
                <a:effectLst/>
              </a:rPr>
              <a:t>If a hydroelectric facility is to produce 100,000 hp with an elevation difference of 300 feet, what is a suitable speed (in RPM) if a Kaplan turbine, operating at high efficiency, is used?</a:t>
            </a:r>
          </a:p>
        </p:txBody>
      </p:sp>
    </p:spTree>
    <p:extLst>
      <p:ext uri="{BB962C8B-B14F-4D97-AF65-F5344CB8AC3E}">
        <p14:creationId xmlns:p14="http://schemas.microsoft.com/office/powerpoint/2010/main" val="1027100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316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Module 8 Class Problems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Amin Ghobeity</dc:creator>
  <cp:lastModifiedBy>Amin Ghobeity</cp:lastModifiedBy>
  <cp:revision>13</cp:revision>
  <dcterms:created xsi:type="dcterms:W3CDTF">2021-07-22T14:20:40Z</dcterms:created>
  <dcterms:modified xsi:type="dcterms:W3CDTF">2021-09-08T13:59:24Z</dcterms:modified>
</cp:coreProperties>
</file>