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93" r:id="rId2"/>
    <p:sldMasterId id="2147483800" r:id="rId3"/>
  </p:sldMasterIdLst>
  <p:notesMasterIdLst>
    <p:notesMasterId r:id="rId26"/>
  </p:notesMasterIdLst>
  <p:handoutMasterIdLst>
    <p:handoutMasterId r:id="rId27"/>
  </p:handoutMasterIdLst>
  <p:sldIdLst>
    <p:sldId id="256" r:id="rId4"/>
    <p:sldId id="877" r:id="rId5"/>
    <p:sldId id="317" r:id="rId6"/>
    <p:sldId id="643" r:id="rId7"/>
    <p:sldId id="645" r:id="rId8"/>
    <p:sldId id="361" r:id="rId9"/>
    <p:sldId id="678" r:id="rId10"/>
    <p:sldId id="680" r:id="rId11"/>
    <p:sldId id="679" r:id="rId12"/>
    <p:sldId id="681" r:id="rId13"/>
    <p:sldId id="685" r:id="rId14"/>
    <p:sldId id="682" r:id="rId15"/>
    <p:sldId id="684" r:id="rId16"/>
    <p:sldId id="694" r:id="rId17"/>
    <p:sldId id="686" r:id="rId18"/>
    <p:sldId id="687" r:id="rId19"/>
    <p:sldId id="648" r:id="rId20"/>
    <p:sldId id="697" r:id="rId21"/>
    <p:sldId id="674" r:id="rId22"/>
    <p:sldId id="690" r:id="rId23"/>
    <p:sldId id="691" r:id="rId24"/>
    <p:sldId id="69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ftel, Mona D" initials="ZMD"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56"/>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D4A66-4E06-4F80-804F-A964EB6C0D0A}" type="datetimeFigureOut">
              <a:rPr lang="en-US" smtClean="0"/>
              <a:pPr/>
              <a:t>7/21/2022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340500-23C6-45C7-9626-EF17B47CA0A2}" type="slidenum">
              <a:rPr lang="en-US" smtClean="0"/>
              <a:pPr/>
              <a:t>‹#›</a:t>
            </a:fld>
            <a:endParaRPr lang="en-US" dirty="0"/>
          </a:p>
        </p:txBody>
      </p:sp>
    </p:spTree>
    <p:extLst>
      <p:ext uri="{BB962C8B-B14F-4D97-AF65-F5344CB8AC3E}">
        <p14:creationId xmlns:p14="http://schemas.microsoft.com/office/powerpoint/2010/main" val="2547472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646D3D-12D9-42A1-A359-88470FD6EB52}" type="datetimeFigureOut">
              <a:rPr lang="en-US" smtClean="0"/>
              <a:pPr/>
              <a:t>7/21/2022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31F-8B33-4884-9995-3C14B2EEB352}" type="slidenum">
              <a:rPr lang="en-US" smtClean="0"/>
              <a:pPr/>
              <a:t>‹#›</a:t>
            </a:fld>
            <a:endParaRPr lang="en-US" dirty="0"/>
          </a:p>
        </p:txBody>
      </p:sp>
    </p:spTree>
    <p:extLst>
      <p:ext uri="{BB962C8B-B14F-4D97-AF65-F5344CB8AC3E}">
        <p14:creationId xmlns:p14="http://schemas.microsoft.com/office/powerpoint/2010/main" val="105358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58331F-8B33-4884-9995-3C14B2EEB352}" type="slidenum">
              <a:rPr lang="en-US" smtClean="0"/>
              <a:pPr/>
              <a:t>1</a:t>
            </a:fld>
            <a:endParaRPr lang="en-US" dirty="0"/>
          </a:p>
        </p:txBody>
      </p:sp>
    </p:spTree>
    <p:extLst>
      <p:ext uri="{BB962C8B-B14F-4D97-AF65-F5344CB8AC3E}">
        <p14:creationId xmlns:p14="http://schemas.microsoft.com/office/powerpoint/2010/main" val="3623211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427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4E072C8-F9A0-477D-A37A-81519D0F45A1}" type="slidenum">
              <a:rPr lang="en-US"/>
              <a:pPr>
                <a:defRPr/>
              </a:pPr>
              <a:t>‹#›</a:t>
            </a:fld>
            <a:endParaRPr lang="en-US"/>
          </a:p>
        </p:txBody>
      </p:sp>
    </p:spTree>
    <p:extLst>
      <p:ext uri="{BB962C8B-B14F-4D97-AF65-F5344CB8AC3E}">
        <p14:creationId xmlns:p14="http://schemas.microsoft.com/office/powerpoint/2010/main" val="3932327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Rounded Rectangle 15"/>
          <p:cNvSpPr/>
          <p:nvPr userDrawn="1"/>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dirty="0"/>
              <a:t>©2019 Cengage Learning ®. May not be scanned, copied or duplicated, or posted to a publicly accessible website, in whole or in part. </a:t>
            </a:r>
          </a:p>
        </p:txBody>
      </p:sp>
      <p:sp>
        <p:nvSpPr>
          <p:cNvPr id="17" name="Slide Number Placeholder 4"/>
          <p:cNvSpPr>
            <a:spLocks noGrp="1"/>
          </p:cNvSpPr>
          <p:nvPr>
            <p:ph type="sldNum" sz="quarter" idx="12"/>
          </p:nvPr>
        </p:nvSpPr>
        <p:spPr>
          <a:xfrm>
            <a:off x="8001000" y="6250163"/>
            <a:ext cx="934040" cy="365125"/>
          </a:xfrm>
        </p:spPr>
        <p:txBody>
          <a:bodyPr/>
          <a:lstStyle/>
          <a:p>
            <a:fld id="{070107C2-BA80-4C15-96AE-A43002ADF025}" type="slidenum">
              <a:rPr lang="en-US" smtClean="0"/>
              <a:t>‹#›</a:t>
            </a:fld>
            <a:endParaRPr lang="en-US"/>
          </a:p>
        </p:txBody>
      </p:sp>
      <p:pic>
        <p:nvPicPr>
          <p:cNvPr id="2" name="Picture 1"/>
          <p:cNvPicPr>
            <a:picLocks noChangeAspect="1"/>
          </p:cNvPicPr>
          <p:nvPr userDrawn="1"/>
        </p:nvPicPr>
        <p:blipFill>
          <a:blip r:embed="rId2"/>
          <a:stretch>
            <a:fillRect/>
          </a:stretch>
        </p:blipFill>
        <p:spPr>
          <a:xfrm>
            <a:off x="490505" y="589492"/>
            <a:ext cx="4367513" cy="5430261"/>
          </a:xfrm>
          <a:prstGeom prst="rect">
            <a:avLst/>
          </a:prstGeom>
        </p:spPr>
      </p:pic>
      <p:sp>
        <p:nvSpPr>
          <p:cNvPr id="8" name="Text Placeholder 7"/>
          <p:cNvSpPr>
            <a:spLocks noGrp="1"/>
          </p:cNvSpPr>
          <p:nvPr>
            <p:ph type="body" sz="quarter" idx="13" hasCustomPrompt="1"/>
          </p:nvPr>
        </p:nvSpPr>
        <p:spPr>
          <a:xfrm>
            <a:off x="5397500" y="1600200"/>
            <a:ext cx="3213100" cy="762000"/>
          </a:xfrm>
        </p:spPr>
        <p:txBody>
          <a:bodyPr>
            <a:normAutofit/>
          </a:bodyPr>
          <a:lstStyle>
            <a:lvl1pPr marL="0" indent="0" algn="ctr">
              <a:buNone/>
              <a:defRPr sz="3200" baseline="0"/>
            </a:lvl1pPr>
          </a:lstStyle>
          <a:p>
            <a:pPr lvl="0"/>
            <a:r>
              <a:rPr lang="en-US" dirty="0"/>
              <a:t>Chapter #</a:t>
            </a:r>
          </a:p>
        </p:txBody>
      </p:sp>
      <p:sp>
        <p:nvSpPr>
          <p:cNvPr id="10" name="Text Placeholder 9"/>
          <p:cNvSpPr>
            <a:spLocks noGrp="1"/>
          </p:cNvSpPr>
          <p:nvPr>
            <p:ph type="body" sz="quarter" idx="14" hasCustomPrompt="1"/>
          </p:nvPr>
        </p:nvSpPr>
        <p:spPr>
          <a:xfrm>
            <a:off x="5568950" y="2590800"/>
            <a:ext cx="2898775" cy="838200"/>
          </a:xfrm>
        </p:spPr>
        <p:txBody>
          <a:bodyPr/>
          <a:lstStyle>
            <a:lvl1pPr marL="0" indent="0" algn="ctr">
              <a:buNone/>
              <a:defRPr baseline="0"/>
            </a:lvl1pPr>
          </a:lstStyle>
          <a:p>
            <a:pPr lvl="0"/>
            <a:r>
              <a:rPr lang="en-US" dirty="0"/>
              <a:t>Chapter Title</a:t>
            </a:r>
          </a:p>
        </p:txBody>
      </p:sp>
    </p:spTree>
    <p:extLst>
      <p:ext uri="{BB962C8B-B14F-4D97-AF65-F5344CB8AC3E}">
        <p14:creationId xmlns:p14="http://schemas.microsoft.com/office/powerpoint/2010/main" val="4153781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070107C2-BA80-4C15-96AE-A43002ADF025}" type="slidenum">
              <a:rPr lang="en-US" smtClean="0"/>
              <a:t>‹#›</a:t>
            </a:fld>
            <a:endParaRPr lang="en-US"/>
          </a:p>
        </p:txBody>
      </p:sp>
    </p:spTree>
    <p:extLst>
      <p:ext uri="{BB962C8B-B14F-4D97-AF65-F5344CB8AC3E}">
        <p14:creationId xmlns:p14="http://schemas.microsoft.com/office/powerpoint/2010/main" val="1513760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a:t>©2015 Cengage Learning Engineering. All Right Reserved.</a:t>
            </a:r>
            <a:endParaRPr lang="en-US" dirty="0"/>
          </a:p>
        </p:txBody>
      </p:sp>
      <p:sp>
        <p:nvSpPr>
          <p:cNvPr id="6" name="Slide Number Placeholder 5"/>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27682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Rounded Rectangle 15"/>
          <p:cNvSpPr/>
          <p:nvPr userDrawn="1"/>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Footer Placeholder 4"/>
          <p:cNvSpPr>
            <a:spLocks noGrp="1"/>
          </p:cNvSpPr>
          <p:nvPr>
            <p:ph type="ftr" sz="quarter" idx="11"/>
          </p:nvPr>
        </p:nvSpPr>
        <p:spPr/>
        <p:txBody>
          <a:bodyPr/>
          <a:lstStyle/>
          <a:p>
            <a:r>
              <a:rPr lang="en-US" dirty="0"/>
              <a:t>©2019 Cengage Learning ®. May not be scanned, copied or duplicated, or posted to a publicly accessible website, in whole or in part. </a:t>
            </a:r>
          </a:p>
        </p:txBody>
      </p:sp>
      <p:sp>
        <p:nvSpPr>
          <p:cNvPr id="17" name="Slide Number Placeholder 4"/>
          <p:cNvSpPr>
            <a:spLocks noGrp="1"/>
          </p:cNvSpPr>
          <p:nvPr>
            <p:ph type="sldNum" sz="quarter" idx="12"/>
          </p:nvPr>
        </p:nvSpPr>
        <p:spPr>
          <a:xfrm>
            <a:off x="8001000" y="6250163"/>
            <a:ext cx="934040" cy="365125"/>
          </a:xfrm>
        </p:spPr>
        <p:txBody>
          <a:bodyPr/>
          <a:lstStyle/>
          <a:p>
            <a:fld id="{070107C2-BA80-4C15-96AE-A43002ADF025}" type="slidenum">
              <a:rPr lang="en-US" smtClean="0"/>
              <a:t>‹#›</a:t>
            </a:fld>
            <a:endParaRPr lang="en-US"/>
          </a:p>
        </p:txBody>
      </p:sp>
      <p:pic>
        <p:nvPicPr>
          <p:cNvPr id="2" name="Picture 1"/>
          <p:cNvPicPr>
            <a:picLocks noChangeAspect="1"/>
          </p:cNvPicPr>
          <p:nvPr userDrawn="1"/>
        </p:nvPicPr>
        <p:blipFill>
          <a:blip r:embed="rId2"/>
          <a:stretch>
            <a:fillRect/>
          </a:stretch>
        </p:blipFill>
        <p:spPr>
          <a:xfrm>
            <a:off x="490505" y="589492"/>
            <a:ext cx="4367513" cy="5430261"/>
          </a:xfrm>
          <a:prstGeom prst="rect">
            <a:avLst/>
          </a:prstGeom>
        </p:spPr>
      </p:pic>
      <p:sp>
        <p:nvSpPr>
          <p:cNvPr id="8" name="Text Placeholder 7"/>
          <p:cNvSpPr>
            <a:spLocks noGrp="1"/>
          </p:cNvSpPr>
          <p:nvPr>
            <p:ph type="body" sz="quarter" idx="13" hasCustomPrompt="1"/>
          </p:nvPr>
        </p:nvSpPr>
        <p:spPr>
          <a:xfrm>
            <a:off x="5397500" y="1600200"/>
            <a:ext cx="3213100" cy="762000"/>
          </a:xfrm>
        </p:spPr>
        <p:txBody>
          <a:bodyPr>
            <a:normAutofit/>
          </a:bodyPr>
          <a:lstStyle>
            <a:lvl1pPr marL="0" indent="0" algn="ctr">
              <a:buNone/>
              <a:defRPr sz="3200" baseline="0"/>
            </a:lvl1pPr>
          </a:lstStyle>
          <a:p>
            <a:pPr lvl="0"/>
            <a:r>
              <a:rPr lang="en-US" dirty="0"/>
              <a:t>Chapter #</a:t>
            </a:r>
          </a:p>
        </p:txBody>
      </p:sp>
      <p:sp>
        <p:nvSpPr>
          <p:cNvPr id="10" name="Text Placeholder 9"/>
          <p:cNvSpPr>
            <a:spLocks noGrp="1"/>
          </p:cNvSpPr>
          <p:nvPr>
            <p:ph type="body" sz="quarter" idx="14" hasCustomPrompt="1"/>
          </p:nvPr>
        </p:nvSpPr>
        <p:spPr>
          <a:xfrm>
            <a:off x="5568950" y="2590800"/>
            <a:ext cx="2898775" cy="838200"/>
          </a:xfrm>
        </p:spPr>
        <p:txBody>
          <a:bodyPr/>
          <a:lstStyle>
            <a:lvl1pPr marL="0" indent="0" algn="ctr">
              <a:buNone/>
              <a:defRPr baseline="0"/>
            </a:lvl1pPr>
          </a:lstStyle>
          <a:p>
            <a:pPr lvl="0"/>
            <a:r>
              <a:rPr lang="en-US" dirty="0"/>
              <a:t>Chapter Title</a:t>
            </a:r>
          </a:p>
        </p:txBody>
      </p:sp>
    </p:spTree>
    <p:extLst>
      <p:ext uri="{BB962C8B-B14F-4D97-AF65-F5344CB8AC3E}">
        <p14:creationId xmlns:p14="http://schemas.microsoft.com/office/powerpoint/2010/main" val="2619338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p:txBody>
          <a:bodyPr/>
          <a:lstStyle/>
          <a:p>
            <a:fld id="{070107C2-BA80-4C15-96AE-A43002ADF025}" type="slidenum">
              <a:rPr lang="en-US" smtClean="0"/>
              <a:t>‹#›</a:t>
            </a:fld>
            <a:endParaRPr lang="en-US"/>
          </a:p>
        </p:txBody>
      </p:sp>
      <p:sp>
        <p:nvSpPr>
          <p:cNvPr id="6" name="TextBox 5"/>
          <p:cNvSpPr txBox="1"/>
          <p:nvPr userDrawn="1"/>
        </p:nvSpPr>
        <p:spPr>
          <a:xfrm>
            <a:off x="228600" y="228600"/>
            <a:ext cx="8686800" cy="276999"/>
          </a:xfrm>
          <a:prstGeom prst="rect">
            <a:avLst/>
          </a:prstGeom>
          <a:noFill/>
        </p:spPr>
        <p:txBody>
          <a:bodyPr wrap="square" rtlCol="0">
            <a:spAutoFit/>
          </a:bodyPr>
          <a:lstStyle/>
          <a:p>
            <a:pPr algn="just"/>
            <a:r>
              <a:rPr lang="en-US" sz="1200" dirty="0">
                <a:latin typeface="Verdana" panose="020B0604030504040204" pitchFamily="34" charset="0"/>
                <a:ea typeface="Verdana" panose="020B0604030504040204" pitchFamily="34" charset="0"/>
                <a:cs typeface="Verdana" panose="020B0604030504040204" pitchFamily="34" charset="0"/>
              </a:rPr>
              <a:t>Sustainable Energy						</a:t>
            </a:r>
            <a:r>
              <a:rPr lang="en-US" sz="1200" baseline="0" dirty="0">
                <a:latin typeface="Verdana" panose="020B0604030504040204" pitchFamily="34" charset="0"/>
                <a:ea typeface="Verdana" panose="020B0604030504040204" pitchFamily="34" charset="0"/>
                <a:cs typeface="Verdana" panose="020B0604030504040204" pitchFamily="34" charset="0"/>
              </a:rPr>
              <a:t>	Dunlap</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7" name="Footer Placeholder 4"/>
          <p:cNvSpPr txBox="1">
            <a:spLocks/>
          </p:cNvSpPr>
          <p:nvPr userDrawn="1"/>
        </p:nvSpPr>
        <p:spPr>
          <a:xfrm>
            <a:off x="194733" y="6250162"/>
            <a:ext cx="7807362"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©2019 Cengage Learning ®. May not be scanned, copied or duplicated, or posted to a publicly accessible website, in whole or in part. </a:t>
            </a:r>
          </a:p>
        </p:txBody>
      </p:sp>
    </p:spTree>
    <p:extLst>
      <p:ext uri="{BB962C8B-B14F-4D97-AF65-F5344CB8AC3E}">
        <p14:creationId xmlns:p14="http://schemas.microsoft.com/office/powerpoint/2010/main" val="1786109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userDrawn="1"/>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 name="Slide Number Placeholder 5"/>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16845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
        <p:nvSpPr>
          <p:cNvPr id="9" name="TextBox 8"/>
          <p:cNvSpPr txBox="1"/>
          <p:nvPr userDrawn="1"/>
        </p:nvSpPr>
        <p:spPr>
          <a:xfrm>
            <a:off x="0" y="0"/>
            <a:ext cx="9144000" cy="307777"/>
          </a:xfrm>
          <a:prstGeom prst="rect">
            <a:avLst/>
          </a:prstGeom>
          <a:noFill/>
        </p:spPr>
        <p:txBody>
          <a:bodyPr wrap="square" rtlCol="0">
            <a:spAutoFit/>
          </a:bodyPr>
          <a:lstStyle/>
          <a:p>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cSld>
  <p:clrMap bg1="dk1" tx1="lt1" bg2="dk2" tx2="lt2" accent1="accent1" accent2="accent2" accent3="accent3" accent4="accent4" accent5="accent5" accent6="accent6" hlink="hlink" folHlink="folHlink"/>
  <p:sldLayoutIdLst>
    <p:sldLayoutId id="2147483758" r:id="rId1"/>
    <p:sldLayoutId id="2147483757" r:id="rId2"/>
    <p:sldLayoutId id="2147483797" r:id="rId3"/>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193638" y="6250164"/>
            <a:ext cx="7807362" cy="365125"/>
          </a:xfrm>
          <a:prstGeom prst="rect">
            <a:avLst/>
          </a:prstGeom>
        </p:spPr>
        <p:txBody>
          <a:bodyPr vert="horz" lIns="91440" tIns="45720" rIns="91440" bIns="45720" rtlCol="0" anchor="ctr"/>
          <a:lstStyle>
            <a:lvl1pPr algn="l">
              <a:defRPr sz="1000">
                <a:solidFill>
                  <a:schemeClr val="tx2"/>
                </a:solidFill>
              </a:defRPr>
            </a:lvl1pPr>
          </a:lstStyle>
          <a:p>
            <a:r>
              <a:rPr lang="en-US" dirty="0"/>
              <a:t>©2019 Cengage Learning ®. May not be scanned, copied or duplicated, or posted to a publicly accessible website, in whole or in part. </a:t>
            </a:r>
          </a:p>
        </p:txBody>
      </p:sp>
      <p:sp>
        <p:nvSpPr>
          <p:cNvPr id="6" name="Slide Number Placeholder 5"/>
          <p:cNvSpPr>
            <a:spLocks noGrp="1"/>
          </p:cNvSpPr>
          <p:nvPr>
            <p:ph type="sldNum" sz="quarter" idx="4"/>
          </p:nvPr>
        </p:nvSpPr>
        <p:spPr>
          <a:xfrm>
            <a:off x="8001000" y="6250163"/>
            <a:ext cx="934040" cy="365125"/>
          </a:xfrm>
          <a:prstGeom prst="rect">
            <a:avLst/>
          </a:prstGeom>
        </p:spPr>
        <p:txBody>
          <a:bodyPr vert="horz" lIns="91440" tIns="45720" rIns="91440" bIns="45720" rtlCol="0" anchor="ctr"/>
          <a:lstStyle>
            <a:lvl1pPr algn="ctr">
              <a:defRPr sz="1000">
                <a:solidFill>
                  <a:schemeClr val="tx2"/>
                </a:solidFill>
              </a:defRPr>
            </a:lvl1pPr>
          </a:lstStyle>
          <a:p>
            <a:fld id="{070107C2-BA80-4C15-96AE-A43002ADF025}" type="slidenum">
              <a:rPr lang="en-US" smtClean="0"/>
              <a:t>‹#›</a:t>
            </a:fld>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39278177"/>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Lst>
  <p:hf hdr="0" dt="0"/>
  <p:txStyles>
    <p:titleStyle>
      <a:lvl1pPr algn="ctr" defTabSz="914400" rtl="0" eaLnBrk="1" latinLnBrk="0" hangingPunct="1">
        <a:spcBef>
          <a:spcPct val="0"/>
        </a:spcBef>
        <a:buNone/>
        <a:defRPr sz="3600" kern="1200">
          <a:solidFill>
            <a:srgbClr val="FFFFFF"/>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a:t>Click to edit Master title style</a:t>
            </a:r>
          </a:p>
        </p:txBody>
      </p:sp>
      <p:sp>
        <p:nvSpPr>
          <p:cNvPr id="5" name="Footer Placeholder 4"/>
          <p:cNvSpPr>
            <a:spLocks noGrp="1"/>
          </p:cNvSpPr>
          <p:nvPr>
            <p:ph type="ftr" sz="quarter" idx="3"/>
          </p:nvPr>
        </p:nvSpPr>
        <p:spPr>
          <a:xfrm>
            <a:off x="193638" y="6250164"/>
            <a:ext cx="7807362" cy="365125"/>
          </a:xfrm>
          <a:prstGeom prst="rect">
            <a:avLst/>
          </a:prstGeom>
        </p:spPr>
        <p:txBody>
          <a:bodyPr vert="horz" lIns="91440" tIns="45720" rIns="91440" bIns="45720" rtlCol="0" anchor="ctr"/>
          <a:lstStyle>
            <a:lvl1pPr algn="l">
              <a:defRPr sz="1000">
                <a:solidFill>
                  <a:schemeClr val="tx2"/>
                </a:solidFill>
              </a:defRPr>
            </a:lvl1pPr>
          </a:lstStyle>
          <a:p>
            <a:r>
              <a:rPr lang="en-US" dirty="0"/>
              <a:t>©2019 Cengage Learning ®. May not be scanned, copied or duplicated, or posted to a publicly accessible website, in whole or in part. </a:t>
            </a:r>
          </a:p>
        </p:txBody>
      </p:sp>
      <p:sp>
        <p:nvSpPr>
          <p:cNvPr id="6" name="Slide Number Placeholder 5"/>
          <p:cNvSpPr>
            <a:spLocks noGrp="1"/>
          </p:cNvSpPr>
          <p:nvPr>
            <p:ph type="sldNum" sz="quarter" idx="4"/>
          </p:nvPr>
        </p:nvSpPr>
        <p:spPr>
          <a:xfrm>
            <a:off x="8001000" y="6250163"/>
            <a:ext cx="934040" cy="365125"/>
          </a:xfrm>
          <a:prstGeom prst="rect">
            <a:avLst/>
          </a:prstGeom>
        </p:spPr>
        <p:txBody>
          <a:bodyPr vert="horz" lIns="91440" tIns="45720" rIns="91440" bIns="45720" rtlCol="0" anchor="ctr"/>
          <a:lstStyle>
            <a:lvl1pPr algn="ctr">
              <a:defRPr sz="1000">
                <a:solidFill>
                  <a:schemeClr val="tx2"/>
                </a:solidFill>
              </a:defRPr>
            </a:lvl1pPr>
          </a:lstStyle>
          <a:p>
            <a:fld id="{070107C2-BA80-4C15-96AE-A43002ADF025}" type="slidenum">
              <a:rPr lang="en-US" smtClean="0"/>
              <a:t>‹#›</a:t>
            </a:fld>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5647655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Lst>
  <p:hf hdr="0" dt="0"/>
  <p:txStyles>
    <p:titleStyle>
      <a:lvl1pPr algn="ctr" defTabSz="914400" rtl="0" eaLnBrk="1" latinLnBrk="0" hangingPunct="1">
        <a:spcBef>
          <a:spcPct val="0"/>
        </a:spcBef>
        <a:buNone/>
        <a:defRPr sz="3600" kern="1200">
          <a:solidFill>
            <a:srgbClr val="FFFFFF"/>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84BeVq2Jm88" TargetMode="External"/><Relationship Id="rId2" Type="http://schemas.openxmlformats.org/officeDocument/2006/relationships/hyperlink" Target="https://energyeducation.ca/encyclopedia/Wind_turbine"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www.siemensgamesa.com/explore/journal/2021/03/siemens-gamesa-windeurope-offshore-onshore"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953000" y="1739900"/>
            <a:ext cx="3432048" cy="914400"/>
          </a:xfrm>
          <a:prstGeom prst="rect">
            <a:avLst/>
          </a:prstGeom>
        </p:spPr>
        <p:txBody>
          <a:bodyPr>
            <a:noAutofit/>
          </a:bodyPr>
          <a:lstStyle>
            <a:lvl1pPr algn="l" rtl="0" eaLnBrk="1" latinLnBrk="0" hangingPunct="1">
              <a:spcBef>
                <a:spcPct val="0"/>
              </a:spcBef>
              <a:buNone/>
              <a:defRPr kumimoji="0" sz="3600" b="1" kern="120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pPr algn="ctr"/>
            <a:r>
              <a:rPr lang="en-US" sz="4800" b="0" dirty="0">
                <a:solidFill>
                  <a:schemeClr val="accent1"/>
                </a:solidFill>
                <a:latin typeface="Verdana" panose="020B0604030504040204" pitchFamily="34" charset="0"/>
                <a:cs typeface="Verdana" panose="020B0604030504040204" pitchFamily="34" charset="0"/>
              </a:rPr>
              <a:t> </a:t>
            </a:r>
          </a:p>
        </p:txBody>
      </p:sp>
      <p:sp>
        <p:nvSpPr>
          <p:cNvPr id="14" name="Subtitle 2"/>
          <p:cNvSpPr txBox="1">
            <a:spLocks/>
          </p:cNvSpPr>
          <p:nvPr/>
        </p:nvSpPr>
        <p:spPr>
          <a:xfrm>
            <a:off x="533400" y="1447800"/>
            <a:ext cx="8458200" cy="4800600"/>
          </a:xfrm>
          <a:prstGeom prst="rect">
            <a:avLst/>
          </a:prstGeom>
        </p:spPr>
        <p:txBody>
          <a:bodyPr>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a:buNone/>
            </a:pPr>
            <a:r>
              <a:rPr lang="en-US" sz="3200" b="1" dirty="0">
                <a:solidFill>
                  <a:schemeClr val="accent2"/>
                </a:solidFill>
              </a:rPr>
              <a:t>Introduction to Energy Systems </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Module 7</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Wind Power</a:t>
            </a:r>
          </a:p>
          <a:p>
            <a:pPr marL="0" indent="0">
              <a:buFont typeface="Wingdings 2"/>
              <a:buNone/>
            </a:pPr>
            <a:r>
              <a:rPr lang="en-US" sz="2400" i="1" dirty="0">
                <a:solidFill>
                  <a:schemeClr val="accent2"/>
                </a:solidFill>
              </a:rPr>
              <a:t> </a:t>
            </a:r>
          </a:p>
          <a:p>
            <a:pPr marL="0" indent="0">
              <a:buFont typeface="Wingdings 2"/>
              <a:buNone/>
            </a:pPr>
            <a:endParaRPr lang="en-US" sz="3200" dirty="0">
              <a:solidFill>
                <a:schemeClr val="accent2"/>
              </a:solidFill>
            </a:endParaRPr>
          </a:p>
          <a:p>
            <a:pPr marL="0" indent="0">
              <a:buFont typeface="Wingdings 2"/>
              <a:buNone/>
            </a:pPr>
            <a:r>
              <a:rPr lang="en-US" sz="2400" dirty="0">
                <a:solidFill>
                  <a:schemeClr val="accent2"/>
                </a:solidFill>
              </a:rPr>
              <a:t>Prepared by: Prof. Amin Ghobeity</a:t>
            </a:r>
          </a:p>
          <a:p>
            <a:pPr marL="0" indent="0">
              <a:buFont typeface="Wingdings 2"/>
              <a:buNone/>
            </a:pPr>
            <a:r>
              <a:rPr lang="en-US" sz="2400" dirty="0">
                <a:solidFill>
                  <a:schemeClr val="accent2"/>
                </a:solidFill>
              </a:rPr>
              <a:t>Please do not distribute without permission</a:t>
            </a:r>
          </a:p>
        </p:txBody>
      </p:sp>
      <p:sp>
        <p:nvSpPr>
          <p:cNvPr id="16" name="Slide Number Placeholder 15"/>
          <p:cNvSpPr>
            <a:spLocks noGrp="1"/>
          </p:cNvSpPr>
          <p:nvPr>
            <p:ph type="sldNum" sz="quarter" idx="12"/>
          </p:nvPr>
        </p:nvSpPr>
        <p:spPr/>
        <p:txBody>
          <a:bodyPr/>
          <a:lstStyle/>
          <a:p>
            <a:fld id="{122D24B2-5D52-46F7-B915-67CABB3AD0CF}"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a:t>
            </a:fld>
            <a:endParaRPr lang="en-US" dirty="0"/>
          </a:p>
        </p:txBody>
      </p:sp>
      <p:sp>
        <p:nvSpPr>
          <p:cNvPr id="4" name="Title 3"/>
          <p:cNvSpPr>
            <a:spLocks noGrp="1"/>
          </p:cNvSpPr>
          <p:nvPr>
            <p:ph type="title"/>
          </p:nvPr>
        </p:nvSpPr>
        <p:spPr/>
        <p:txBody>
          <a:bodyPr/>
          <a:lstStyle/>
          <a:p>
            <a:r>
              <a:rPr lang="en-CA" dirty="0"/>
              <a:t>References</a:t>
            </a:r>
          </a:p>
        </p:txBody>
      </p:sp>
      <p:sp>
        <p:nvSpPr>
          <p:cNvPr id="15" name="TextBox 14">
            <a:extLst>
              <a:ext uri="{FF2B5EF4-FFF2-40B4-BE49-F238E27FC236}">
                <a16:creationId xmlns:a16="http://schemas.microsoft.com/office/drawing/2014/main" id="{49B3CC0A-3C29-4A1E-856C-3DB053DD31A0}"/>
              </a:ext>
            </a:extLst>
          </p:cNvPr>
          <p:cNvSpPr txBox="1"/>
          <p:nvPr/>
        </p:nvSpPr>
        <p:spPr>
          <a:xfrm>
            <a:off x="6894120" y="1872766"/>
            <a:ext cx="2021280" cy="646331"/>
          </a:xfrm>
          <a:prstGeom prst="rect">
            <a:avLst/>
          </a:prstGeom>
        </p:spPr>
        <p:txBody>
          <a:bodyPr wrap="square">
            <a:spAutoFit/>
          </a:bodyPr>
          <a:lstStyle>
            <a:defPPr>
              <a:defRPr lang="en-US"/>
            </a:defPPr>
            <a:lvl1pPr>
              <a:defRPr b="1" i="1">
                <a:solidFill>
                  <a:schemeClr val="bg1"/>
                </a:solidFill>
              </a:defRPr>
            </a:lvl1pPr>
          </a:lstStyle>
          <a:p>
            <a:r>
              <a:rPr lang="en-CA" dirty="0"/>
              <a:t>+ Instructor notes</a:t>
            </a:r>
            <a:endParaRPr lang="en-CA" i="0" dirty="0"/>
          </a:p>
        </p:txBody>
      </p:sp>
      <p:pic>
        <p:nvPicPr>
          <p:cNvPr id="7" name="Picture 6" descr="Text&#10;&#10;Description automatically generated with medium confidence">
            <a:extLst>
              <a:ext uri="{FF2B5EF4-FFF2-40B4-BE49-F238E27FC236}">
                <a16:creationId xmlns:a16="http://schemas.microsoft.com/office/drawing/2014/main" id="{CE9BE1D0-BD81-4184-A12C-53173F160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6598" y="1863988"/>
            <a:ext cx="2223220" cy="2890186"/>
          </a:xfrm>
          <a:prstGeom prst="rect">
            <a:avLst/>
          </a:prstGeom>
        </p:spPr>
      </p:pic>
      <p:sp>
        <p:nvSpPr>
          <p:cNvPr id="13" name="TextBox 12">
            <a:extLst>
              <a:ext uri="{FF2B5EF4-FFF2-40B4-BE49-F238E27FC236}">
                <a16:creationId xmlns:a16="http://schemas.microsoft.com/office/drawing/2014/main" id="{B6A8699B-D97F-40CF-8C59-C90DA94C7991}"/>
              </a:ext>
            </a:extLst>
          </p:cNvPr>
          <p:cNvSpPr txBox="1"/>
          <p:nvPr/>
        </p:nvSpPr>
        <p:spPr>
          <a:xfrm>
            <a:off x="4181574" y="4963034"/>
            <a:ext cx="4581426" cy="923330"/>
          </a:xfrm>
          <a:prstGeom prst="rect">
            <a:avLst/>
          </a:prstGeom>
          <a:noFill/>
        </p:spPr>
        <p:txBody>
          <a:bodyPr wrap="square">
            <a:spAutoFit/>
          </a:bodyPr>
          <a:lstStyle/>
          <a:p>
            <a:r>
              <a:rPr lang="en-US" b="1" dirty="0">
                <a:solidFill>
                  <a:schemeClr val="bg1"/>
                </a:solidFill>
              </a:rPr>
              <a:t>Alternative Energy Systems and Applications</a:t>
            </a:r>
          </a:p>
          <a:p>
            <a:r>
              <a:rPr lang="en-US" b="1" dirty="0">
                <a:solidFill>
                  <a:schemeClr val="bg1"/>
                </a:solidFill>
              </a:rPr>
              <a:t>By Hodge</a:t>
            </a:r>
          </a:p>
        </p:txBody>
      </p:sp>
      <p:pic>
        <p:nvPicPr>
          <p:cNvPr id="9" name="Picture 8">
            <a:extLst>
              <a:ext uri="{FF2B5EF4-FFF2-40B4-BE49-F238E27FC236}">
                <a16:creationId xmlns:a16="http://schemas.microsoft.com/office/drawing/2014/main" id="{7613E41D-71F3-49FE-B2A8-430F85AC4F9F}"/>
              </a:ext>
            </a:extLst>
          </p:cNvPr>
          <p:cNvPicPr>
            <a:picLocks noChangeAspect="1"/>
          </p:cNvPicPr>
          <p:nvPr/>
        </p:nvPicPr>
        <p:blipFill>
          <a:blip r:embed="rId3"/>
          <a:stretch>
            <a:fillRect/>
          </a:stretch>
        </p:blipFill>
        <p:spPr>
          <a:xfrm>
            <a:off x="381000" y="1839772"/>
            <a:ext cx="2224647" cy="2952371"/>
          </a:xfrm>
          <a:prstGeom prst="rect">
            <a:avLst/>
          </a:prstGeom>
        </p:spPr>
      </p:pic>
      <p:sp>
        <p:nvSpPr>
          <p:cNvPr id="10" name="Rectangle 9">
            <a:extLst>
              <a:ext uri="{FF2B5EF4-FFF2-40B4-BE49-F238E27FC236}">
                <a16:creationId xmlns:a16="http://schemas.microsoft.com/office/drawing/2014/main" id="{45C71C71-AC2B-46CE-84EC-E72FA0007C35}"/>
              </a:ext>
            </a:extLst>
          </p:cNvPr>
          <p:cNvSpPr/>
          <p:nvPr/>
        </p:nvSpPr>
        <p:spPr>
          <a:xfrm>
            <a:off x="381000" y="4948108"/>
            <a:ext cx="3522980" cy="1815882"/>
          </a:xfrm>
          <a:prstGeom prst="rect">
            <a:avLst/>
          </a:prstGeom>
        </p:spPr>
        <p:txBody>
          <a:bodyPr wrap="square">
            <a:spAutoFit/>
          </a:bodyPr>
          <a:lstStyle/>
          <a:p>
            <a:r>
              <a:rPr lang="en-US" sz="1600" b="1" i="1" dirty="0">
                <a:solidFill>
                  <a:schemeClr val="bg1"/>
                </a:solidFill>
              </a:rPr>
              <a:t>Energy Systems Engineering: Evaluation and Implementation, 4</a:t>
            </a:r>
            <a:r>
              <a:rPr lang="en-US" sz="1600" b="1" i="1" baseline="30000" dirty="0">
                <a:solidFill>
                  <a:schemeClr val="bg1"/>
                </a:solidFill>
              </a:rPr>
              <a:t>th</a:t>
            </a:r>
            <a:r>
              <a:rPr lang="en-US" sz="1600" b="1" i="1" dirty="0">
                <a:solidFill>
                  <a:schemeClr val="bg1"/>
                </a:solidFill>
              </a:rPr>
              <a:t>  Ed.</a:t>
            </a:r>
          </a:p>
          <a:p>
            <a:r>
              <a:rPr lang="en-US" sz="1600" b="1" dirty="0">
                <a:solidFill>
                  <a:schemeClr val="bg1"/>
                </a:solidFill>
              </a:rPr>
              <a:t>McGraw-Hill, New York, 2020</a:t>
            </a:r>
          </a:p>
          <a:p>
            <a:endParaRPr lang="en-US" sz="1600" b="1" dirty="0">
              <a:solidFill>
                <a:schemeClr val="bg1"/>
              </a:solidFill>
            </a:endParaRPr>
          </a:p>
          <a:p>
            <a:r>
              <a:rPr lang="en-US" sz="1600" b="1" dirty="0">
                <a:solidFill>
                  <a:srgbClr val="0070C0"/>
                </a:solidFill>
              </a:rPr>
              <a:t>Chapter 13 Solar Photovoltaic Technologies</a:t>
            </a:r>
          </a:p>
        </p:txBody>
      </p:sp>
    </p:spTree>
    <p:extLst>
      <p:ext uri="{BB962C8B-B14F-4D97-AF65-F5344CB8AC3E}">
        <p14:creationId xmlns:p14="http://schemas.microsoft.com/office/powerpoint/2010/main" val="91760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3</a:t>
            </a:fld>
            <a:endParaRPr lang="en-US" dirty="0"/>
          </a:p>
        </p:txBody>
      </p:sp>
      <p:sp>
        <p:nvSpPr>
          <p:cNvPr id="3" name="Text Placeholder 2"/>
          <p:cNvSpPr>
            <a:spLocks noGrp="1"/>
          </p:cNvSpPr>
          <p:nvPr>
            <p:ph type="body" sz="quarter" idx="13"/>
          </p:nvPr>
        </p:nvSpPr>
        <p:spPr>
          <a:xfrm>
            <a:off x="76200" y="1752600"/>
            <a:ext cx="8991600" cy="4968875"/>
          </a:xfrm>
        </p:spPr>
        <p:txBody>
          <a:bodyPr/>
          <a:lstStyle/>
          <a:p>
            <a:r>
              <a:rPr lang="en-CA" sz="2400" dirty="0">
                <a:latin typeface="Verdana" panose="020B0604030504040204" pitchFamily="34" charset="0"/>
                <a:ea typeface="Verdana" panose="020B0604030504040204" pitchFamily="34" charset="0"/>
                <a:cs typeface="Verdana" panose="020B0604030504040204" pitchFamily="34" charset="0"/>
              </a:rPr>
              <a:t>The different designs of wind turbines.</a:t>
            </a:r>
          </a:p>
          <a:p>
            <a:r>
              <a:rPr lang="en-CA" sz="2400" dirty="0">
                <a:latin typeface="Verdana" panose="020B0604030504040204" pitchFamily="34" charset="0"/>
                <a:ea typeface="Verdana" panose="020B0604030504040204" pitchFamily="34" charset="0"/>
                <a:cs typeface="Verdana" panose="020B0604030504040204" pitchFamily="34" charset="0"/>
              </a:rPr>
              <a:t>The physics of the energy content of wind.</a:t>
            </a:r>
          </a:p>
          <a:p>
            <a:r>
              <a:rPr lang="en-CA" sz="2400" dirty="0">
                <a:latin typeface="Verdana" panose="020B0604030504040204" pitchFamily="34" charset="0"/>
                <a:ea typeface="Verdana" panose="020B0604030504040204" pitchFamily="34" charset="0"/>
                <a:cs typeface="Verdana" panose="020B0604030504040204" pitchFamily="34" charset="0"/>
              </a:rPr>
              <a:t>Wind power potential and maximum theoretical wind to power conversion (</a:t>
            </a:r>
            <a:r>
              <a:rPr lang="en-CA" sz="2400" b="1" dirty="0">
                <a:latin typeface="Verdana" panose="020B0604030504040204" pitchFamily="34" charset="0"/>
                <a:ea typeface="Verdana" panose="020B0604030504040204" pitchFamily="34" charset="0"/>
                <a:cs typeface="Verdana" panose="020B0604030504040204" pitchFamily="34" charset="0"/>
              </a:rPr>
              <a:t>Betz limit</a:t>
            </a:r>
            <a:r>
              <a:rPr lang="en-CA" sz="2400" dirty="0">
                <a:latin typeface="Verdana" panose="020B0604030504040204" pitchFamily="34" charset="0"/>
                <a:ea typeface="Verdana" panose="020B0604030504040204" pitchFamily="34" charset="0"/>
                <a:cs typeface="Verdana" panose="020B0604030504040204" pitchFamily="34" charset="0"/>
              </a:rPr>
              <a:t>).</a:t>
            </a:r>
          </a:p>
          <a:p>
            <a:r>
              <a:rPr lang="en-CA" sz="2400" dirty="0">
                <a:latin typeface="Verdana" panose="020B0604030504040204" pitchFamily="34" charset="0"/>
                <a:ea typeface="Verdana" panose="020B0604030504040204" pitchFamily="34" charset="0"/>
                <a:cs typeface="Verdana" panose="020B0604030504040204" pitchFamily="34" charset="0"/>
              </a:rPr>
              <a:t>The efficiency of different wind turbine designs and the importance of the </a:t>
            </a:r>
            <a:r>
              <a:rPr lang="en-CA" sz="2400" b="1" dirty="0">
                <a:latin typeface="Verdana" panose="020B0604030504040204" pitchFamily="34" charset="0"/>
                <a:ea typeface="Verdana" panose="020B0604030504040204" pitchFamily="34" charset="0"/>
                <a:cs typeface="Verdana" panose="020B0604030504040204" pitchFamily="34" charset="0"/>
              </a:rPr>
              <a:t>tip speed ratio</a:t>
            </a:r>
            <a:r>
              <a:rPr lang="en-CA" sz="2400" dirty="0">
                <a:latin typeface="Verdana" panose="020B0604030504040204" pitchFamily="34" charset="0"/>
                <a:ea typeface="Verdana" panose="020B0604030504040204" pitchFamily="34" charset="0"/>
                <a:cs typeface="Verdana" panose="020B0604030504040204" pitchFamily="34" charset="0"/>
              </a:rPr>
              <a:t>.</a:t>
            </a:r>
          </a:p>
          <a:p>
            <a:r>
              <a:rPr lang="en-CA" sz="2400" dirty="0">
                <a:latin typeface="Verdana" panose="020B0604030504040204" pitchFamily="34" charset="0"/>
                <a:ea typeface="Verdana" panose="020B0604030504040204" pitchFamily="34" charset="0"/>
                <a:cs typeface="Verdana" panose="020B0604030504040204" pitchFamily="34" charset="0"/>
              </a:rPr>
              <a:t>Estimation of </a:t>
            </a:r>
            <a:r>
              <a:rPr lang="en-CA" sz="2400" b="1" dirty="0">
                <a:latin typeface="Verdana" panose="020B0604030504040204" pitchFamily="34" charset="0"/>
                <a:ea typeface="Verdana" panose="020B0604030504040204" pitchFamily="34" charset="0"/>
                <a:cs typeface="Verdana" panose="020B0604030504040204" pitchFamily="34" charset="0"/>
              </a:rPr>
              <a:t>yearly electricity generation </a:t>
            </a:r>
            <a:r>
              <a:rPr lang="en-CA" sz="2400" dirty="0">
                <a:latin typeface="Verdana" panose="020B0604030504040204" pitchFamily="34" charset="0"/>
                <a:ea typeface="Verdana" panose="020B0604030504040204" pitchFamily="34" charset="0"/>
                <a:cs typeface="Verdana" panose="020B0604030504040204" pitchFamily="34" charset="0"/>
              </a:rPr>
              <a:t>from a wind turbine. </a:t>
            </a:r>
          </a:p>
          <a:p>
            <a:r>
              <a:rPr lang="en-CA" sz="2400" dirty="0">
                <a:latin typeface="Verdana" panose="020B0604030504040204" pitchFamily="34" charset="0"/>
                <a:ea typeface="Verdana" panose="020B0604030504040204" pitchFamily="34" charset="0"/>
                <a:cs typeface="Verdana" panose="020B0604030504040204" pitchFamily="34" charset="0"/>
              </a:rPr>
              <a:t>Economics of wind power.</a:t>
            </a:r>
          </a:p>
          <a:p>
            <a:r>
              <a:rPr lang="en-CA" sz="2400" dirty="0">
                <a:latin typeface="Verdana" panose="020B0604030504040204" pitchFamily="34" charset="0"/>
                <a:ea typeface="Verdana" panose="020B0604030504040204" pitchFamily="34" charset="0"/>
                <a:cs typeface="Verdana" panose="020B0604030504040204" pitchFamily="34" charset="0"/>
              </a:rPr>
              <a:t>The design of wind farms.</a:t>
            </a:r>
          </a:p>
          <a:p>
            <a:pPr marL="0" indent="0">
              <a:buNone/>
            </a:pPr>
            <a:endParaRPr lang="en-CA" dirty="0">
              <a:latin typeface="Verdana" panose="020B0604030504040204" pitchFamily="34" charset="0"/>
              <a:ea typeface="Verdana" panose="020B0604030504040204" pitchFamily="34" charset="0"/>
              <a:cs typeface="Verdana" panose="020B0604030504040204" pitchFamily="34" charset="0"/>
            </a:endParaRPr>
          </a:p>
          <a:p>
            <a:pPr lvl="0"/>
            <a:endParaRPr lang="en-CA" dirty="0">
              <a:solidFill>
                <a:srgbClr val="C00000"/>
              </a:solidFill>
            </a:endParaRPr>
          </a:p>
        </p:txBody>
      </p:sp>
      <p:sp>
        <p:nvSpPr>
          <p:cNvPr id="4" name="Title 3"/>
          <p:cNvSpPr>
            <a:spLocks noGrp="1"/>
          </p:cNvSpPr>
          <p:nvPr>
            <p:ph type="title"/>
          </p:nvPr>
        </p:nvSpPr>
        <p:spPr>
          <a:xfrm>
            <a:off x="609600" y="1001951"/>
            <a:ext cx="7810500" cy="750647"/>
          </a:xfrm>
        </p:spPr>
        <p:txBody>
          <a:bodyPr/>
          <a:lstStyle/>
          <a:p>
            <a:r>
              <a:rPr lang="en-CA" dirty="0"/>
              <a:t>Learning Objectives</a:t>
            </a:r>
          </a:p>
        </p:txBody>
      </p:sp>
    </p:spTree>
    <p:extLst>
      <p:ext uri="{BB962C8B-B14F-4D97-AF65-F5344CB8AC3E}">
        <p14:creationId xmlns:p14="http://schemas.microsoft.com/office/powerpoint/2010/main" val="298732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2 İçerik Yer Tutucusu"/>
          <p:cNvSpPr>
            <a:spLocks noGrp="1"/>
          </p:cNvSpPr>
          <p:nvPr>
            <p:ph idx="1"/>
          </p:nvPr>
        </p:nvSpPr>
        <p:spPr>
          <a:xfrm>
            <a:off x="286732" y="1344402"/>
            <a:ext cx="8458200" cy="5486400"/>
          </a:xfrm>
        </p:spPr>
        <p:txBody>
          <a:bodyPr/>
          <a:lstStyle/>
          <a:p>
            <a:pPr marL="0">
              <a:spcBef>
                <a:spcPts val="600"/>
              </a:spcBef>
              <a:spcAft>
                <a:spcPts val="600"/>
              </a:spcAft>
              <a:buNone/>
            </a:pPr>
            <a:r>
              <a:rPr lang="tr-TR" sz="2200" b="1" dirty="0">
                <a:solidFill>
                  <a:srgbClr val="C00000"/>
                </a:solidFill>
                <a:latin typeface="Calibri" pitchFamily="34" charset="0"/>
              </a:rPr>
              <a:t>W</a:t>
            </a:r>
            <a:r>
              <a:rPr lang="en-US" sz="2200" b="1" dirty="0" err="1">
                <a:solidFill>
                  <a:srgbClr val="C00000"/>
                </a:solidFill>
                <a:latin typeface="Calibri" pitchFamily="34" charset="0"/>
              </a:rPr>
              <a:t>indmill</a:t>
            </a:r>
            <a:r>
              <a:rPr lang="tr-TR" sz="2200" b="1" dirty="0">
                <a:solidFill>
                  <a:srgbClr val="C00000"/>
                </a:solidFill>
                <a:latin typeface="Calibri" pitchFamily="34" charset="0"/>
              </a:rPr>
              <a:t>:</a:t>
            </a:r>
            <a:r>
              <a:rPr lang="en-US" sz="2200" dirty="0">
                <a:latin typeface="Calibri" pitchFamily="34" charset="0"/>
              </a:rPr>
              <a:t> </a:t>
            </a:r>
            <a:r>
              <a:rPr lang="tr-TR" sz="2200" dirty="0" err="1">
                <a:latin typeface="Calibri" pitchFamily="34" charset="0"/>
              </a:rPr>
              <a:t>It</a:t>
            </a:r>
            <a:r>
              <a:rPr lang="tr-TR" sz="2200" dirty="0">
                <a:latin typeface="Calibri" pitchFamily="34" charset="0"/>
              </a:rPr>
              <a:t> is </a:t>
            </a:r>
            <a:r>
              <a:rPr lang="en-US" sz="2200" dirty="0">
                <a:latin typeface="Calibri" pitchFamily="34" charset="0"/>
              </a:rPr>
              <a:t>used for  mechanical  power generation (grinding grain, pumping water, etc.)</a:t>
            </a:r>
            <a:r>
              <a:rPr lang="tr-TR" sz="2200" dirty="0">
                <a:latin typeface="Calibri" pitchFamily="34" charset="0"/>
              </a:rPr>
              <a:t>.</a:t>
            </a:r>
          </a:p>
          <a:p>
            <a:pPr marL="0">
              <a:spcBef>
                <a:spcPts val="600"/>
              </a:spcBef>
              <a:spcAft>
                <a:spcPts val="600"/>
              </a:spcAft>
              <a:buNone/>
            </a:pPr>
            <a:r>
              <a:rPr lang="tr-TR" sz="2200" b="1" dirty="0">
                <a:solidFill>
                  <a:srgbClr val="C00000"/>
                </a:solidFill>
                <a:latin typeface="Calibri" pitchFamily="34" charset="0"/>
              </a:rPr>
              <a:t>W</a:t>
            </a:r>
            <a:r>
              <a:rPr lang="en-US" sz="2200" b="1" dirty="0">
                <a:solidFill>
                  <a:srgbClr val="C00000"/>
                </a:solidFill>
                <a:latin typeface="Calibri" pitchFamily="34" charset="0"/>
              </a:rPr>
              <a:t>ind turbine</a:t>
            </a:r>
            <a:r>
              <a:rPr lang="tr-TR" sz="2200" b="1" dirty="0">
                <a:solidFill>
                  <a:srgbClr val="C00000"/>
                </a:solidFill>
                <a:latin typeface="Calibri" pitchFamily="34" charset="0"/>
              </a:rPr>
              <a:t>:</a:t>
            </a:r>
            <a:r>
              <a:rPr lang="en-US" sz="2200" dirty="0">
                <a:solidFill>
                  <a:srgbClr val="CC00CC"/>
                </a:solidFill>
                <a:latin typeface="Calibri" pitchFamily="34" charset="0"/>
              </a:rPr>
              <a:t> </a:t>
            </a:r>
            <a:r>
              <a:rPr lang="tr-TR" sz="2200" dirty="0" err="1">
                <a:latin typeface="Calibri" pitchFamily="34" charset="0"/>
              </a:rPr>
              <a:t>It</a:t>
            </a:r>
            <a:r>
              <a:rPr lang="tr-TR" sz="2200" dirty="0">
                <a:latin typeface="Calibri" pitchFamily="34" charset="0"/>
              </a:rPr>
              <a:t> is u</a:t>
            </a:r>
            <a:r>
              <a:rPr lang="en-US" sz="2200" dirty="0">
                <a:latin typeface="Calibri" pitchFamily="34" charset="0"/>
              </a:rPr>
              <a:t>sed for electrical power generation</a:t>
            </a:r>
            <a:r>
              <a:rPr lang="tr-TR" sz="2200" dirty="0">
                <a:latin typeface="Calibri" pitchFamily="34" charset="0"/>
              </a:rPr>
              <a:t>.</a:t>
            </a:r>
          </a:p>
          <a:p>
            <a:pPr marL="0">
              <a:spcBef>
                <a:spcPts val="600"/>
              </a:spcBef>
              <a:spcAft>
                <a:spcPts val="600"/>
              </a:spcAft>
              <a:buNone/>
            </a:pPr>
            <a:r>
              <a:rPr lang="tr-TR" sz="2200" dirty="0">
                <a:latin typeface="Calibri" pitchFamily="34" charset="0"/>
              </a:rPr>
              <a:t>T</a:t>
            </a:r>
            <a:r>
              <a:rPr lang="en-CA" sz="2200" dirty="0" err="1">
                <a:latin typeface="Calibri" pitchFamily="34" charset="0"/>
              </a:rPr>
              <a:t>echnically</a:t>
            </a:r>
            <a:r>
              <a:rPr lang="en-US" sz="2200" dirty="0">
                <a:latin typeface="Calibri" pitchFamily="34" charset="0"/>
              </a:rPr>
              <a:t> both devices are turbines since they extract energy from the fluid.</a:t>
            </a:r>
            <a:endParaRPr lang="tr-TR" sz="2200" dirty="0">
              <a:latin typeface="Calibri" pitchFamily="34" charset="0"/>
            </a:endParaRPr>
          </a:p>
          <a:p>
            <a:pPr marL="0">
              <a:spcBef>
                <a:spcPts val="600"/>
              </a:spcBef>
              <a:spcAft>
                <a:spcPts val="600"/>
              </a:spcAft>
              <a:buNone/>
            </a:pPr>
            <a:r>
              <a:rPr lang="tr-TR" sz="2200" b="1" dirty="0">
                <a:solidFill>
                  <a:srgbClr val="C00000"/>
                </a:solidFill>
                <a:latin typeface="Calibri" pitchFamily="34" charset="0"/>
              </a:rPr>
              <a:t>Capacity:</a:t>
            </a:r>
            <a:r>
              <a:rPr lang="tr-TR" sz="2200" dirty="0">
                <a:latin typeface="Calibri" pitchFamily="34" charset="0"/>
              </a:rPr>
              <a:t> </a:t>
            </a:r>
            <a:r>
              <a:rPr lang="en-US" sz="2200" dirty="0">
                <a:latin typeface="Calibri" pitchFamily="34" charset="0"/>
              </a:rPr>
              <a:t>Commercial wind turbines generate from 100 kW to 3.2 MW of electric power each at peak design conditions. </a:t>
            </a:r>
            <a:r>
              <a:rPr lang="tr-TR" sz="2200" dirty="0">
                <a:latin typeface="Calibri" pitchFamily="34" charset="0"/>
              </a:rPr>
              <a:t>The largest one has over 8 MW capacity.</a:t>
            </a:r>
          </a:p>
          <a:p>
            <a:pPr marL="0">
              <a:spcBef>
                <a:spcPts val="600"/>
              </a:spcBef>
              <a:spcAft>
                <a:spcPts val="600"/>
              </a:spcAft>
              <a:buNone/>
            </a:pPr>
            <a:r>
              <a:rPr lang="tr-TR" sz="2200" b="1" dirty="0">
                <a:solidFill>
                  <a:srgbClr val="C00000"/>
                </a:solidFill>
                <a:latin typeface="Calibri" pitchFamily="34" charset="0"/>
              </a:rPr>
              <a:t>Rotor diameter:</a:t>
            </a:r>
            <a:r>
              <a:rPr lang="tr-TR" sz="2200" dirty="0">
                <a:latin typeface="Calibri" pitchFamily="34" charset="0"/>
              </a:rPr>
              <a:t> </a:t>
            </a:r>
            <a:r>
              <a:rPr lang="en-US" sz="2200" dirty="0">
                <a:latin typeface="Calibri" pitchFamily="34" charset="0"/>
              </a:rPr>
              <a:t>The blade span (or rotor) diameter of the 3.2 MW wind turbine built by Boeing Engineering is 320 ft (97.5 m).</a:t>
            </a:r>
            <a:endParaRPr lang="tr-TR" sz="2200" dirty="0">
              <a:latin typeface="Calibri" pitchFamily="34" charset="0"/>
            </a:endParaRPr>
          </a:p>
          <a:p>
            <a:pPr marL="0">
              <a:spcBef>
                <a:spcPts val="600"/>
              </a:spcBef>
              <a:spcAft>
                <a:spcPts val="600"/>
              </a:spcAft>
              <a:buNone/>
            </a:pPr>
            <a:r>
              <a:rPr lang="tr-TR" sz="2200" b="1" dirty="0">
                <a:solidFill>
                  <a:srgbClr val="C00000"/>
                </a:solidFill>
                <a:latin typeface="Calibri" pitchFamily="34" charset="0"/>
              </a:rPr>
              <a:t>Location:</a:t>
            </a:r>
            <a:r>
              <a:rPr lang="tr-TR" sz="2200" dirty="0">
                <a:latin typeface="Calibri" pitchFamily="34" charset="0"/>
              </a:rPr>
              <a:t> W</a:t>
            </a:r>
            <a:r>
              <a:rPr lang="en-US" sz="2200" dirty="0">
                <a:latin typeface="Calibri" pitchFamily="34" charset="0"/>
              </a:rPr>
              <a:t>ind turbines need to be located where the wind velocity makes wind power economical, which is often far from traditional power grids, requiring construction of new high</a:t>
            </a:r>
            <a:r>
              <a:rPr lang="tr-TR" sz="2200" dirty="0">
                <a:latin typeface="Calibri" pitchFamily="34" charset="0"/>
              </a:rPr>
              <a:t>-</a:t>
            </a:r>
            <a:r>
              <a:rPr lang="en-US" sz="2200" dirty="0">
                <a:latin typeface="Calibri" pitchFamily="34" charset="0"/>
              </a:rPr>
              <a:t>voltage power lines. </a:t>
            </a:r>
            <a:endParaRPr lang="tr-TR" sz="2200" dirty="0">
              <a:latin typeface="Calibri" pitchFamily="34" charset="0"/>
            </a:endParaRPr>
          </a:p>
        </p:txBody>
      </p:sp>
      <p:sp>
        <p:nvSpPr>
          <p:cNvPr id="5" name="3 Dikdörtgen">
            <a:extLst>
              <a:ext uri="{FF2B5EF4-FFF2-40B4-BE49-F238E27FC236}">
                <a16:creationId xmlns:a16="http://schemas.microsoft.com/office/drawing/2014/main" id="{AE4F0638-F917-485F-8816-43A135D9C08D}"/>
              </a:ext>
            </a:extLst>
          </p:cNvPr>
          <p:cNvSpPr/>
          <p:nvPr/>
        </p:nvSpPr>
        <p:spPr>
          <a:xfrm>
            <a:off x="286732" y="762000"/>
            <a:ext cx="4572000" cy="646331"/>
          </a:xfrm>
          <a:prstGeom prst="rect">
            <a:avLst/>
          </a:prstGeom>
        </p:spPr>
        <p:txBody>
          <a:bodyPr>
            <a:spAutoFit/>
          </a:bodyPr>
          <a:lstStyle/>
          <a:p>
            <a:r>
              <a:rPr lang="tr-TR" sz="3600" b="1" dirty="0">
                <a:solidFill>
                  <a:schemeClr val="accent2"/>
                </a:solidFill>
                <a:latin typeface="Arial" panose="020B0604020202020204" pitchFamily="34" charset="0"/>
                <a:ea typeface="Verdana" panose="020B0604030504040204" pitchFamily="34" charset="0"/>
                <a:cs typeface="Arial" panose="020B0604020202020204" pitchFamily="34" charset="0"/>
              </a:rP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Başlık"/>
          <p:cNvSpPr>
            <a:spLocks noGrp="1"/>
          </p:cNvSpPr>
          <p:nvPr>
            <p:ph type="title"/>
          </p:nvPr>
        </p:nvSpPr>
        <p:spPr>
          <a:xfrm>
            <a:off x="300087" y="745503"/>
            <a:ext cx="8229600" cy="762000"/>
          </a:xfrm>
        </p:spPr>
        <p:txBody>
          <a:bodyPr/>
          <a:lstStyle/>
          <a:p>
            <a:pPr algn="l"/>
            <a:r>
              <a:rPr lang="en-US" b="1" dirty="0">
                <a:solidFill>
                  <a:schemeClr val="accent2"/>
                </a:solidFill>
                <a:latin typeface="Arial" panose="020B0604020202020204" pitchFamily="34" charset="0"/>
                <a:cs typeface="Arial" panose="020B0604020202020204" pitchFamily="34" charset="0"/>
              </a:rPr>
              <a:t>W</a:t>
            </a:r>
            <a:r>
              <a:rPr lang="tr-TR" b="1" dirty="0">
                <a:solidFill>
                  <a:schemeClr val="accent2"/>
                </a:solidFill>
                <a:latin typeface="Arial" panose="020B0604020202020204" pitchFamily="34" charset="0"/>
                <a:cs typeface="Arial" panose="020B0604020202020204" pitchFamily="34" charset="0"/>
              </a:rPr>
              <a:t>I</a:t>
            </a:r>
            <a:r>
              <a:rPr lang="en-US" b="1" dirty="0">
                <a:solidFill>
                  <a:schemeClr val="accent2"/>
                </a:solidFill>
                <a:latin typeface="Arial" panose="020B0604020202020204" pitchFamily="34" charset="0"/>
                <a:cs typeface="Arial" panose="020B0604020202020204" pitchFamily="34" charset="0"/>
              </a:rPr>
              <a:t>ND TURB</a:t>
            </a:r>
            <a:r>
              <a:rPr lang="tr-TR" b="1" dirty="0">
                <a:solidFill>
                  <a:schemeClr val="accent2"/>
                </a:solidFill>
                <a:latin typeface="Arial" panose="020B0604020202020204" pitchFamily="34" charset="0"/>
                <a:cs typeface="Arial" panose="020B0604020202020204" pitchFamily="34" charset="0"/>
              </a:rPr>
              <a:t>I</a:t>
            </a:r>
            <a:r>
              <a:rPr lang="en-US" b="1" dirty="0">
                <a:solidFill>
                  <a:schemeClr val="accent2"/>
                </a:solidFill>
                <a:latin typeface="Arial" panose="020B0604020202020204" pitchFamily="34" charset="0"/>
                <a:cs typeface="Arial" panose="020B0604020202020204" pitchFamily="34" charset="0"/>
              </a:rPr>
              <a:t>NE TYPES</a:t>
            </a:r>
            <a:endParaRPr lang="tr-TR" b="1" dirty="0">
              <a:solidFill>
                <a:schemeClr val="accent2"/>
              </a:solidFill>
              <a:latin typeface="Arial" panose="020B0604020202020204" pitchFamily="34" charset="0"/>
              <a:cs typeface="Arial" panose="020B0604020202020204" pitchFamily="34" charset="0"/>
            </a:endParaRPr>
          </a:p>
        </p:txBody>
      </p:sp>
      <p:sp>
        <p:nvSpPr>
          <p:cNvPr id="5123" name="2 İçerik Yer Tutucusu"/>
          <p:cNvSpPr>
            <a:spLocks noGrp="1"/>
          </p:cNvSpPr>
          <p:nvPr>
            <p:ph idx="1"/>
          </p:nvPr>
        </p:nvSpPr>
        <p:spPr>
          <a:xfrm>
            <a:off x="300087" y="1371600"/>
            <a:ext cx="8763000" cy="5105400"/>
          </a:xfrm>
        </p:spPr>
        <p:txBody>
          <a:bodyPr/>
          <a:lstStyle/>
          <a:p>
            <a:pPr marL="0">
              <a:spcBef>
                <a:spcPts val="600"/>
              </a:spcBef>
              <a:spcAft>
                <a:spcPts val="600"/>
              </a:spcAft>
              <a:buNone/>
            </a:pPr>
            <a:r>
              <a:rPr lang="en-US" sz="2200" dirty="0">
                <a:latin typeface="Calibri" pitchFamily="34" charset="0"/>
              </a:rPr>
              <a:t>Numerous innovative wind turbine designs have been proposed and tested over the centuries.</a:t>
            </a:r>
            <a:endParaRPr lang="tr-TR" sz="2200" dirty="0">
              <a:latin typeface="Calibri" pitchFamily="34" charset="0"/>
            </a:endParaRPr>
          </a:p>
          <a:p>
            <a:pPr marL="0">
              <a:spcBef>
                <a:spcPts val="600"/>
              </a:spcBef>
              <a:spcAft>
                <a:spcPts val="600"/>
              </a:spcAft>
              <a:buNone/>
            </a:pPr>
            <a:r>
              <a:rPr lang="en-CA" sz="2200" b="1" dirty="0">
                <a:solidFill>
                  <a:srgbClr val="C00000"/>
                </a:solidFill>
                <a:latin typeface="Calibri" pitchFamily="34" charset="0"/>
              </a:rPr>
              <a:t>Categories</a:t>
            </a:r>
            <a:r>
              <a:rPr lang="tr-TR" sz="2200" b="1" dirty="0">
                <a:solidFill>
                  <a:srgbClr val="C00000"/>
                </a:solidFill>
                <a:latin typeface="Calibri" pitchFamily="34" charset="0"/>
              </a:rPr>
              <a:t>:</a:t>
            </a:r>
            <a:r>
              <a:rPr lang="tr-TR" sz="2200" dirty="0">
                <a:latin typeface="Calibri" pitchFamily="34" charset="0"/>
              </a:rPr>
              <a:t> </a:t>
            </a:r>
            <a:r>
              <a:rPr lang="en-US" sz="2200" dirty="0">
                <a:latin typeface="Calibri" pitchFamily="34" charset="0"/>
              </a:rPr>
              <a:t>We generally categorize wind turbines by the orientation of their axis of rotation</a:t>
            </a:r>
            <a:r>
              <a:rPr lang="en-US" sz="2200" dirty="0">
                <a:solidFill>
                  <a:srgbClr val="FF0000"/>
                </a:solidFill>
                <a:latin typeface="Calibri" pitchFamily="34" charset="0"/>
              </a:rPr>
              <a:t> </a:t>
            </a:r>
            <a:endParaRPr lang="tr-TR" sz="2200" dirty="0">
              <a:solidFill>
                <a:srgbClr val="FF0000"/>
              </a:solidFill>
              <a:latin typeface="Calibri" pitchFamily="34" charset="0"/>
            </a:endParaRPr>
          </a:p>
          <a:p>
            <a:pPr marL="0" lvl="1">
              <a:spcBef>
                <a:spcPts val="600"/>
              </a:spcBef>
              <a:spcAft>
                <a:spcPts val="600"/>
              </a:spcAft>
              <a:buNone/>
            </a:pPr>
            <a:r>
              <a:rPr lang="tr-TR" sz="2200" dirty="0">
                <a:solidFill>
                  <a:srgbClr val="D60093"/>
                </a:solidFill>
                <a:latin typeface="Calibri" pitchFamily="34" charset="0"/>
              </a:rPr>
              <a:t>   - </a:t>
            </a:r>
            <a:r>
              <a:rPr lang="en-US" sz="2200" dirty="0">
                <a:solidFill>
                  <a:srgbClr val="D60093"/>
                </a:solidFill>
                <a:latin typeface="Calibri" pitchFamily="34" charset="0"/>
              </a:rPr>
              <a:t>horizontal axis wind turbines (HAWTs) </a:t>
            </a:r>
            <a:endParaRPr lang="tr-TR" sz="2200" dirty="0">
              <a:solidFill>
                <a:srgbClr val="D60093"/>
              </a:solidFill>
              <a:latin typeface="Calibri" pitchFamily="34" charset="0"/>
            </a:endParaRPr>
          </a:p>
          <a:p>
            <a:pPr marL="0" lvl="1">
              <a:spcBef>
                <a:spcPts val="600"/>
              </a:spcBef>
              <a:spcAft>
                <a:spcPts val="600"/>
              </a:spcAft>
              <a:buNone/>
            </a:pPr>
            <a:r>
              <a:rPr lang="tr-TR" sz="2200" dirty="0">
                <a:solidFill>
                  <a:srgbClr val="D60093"/>
                </a:solidFill>
                <a:latin typeface="Calibri" pitchFamily="34" charset="0"/>
              </a:rPr>
              <a:t>   - </a:t>
            </a:r>
            <a:r>
              <a:rPr lang="en-US" sz="2200" dirty="0">
                <a:solidFill>
                  <a:srgbClr val="D60093"/>
                </a:solidFill>
                <a:latin typeface="Calibri" pitchFamily="34" charset="0"/>
              </a:rPr>
              <a:t>vertical axis wind turbines (VAWTs)</a:t>
            </a:r>
            <a:endParaRPr lang="tr-TR" sz="2200" dirty="0">
              <a:solidFill>
                <a:srgbClr val="D60093"/>
              </a:solidFill>
              <a:latin typeface="Calibri" pitchFamily="34" charset="0"/>
            </a:endParaRPr>
          </a:p>
          <a:p>
            <a:pPr marL="0">
              <a:spcBef>
                <a:spcPts val="600"/>
              </a:spcBef>
              <a:spcAft>
                <a:spcPts val="600"/>
              </a:spcAft>
              <a:buNone/>
            </a:pPr>
            <a:r>
              <a:rPr lang="en-CA" sz="2200" b="1" dirty="0">
                <a:solidFill>
                  <a:srgbClr val="C00000"/>
                </a:solidFill>
                <a:latin typeface="Calibri" pitchFamily="34" charset="0"/>
              </a:rPr>
              <a:t>Alternative</a:t>
            </a:r>
            <a:r>
              <a:rPr lang="tr-TR" sz="2200" b="1" dirty="0">
                <a:solidFill>
                  <a:srgbClr val="C00000"/>
                </a:solidFill>
                <a:latin typeface="Calibri" pitchFamily="34" charset="0"/>
              </a:rPr>
              <a:t> classification:</a:t>
            </a:r>
            <a:r>
              <a:rPr lang="tr-TR" sz="2200" dirty="0">
                <a:latin typeface="Calibri" pitchFamily="34" charset="0"/>
              </a:rPr>
              <a:t> </a:t>
            </a:r>
            <a:r>
              <a:rPr lang="en-US" sz="2200" dirty="0">
                <a:latin typeface="Calibri" pitchFamily="34" charset="0"/>
              </a:rPr>
              <a:t>An alternative way to categorize them is by the mechanism that provides torque to the rotating shaft: </a:t>
            </a:r>
            <a:r>
              <a:rPr lang="tr-TR" sz="2200" dirty="0">
                <a:solidFill>
                  <a:srgbClr val="D60093"/>
                </a:solidFill>
                <a:latin typeface="Calibri" pitchFamily="34" charset="0"/>
              </a:rPr>
              <a:t> </a:t>
            </a:r>
            <a:r>
              <a:rPr lang="en-US" sz="2200" dirty="0">
                <a:solidFill>
                  <a:srgbClr val="D60093"/>
                </a:solidFill>
                <a:latin typeface="Calibri" pitchFamily="34" charset="0"/>
              </a:rPr>
              <a:t>lift  or drag</a:t>
            </a:r>
          </a:p>
          <a:p>
            <a:pPr marL="377190" lvl="1" indent="-285750">
              <a:spcBef>
                <a:spcPts val="600"/>
              </a:spcBef>
              <a:spcAft>
                <a:spcPts val="600"/>
              </a:spcAft>
            </a:pPr>
            <a:r>
              <a:rPr lang="en-US" sz="1400" dirty="0"/>
              <a:t>The component of force acting </a:t>
            </a:r>
            <a:r>
              <a:rPr lang="en-US" sz="1400" b="1" dirty="0"/>
              <a:t>along the streamline </a:t>
            </a:r>
            <a:r>
              <a:rPr lang="en-US" sz="1400" dirty="0"/>
              <a:t>is called </a:t>
            </a:r>
            <a:r>
              <a:rPr lang="en-US" sz="1400" b="1" dirty="0"/>
              <a:t>Drag </a:t>
            </a:r>
            <a:r>
              <a:rPr lang="en-US" sz="1400" dirty="0"/>
              <a:t>and the component of force acting </a:t>
            </a:r>
            <a:r>
              <a:rPr lang="en-US" sz="1400" b="1" dirty="0"/>
              <a:t>perpendicular to the streamline </a:t>
            </a:r>
            <a:r>
              <a:rPr lang="en-US" sz="1400" dirty="0"/>
              <a:t>is called </a:t>
            </a:r>
            <a:r>
              <a:rPr lang="en-US" sz="1400" b="1" dirty="0"/>
              <a:t>lift</a:t>
            </a:r>
            <a:r>
              <a:rPr lang="en-US" sz="1400" dirty="0"/>
              <a:t>.</a:t>
            </a:r>
            <a:endParaRPr lang="tr-TR" sz="2000" dirty="0">
              <a:solidFill>
                <a:srgbClr val="D60093"/>
              </a:solidFill>
              <a:latin typeface="Calibri" pitchFamily="34" charset="0"/>
            </a:endParaRPr>
          </a:p>
          <a:p>
            <a:pPr marL="0">
              <a:spcBef>
                <a:spcPts val="600"/>
              </a:spcBef>
              <a:spcAft>
                <a:spcPts val="600"/>
              </a:spcAft>
              <a:buNone/>
            </a:pPr>
            <a:r>
              <a:rPr lang="en-CA" sz="2200" b="1" dirty="0">
                <a:solidFill>
                  <a:srgbClr val="C00000"/>
                </a:solidFill>
                <a:latin typeface="Calibri" pitchFamily="34" charset="0"/>
              </a:rPr>
              <a:t>Which</a:t>
            </a:r>
            <a:r>
              <a:rPr lang="tr-TR" sz="2200" b="1" dirty="0">
                <a:solidFill>
                  <a:srgbClr val="C00000"/>
                </a:solidFill>
                <a:latin typeface="Calibri" pitchFamily="34" charset="0"/>
              </a:rPr>
              <a:t> type is used? </a:t>
            </a:r>
            <a:r>
              <a:rPr lang="tr-TR" sz="2200" b="1" dirty="0">
                <a:latin typeface="Calibri" pitchFamily="34" charset="0"/>
              </a:rPr>
              <a:t>L</a:t>
            </a:r>
            <a:r>
              <a:rPr lang="en-US" sz="2200" b="1" dirty="0" err="1">
                <a:latin typeface="Calibri" pitchFamily="34" charset="0"/>
              </a:rPr>
              <a:t>ift</a:t>
            </a:r>
            <a:r>
              <a:rPr lang="en-US" sz="2200" b="1" dirty="0">
                <a:latin typeface="Calibri" pitchFamily="34" charset="0"/>
              </a:rPr>
              <a:t>-type HAWT</a:t>
            </a:r>
            <a:endParaRPr lang="tr-TR" sz="2200" b="1" dirty="0">
              <a:latin typeface="Calibri" pitchFamily="34" charset="0"/>
            </a:endParaRPr>
          </a:p>
          <a:p>
            <a:pPr marL="0">
              <a:spcBef>
                <a:spcPts val="600"/>
              </a:spcBef>
              <a:spcAft>
                <a:spcPts val="600"/>
              </a:spcAft>
              <a:buNone/>
            </a:pPr>
            <a:r>
              <a:rPr lang="tr-TR" sz="2200" dirty="0" err="1">
                <a:latin typeface="Calibri" pitchFamily="34" charset="0"/>
              </a:rPr>
              <a:t>Other</a:t>
            </a:r>
            <a:r>
              <a:rPr lang="tr-TR" sz="2200" dirty="0">
                <a:latin typeface="Calibri" pitchFamily="34" charset="0"/>
              </a:rPr>
              <a:t> </a:t>
            </a:r>
            <a:r>
              <a:rPr lang="tr-TR" sz="2200" dirty="0" err="1">
                <a:latin typeface="Calibri" pitchFamily="34" charset="0"/>
              </a:rPr>
              <a:t>designs</a:t>
            </a:r>
            <a:r>
              <a:rPr lang="tr-TR" sz="2200" dirty="0">
                <a:latin typeface="Calibri" pitchFamily="34" charset="0"/>
              </a:rPr>
              <a:t> </a:t>
            </a:r>
            <a:r>
              <a:rPr lang="tr-TR" sz="2200" dirty="0" err="1">
                <a:latin typeface="Calibri" pitchFamily="34" charset="0"/>
              </a:rPr>
              <a:t>have</a:t>
            </a:r>
            <a:r>
              <a:rPr lang="tr-TR" sz="2200" dirty="0">
                <a:latin typeface="Calibri" pitchFamily="34" charset="0"/>
              </a:rPr>
              <a:t> not </a:t>
            </a:r>
            <a:r>
              <a:rPr lang="tr-TR" sz="2200" dirty="0" err="1">
                <a:latin typeface="Calibri" pitchFamily="34" charset="0"/>
              </a:rPr>
              <a:t>achieved</a:t>
            </a:r>
            <a:r>
              <a:rPr lang="tr-TR" sz="2200" dirty="0">
                <a:latin typeface="Calibri" pitchFamily="34" charset="0"/>
              </a:rPr>
              <a:t> </a:t>
            </a:r>
            <a:r>
              <a:rPr lang="tr-TR" sz="2200" dirty="0" err="1">
                <a:latin typeface="Calibri" pitchFamily="34" charset="0"/>
              </a:rPr>
              <a:t>the</a:t>
            </a:r>
            <a:r>
              <a:rPr lang="tr-TR" sz="2200" dirty="0">
                <a:latin typeface="Calibri" pitchFamily="34" charset="0"/>
              </a:rPr>
              <a:t> </a:t>
            </a:r>
            <a:r>
              <a:rPr lang="tr-TR" sz="2200" dirty="0" err="1">
                <a:latin typeface="Calibri" pitchFamily="34" charset="0"/>
              </a:rPr>
              <a:t>same</a:t>
            </a:r>
            <a:r>
              <a:rPr lang="tr-TR" sz="2200" dirty="0">
                <a:latin typeface="Calibri" pitchFamily="34" charset="0"/>
              </a:rPr>
              <a:t> </a:t>
            </a:r>
            <a:r>
              <a:rPr lang="tr-TR" sz="2200" dirty="0" err="1">
                <a:latin typeface="Calibri" pitchFamily="34" charset="0"/>
              </a:rPr>
              <a:t>success</a:t>
            </a:r>
            <a:r>
              <a:rPr lang="tr-TR" sz="2200" dirty="0">
                <a:latin typeface="Calibri" pitchFamily="34" charset="0"/>
              </a:rPr>
              <a:t>.</a:t>
            </a:r>
          </a:p>
          <a:p>
            <a:pPr marL="0">
              <a:spcBef>
                <a:spcPts val="600"/>
              </a:spcBef>
              <a:spcAft>
                <a:spcPts val="600"/>
              </a:spcAft>
              <a:buNone/>
            </a:pPr>
            <a:r>
              <a:rPr lang="tr-TR" sz="2200" b="1" dirty="0" err="1">
                <a:solidFill>
                  <a:srgbClr val="C00000"/>
                </a:solidFill>
                <a:latin typeface="Calibri" pitchFamily="34" charset="0"/>
              </a:rPr>
              <a:t>Wind</a:t>
            </a:r>
            <a:r>
              <a:rPr lang="tr-TR" sz="2200" b="1" dirty="0">
                <a:solidFill>
                  <a:srgbClr val="C00000"/>
                </a:solidFill>
                <a:latin typeface="Calibri" pitchFamily="34" charset="0"/>
              </a:rPr>
              <a:t> </a:t>
            </a:r>
            <a:r>
              <a:rPr lang="tr-TR" sz="2200" b="1" dirty="0" err="1">
                <a:solidFill>
                  <a:srgbClr val="C00000"/>
                </a:solidFill>
                <a:latin typeface="Calibri" pitchFamily="34" charset="0"/>
              </a:rPr>
              <a:t>farm</a:t>
            </a:r>
            <a:r>
              <a:rPr lang="tr-TR" sz="2200" b="1" dirty="0">
                <a:solidFill>
                  <a:srgbClr val="C00000"/>
                </a:solidFill>
                <a:latin typeface="Calibri" pitchFamily="34" charset="0"/>
              </a:rPr>
              <a:t>: </a:t>
            </a:r>
            <a:r>
              <a:rPr lang="tr-TR" sz="2200" dirty="0" err="1">
                <a:latin typeface="Calibri" pitchFamily="34" charset="0"/>
              </a:rPr>
              <a:t>Clusters</a:t>
            </a:r>
            <a:r>
              <a:rPr lang="tr-TR" sz="2200" dirty="0">
                <a:latin typeface="Calibri" pitchFamily="34" charset="0"/>
              </a:rPr>
              <a:t> of </a:t>
            </a:r>
            <a:r>
              <a:rPr lang="tr-TR" sz="2200" dirty="0" err="1">
                <a:latin typeface="Calibri" pitchFamily="34" charset="0"/>
              </a:rPr>
              <a:t>wind</a:t>
            </a:r>
            <a:r>
              <a:rPr lang="tr-TR" sz="2200" dirty="0">
                <a:latin typeface="Calibri" pitchFamily="34" charset="0"/>
              </a:rPr>
              <a:t> </a:t>
            </a:r>
            <a:r>
              <a:rPr lang="tr-TR" sz="2200" dirty="0" err="1">
                <a:latin typeface="Calibri" pitchFamily="34" charset="0"/>
              </a:rPr>
              <a:t>turbines</a:t>
            </a:r>
            <a:r>
              <a:rPr lang="tr-TR" sz="2200" dirty="0">
                <a:latin typeface="Calibri"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3E7CE8-5B1A-443A-A5F3-BD5B09B27D2B}"/>
              </a:ext>
            </a:extLst>
          </p:cNvPr>
          <p:cNvSpPr>
            <a:spLocks noGrp="1"/>
          </p:cNvSpPr>
          <p:nvPr>
            <p:ph type="sldNum" sz="quarter" idx="12"/>
          </p:nvPr>
        </p:nvSpPr>
        <p:spPr/>
        <p:txBody>
          <a:bodyPr/>
          <a:lstStyle/>
          <a:p>
            <a:fld id="{122D24B2-5D52-46F7-B915-67CABB3AD0CF}" type="slidenum">
              <a:rPr lang="en-US" smtClean="0"/>
              <a:pPr/>
              <a:t>6</a:t>
            </a:fld>
            <a:endParaRPr lang="en-US" dirty="0"/>
          </a:p>
        </p:txBody>
      </p:sp>
      <p:sp>
        <p:nvSpPr>
          <p:cNvPr id="3" name="Text Placeholder 2">
            <a:extLst>
              <a:ext uri="{FF2B5EF4-FFF2-40B4-BE49-F238E27FC236}">
                <a16:creationId xmlns:a16="http://schemas.microsoft.com/office/drawing/2014/main" id="{0AA9A461-10B2-4E88-8E02-79313841AD5D}"/>
              </a:ext>
            </a:extLst>
          </p:cNvPr>
          <p:cNvSpPr>
            <a:spLocks noGrp="1"/>
          </p:cNvSpPr>
          <p:nvPr>
            <p:ph type="body" sz="quarter" idx="13"/>
          </p:nvPr>
        </p:nvSpPr>
        <p:spPr>
          <a:xfrm>
            <a:off x="76199" y="1350169"/>
            <a:ext cx="4648201" cy="4157662"/>
          </a:xfrm>
        </p:spPr>
        <p:txBody>
          <a:bodyPr/>
          <a:lstStyle/>
          <a:p>
            <a:r>
              <a:rPr lang="en-US" sz="1600" dirty="0">
                <a:effectLst/>
              </a:rPr>
              <a:t>The horizontal axis wind turbine (HAWT) system consists of blades attached to a central hub to form a rotor that rotates when force is exerted upon them by the wind. </a:t>
            </a:r>
          </a:p>
          <a:p>
            <a:r>
              <a:rPr lang="en-US" sz="1600" dirty="0">
                <a:effectLst/>
              </a:rPr>
              <a:t>The hub is in turn attached to a driveshaft that transmits rotational energy to the interior of the nacelle, a central enclosure that sits atop the turbine tower and is rotated by a “yaw mechanism” on a vertical axis to face the wind from any direction (here “yaw” is defined as the angular orientation of the nacelle and rotor around its vertical axis.)</a:t>
            </a:r>
          </a:p>
          <a:p>
            <a:r>
              <a:rPr lang="en-US" sz="1600" dirty="0">
                <a:effectLst/>
              </a:rPr>
              <a:t>The nacelle contains the bearing for the driveshaft, the transmission, generator, mechanical brake, and gears and drives to change both the orientation of the nacelle and the pitch of the turbine blades. </a:t>
            </a:r>
          </a:p>
          <a:p>
            <a:r>
              <a:rPr lang="en-US" sz="1200" dirty="0"/>
              <a:t>Wind turbine component video: </a:t>
            </a:r>
            <a:r>
              <a:rPr lang="en-US" sz="1200" dirty="0">
                <a:hlinkClick r:id="rId2"/>
              </a:rPr>
              <a:t>https://energyeducation.ca/encyclopedia/Wind_turbine</a:t>
            </a:r>
            <a:r>
              <a:rPr lang="en-US" sz="1200" dirty="0"/>
              <a:t>  </a:t>
            </a:r>
          </a:p>
          <a:p>
            <a:r>
              <a:rPr lang="en-US" sz="1200" dirty="0">
                <a:effectLst/>
              </a:rPr>
              <a:t>Wind turbine construction video: </a:t>
            </a:r>
            <a:r>
              <a:rPr lang="en-US" sz="1200" dirty="0">
                <a:effectLst/>
                <a:hlinkClick r:id="rId3"/>
              </a:rPr>
              <a:t>https://www.youtube.com/watch?v=84BeVq2Jm88</a:t>
            </a:r>
            <a:r>
              <a:rPr lang="en-US" sz="1200" dirty="0">
                <a:effectLst/>
              </a:rPr>
              <a:t> </a:t>
            </a:r>
          </a:p>
          <a:p>
            <a:endParaRPr lang="en-CA" sz="1600" dirty="0"/>
          </a:p>
        </p:txBody>
      </p:sp>
      <p:sp>
        <p:nvSpPr>
          <p:cNvPr id="4" name="Title 3">
            <a:extLst>
              <a:ext uri="{FF2B5EF4-FFF2-40B4-BE49-F238E27FC236}">
                <a16:creationId xmlns:a16="http://schemas.microsoft.com/office/drawing/2014/main" id="{797F18A3-1B7E-4120-A3B4-15E59779377F}"/>
              </a:ext>
            </a:extLst>
          </p:cNvPr>
          <p:cNvSpPr>
            <a:spLocks noGrp="1"/>
          </p:cNvSpPr>
          <p:nvPr>
            <p:ph type="title"/>
          </p:nvPr>
        </p:nvSpPr>
        <p:spPr>
          <a:xfrm>
            <a:off x="628652" y="620284"/>
            <a:ext cx="7810500" cy="979250"/>
          </a:xfrm>
        </p:spPr>
        <p:txBody>
          <a:bodyPr/>
          <a:lstStyle/>
          <a:p>
            <a:r>
              <a:rPr lang="en-CA" dirty="0"/>
              <a:t>HAWT</a:t>
            </a:r>
          </a:p>
        </p:txBody>
      </p:sp>
      <p:pic>
        <p:nvPicPr>
          <p:cNvPr id="6" name="Picture 5">
            <a:extLst>
              <a:ext uri="{FF2B5EF4-FFF2-40B4-BE49-F238E27FC236}">
                <a16:creationId xmlns:a16="http://schemas.microsoft.com/office/drawing/2014/main" id="{FB214799-C35C-4B8F-9C32-111543267769}"/>
              </a:ext>
            </a:extLst>
          </p:cNvPr>
          <p:cNvPicPr>
            <a:picLocks noChangeAspect="1"/>
          </p:cNvPicPr>
          <p:nvPr/>
        </p:nvPicPr>
        <p:blipFill rotWithShape="1">
          <a:blip r:embed="rId4"/>
          <a:srcRect l="4556" r="5071"/>
          <a:stretch/>
        </p:blipFill>
        <p:spPr>
          <a:xfrm>
            <a:off x="4610099" y="837145"/>
            <a:ext cx="4533901" cy="5825412"/>
          </a:xfrm>
          <a:prstGeom prst="rect">
            <a:avLst/>
          </a:prstGeom>
        </p:spPr>
      </p:pic>
      <p:pic>
        <p:nvPicPr>
          <p:cNvPr id="8" name="Picture 7">
            <a:extLst>
              <a:ext uri="{FF2B5EF4-FFF2-40B4-BE49-F238E27FC236}">
                <a16:creationId xmlns:a16="http://schemas.microsoft.com/office/drawing/2014/main" id="{F42EFB20-C0F3-4174-94EA-732C722EAFC3}"/>
              </a:ext>
            </a:extLst>
          </p:cNvPr>
          <p:cNvPicPr>
            <a:picLocks noChangeAspect="1"/>
          </p:cNvPicPr>
          <p:nvPr/>
        </p:nvPicPr>
        <p:blipFill>
          <a:blip r:embed="rId5"/>
          <a:stretch>
            <a:fillRect/>
          </a:stretch>
        </p:blipFill>
        <p:spPr>
          <a:xfrm>
            <a:off x="7620001" y="4191000"/>
            <a:ext cx="1447800" cy="1088170"/>
          </a:xfrm>
          <a:prstGeom prst="rect">
            <a:avLst/>
          </a:prstGeom>
        </p:spPr>
      </p:pic>
    </p:spTree>
    <p:extLst>
      <p:ext uri="{BB962C8B-B14F-4D97-AF65-F5344CB8AC3E}">
        <p14:creationId xmlns:p14="http://schemas.microsoft.com/office/powerpoint/2010/main" val="318975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F059C6-86EA-4FC2-8647-85400DA6149C}"/>
              </a:ext>
            </a:extLst>
          </p:cNvPr>
          <p:cNvSpPr>
            <a:spLocks noGrp="1"/>
          </p:cNvSpPr>
          <p:nvPr>
            <p:ph type="sldNum" sz="quarter" idx="12"/>
          </p:nvPr>
        </p:nvSpPr>
        <p:spPr/>
        <p:txBody>
          <a:bodyPr/>
          <a:lstStyle/>
          <a:p>
            <a:fld id="{122D24B2-5D52-46F7-B915-67CABB3AD0CF}" type="slidenum">
              <a:rPr lang="en-US" smtClean="0"/>
              <a:pPr/>
              <a:t>7</a:t>
            </a:fld>
            <a:endParaRPr lang="en-US" dirty="0"/>
          </a:p>
        </p:txBody>
      </p:sp>
      <p:sp>
        <p:nvSpPr>
          <p:cNvPr id="3" name="Text Placeholder 2">
            <a:extLst>
              <a:ext uri="{FF2B5EF4-FFF2-40B4-BE49-F238E27FC236}">
                <a16:creationId xmlns:a16="http://schemas.microsoft.com/office/drawing/2014/main" id="{B89F14EC-F8AD-41C8-8F4D-DFC67DD7C95D}"/>
              </a:ext>
            </a:extLst>
          </p:cNvPr>
          <p:cNvSpPr>
            <a:spLocks noGrp="1"/>
          </p:cNvSpPr>
          <p:nvPr>
            <p:ph type="body" sz="quarter" idx="13"/>
          </p:nvPr>
        </p:nvSpPr>
        <p:spPr>
          <a:xfrm>
            <a:off x="209550" y="1702913"/>
            <a:ext cx="8724900" cy="4157662"/>
          </a:xfrm>
        </p:spPr>
        <p:txBody>
          <a:bodyPr/>
          <a:lstStyle/>
          <a:p>
            <a:r>
              <a:rPr lang="en-US" sz="1800" dirty="0">
                <a:effectLst/>
              </a:rPr>
              <a:t>Onshore wind comprises any wind installation that is installed on land, as opposed to offshore wind, which is installed in bodies of water adjacent to land</a:t>
            </a:r>
          </a:p>
          <a:p>
            <a:r>
              <a:rPr lang="en-US" sz="1800" dirty="0">
                <a:effectLst/>
              </a:rPr>
              <a:t>Offshore wind installations currently require shallow depths, on the order of 30 m (100 ft) or less, so that the tower can be sunk directly into the sea floor below the surface.</a:t>
            </a:r>
          </a:p>
          <a:p>
            <a:r>
              <a:rPr lang="en-CA" sz="1800" dirty="0"/>
              <a:t>In offshore installation larger components are used (unlike </a:t>
            </a:r>
            <a:r>
              <a:rPr lang="en-US" sz="1800" dirty="0"/>
              <a:t>onshore sites, where road widths and other factors limit the maximum size of components)</a:t>
            </a:r>
            <a:endParaRPr lang="en-CA" sz="1800" dirty="0"/>
          </a:p>
        </p:txBody>
      </p:sp>
      <p:sp>
        <p:nvSpPr>
          <p:cNvPr id="4" name="Title 3">
            <a:extLst>
              <a:ext uri="{FF2B5EF4-FFF2-40B4-BE49-F238E27FC236}">
                <a16:creationId xmlns:a16="http://schemas.microsoft.com/office/drawing/2014/main" id="{AE1CF297-68D8-448F-A669-FDAEA88539F9}"/>
              </a:ext>
            </a:extLst>
          </p:cNvPr>
          <p:cNvSpPr>
            <a:spLocks noGrp="1"/>
          </p:cNvSpPr>
          <p:nvPr>
            <p:ph type="title"/>
          </p:nvPr>
        </p:nvSpPr>
        <p:spPr/>
        <p:txBody>
          <a:bodyPr/>
          <a:lstStyle/>
          <a:p>
            <a:r>
              <a:rPr lang="en-CA" dirty="0">
                <a:effectLst/>
              </a:rPr>
              <a:t>Onshore and Offshore Wind</a:t>
            </a:r>
            <a:br>
              <a:rPr lang="en-CA" dirty="0">
                <a:effectLst/>
              </a:rPr>
            </a:br>
            <a:endParaRPr lang="en-CA" dirty="0"/>
          </a:p>
        </p:txBody>
      </p:sp>
      <p:pic>
        <p:nvPicPr>
          <p:cNvPr id="6" name="Picture 5" descr="A picture containing water, outdoor, sky, boat&#10;&#10;Description automatically generated">
            <a:extLst>
              <a:ext uri="{FF2B5EF4-FFF2-40B4-BE49-F238E27FC236}">
                <a16:creationId xmlns:a16="http://schemas.microsoft.com/office/drawing/2014/main" id="{65250188-23BD-432F-874D-7B51FA6535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1233" y="3967727"/>
            <a:ext cx="3524250" cy="2114550"/>
          </a:xfrm>
          <a:prstGeom prst="rect">
            <a:avLst/>
          </a:prstGeom>
        </p:spPr>
      </p:pic>
      <p:sp>
        <p:nvSpPr>
          <p:cNvPr id="8" name="TextBox 7">
            <a:extLst>
              <a:ext uri="{FF2B5EF4-FFF2-40B4-BE49-F238E27FC236}">
                <a16:creationId xmlns:a16="http://schemas.microsoft.com/office/drawing/2014/main" id="{4366C2E2-6666-46E3-B5F0-2FD6D81C0547}"/>
              </a:ext>
            </a:extLst>
          </p:cNvPr>
          <p:cNvSpPr txBox="1"/>
          <p:nvPr/>
        </p:nvSpPr>
        <p:spPr>
          <a:xfrm>
            <a:off x="4876800" y="6408721"/>
            <a:ext cx="4581426" cy="200055"/>
          </a:xfrm>
          <a:prstGeom prst="rect">
            <a:avLst/>
          </a:prstGeom>
          <a:noFill/>
        </p:spPr>
        <p:txBody>
          <a:bodyPr wrap="square">
            <a:spAutoFit/>
          </a:bodyPr>
          <a:lstStyle/>
          <a:p>
            <a:r>
              <a:rPr lang="en-CA" sz="700" dirty="0">
                <a:solidFill>
                  <a:schemeClr val="bg1"/>
                </a:solidFill>
                <a:hlinkClick r:id="rId3"/>
              </a:rPr>
              <a:t>https://www.siemensgamesa.com/explore/journal/2021/03/siemens-gamesa-windeurope-offshore-onshore</a:t>
            </a:r>
            <a:r>
              <a:rPr lang="en-CA" sz="700" dirty="0">
                <a:solidFill>
                  <a:schemeClr val="bg1"/>
                </a:solidFill>
              </a:rPr>
              <a:t> </a:t>
            </a:r>
          </a:p>
        </p:txBody>
      </p:sp>
      <p:sp>
        <p:nvSpPr>
          <p:cNvPr id="10" name="TextBox 9">
            <a:extLst>
              <a:ext uri="{FF2B5EF4-FFF2-40B4-BE49-F238E27FC236}">
                <a16:creationId xmlns:a16="http://schemas.microsoft.com/office/drawing/2014/main" id="{7F3D6145-ADBE-4D4E-AB2C-110C9FDDCEF6}"/>
              </a:ext>
            </a:extLst>
          </p:cNvPr>
          <p:cNvSpPr txBox="1"/>
          <p:nvPr/>
        </p:nvSpPr>
        <p:spPr>
          <a:xfrm>
            <a:off x="184412" y="3867446"/>
            <a:ext cx="4732256" cy="923330"/>
          </a:xfrm>
          <a:prstGeom prst="rect">
            <a:avLst/>
          </a:prstGeom>
        </p:spPr>
        <p:txBody>
          <a:bodyPr/>
          <a:lstStyle>
            <a:lvl1pPr marL="463550" indent="-463550">
              <a:spcBef>
                <a:spcPct val="20000"/>
              </a:spcBef>
              <a:buClr>
                <a:schemeClr val="accent3"/>
              </a:buClr>
              <a:buSzPct val="95000"/>
              <a:buFont typeface="Wingdings" panose="05000000000000000000" pitchFamily="2" charset="2"/>
              <a:buChar char="q"/>
              <a:defRPr kumimoji="0">
                <a:solidFill>
                  <a:schemeClr val="bg1"/>
                </a:solidFill>
                <a:effectLst/>
                <a:latin typeface="Arial" panose="020B0604020202020204" pitchFamily="34" charset="0"/>
                <a:ea typeface="Verdana" panose="020B0604030504040204" pitchFamily="34" charset="0"/>
                <a:cs typeface="Arial" panose="020B0604020202020204" pitchFamily="34" charset="0"/>
              </a:defRPr>
            </a:lvl1pPr>
            <a:lvl2pPr marL="640080" indent="-246888">
              <a:spcBef>
                <a:spcPct val="20000"/>
              </a:spcBef>
              <a:buClr>
                <a:schemeClr val="accent1"/>
              </a:buClr>
              <a:buSzPct val="85000"/>
              <a:buFont typeface="Wingdings 2"/>
              <a:buChar char=""/>
              <a:defRPr kumimoji="0" sz="2400">
                <a:solidFill>
                  <a:srgbClr val="002060"/>
                </a:solidFill>
                <a:latin typeface="Arial" panose="020B0604020202020204" pitchFamily="34" charset="0"/>
                <a:ea typeface="Verdana" panose="020B0604030504040204" pitchFamily="34" charset="0"/>
                <a:cs typeface="Arial" panose="020B0604020202020204" pitchFamily="34" charset="0"/>
              </a:defRPr>
            </a:lvl2pPr>
            <a:lvl3pPr indent="-246888">
              <a:spcBef>
                <a:spcPct val="20000"/>
              </a:spcBef>
              <a:buClr>
                <a:schemeClr val="accent2"/>
              </a:buClr>
              <a:buSzPct val="70000"/>
              <a:buFont typeface="Wingdings 2"/>
              <a:buChar char=""/>
              <a:defRPr kumimoji="0" sz="2100">
                <a:solidFill>
                  <a:srgbClr val="002060"/>
                </a:solidFill>
                <a:latin typeface="Arial" panose="020B0604020202020204" pitchFamily="34" charset="0"/>
                <a:ea typeface="Verdana" panose="020B0604030504040204" pitchFamily="34" charset="0"/>
                <a:cs typeface="Arial" panose="020B0604020202020204" pitchFamily="34" charset="0"/>
              </a:defRPr>
            </a:lvl3pPr>
            <a:lvl4pPr marL="1188720" indent="-210312">
              <a:spcBef>
                <a:spcPct val="20000"/>
              </a:spcBef>
              <a:buClr>
                <a:schemeClr val="accent3"/>
              </a:buClr>
              <a:buSzPct val="65000"/>
              <a:buFont typeface="Wingdings 2"/>
              <a:buChar char=""/>
              <a:defRPr kumimoji="0" sz="2000">
                <a:solidFill>
                  <a:srgbClr val="002060"/>
                </a:solidFill>
                <a:latin typeface="Arial" panose="020B0604020202020204" pitchFamily="34" charset="0"/>
                <a:ea typeface="Verdana" panose="020B0604030504040204" pitchFamily="34" charset="0"/>
                <a:cs typeface="Arial" panose="020B0604020202020204" pitchFamily="34" charset="0"/>
              </a:defRPr>
            </a:lvl4pPr>
            <a:lvl5pPr marL="1463040" indent="-210312">
              <a:spcBef>
                <a:spcPct val="20000"/>
              </a:spcBef>
              <a:buClr>
                <a:schemeClr val="accent4"/>
              </a:buClr>
              <a:buSzPct val="65000"/>
              <a:buFont typeface="Wingdings 2"/>
              <a:buChar char=""/>
              <a:defRPr kumimoji="0" sz="2000">
                <a:solidFill>
                  <a:srgbClr val="002060"/>
                </a:solidFill>
                <a:latin typeface="Arial" panose="020B0604020202020204" pitchFamily="34" charset="0"/>
                <a:ea typeface="Verdana" panose="020B0604030504040204" pitchFamily="34" charset="0"/>
                <a:cs typeface="Arial" panose="020B0604020202020204" pitchFamily="34" charset="0"/>
              </a:defRPr>
            </a:lvl5pPr>
            <a:lvl6pPr marL="1737360" indent="-210312">
              <a:spcBef>
                <a:spcPct val="20000"/>
              </a:spcBef>
              <a:buClr>
                <a:schemeClr val="accent5"/>
              </a:buClr>
              <a:buSzPct val="80000"/>
              <a:buFont typeface="Wingdings 2"/>
              <a:buChar char=""/>
              <a:defRPr kumimoji="0"/>
            </a:lvl6pPr>
            <a:lvl7pPr marL="1920240" indent="-182880">
              <a:spcBef>
                <a:spcPct val="20000"/>
              </a:spcBef>
              <a:buClr>
                <a:schemeClr val="accent6"/>
              </a:buClr>
              <a:buSzPct val="80000"/>
              <a:buFont typeface="Wingdings 2"/>
              <a:buChar char=""/>
              <a:defRPr kumimoji="0" sz="1600" baseline="0"/>
            </a:lvl7pPr>
            <a:lvl8pPr marL="2194560" indent="-182880">
              <a:spcBef>
                <a:spcPct val="20000"/>
              </a:spcBef>
              <a:buClr>
                <a:schemeClr val="tx2"/>
              </a:buClr>
              <a:buChar char="•"/>
              <a:defRPr kumimoji="0" sz="1600"/>
            </a:lvl8pPr>
            <a:lvl9pPr marL="2468880" indent="-182880">
              <a:spcBef>
                <a:spcPct val="20000"/>
              </a:spcBef>
              <a:buClr>
                <a:schemeClr val="tx2"/>
              </a:buClr>
              <a:buFontTx/>
              <a:buChar char="•"/>
              <a:defRPr kumimoji="0" sz="1400" baseline="0"/>
            </a:lvl9pPr>
          </a:lstStyle>
          <a:p>
            <a:r>
              <a:rPr lang="en-US" dirty="0"/>
              <a:t>Maximum size offshore turbines have therefore reached 5 and 6 MW, and may eventually grow to 10 MW</a:t>
            </a:r>
          </a:p>
          <a:p>
            <a:r>
              <a:rPr lang="en-US" dirty="0">
                <a:effectLst/>
              </a:rPr>
              <a:t>“Floating” turbine designs the tower rests on a submerged but buoyant platform that is in turn tethered to the sea floor using an anchoring system (albeit at a cost premium beyond the non-floating offshore technology).</a:t>
            </a:r>
          </a:p>
          <a:p>
            <a:endParaRPr lang="en-US" dirty="0"/>
          </a:p>
        </p:txBody>
      </p:sp>
    </p:spTree>
    <p:extLst>
      <p:ext uri="{BB962C8B-B14F-4D97-AF65-F5344CB8AC3E}">
        <p14:creationId xmlns:p14="http://schemas.microsoft.com/office/powerpoint/2010/main" val="197659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B31518-9F19-4C49-98A9-24A498AF098B}"/>
              </a:ext>
            </a:extLst>
          </p:cNvPr>
          <p:cNvSpPr>
            <a:spLocks noGrp="1"/>
          </p:cNvSpPr>
          <p:nvPr>
            <p:ph type="sldNum" sz="quarter" idx="12"/>
          </p:nvPr>
        </p:nvSpPr>
        <p:spPr/>
        <p:txBody>
          <a:bodyPr/>
          <a:lstStyle/>
          <a:p>
            <a:fld id="{122D24B2-5D52-46F7-B915-67CABB3AD0CF}" type="slidenum">
              <a:rPr lang="en-US" smtClean="0"/>
              <a:pPr/>
              <a:t>8</a:t>
            </a:fld>
            <a:endParaRPr lang="en-US" dirty="0"/>
          </a:p>
        </p:txBody>
      </p:sp>
      <p:sp>
        <p:nvSpPr>
          <p:cNvPr id="4" name="Title 3">
            <a:extLst>
              <a:ext uri="{FF2B5EF4-FFF2-40B4-BE49-F238E27FC236}">
                <a16:creationId xmlns:a16="http://schemas.microsoft.com/office/drawing/2014/main" id="{D259598C-F282-4C12-BD6F-2A288723930E}"/>
              </a:ext>
            </a:extLst>
          </p:cNvPr>
          <p:cNvSpPr>
            <a:spLocks noGrp="1"/>
          </p:cNvSpPr>
          <p:nvPr>
            <p:ph type="title"/>
          </p:nvPr>
        </p:nvSpPr>
        <p:spPr>
          <a:xfrm>
            <a:off x="381000" y="854434"/>
            <a:ext cx="7810500" cy="979250"/>
          </a:xfrm>
        </p:spPr>
        <p:txBody>
          <a:bodyPr/>
          <a:lstStyle/>
          <a:p>
            <a:r>
              <a:rPr lang="en-CA" dirty="0"/>
              <a:t>Wind Resource and Wind Resource Models</a:t>
            </a:r>
          </a:p>
        </p:txBody>
      </p:sp>
      <p:pic>
        <p:nvPicPr>
          <p:cNvPr id="6" name="Picture 5">
            <a:extLst>
              <a:ext uri="{FF2B5EF4-FFF2-40B4-BE49-F238E27FC236}">
                <a16:creationId xmlns:a16="http://schemas.microsoft.com/office/drawing/2014/main" id="{E2A5CCF5-736A-48B1-A339-34F8C557278D}"/>
              </a:ext>
            </a:extLst>
          </p:cNvPr>
          <p:cNvPicPr>
            <a:picLocks noChangeAspect="1"/>
          </p:cNvPicPr>
          <p:nvPr/>
        </p:nvPicPr>
        <p:blipFill>
          <a:blip r:embed="rId2"/>
          <a:stretch>
            <a:fillRect/>
          </a:stretch>
        </p:blipFill>
        <p:spPr>
          <a:xfrm>
            <a:off x="681087" y="2016171"/>
            <a:ext cx="5153025" cy="3608415"/>
          </a:xfrm>
          <a:prstGeom prst="rect">
            <a:avLst/>
          </a:prstGeom>
        </p:spPr>
      </p:pic>
      <p:pic>
        <p:nvPicPr>
          <p:cNvPr id="8" name="Picture 7">
            <a:extLst>
              <a:ext uri="{FF2B5EF4-FFF2-40B4-BE49-F238E27FC236}">
                <a16:creationId xmlns:a16="http://schemas.microsoft.com/office/drawing/2014/main" id="{CC30DB90-3837-42EB-970C-17C4230238AC}"/>
              </a:ext>
            </a:extLst>
          </p:cNvPr>
          <p:cNvPicPr>
            <a:picLocks noChangeAspect="1"/>
          </p:cNvPicPr>
          <p:nvPr/>
        </p:nvPicPr>
        <p:blipFill rotWithShape="1">
          <a:blip r:embed="rId3"/>
          <a:srcRect t="49068"/>
          <a:stretch/>
        </p:blipFill>
        <p:spPr>
          <a:xfrm>
            <a:off x="-27495" y="5637941"/>
            <a:ext cx="9144000" cy="549275"/>
          </a:xfrm>
          <a:prstGeom prst="rect">
            <a:avLst/>
          </a:prstGeom>
        </p:spPr>
      </p:pic>
      <p:pic>
        <p:nvPicPr>
          <p:cNvPr id="10" name="Picture 9">
            <a:extLst>
              <a:ext uri="{FF2B5EF4-FFF2-40B4-BE49-F238E27FC236}">
                <a16:creationId xmlns:a16="http://schemas.microsoft.com/office/drawing/2014/main" id="{DF83DA7B-3C20-406E-AF9B-6845716CF5FD}"/>
              </a:ext>
            </a:extLst>
          </p:cNvPr>
          <p:cNvPicPr>
            <a:picLocks noChangeAspect="1"/>
          </p:cNvPicPr>
          <p:nvPr/>
        </p:nvPicPr>
        <p:blipFill>
          <a:blip r:embed="rId4"/>
          <a:stretch>
            <a:fillRect/>
          </a:stretch>
        </p:blipFill>
        <p:spPr>
          <a:xfrm>
            <a:off x="5839611" y="3124200"/>
            <a:ext cx="2581275" cy="933450"/>
          </a:xfrm>
          <a:prstGeom prst="rect">
            <a:avLst/>
          </a:prstGeom>
        </p:spPr>
      </p:pic>
    </p:spTree>
    <p:extLst>
      <p:ext uri="{BB962C8B-B14F-4D97-AF65-F5344CB8AC3E}">
        <p14:creationId xmlns:p14="http://schemas.microsoft.com/office/powerpoint/2010/main" val="300045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1B1CF3-0698-4ADB-B8CA-81079EE168C1}"/>
              </a:ext>
            </a:extLst>
          </p:cNvPr>
          <p:cNvSpPr>
            <a:spLocks noGrp="1"/>
          </p:cNvSpPr>
          <p:nvPr>
            <p:ph type="sldNum" sz="quarter" idx="12"/>
          </p:nvPr>
        </p:nvSpPr>
        <p:spPr/>
        <p:txBody>
          <a:bodyPr/>
          <a:lstStyle/>
          <a:p>
            <a:fld id="{122D24B2-5D52-46F7-B915-67CABB3AD0CF}" type="slidenum">
              <a:rPr lang="en-US" smtClean="0"/>
              <a:pPr/>
              <a:t>9</a:t>
            </a:fld>
            <a:endParaRPr lang="en-US" dirty="0"/>
          </a:p>
        </p:txBody>
      </p:sp>
      <p:sp>
        <p:nvSpPr>
          <p:cNvPr id="4" name="Title 3">
            <a:extLst>
              <a:ext uri="{FF2B5EF4-FFF2-40B4-BE49-F238E27FC236}">
                <a16:creationId xmlns:a16="http://schemas.microsoft.com/office/drawing/2014/main" id="{BD89F977-D6D5-4544-A775-3345A05A44CF}"/>
              </a:ext>
            </a:extLst>
          </p:cNvPr>
          <p:cNvSpPr>
            <a:spLocks noGrp="1"/>
          </p:cNvSpPr>
          <p:nvPr>
            <p:ph type="title"/>
          </p:nvPr>
        </p:nvSpPr>
        <p:spPr>
          <a:xfrm>
            <a:off x="582105" y="762000"/>
            <a:ext cx="7810500" cy="979250"/>
          </a:xfrm>
        </p:spPr>
        <p:txBody>
          <a:bodyPr/>
          <a:lstStyle/>
          <a:p>
            <a:r>
              <a:rPr lang="en-CA" dirty="0">
                <a:effectLst/>
              </a:rPr>
              <a:t>Statistical Distributions to Approximate Available Energy</a:t>
            </a:r>
            <a:br>
              <a:rPr lang="en-CA" dirty="0">
                <a:effectLst/>
              </a:rPr>
            </a:br>
            <a:endParaRPr lang="en-CA" dirty="0"/>
          </a:p>
        </p:txBody>
      </p:sp>
      <p:sp>
        <p:nvSpPr>
          <p:cNvPr id="8" name="TextBox 7">
            <a:extLst>
              <a:ext uri="{FF2B5EF4-FFF2-40B4-BE49-F238E27FC236}">
                <a16:creationId xmlns:a16="http://schemas.microsoft.com/office/drawing/2014/main" id="{C82EF107-96E9-42FD-9B2F-594AB4C476D8}"/>
              </a:ext>
            </a:extLst>
          </p:cNvPr>
          <p:cNvSpPr txBox="1"/>
          <p:nvPr/>
        </p:nvSpPr>
        <p:spPr>
          <a:xfrm>
            <a:off x="194822" y="1998274"/>
            <a:ext cx="8915399" cy="3139321"/>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effectLst/>
              </a:rPr>
              <a:t>The distribution of wind speeds in bins provides a solid basis for calculating available energy at this site. However, suppose we only knew U</a:t>
            </a:r>
            <a:r>
              <a:rPr lang="en-US" baseline="-25000" dirty="0">
                <a:solidFill>
                  <a:schemeClr val="bg1"/>
                </a:solidFill>
                <a:effectLst/>
              </a:rPr>
              <a:t>average</a:t>
            </a:r>
            <a:r>
              <a:rPr lang="en-US" dirty="0">
                <a:solidFill>
                  <a:schemeClr val="bg1"/>
                </a:solidFill>
                <a:effectLst/>
              </a:rPr>
              <a:t> = 5.57 m/s, and did not have the hourly bin data for the year. Observations have shown that in many locations, if the average wind speed is known, the probability of the wind speed being in a given range can be predicted using the Weibull distributions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A special case of Weibull distribution with k=2 is called Rayleigh distribution and used to find the probability of wind speed below a certain wind speed of </a:t>
            </a:r>
            <a:r>
              <a:rPr lang="en-US" i="1" dirty="0">
                <a:solidFill>
                  <a:schemeClr val="bg1"/>
                </a:solidFill>
              </a:rPr>
              <a:t>u</a:t>
            </a:r>
            <a:endParaRPr lang="en-US" i="1" dirty="0">
              <a:solidFill>
                <a:schemeClr val="bg1"/>
              </a:solidFill>
              <a:effectLst/>
            </a:endParaRPr>
          </a:p>
        </p:txBody>
      </p:sp>
      <p:pic>
        <p:nvPicPr>
          <p:cNvPr id="10" name="Picture 9">
            <a:extLst>
              <a:ext uri="{FF2B5EF4-FFF2-40B4-BE49-F238E27FC236}">
                <a16:creationId xmlns:a16="http://schemas.microsoft.com/office/drawing/2014/main" id="{A0CCEF15-1430-403E-BFF5-8B69CC64B3CB}"/>
              </a:ext>
            </a:extLst>
          </p:cNvPr>
          <p:cNvPicPr>
            <a:picLocks noChangeAspect="1"/>
          </p:cNvPicPr>
          <p:nvPr/>
        </p:nvPicPr>
        <p:blipFill rotWithShape="1">
          <a:blip r:embed="rId2"/>
          <a:srcRect l="39794" t="49999" r="10206" b="4594"/>
          <a:stretch/>
        </p:blipFill>
        <p:spPr>
          <a:xfrm>
            <a:off x="2438400" y="5394619"/>
            <a:ext cx="4572000" cy="457200"/>
          </a:xfrm>
          <a:prstGeom prst="rect">
            <a:avLst/>
          </a:prstGeom>
        </p:spPr>
      </p:pic>
      <p:pic>
        <p:nvPicPr>
          <p:cNvPr id="12" name="Picture 11">
            <a:extLst>
              <a:ext uri="{FF2B5EF4-FFF2-40B4-BE49-F238E27FC236}">
                <a16:creationId xmlns:a16="http://schemas.microsoft.com/office/drawing/2014/main" id="{6F6843DB-131B-41E4-8147-DE99B7259A63}"/>
              </a:ext>
            </a:extLst>
          </p:cNvPr>
          <p:cNvPicPr>
            <a:picLocks noChangeAspect="1"/>
          </p:cNvPicPr>
          <p:nvPr/>
        </p:nvPicPr>
        <p:blipFill rotWithShape="1">
          <a:blip r:embed="rId3"/>
          <a:srcRect r="24167" b="64270"/>
          <a:stretch/>
        </p:blipFill>
        <p:spPr>
          <a:xfrm>
            <a:off x="990600" y="3532512"/>
            <a:ext cx="6934200" cy="319444"/>
          </a:xfrm>
          <a:prstGeom prst="rect">
            <a:avLst/>
          </a:prstGeom>
        </p:spPr>
      </p:pic>
      <p:pic>
        <p:nvPicPr>
          <p:cNvPr id="13" name="Picture 12">
            <a:extLst>
              <a:ext uri="{FF2B5EF4-FFF2-40B4-BE49-F238E27FC236}">
                <a16:creationId xmlns:a16="http://schemas.microsoft.com/office/drawing/2014/main" id="{88E39C92-A14C-4CB5-9788-E2E8F17977FB}"/>
              </a:ext>
            </a:extLst>
          </p:cNvPr>
          <p:cNvPicPr>
            <a:picLocks noChangeAspect="1"/>
          </p:cNvPicPr>
          <p:nvPr/>
        </p:nvPicPr>
        <p:blipFill rotWithShape="1">
          <a:blip r:embed="rId3"/>
          <a:srcRect l="64631" t="38019"/>
          <a:stretch/>
        </p:blipFill>
        <p:spPr>
          <a:xfrm>
            <a:off x="2954910" y="3867667"/>
            <a:ext cx="3234179" cy="554140"/>
          </a:xfrm>
          <a:prstGeom prst="rect">
            <a:avLst/>
          </a:prstGeom>
        </p:spPr>
      </p:pic>
    </p:spTree>
    <p:extLst>
      <p:ext uri="{BB962C8B-B14F-4D97-AF65-F5344CB8AC3E}">
        <p14:creationId xmlns:p14="http://schemas.microsoft.com/office/powerpoint/2010/main" val="315018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4B503C-CBF8-4B8D-89C8-6E7B1125C71D}"/>
              </a:ext>
            </a:extLst>
          </p:cNvPr>
          <p:cNvSpPr>
            <a:spLocks noGrp="1"/>
          </p:cNvSpPr>
          <p:nvPr>
            <p:ph type="sldNum" sz="quarter" idx="12"/>
          </p:nvPr>
        </p:nvSpPr>
        <p:spPr/>
        <p:txBody>
          <a:bodyPr/>
          <a:lstStyle/>
          <a:p>
            <a:fld id="{122D24B2-5D52-46F7-B915-67CABB3AD0CF}" type="slidenum">
              <a:rPr lang="en-US" smtClean="0"/>
              <a:pPr/>
              <a:t>10</a:t>
            </a:fld>
            <a:endParaRPr lang="en-US" dirty="0"/>
          </a:p>
        </p:txBody>
      </p:sp>
      <p:sp>
        <p:nvSpPr>
          <p:cNvPr id="4" name="Title 3">
            <a:extLst>
              <a:ext uri="{FF2B5EF4-FFF2-40B4-BE49-F238E27FC236}">
                <a16:creationId xmlns:a16="http://schemas.microsoft.com/office/drawing/2014/main" id="{D1975ACC-D996-4906-8999-5BDE49B4D82D}"/>
              </a:ext>
            </a:extLst>
          </p:cNvPr>
          <p:cNvSpPr>
            <a:spLocks noGrp="1"/>
          </p:cNvSpPr>
          <p:nvPr>
            <p:ph type="title"/>
          </p:nvPr>
        </p:nvSpPr>
        <p:spPr/>
        <p:txBody>
          <a:bodyPr/>
          <a:lstStyle/>
          <a:p>
            <a:r>
              <a:rPr lang="en-CA" dirty="0"/>
              <a:t>Example</a:t>
            </a:r>
          </a:p>
        </p:txBody>
      </p:sp>
      <p:pic>
        <p:nvPicPr>
          <p:cNvPr id="6" name="Picture 5">
            <a:extLst>
              <a:ext uri="{FF2B5EF4-FFF2-40B4-BE49-F238E27FC236}">
                <a16:creationId xmlns:a16="http://schemas.microsoft.com/office/drawing/2014/main" id="{67AAB7A3-DF0B-4249-9E16-698F6EAF90FC}"/>
              </a:ext>
            </a:extLst>
          </p:cNvPr>
          <p:cNvPicPr>
            <a:picLocks noChangeAspect="1"/>
          </p:cNvPicPr>
          <p:nvPr/>
        </p:nvPicPr>
        <p:blipFill>
          <a:blip r:embed="rId2"/>
          <a:stretch>
            <a:fillRect/>
          </a:stretch>
        </p:blipFill>
        <p:spPr>
          <a:xfrm>
            <a:off x="4713" y="1846284"/>
            <a:ext cx="9144000" cy="1972115"/>
          </a:xfrm>
          <a:prstGeom prst="rect">
            <a:avLst/>
          </a:prstGeom>
        </p:spPr>
      </p:pic>
      <p:pic>
        <p:nvPicPr>
          <p:cNvPr id="7" name="Picture 6">
            <a:extLst>
              <a:ext uri="{FF2B5EF4-FFF2-40B4-BE49-F238E27FC236}">
                <a16:creationId xmlns:a16="http://schemas.microsoft.com/office/drawing/2014/main" id="{858A9435-45A0-4330-AF71-CA361BC0162D}"/>
              </a:ext>
            </a:extLst>
          </p:cNvPr>
          <p:cNvPicPr>
            <a:picLocks noChangeAspect="1"/>
          </p:cNvPicPr>
          <p:nvPr/>
        </p:nvPicPr>
        <p:blipFill>
          <a:blip r:embed="rId3"/>
          <a:stretch>
            <a:fillRect/>
          </a:stretch>
        </p:blipFill>
        <p:spPr>
          <a:xfrm>
            <a:off x="4419600" y="3699641"/>
            <a:ext cx="4520415" cy="3165429"/>
          </a:xfrm>
          <a:prstGeom prst="rect">
            <a:avLst/>
          </a:prstGeom>
        </p:spPr>
      </p:pic>
      <p:pic>
        <p:nvPicPr>
          <p:cNvPr id="8" name="Picture 7">
            <a:extLst>
              <a:ext uri="{FF2B5EF4-FFF2-40B4-BE49-F238E27FC236}">
                <a16:creationId xmlns:a16="http://schemas.microsoft.com/office/drawing/2014/main" id="{3558093D-2789-4D94-B8AC-39BE18FBD11F}"/>
              </a:ext>
            </a:extLst>
          </p:cNvPr>
          <p:cNvPicPr>
            <a:picLocks noChangeAspect="1"/>
          </p:cNvPicPr>
          <p:nvPr/>
        </p:nvPicPr>
        <p:blipFill rotWithShape="1">
          <a:blip r:embed="rId4"/>
          <a:srcRect l="43691" t="56123" r="10206" b="4594"/>
          <a:stretch/>
        </p:blipFill>
        <p:spPr>
          <a:xfrm>
            <a:off x="203984" y="4495800"/>
            <a:ext cx="4215615" cy="395532"/>
          </a:xfrm>
          <a:prstGeom prst="rect">
            <a:avLst/>
          </a:prstGeom>
        </p:spPr>
      </p:pic>
    </p:spTree>
    <p:extLst>
      <p:ext uri="{BB962C8B-B14F-4D97-AF65-F5344CB8AC3E}">
        <p14:creationId xmlns:p14="http://schemas.microsoft.com/office/powerpoint/2010/main" val="398163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2AE888-021A-437A-BC51-66FDD6B37C21}"/>
              </a:ext>
            </a:extLst>
          </p:cNvPr>
          <p:cNvSpPr>
            <a:spLocks noGrp="1"/>
          </p:cNvSpPr>
          <p:nvPr>
            <p:ph type="sldNum" sz="quarter" idx="12"/>
          </p:nvPr>
        </p:nvSpPr>
        <p:spPr/>
        <p:txBody>
          <a:bodyPr/>
          <a:lstStyle/>
          <a:p>
            <a:fld id="{122D24B2-5D52-46F7-B915-67CABB3AD0CF}" type="slidenum">
              <a:rPr lang="en-US" smtClean="0"/>
              <a:pPr/>
              <a:t>11</a:t>
            </a:fld>
            <a:endParaRPr lang="en-US" dirty="0"/>
          </a:p>
        </p:txBody>
      </p:sp>
      <p:sp>
        <p:nvSpPr>
          <p:cNvPr id="3" name="Text Placeholder 2">
            <a:extLst>
              <a:ext uri="{FF2B5EF4-FFF2-40B4-BE49-F238E27FC236}">
                <a16:creationId xmlns:a16="http://schemas.microsoft.com/office/drawing/2014/main" id="{51B113D8-71B5-4B16-A8AE-3BF0DB4AFD98}"/>
              </a:ext>
            </a:extLst>
          </p:cNvPr>
          <p:cNvSpPr>
            <a:spLocks noGrp="1"/>
          </p:cNvSpPr>
          <p:nvPr>
            <p:ph type="body" sz="quarter" idx="13"/>
          </p:nvPr>
        </p:nvSpPr>
        <p:spPr/>
        <p:txBody>
          <a:bodyPr/>
          <a:lstStyle/>
          <a:p>
            <a:r>
              <a:rPr lang="en-US" dirty="0">
                <a:effectLst/>
              </a:rPr>
              <a:t>The effect of height above the ground can be approximated by the following equation:</a:t>
            </a:r>
          </a:p>
          <a:p>
            <a:endParaRPr lang="en-US" dirty="0">
              <a:effectLst/>
            </a:endParaRPr>
          </a:p>
          <a:p>
            <a:endParaRPr lang="en-US" dirty="0"/>
          </a:p>
          <a:p>
            <a:endParaRPr lang="en-US" dirty="0">
              <a:effectLst/>
            </a:endParaRPr>
          </a:p>
          <a:p>
            <a:r>
              <a:rPr lang="en-US" dirty="0">
                <a:effectLst/>
              </a:rPr>
              <a:t>z is the height above the ground, z</a:t>
            </a:r>
            <a:r>
              <a:rPr lang="en-US" baseline="-25000" dirty="0">
                <a:effectLst/>
              </a:rPr>
              <a:t>r</a:t>
            </a:r>
            <a:r>
              <a:rPr lang="en-US" dirty="0">
                <a:effectLst/>
              </a:rPr>
              <a:t> is some reference height above the ground for which wind speed is known, U(z) is the wind speed as a function of height</a:t>
            </a:r>
          </a:p>
          <a:p>
            <a:r>
              <a:rPr lang="en-US" dirty="0">
                <a:effectLst/>
              </a:rPr>
              <a:t>α is the wind shear coefficient. A typical value of the wind shear in flat locations might be α = 0.2. </a:t>
            </a:r>
          </a:p>
          <a:p>
            <a:endParaRPr lang="en-CA" dirty="0"/>
          </a:p>
        </p:txBody>
      </p:sp>
      <p:sp>
        <p:nvSpPr>
          <p:cNvPr id="4" name="Title 3">
            <a:extLst>
              <a:ext uri="{FF2B5EF4-FFF2-40B4-BE49-F238E27FC236}">
                <a16:creationId xmlns:a16="http://schemas.microsoft.com/office/drawing/2014/main" id="{AFD793E8-0E43-4FEB-B9D9-CF76AA5D116B}"/>
              </a:ext>
            </a:extLst>
          </p:cNvPr>
          <p:cNvSpPr>
            <a:spLocks noGrp="1"/>
          </p:cNvSpPr>
          <p:nvPr>
            <p:ph type="title"/>
          </p:nvPr>
        </p:nvSpPr>
        <p:spPr/>
        <p:txBody>
          <a:bodyPr/>
          <a:lstStyle/>
          <a:p>
            <a:r>
              <a:rPr lang="en-CA" dirty="0"/>
              <a:t>Wind Speed vs. Height</a:t>
            </a:r>
          </a:p>
        </p:txBody>
      </p:sp>
      <p:pic>
        <p:nvPicPr>
          <p:cNvPr id="6" name="Picture 5">
            <a:extLst>
              <a:ext uri="{FF2B5EF4-FFF2-40B4-BE49-F238E27FC236}">
                <a16:creationId xmlns:a16="http://schemas.microsoft.com/office/drawing/2014/main" id="{2C3528EF-3D41-4568-83BA-CEAC9EB9BF19}"/>
              </a:ext>
            </a:extLst>
          </p:cNvPr>
          <p:cNvPicPr>
            <a:picLocks noChangeAspect="1"/>
          </p:cNvPicPr>
          <p:nvPr/>
        </p:nvPicPr>
        <p:blipFill>
          <a:blip r:embed="rId2"/>
          <a:stretch>
            <a:fillRect/>
          </a:stretch>
        </p:blipFill>
        <p:spPr>
          <a:xfrm>
            <a:off x="3519487" y="2938462"/>
            <a:ext cx="2105025" cy="981075"/>
          </a:xfrm>
          <a:prstGeom prst="rect">
            <a:avLst/>
          </a:prstGeom>
        </p:spPr>
      </p:pic>
    </p:spTree>
    <p:extLst>
      <p:ext uri="{BB962C8B-B14F-4D97-AF65-F5344CB8AC3E}">
        <p14:creationId xmlns:p14="http://schemas.microsoft.com/office/powerpoint/2010/main" val="3666923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41A96D-31C9-422A-8375-1DD59AA29257}"/>
              </a:ext>
            </a:extLst>
          </p:cNvPr>
          <p:cNvSpPr>
            <a:spLocks noGrp="1"/>
          </p:cNvSpPr>
          <p:nvPr>
            <p:ph type="sldNum" sz="quarter" idx="12"/>
          </p:nvPr>
        </p:nvSpPr>
        <p:spPr/>
        <p:txBody>
          <a:bodyPr/>
          <a:lstStyle/>
          <a:p>
            <a:fld id="{122D24B2-5D52-46F7-B915-67CABB3AD0CF}" type="slidenum">
              <a:rPr lang="en-US" smtClean="0"/>
              <a:pPr/>
              <a:t>12</a:t>
            </a:fld>
            <a:endParaRPr lang="en-US" dirty="0"/>
          </a:p>
        </p:txBody>
      </p:sp>
      <p:sp>
        <p:nvSpPr>
          <p:cNvPr id="4" name="Title 3">
            <a:extLst>
              <a:ext uri="{FF2B5EF4-FFF2-40B4-BE49-F238E27FC236}">
                <a16:creationId xmlns:a16="http://schemas.microsoft.com/office/drawing/2014/main" id="{A48BA257-B41A-4FC9-A83C-0AB86093DB1B}"/>
              </a:ext>
            </a:extLst>
          </p:cNvPr>
          <p:cNvSpPr>
            <a:spLocks noGrp="1"/>
          </p:cNvSpPr>
          <p:nvPr>
            <p:ph type="title"/>
          </p:nvPr>
        </p:nvSpPr>
        <p:spPr/>
        <p:txBody>
          <a:bodyPr/>
          <a:lstStyle/>
          <a:p>
            <a:r>
              <a:rPr lang="en-CA" dirty="0"/>
              <a:t>Wind Power Potential</a:t>
            </a:r>
          </a:p>
        </p:txBody>
      </p:sp>
      <p:sp>
        <p:nvSpPr>
          <p:cNvPr id="6" name="2 İçerik Yer Tutucusu">
            <a:extLst>
              <a:ext uri="{FF2B5EF4-FFF2-40B4-BE49-F238E27FC236}">
                <a16:creationId xmlns:a16="http://schemas.microsoft.com/office/drawing/2014/main" id="{E31DF883-D9BC-4BF2-B827-F374081B198B}"/>
              </a:ext>
            </a:extLst>
          </p:cNvPr>
          <p:cNvSpPr txBox="1">
            <a:spLocks/>
          </p:cNvSpPr>
          <p:nvPr/>
        </p:nvSpPr>
        <p:spPr>
          <a:xfrm>
            <a:off x="312656" y="1905000"/>
            <a:ext cx="8374144" cy="838200"/>
          </a:xfrm>
        </p:spPr>
        <p:txBody>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Tx/>
              <a:buNone/>
            </a:pPr>
            <a:r>
              <a:rPr lang="tr-TR" sz="2200" b="1" dirty="0">
                <a:solidFill>
                  <a:srgbClr val="C00000"/>
                </a:solidFill>
                <a:latin typeface="Calibri" pitchFamily="34" charset="0"/>
              </a:rPr>
              <a:t>M</a:t>
            </a:r>
            <a:r>
              <a:rPr lang="en-US" sz="2200" b="1" dirty="0">
                <a:solidFill>
                  <a:srgbClr val="C00000"/>
                </a:solidFill>
                <a:latin typeface="Calibri" pitchFamily="34" charset="0"/>
              </a:rPr>
              <a:t>echanical energy</a:t>
            </a:r>
            <a:r>
              <a:rPr lang="tr-TR" sz="2200" b="1" dirty="0">
                <a:solidFill>
                  <a:srgbClr val="C00000"/>
                </a:solidFill>
                <a:latin typeface="Calibri" pitchFamily="34" charset="0"/>
              </a:rPr>
              <a:t>:</a:t>
            </a:r>
            <a:r>
              <a:rPr lang="en-US" sz="2200" dirty="0">
                <a:solidFill>
                  <a:srgbClr val="CC00CC"/>
                </a:solidFill>
                <a:latin typeface="Calibri" pitchFamily="34" charset="0"/>
              </a:rPr>
              <a:t> </a:t>
            </a:r>
            <a:r>
              <a:rPr lang="tr-TR" sz="2200" dirty="0">
                <a:latin typeface="Calibri" pitchFamily="34" charset="0"/>
              </a:rPr>
              <a:t>T</a:t>
            </a:r>
            <a:r>
              <a:rPr lang="en-US" sz="2200" dirty="0">
                <a:latin typeface="Calibri" pitchFamily="34" charset="0"/>
              </a:rPr>
              <a:t>he form of energy that can be converted to mechanical work completely and directly by an ideal mechanical device such as an ideal turbine. </a:t>
            </a:r>
            <a:endParaRPr lang="tr-TR" sz="2200" dirty="0">
              <a:latin typeface="Calibri" pitchFamily="34" charset="0"/>
            </a:endParaRPr>
          </a:p>
        </p:txBody>
      </p:sp>
      <p:sp>
        <p:nvSpPr>
          <p:cNvPr id="7" name="8 İçerik Yer Tutucusu">
            <a:extLst>
              <a:ext uri="{FF2B5EF4-FFF2-40B4-BE49-F238E27FC236}">
                <a16:creationId xmlns:a16="http://schemas.microsoft.com/office/drawing/2014/main" id="{3C0EB075-780B-4BE9-9D7B-0982459B842D}"/>
              </a:ext>
            </a:extLst>
          </p:cNvPr>
          <p:cNvSpPr txBox="1">
            <a:spLocks/>
          </p:cNvSpPr>
          <p:nvPr/>
        </p:nvSpPr>
        <p:spPr>
          <a:xfrm>
            <a:off x="381000" y="4495800"/>
            <a:ext cx="8382000" cy="2057400"/>
          </a:xfrm>
        </p:spPr>
        <p:txBody>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Tx/>
              <a:buNone/>
            </a:pPr>
            <a:r>
              <a:rPr lang="tr-TR" sz="2200">
                <a:latin typeface="Calibri" pitchFamily="34" charset="0"/>
              </a:rPr>
              <a:t>T</a:t>
            </a:r>
            <a:r>
              <a:rPr lang="en-US" sz="2200">
                <a:latin typeface="Calibri" pitchFamily="34" charset="0"/>
              </a:rPr>
              <a:t>he pressures at the inlet and exit of a wind turbine are both equal to the atmospheric pressure and the elevation does not change across a wind turbine. </a:t>
            </a:r>
          </a:p>
          <a:p>
            <a:pPr marL="0" indent="0">
              <a:buFontTx/>
              <a:buNone/>
            </a:pPr>
            <a:r>
              <a:rPr lang="tr-TR" sz="2200">
                <a:latin typeface="Calibri" pitchFamily="34" charset="0"/>
              </a:rPr>
              <a:t>F</a:t>
            </a:r>
            <a:r>
              <a:rPr lang="en-US" sz="2200">
                <a:latin typeface="Calibri" pitchFamily="34" charset="0"/>
              </a:rPr>
              <a:t>low energy and potential energy do not change across a wind turbine. </a:t>
            </a:r>
            <a:endParaRPr lang="tr-TR" sz="2200">
              <a:latin typeface="Calibri" pitchFamily="34" charset="0"/>
            </a:endParaRPr>
          </a:p>
          <a:p>
            <a:pPr marL="0" indent="0">
              <a:buFontTx/>
              <a:buNone/>
            </a:pPr>
            <a:r>
              <a:rPr lang="en-US" sz="2200">
                <a:latin typeface="Calibri" pitchFamily="34" charset="0"/>
              </a:rPr>
              <a:t>A wind turbine converts the kinetic energy of the fluid into power.</a:t>
            </a:r>
            <a:endParaRPr lang="tr-TR" sz="2200">
              <a:latin typeface="Calibri" pitchFamily="34" charset="0"/>
            </a:endParaRPr>
          </a:p>
          <a:p>
            <a:pPr marL="0" indent="0">
              <a:buFontTx/>
              <a:buNone/>
            </a:pPr>
            <a:r>
              <a:rPr lang="en-US" sz="2200">
                <a:latin typeface="Calibri" pitchFamily="34" charset="0"/>
              </a:rPr>
              <a:t> </a:t>
            </a:r>
            <a:endParaRPr lang="tr-TR" sz="2200" dirty="0">
              <a:latin typeface="Calibri" pitchFamily="34" charset="0"/>
            </a:endParaRPr>
          </a:p>
        </p:txBody>
      </p:sp>
      <p:sp>
        <p:nvSpPr>
          <p:cNvPr id="8" name="7 Metin kutusu">
            <a:extLst>
              <a:ext uri="{FF2B5EF4-FFF2-40B4-BE49-F238E27FC236}">
                <a16:creationId xmlns:a16="http://schemas.microsoft.com/office/drawing/2014/main" id="{FC4B9C27-28EC-4E43-A37B-B8A5BEE72335}"/>
              </a:ext>
            </a:extLst>
          </p:cNvPr>
          <p:cNvSpPr txBox="1">
            <a:spLocks noChangeArrowheads="1"/>
          </p:cNvSpPr>
          <p:nvPr/>
        </p:nvSpPr>
        <p:spPr bwMode="auto">
          <a:xfrm>
            <a:off x="4435311" y="2903806"/>
            <a:ext cx="3886200" cy="1323439"/>
          </a:xfrm>
          <a:prstGeom prst="rect">
            <a:avLst/>
          </a:prstGeom>
          <a:solidFill>
            <a:schemeClr val="bg2">
              <a:lumMod val="40000"/>
              <a:lumOff val="60000"/>
            </a:schemeClr>
          </a:solidFill>
          <a:ln w="3175">
            <a:solidFill>
              <a:schemeClr val="tx1"/>
            </a:solidFill>
            <a:miter lim="800000"/>
            <a:headEnd/>
            <a:tailEnd/>
          </a:ln>
        </p:spPr>
        <p:txBody>
          <a:bodyPr wrap="square">
            <a:spAutoFit/>
          </a:bodyPr>
          <a:lstStyle/>
          <a:p>
            <a:pPr>
              <a:defRPr/>
            </a:pPr>
            <a:r>
              <a:rPr lang="en-US" sz="2000" dirty="0">
                <a:solidFill>
                  <a:srgbClr val="C00000"/>
                </a:solidFill>
                <a:latin typeface="Calibri" pitchFamily="34" charset="0"/>
              </a:rPr>
              <a:t>  </a:t>
            </a:r>
            <a:r>
              <a:rPr lang="en-US" sz="2000" i="1" dirty="0">
                <a:solidFill>
                  <a:srgbClr val="C00000"/>
                </a:solidFill>
                <a:latin typeface="Calibri" pitchFamily="34" charset="0"/>
              </a:rPr>
              <a:t>P</a:t>
            </a:r>
            <a:r>
              <a:rPr lang="en-US" sz="2000" dirty="0">
                <a:solidFill>
                  <a:srgbClr val="C00000"/>
                </a:solidFill>
                <a:latin typeface="Calibri" pitchFamily="34" charset="0"/>
              </a:rPr>
              <a:t>/</a:t>
            </a:r>
            <a:r>
              <a:rPr lang="el-GR" sz="2000" i="1" dirty="0">
                <a:solidFill>
                  <a:srgbClr val="C00000"/>
                </a:solidFill>
                <a:latin typeface="Calibri" pitchFamily="34" charset="0"/>
              </a:rPr>
              <a:t>ρ</a:t>
            </a:r>
            <a:r>
              <a:rPr lang="en-US" sz="2000" dirty="0">
                <a:solidFill>
                  <a:srgbClr val="C00000"/>
                </a:solidFill>
                <a:latin typeface="Calibri" pitchFamily="34" charset="0"/>
              </a:rPr>
              <a:t> </a:t>
            </a:r>
            <a:r>
              <a:rPr lang="en-US" sz="2000" b="0" dirty="0">
                <a:latin typeface="Calibri" pitchFamily="34" charset="0"/>
              </a:rPr>
              <a:t> </a:t>
            </a:r>
            <a:r>
              <a:rPr lang="tr-TR" sz="2000" b="0" dirty="0">
                <a:latin typeface="Calibri" pitchFamily="34" charset="0"/>
              </a:rPr>
              <a:t>	</a:t>
            </a:r>
            <a:r>
              <a:rPr lang="en-US" sz="2000" b="0" dirty="0">
                <a:latin typeface="Calibri" pitchFamily="34" charset="0"/>
              </a:rPr>
              <a:t>flow energy, </a:t>
            </a:r>
            <a:endParaRPr lang="tr-TR" sz="2000" b="0" dirty="0">
              <a:latin typeface="Calibri" pitchFamily="34" charset="0"/>
            </a:endParaRPr>
          </a:p>
          <a:p>
            <a:pPr>
              <a:defRPr/>
            </a:pPr>
            <a:r>
              <a:rPr lang="en-US" sz="2000" b="0" dirty="0">
                <a:latin typeface="Calibri" pitchFamily="34" charset="0"/>
              </a:rPr>
              <a:t> </a:t>
            </a:r>
            <a:r>
              <a:rPr lang="en-US" sz="2000" i="1" dirty="0">
                <a:solidFill>
                  <a:srgbClr val="C00000"/>
                </a:solidFill>
                <a:latin typeface="Calibri" pitchFamily="34" charset="0"/>
              </a:rPr>
              <a:t>V</a:t>
            </a:r>
            <a:r>
              <a:rPr lang="en-US" sz="2000" dirty="0">
                <a:solidFill>
                  <a:srgbClr val="C00000"/>
                </a:solidFill>
                <a:latin typeface="Calibri" pitchFamily="34" charset="0"/>
              </a:rPr>
              <a:t>²/2</a:t>
            </a:r>
            <a:r>
              <a:rPr lang="en-US" sz="2000" b="0" dirty="0">
                <a:latin typeface="Calibri" pitchFamily="34" charset="0"/>
              </a:rPr>
              <a:t> </a:t>
            </a:r>
            <a:r>
              <a:rPr lang="tr-TR" sz="2000" b="0" dirty="0">
                <a:latin typeface="Calibri" pitchFamily="34" charset="0"/>
              </a:rPr>
              <a:t>	</a:t>
            </a:r>
            <a:r>
              <a:rPr lang="en-US" sz="2000" b="0" dirty="0">
                <a:latin typeface="Calibri" pitchFamily="34" charset="0"/>
              </a:rPr>
              <a:t>kinetic energy</a:t>
            </a:r>
            <a:endParaRPr lang="tr-TR" sz="2000" b="0" dirty="0">
              <a:latin typeface="Calibri" pitchFamily="34" charset="0"/>
            </a:endParaRPr>
          </a:p>
          <a:p>
            <a:pPr>
              <a:defRPr/>
            </a:pPr>
            <a:r>
              <a:rPr lang="en-US" sz="2000" b="0" dirty="0">
                <a:latin typeface="Calibri" pitchFamily="34" charset="0"/>
              </a:rPr>
              <a:t>  </a:t>
            </a:r>
            <a:r>
              <a:rPr lang="tr-TR" sz="2000" i="1" dirty="0">
                <a:solidFill>
                  <a:srgbClr val="C00000"/>
                </a:solidFill>
                <a:latin typeface="Calibri" pitchFamily="34" charset="0"/>
              </a:rPr>
              <a:t>g</a:t>
            </a:r>
            <a:r>
              <a:rPr lang="en-US" sz="2000" i="1" dirty="0">
                <a:solidFill>
                  <a:srgbClr val="C00000"/>
                </a:solidFill>
                <a:latin typeface="Calibri" pitchFamily="34" charset="0"/>
              </a:rPr>
              <a:t>z</a:t>
            </a:r>
            <a:r>
              <a:rPr lang="en-US" sz="2000" b="0" dirty="0">
                <a:latin typeface="Calibri" pitchFamily="34" charset="0"/>
              </a:rPr>
              <a:t>  </a:t>
            </a:r>
            <a:r>
              <a:rPr lang="tr-TR" sz="2000" b="0" dirty="0">
                <a:latin typeface="Calibri" pitchFamily="34" charset="0"/>
              </a:rPr>
              <a:t>	</a:t>
            </a:r>
            <a:r>
              <a:rPr lang="en-US" sz="2000" b="0" dirty="0">
                <a:latin typeface="Calibri" pitchFamily="34" charset="0"/>
              </a:rPr>
              <a:t>potential energy</a:t>
            </a:r>
            <a:endParaRPr lang="tr-TR" sz="2000" b="0" dirty="0">
              <a:latin typeface="Calibri" pitchFamily="34" charset="0"/>
            </a:endParaRPr>
          </a:p>
          <a:p>
            <a:pPr>
              <a:defRPr/>
            </a:pPr>
            <a:r>
              <a:rPr lang="tr-TR" sz="2000" b="0" dirty="0">
                <a:latin typeface="Calibri" pitchFamily="34" charset="0"/>
              </a:rPr>
              <a:t>  </a:t>
            </a:r>
            <a:r>
              <a:rPr lang="en-US" sz="2000" b="0" dirty="0">
                <a:latin typeface="Calibri" pitchFamily="34" charset="0"/>
              </a:rPr>
              <a:t> </a:t>
            </a:r>
            <a:r>
              <a:rPr lang="en-US" sz="2000" i="1" dirty="0">
                <a:solidFill>
                  <a:srgbClr val="C00000"/>
                </a:solidFill>
                <a:latin typeface="Calibri" pitchFamily="34" charset="0"/>
              </a:rPr>
              <a:t>ṁ</a:t>
            </a:r>
            <a:r>
              <a:rPr lang="en-US" sz="2000" b="0" dirty="0">
                <a:latin typeface="Calibri" pitchFamily="34" charset="0"/>
              </a:rPr>
              <a:t> </a:t>
            </a:r>
            <a:r>
              <a:rPr lang="tr-TR" sz="2000" b="0" dirty="0">
                <a:latin typeface="Calibri" pitchFamily="34" charset="0"/>
              </a:rPr>
              <a:t>	</a:t>
            </a:r>
            <a:r>
              <a:rPr lang="en-US" sz="2000" b="0" dirty="0">
                <a:latin typeface="Calibri" pitchFamily="34" charset="0"/>
              </a:rPr>
              <a:t>mass flow rate of the fluid </a:t>
            </a:r>
            <a:endParaRPr lang="tr-TR" sz="2000" b="0" dirty="0">
              <a:latin typeface="Calibri" pitchFamily="34" charset="0"/>
            </a:endParaRPr>
          </a:p>
        </p:txBody>
      </p:sp>
      <p:pic>
        <p:nvPicPr>
          <p:cNvPr id="9" name="Picture 5">
            <a:extLst>
              <a:ext uri="{FF2B5EF4-FFF2-40B4-BE49-F238E27FC236}">
                <a16:creationId xmlns:a16="http://schemas.microsoft.com/office/drawing/2014/main" id="{3387367B-4BFA-4314-9D85-624E807BF3F0}"/>
              </a:ext>
            </a:extLst>
          </p:cNvPr>
          <p:cNvPicPr>
            <a:picLocks noChangeAspect="1" noChangeArrowheads="1"/>
          </p:cNvPicPr>
          <p:nvPr/>
        </p:nvPicPr>
        <p:blipFill>
          <a:blip r:embed="rId2" cstate="print"/>
          <a:srcRect/>
          <a:stretch>
            <a:fillRect/>
          </a:stretch>
        </p:blipFill>
        <p:spPr bwMode="auto">
          <a:xfrm>
            <a:off x="596245" y="3257551"/>
            <a:ext cx="3438525" cy="857250"/>
          </a:xfrm>
          <a:prstGeom prst="rect">
            <a:avLst/>
          </a:prstGeom>
          <a:noFill/>
          <a:ln w="9525">
            <a:noFill/>
            <a:miter lim="800000"/>
            <a:headEnd/>
            <a:tailEnd/>
          </a:ln>
        </p:spPr>
      </p:pic>
    </p:spTree>
    <p:extLst>
      <p:ext uri="{BB962C8B-B14F-4D97-AF65-F5344CB8AC3E}">
        <p14:creationId xmlns:p14="http://schemas.microsoft.com/office/powerpoint/2010/main" val="1549606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A5739A-5268-46B3-9339-7AED619DA85F}"/>
              </a:ext>
            </a:extLst>
          </p:cNvPr>
          <p:cNvSpPr>
            <a:spLocks noGrp="1"/>
          </p:cNvSpPr>
          <p:nvPr>
            <p:ph type="sldNum" sz="quarter" idx="12"/>
          </p:nvPr>
        </p:nvSpPr>
        <p:spPr/>
        <p:txBody>
          <a:bodyPr/>
          <a:lstStyle/>
          <a:p>
            <a:fld id="{122D24B2-5D52-46F7-B915-67CABB3AD0CF}" type="slidenum">
              <a:rPr lang="en-US" smtClean="0"/>
              <a:pPr/>
              <a:t>13</a:t>
            </a:fld>
            <a:endParaRPr lang="en-US" dirty="0"/>
          </a:p>
        </p:txBody>
      </p:sp>
      <p:sp>
        <p:nvSpPr>
          <p:cNvPr id="3" name="Text Placeholder 2">
            <a:extLst>
              <a:ext uri="{FF2B5EF4-FFF2-40B4-BE49-F238E27FC236}">
                <a16:creationId xmlns:a16="http://schemas.microsoft.com/office/drawing/2014/main" id="{19989554-6C1C-47F8-AC42-AE085F2642EF}"/>
              </a:ext>
            </a:extLst>
          </p:cNvPr>
          <p:cNvSpPr>
            <a:spLocks noGrp="1"/>
          </p:cNvSpPr>
          <p:nvPr>
            <p:ph type="body" sz="quarter" idx="13"/>
          </p:nvPr>
        </p:nvSpPr>
        <p:spPr/>
        <p:txBody>
          <a:bodyPr/>
          <a:lstStyle/>
          <a:p>
            <a:r>
              <a:rPr lang="en-US" sz="2400" b="0" dirty="0">
                <a:solidFill>
                  <a:schemeClr val="bg1"/>
                </a:solidFill>
                <a:latin typeface="Calibri" pitchFamily="34" charset="0"/>
              </a:rPr>
              <a:t>The available power relation indicates that the power potential of a wind turbine is proportional to density of air.</a:t>
            </a:r>
            <a:r>
              <a:rPr lang="tr-TR" sz="2400" b="0" dirty="0">
                <a:solidFill>
                  <a:schemeClr val="bg1"/>
                </a:solidFill>
                <a:latin typeface="Calibri" pitchFamily="34" charset="0"/>
              </a:rPr>
              <a:t> </a:t>
            </a:r>
            <a:r>
              <a:rPr lang="en-US" sz="2400" b="0" dirty="0">
                <a:solidFill>
                  <a:schemeClr val="bg1"/>
                </a:solidFill>
                <a:latin typeface="Calibri" pitchFamily="34" charset="0"/>
              </a:rPr>
              <a:t>As a result, cold air has a higher wind power potential than the warm air. </a:t>
            </a:r>
            <a:endParaRPr lang="tr-TR" sz="2400" b="0" dirty="0">
              <a:solidFill>
                <a:schemeClr val="bg1"/>
              </a:solidFill>
              <a:latin typeface="Calibri" pitchFamily="34" charset="0"/>
            </a:endParaRPr>
          </a:p>
          <a:p>
            <a:endParaRPr lang="en-CA" dirty="0"/>
          </a:p>
        </p:txBody>
      </p:sp>
      <p:sp>
        <p:nvSpPr>
          <p:cNvPr id="4" name="Title 3">
            <a:extLst>
              <a:ext uri="{FF2B5EF4-FFF2-40B4-BE49-F238E27FC236}">
                <a16:creationId xmlns:a16="http://schemas.microsoft.com/office/drawing/2014/main" id="{A2152F0A-6CE6-4855-9156-AE124E9D0C02}"/>
              </a:ext>
            </a:extLst>
          </p:cNvPr>
          <p:cNvSpPr>
            <a:spLocks noGrp="1"/>
          </p:cNvSpPr>
          <p:nvPr>
            <p:ph type="title"/>
          </p:nvPr>
        </p:nvSpPr>
        <p:spPr/>
        <p:txBody>
          <a:bodyPr/>
          <a:lstStyle/>
          <a:p>
            <a:r>
              <a:rPr lang="en-CA" dirty="0"/>
              <a:t>Wind Power Potential</a:t>
            </a:r>
          </a:p>
        </p:txBody>
      </p:sp>
      <p:sp>
        <p:nvSpPr>
          <p:cNvPr id="5" name="Rectangle 5">
            <a:extLst>
              <a:ext uri="{FF2B5EF4-FFF2-40B4-BE49-F238E27FC236}">
                <a16:creationId xmlns:a16="http://schemas.microsoft.com/office/drawing/2014/main" id="{186B73E9-2D0D-48BF-8516-6A3A6D18B7CB}"/>
              </a:ext>
            </a:extLst>
          </p:cNvPr>
          <p:cNvSpPr>
            <a:spLocks noChangeArrowheads="1"/>
          </p:cNvSpPr>
          <p:nvPr/>
        </p:nvSpPr>
        <p:spPr bwMode="auto">
          <a:xfrm>
            <a:off x="582891" y="5167273"/>
            <a:ext cx="1111250" cy="369888"/>
          </a:xfrm>
          <a:prstGeom prst="rect">
            <a:avLst/>
          </a:prstGeom>
          <a:noFill/>
          <a:ln w="9525">
            <a:noFill/>
            <a:miter lim="800000"/>
            <a:headEnd/>
            <a:tailEnd/>
          </a:ln>
        </p:spPr>
        <p:txBody>
          <a:bodyPr wrap="none">
            <a:spAutoFit/>
          </a:bodyPr>
          <a:lstStyle/>
          <a:p>
            <a:r>
              <a:rPr lang="en-US" b="0" i="1" dirty="0">
                <a:solidFill>
                  <a:srgbClr val="0000FF"/>
                </a:solidFill>
              </a:rPr>
              <a:t>P</a:t>
            </a:r>
            <a:r>
              <a:rPr lang="en-US" b="0" dirty="0">
                <a:solidFill>
                  <a:srgbClr val="0000FF"/>
                </a:solidFill>
              </a:rPr>
              <a:t> </a:t>
            </a:r>
            <a:r>
              <a:rPr lang="tr-TR" b="0" dirty="0">
                <a:solidFill>
                  <a:srgbClr val="0000FF"/>
                </a:solidFill>
              </a:rPr>
              <a:t>= </a:t>
            </a:r>
            <a:r>
              <a:rPr lang="en-US" b="0" i="1" dirty="0" err="1">
                <a:solidFill>
                  <a:srgbClr val="0000FF"/>
                </a:solidFill>
              </a:rPr>
              <a:t>ρRT</a:t>
            </a:r>
            <a:r>
              <a:rPr lang="en-US" b="0" dirty="0">
                <a:solidFill>
                  <a:srgbClr val="0000FF"/>
                </a:solidFill>
              </a:rPr>
              <a:t> </a:t>
            </a:r>
          </a:p>
        </p:txBody>
      </p:sp>
      <p:sp>
        <p:nvSpPr>
          <p:cNvPr id="6" name="Rectangle 6">
            <a:extLst>
              <a:ext uri="{FF2B5EF4-FFF2-40B4-BE49-F238E27FC236}">
                <a16:creationId xmlns:a16="http://schemas.microsoft.com/office/drawing/2014/main" id="{EE8127BC-5934-4475-9358-AFBB23A8EDB8}"/>
              </a:ext>
            </a:extLst>
          </p:cNvPr>
          <p:cNvSpPr>
            <a:spLocks noChangeArrowheads="1"/>
          </p:cNvSpPr>
          <p:nvPr/>
        </p:nvSpPr>
        <p:spPr bwMode="auto">
          <a:xfrm>
            <a:off x="1649691" y="5148163"/>
            <a:ext cx="2137124" cy="400110"/>
          </a:xfrm>
          <a:prstGeom prst="rect">
            <a:avLst/>
          </a:prstGeom>
          <a:noFill/>
          <a:ln w="9525">
            <a:noFill/>
            <a:miter lim="800000"/>
            <a:headEnd/>
            <a:tailEnd/>
          </a:ln>
        </p:spPr>
        <p:txBody>
          <a:bodyPr wrap="none">
            <a:spAutoFit/>
          </a:bodyPr>
          <a:lstStyle/>
          <a:p>
            <a:r>
              <a:rPr lang="en-CA" sz="2000" b="0" dirty="0">
                <a:solidFill>
                  <a:srgbClr val="C00000"/>
                </a:solidFill>
              </a:rPr>
              <a:t>Ideal</a:t>
            </a:r>
            <a:r>
              <a:rPr lang="tr-TR" sz="2000" b="0" dirty="0">
                <a:solidFill>
                  <a:srgbClr val="C00000"/>
                </a:solidFill>
              </a:rPr>
              <a:t> gas relation</a:t>
            </a:r>
            <a:endParaRPr lang="en-US" sz="2000" dirty="0">
              <a:solidFill>
                <a:srgbClr val="C00000"/>
              </a:solidFill>
            </a:endParaRPr>
          </a:p>
        </p:txBody>
      </p:sp>
      <p:sp>
        <p:nvSpPr>
          <p:cNvPr id="7" name="Rectangle 7">
            <a:extLst>
              <a:ext uri="{FF2B5EF4-FFF2-40B4-BE49-F238E27FC236}">
                <a16:creationId xmlns:a16="http://schemas.microsoft.com/office/drawing/2014/main" id="{0729244B-3591-4098-9C75-2A31C792C573}"/>
              </a:ext>
            </a:extLst>
          </p:cNvPr>
          <p:cNvSpPr>
            <a:spLocks noChangeArrowheads="1"/>
          </p:cNvSpPr>
          <p:nvPr/>
        </p:nvSpPr>
        <p:spPr bwMode="auto">
          <a:xfrm>
            <a:off x="3859491" y="5148163"/>
            <a:ext cx="4419600" cy="707886"/>
          </a:xfrm>
          <a:prstGeom prst="rect">
            <a:avLst/>
          </a:prstGeom>
          <a:noFill/>
          <a:ln w="9525">
            <a:noFill/>
            <a:miter lim="800000"/>
            <a:headEnd/>
            <a:tailEnd/>
          </a:ln>
        </p:spPr>
        <p:txBody>
          <a:bodyPr wrap="square">
            <a:spAutoFit/>
          </a:bodyPr>
          <a:lstStyle/>
          <a:p>
            <a:r>
              <a:rPr lang="en-CA" sz="2000" b="0" dirty="0">
                <a:solidFill>
                  <a:schemeClr val="bg1"/>
                </a:solidFill>
              </a:rPr>
              <a:t>Gas</a:t>
            </a:r>
            <a:r>
              <a:rPr lang="tr-TR" sz="2000" b="0" dirty="0">
                <a:solidFill>
                  <a:schemeClr val="bg1"/>
                </a:solidFill>
              </a:rPr>
              <a:t> constant, </a:t>
            </a:r>
            <a:r>
              <a:rPr lang="en-US" sz="2000" b="0" i="1" dirty="0">
                <a:solidFill>
                  <a:schemeClr val="bg1"/>
                </a:solidFill>
              </a:rPr>
              <a:t>R</a:t>
            </a:r>
            <a:r>
              <a:rPr lang="tr-TR" sz="2000" b="0" dirty="0">
                <a:solidFill>
                  <a:schemeClr val="bg1"/>
                </a:solidFill>
              </a:rPr>
              <a:t> = </a:t>
            </a:r>
            <a:r>
              <a:rPr lang="en-US" sz="2000" b="0" dirty="0">
                <a:solidFill>
                  <a:schemeClr val="bg1"/>
                </a:solidFill>
              </a:rPr>
              <a:t>0.287  kPa</a:t>
            </a:r>
            <a:r>
              <a:rPr lang="en-US" sz="2000" b="0" dirty="0">
                <a:solidFill>
                  <a:schemeClr val="bg1"/>
                </a:solidFill>
                <a:sym typeface="Symbol"/>
              </a:rPr>
              <a:t></a:t>
            </a:r>
            <a:r>
              <a:rPr lang="en-US" sz="2000" b="0" dirty="0">
                <a:solidFill>
                  <a:schemeClr val="bg1"/>
                </a:solidFill>
              </a:rPr>
              <a:t>m³/</a:t>
            </a:r>
            <a:r>
              <a:rPr lang="en-US" sz="2000" b="0" dirty="0" err="1">
                <a:solidFill>
                  <a:schemeClr val="bg1"/>
                </a:solidFill>
              </a:rPr>
              <a:t>kg</a:t>
            </a:r>
            <a:r>
              <a:rPr lang="en-US" sz="2000" dirty="0" err="1">
                <a:solidFill>
                  <a:schemeClr val="bg1"/>
                </a:solidFill>
                <a:sym typeface="Symbol"/>
              </a:rPr>
              <a:t></a:t>
            </a:r>
            <a:r>
              <a:rPr lang="en-US" sz="2000" b="0" dirty="0" err="1">
                <a:solidFill>
                  <a:schemeClr val="bg1"/>
                </a:solidFill>
              </a:rPr>
              <a:t>K</a:t>
            </a:r>
            <a:endParaRPr lang="en-US" sz="2000" b="0" dirty="0">
              <a:solidFill>
                <a:schemeClr val="bg1"/>
              </a:solidFill>
            </a:endParaRPr>
          </a:p>
          <a:p>
            <a:r>
              <a:rPr lang="en-US" sz="2000" dirty="0">
                <a:solidFill>
                  <a:schemeClr val="bg1"/>
                </a:solidFill>
              </a:rPr>
              <a:t>                        </a:t>
            </a:r>
            <a:r>
              <a:rPr lang="en-US" sz="2000" i="1" dirty="0">
                <a:solidFill>
                  <a:schemeClr val="bg1"/>
                </a:solidFill>
              </a:rPr>
              <a:t>R=0.3704  psia.ft</a:t>
            </a:r>
            <a:r>
              <a:rPr lang="en-US" sz="2000" i="1" baseline="30000" dirty="0">
                <a:solidFill>
                  <a:schemeClr val="bg1"/>
                </a:solidFill>
              </a:rPr>
              <a:t>3</a:t>
            </a:r>
            <a:r>
              <a:rPr lang="en-US" sz="2000" i="1" dirty="0">
                <a:solidFill>
                  <a:schemeClr val="bg1"/>
                </a:solidFill>
              </a:rPr>
              <a:t>/lb</a:t>
            </a:r>
            <a:r>
              <a:rPr lang="en-US" sz="2000" i="1" baseline="-25000" dirty="0">
                <a:solidFill>
                  <a:schemeClr val="bg1"/>
                </a:solidFill>
              </a:rPr>
              <a:t>m</a:t>
            </a:r>
            <a:r>
              <a:rPr lang="en-US" sz="2000" i="1" dirty="0">
                <a:solidFill>
                  <a:schemeClr val="bg1"/>
                </a:solidFill>
              </a:rPr>
              <a:t>.R</a:t>
            </a:r>
            <a:endParaRPr lang="en-US" sz="2000" b="0" i="1" dirty="0">
              <a:solidFill>
                <a:schemeClr val="bg1"/>
              </a:solidFill>
            </a:endParaRPr>
          </a:p>
        </p:txBody>
      </p:sp>
      <p:sp>
        <p:nvSpPr>
          <p:cNvPr id="8" name="Rectangle 8">
            <a:extLst>
              <a:ext uri="{FF2B5EF4-FFF2-40B4-BE49-F238E27FC236}">
                <a16:creationId xmlns:a16="http://schemas.microsoft.com/office/drawing/2014/main" id="{70599A60-9358-478B-ADF0-67ED1DFFC67C}"/>
              </a:ext>
            </a:extLst>
          </p:cNvPr>
          <p:cNvSpPr>
            <a:spLocks noChangeArrowheads="1"/>
          </p:cNvSpPr>
          <p:nvPr/>
        </p:nvSpPr>
        <p:spPr bwMode="auto">
          <a:xfrm>
            <a:off x="582891" y="5776873"/>
            <a:ext cx="6629400" cy="400110"/>
          </a:xfrm>
          <a:prstGeom prst="rect">
            <a:avLst/>
          </a:prstGeom>
          <a:noFill/>
          <a:ln w="9525">
            <a:noFill/>
            <a:miter lim="800000"/>
            <a:headEnd/>
            <a:tailEnd/>
          </a:ln>
        </p:spPr>
        <p:txBody>
          <a:bodyPr>
            <a:spAutoFit/>
          </a:bodyPr>
          <a:lstStyle/>
          <a:p>
            <a:r>
              <a:rPr lang="en-US" sz="2000" b="0" i="1" dirty="0">
                <a:solidFill>
                  <a:srgbClr val="0000FF"/>
                </a:solidFill>
              </a:rPr>
              <a:t>A</a:t>
            </a:r>
            <a:r>
              <a:rPr lang="en-US" sz="2000" b="0" dirty="0">
                <a:solidFill>
                  <a:srgbClr val="0000FF"/>
                </a:solidFill>
              </a:rPr>
              <a:t> </a:t>
            </a:r>
            <a:r>
              <a:rPr lang="tr-TR" sz="2000" b="0" dirty="0">
                <a:solidFill>
                  <a:srgbClr val="0000FF"/>
                </a:solidFill>
              </a:rPr>
              <a:t>= </a:t>
            </a:r>
            <a:r>
              <a:rPr lang="tr-TR" sz="2000" b="0" i="1" dirty="0">
                <a:solidFill>
                  <a:srgbClr val="0000FF"/>
                </a:solidFill>
                <a:sym typeface="Symbol" pitchFamily="18" charset="2"/>
              </a:rPr>
              <a:t></a:t>
            </a:r>
            <a:r>
              <a:rPr lang="en-US" sz="2000" b="0" i="1" dirty="0">
                <a:solidFill>
                  <a:srgbClr val="0000FF"/>
                </a:solidFill>
              </a:rPr>
              <a:t>D</a:t>
            </a:r>
            <a:r>
              <a:rPr lang="en-US" sz="2000" b="0" dirty="0">
                <a:solidFill>
                  <a:srgbClr val="0000FF"/>
                </a:solidFill>
              </a:rPr>
              <a:t>²/4 </a:t>
            </a:r>
            <a:r>
              <a:rPr lang="tr-TR" sz="2000" dirty="0">
                <a:solidFill>
                  <a:srgbClr val="0000FF"/>
                </a:solidFill>
              </a:rPr>
              <a:t>  </a:t>
            </a:r>
            <a:r>
              <a:rPr lang="tr-TR" sz="2000" b="0" dirty="0">
                <a:solidFill>
                  <a:srgbClr val="C00000"/>
                </a:solidFill>
              </a:rPr>
              <a:t>D</a:t>
            </a:r>
            <a:r>
              <a:rPr lang="en-US" sz="2000" b="0" dirty="0" err="1">
                <a:solidFill>
                  <a:srgbClr val="C00000"/>
                </a:solidFill>
              </a:rPr>
              <a:t>isk</a:t>
            </a:r>
            <a:r>
              <a:rPr lang="en-US" sz="2000" b="0" dirty="0">
                <a:solidFill>
                  <a:srgbClr val="C00000"/>
                </a:solidFill>
              </a:rPr>
              <a:t> area</a:t>
            </a:r>
            <a:r>
              <a:rPr lang="tr-TR" sz="2000" b="0" dirty="0"/>
              <a:t>  </a:t>
            </a:r>
            <a:r>
              <a:rPr lang="tr-TR" sz="2000" b="0" i="1" dirty="0"/>
              <a:t>D: </a:t>
            </a:r>
            <a:r>
              <a:rPr lang="en-US" sz="2000" b="0" dirty="0"/>
              <a:t>blade diameter </a:t>
            </a:r>
            <a:endParaRPr lang="tr-TR" sz="2000" b="0" dirty="0"/>
          </a:p>
        </p:txBody>
      </p:sp>
      <p:pic>
        <p:nvPicPr>
          <p:cNvPr id="10" name="Picture 9">
            <a:extLst>
              <a:ext uri="{FF2B5EF4-FFF2-40B4-BE49-F238E27FC236}">
                <a16:creationId xmlns:a16="http://schemas.microsoft.com/office/drawing/2014/main" id="{F17F937A-8C37-42A1-8E3A-D32B7380FC9C}"/>
              </a:ext>
            </a:extLst>
          </p:cNvPr>
          <p:cNvPicPr>
            <a:picLocks noChangeAspect="1"/>
          </p:cNvPicPr>
          <p:nvPr/>
        </p:nvPicPr>
        <p:blipFill>
          <a:blip r:embed="rId2"/>
          <a:stretch>
            <a:fillRect/>
          </a:stretch>
        </p:blipFill>
        <p:spPr>
          <a:xfrm>
            <a:off x="2895600" y="3949933"/>
            <a:ext cx="2287070" cy="928689"/>
          </a:xfrm>
          <a:prstGeom prst="rect">
            <a:avLst/>
          </a:prstGeom>
        </p:spPr>
      </p:pic>
    </p:spTree>
    <p:extLst>
      <p:ext uri="{BB962C8B-B14F-4D97-AF65-F5344CB8AC3E}">
        <p14:creationId xmlns:p14="http://schemas.microsoft.com/office/powerpoint/2010/main" val="636467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A23478-0609-48FB-9A10-43FE6D689EB6}"/>
              </a:ext>
            </a:extLst>
          </p:cNvPr>
          <p:cNvSpPr>
            <a:spLocks noGrp="1"/>
          </p:cNvSpPr>
          <p:nvPr>
            <p:ph type="sldNum" sz="quarter" idx="12"/>
          </p:nvPr>
        </p:nvSpPr>
        <p:spPr/>
        <p:txBody>
          <a:bodyPr/>
          <a:lstStyle/>
          <a:p>
            <a:fld id="{122D24B2-5D52-46F7-B915-67CABB3AD0CF}" type="slidenum">
              <a:rPr lang="en-US" smtClean="0"/>
              <a:pPr/>
              <a:t>14</a:t>
            </a:fld>
            <a:endParaRPr lang="en-US" dirty="0"/>
          </a:p>
        </p:txBody>
      </p:sp>
      <p:sp>
        <p:nvSpPr>
          <p:cNvPr id="3" name="Text Placeholder 2">
            <a:extLst>
              <a:ext uri="{FF2B5EF4-FFF2-40B4-BE49-F238E27FC236}">
                <a16:creationId xmlns:a16="http://schemas.microsoft.com/office/drawing/2014/main" id="{921D42A8-B44A-433A-AD7F-4E8A050F02EA}"/>
              </a:ext>
            </a:extLst>
          </p:cNvPr>
          <p:cNvSpPr>
            <a:spLocks noGrp="1"/>
          </p:cNvSpPr>
          <p:nvPr>
            <p:ph type="body" sz="quarter" idx="13"/>
          </p:nvPr>
        </p:nvSpPr>
        <p:spPr/>
        <p:txBody>
          <a:bodyPr/>
          <a:lstStyle/>
          <a:p>
            <a:r>
              <a:rPr lang="en-CA" dirty="0"/>
              <a:t>Wind power density is available wind power per unit area and is used to evaluate various locations for wind turbine potentials</a:t>
            </a:r>
          </a:p>
        </p:txBody>
      </p:sp>
      <p:sp>
        <p:nvSpPr>
          <p:cNvPr id="4" name="Title 3">
            <a:extLst>
              <a:ext uri="{FF2B5EF4-FFF2-40B4-BE49-F238E27FC236}">
                <a16:creationId xmlns:a16="http://schemas.microsoft.com/office/drawing/2014/main" id="{98E6E9CA-2A58-481D-815D-0616AD719B34}"/>
              </a:ext>
            </a:extLst>
          </p:cNvPr>
          <p:cNvSpPr>
            <a:spLocks noGrp="1"/>
          </p:cNvSpPr>
          <p:nvPr>
            <p:ph type="title"/>
          </p:nvPr>
        </p:nvSpPr>
        <p:spPr/>
        <p:txBody>
          <a:bodyPr/>
          <a:lstStyle/>
          <a:p>
            <a:r>
              <a:rPr lang="en-CA" dirty="0"/>
              <a:t>Wind Power Density</a:t>
            </a:r>
          </a:p>
        </p:txBody>
      </p:sp>
      <p:pic>
        <p:nvPicPr>
          <p:cNvPr id="5" name="Picture 2">
            <a:extLst>
              <a:ext uri="{FF2B5EF4-FFF2-40B4-BE49-F238E27FC236}">
                <a16:creationId xmlns:a16="http://schemas.microsoft.com/office/drawing/2014/main" id="{36C2E81D-DD70-416A-BC30-0F5AE2524F09}"/>
              </a:ext>
            </a:extLst>
          </p:cNvPr>
          <p:cNvPicPr>
            <a:picLocks noChangeAspect="1" noChangeArrowheads="1"/>
          </p:cNvPicPr>
          <p:nvPr/>
        </p:nvPicPr>
        <p:blipFill>
          <a:blip r:embed="rId2" cstate="print"/>
          <a:srcRect/>
          <a:stretch>
            <a:fillRect/>
          </a:stretch>
        </p:blipFill>
        <p:spPr bwMode="auto">
          <a:xfrm>
            <a:off x="4572000" y="3629025"/>
            <a:ext cx="4352925" cy="2495550"/>
          </a:xfrm>
          <a:prstGeom prst="rect">
            <a:avLst/>
          </a:prstGeom>
          <a:noFill/>
          <a:ln w="9525">
            <a:noFill/>
            <a:miter lim="800000"/>
            <a:headEnd/>
            <a:tailEnd/>
          </a:ln>
        </p:spPr>
      </p:pic>
      <p:pic>
        <p:nvPicPr>
          <p:cNvPr id="7" name="Picture 6">
            <a:extLst>
              <a:ext uri="{FF2B5EF4-FFF2-40B4-BE49-F238E27FC236}">
                <a16:creationId xmlns:a16="http://schemas.microsoft.com/office/drawing/2014/main" id="{B358B2E8-A582-4459-BB80-53AC86D257CD}"/>
              </a:ext>
            </a:extLst>
          </p:cNvPr>
          <p:cNvPicPr>
            <a:picLocks noChangeAspect="1"/>
          </p:cNvPicPr>
          <p:nvPr/>
        </p:nvPicPr>
        <p:blipFill>
          <a:blip r:embed="rId3"/>
          <a:stretch>
            <a:fillRect/>
          </a:stretch>
        </p:blipFill>
        <p:spPr>
          <a:xfrm>
            <a:off x="381000" y="3779321"/>
            <a:ext cx="3938440" cy="2013883"/>
          </a:xfrm>
          <a:prstGeom prst="rect">
            <a:avLst/>
          </a:prstGeom>
        </p:spPr>
      </p:pic>
    </p:spTree>
    <p:extLst>
      <p:ext uri="{BB962C8B-B14F-4D97-AF65-F5344CB8AC3E}">
        <p14:creationId xmlns:p14="http://schemas.microsoft.com/office/powerpoint/2010/main" val="3316675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170315-ED18-4981-A022-8D2A299F3070}"/>
              </a:ext>
            </a:extLst>
          </p:cNvPr>
          <p:cNvSpPr>
            <a:spLocks noGrp="1"/>
          </p:cNvSpPr>
          <p:nvPr>
            <p:ph type="sldNum" sz="quarter" idx="12"/>
          </p:nvPr>
        </p:nvSpPr>
        <p:spPr/>
        <p:txBody>
          <a:bodyPr/>
          <a:lstStyle/>
          <a:p>
            <a:fld id="{122D24B2-5D52-46F7-B915-67CABB3AD0CF}" type="slidenum">
              <a:rPr lang="en-US" smtClean="0"/>
              <a:pPr/>
              <a:t>15</a:t>
            </a:fld>
            <a:endParaRPr lang="en-US" dirty="0"/>
          </a:p>
        </p:txBody>
      </p:sp>
      <p:sp>
        <p:nvSpPr>
          <p:cNvPr id="3" name="Text Placeholder 2">
            <a:extLst>
              <a:ext uri="{FF2B5EF4-FFF2-40B4-BE49-F238E27FC236}">
                <a16:creationId xmlns:a16="http://schemas.microsoft.com/office/drawing/2014/main" id="{F269DF0B-2B80-417B-AC43-2EA8802D8F57}"/>
              </a:ext>
            </a:extLst>
          </p:cNvPr>
          <p:cNvSpPr>
            <a:spLocks noGrp="1"/>
          </p:cNvSpPr>
          <p:nvPr>
            <p:ph type="body" sz="quarter" idx="13"/>
          </p:nvPr>
        </p:nvSpPr>
        <p:spPr>
          <a:xfrm>
            <a:off x="609600" y="2133600"/>
            <a:ext cx="3581400" cy="4157662"/>
          </a:xfrm>
        </p:spPr>
        <p:txBody>
          <a:bodyPr/>
          <a:lstStyle/>
          <a:p>
            <a:r>
              <a:rPr lang="en-CA" sz="1800" dirty="0"/>
              <a:t>Turbine performance is a function of tip speed ratio</a:t>
            </a:r>
          </a:p>
          <a:p>
            <a:r>
              <a:rPr lang="en-US" sz="1800" dirty="0">
                <a:solidFill>
                  <a:schemeClr val="bg1"/>
                </a:solidFill>
                <a:latin typeface="Arial" panose="020B0604020202020204" pitchFamily="34" charset="0"/>
                <a:ea typeface="Verdana" panose="020B0604030504040204" pitchFamily="34" charset="0"/>
                <a:cs typeface="Arial" panose="020B0604020202020204" pitchFamily="34" charset="0"/>
              </a:rPr>
              <a:t>The ratio of the translational velocity of the tip of the turbine blade to the wind speed is called the </a:t>
            </a:r>
            <a:r>
              <a:rPr lang="en-US" sz="1800" b="1" dirty="0">
                <a:solidFill>
                  <a:schemeClr val="bg1"/>
                </a:solidFill>
                <a:latin typeface="Arial" panose="020B0604020202020204" pitchFamily="34" charset="0"/>
                <a:ea typeface="Verdana" panose="020B0604030504040204" pitchFamily="34" charset="0"/>
                <a:cs typeface="Arial" panose="020B0604020202020204" pitchFamily="34" charset="0"/>
              </a:rPr>
              <a:t>tip speed ratio (TSR)</a:t>
            </a:r>
            <a:r>
              <a:rPr lang="en-US" sz="1800" dirty="0">
                <a:solidFill>
                  <a:schemeClr val="bg1"/>
                </a:solidFill>
                <a:latin typeface="Arial" panose="020B0604020202020204" pitchFamily="34" charset="0"/>
                <a:ea typeface="Verdana" panose="020B0604030504040204" pitchFamily="34" charset="0"/>
                <a:cs typeface="Arial" panose="020B0604020202020204" pitchFamily="34" charset="0"/>
              </a:rPr>
              <a:t>, and is calculated as follows:</a:t>
            </a:r>
          </a:p>
          <a:p>
            <a:endParaRPr lang="en-CA" sz="1800" dirty="0"/>
          </a:p>
        </p:txBody>
      </p:sp>
      <p:sp>
        <p:nvSpPr>
          <p:cNvPr id="4" name="Title 3">
            <a:extLst>
              <a:ext uri="{FF2B5EF4-FFF2-40B4-BE49-F238E27FC236}">
                <a16:creationId xmlns:a16="http://schemas.microsoft.com/office/drawing/2014/main" id="{42B25D29-60F1-4B17-960F-14735472EAAC}"/>
              </a:ext>
            </a:extLst>
          </p:cNvPr>
          <p:cNvSpPr>
            <a:spLocks noGrp="1"/>
          </p:cNvSpPr>
          <p:nvPr>
            <p:ph type="title"/>
          </p:nvPr>
        </p:nvSpPr>
        <p:spPr/>
        <p:txBody>
          <a:bodyPr/>
          <a:lstStyle/>
          <a:p>
            <a:r>
              <a:rPr lang="en-CA" dirty="0"/>
              <a:t>Wind Turbine Efficiency – Power Coefficient</a:t>
            </a:r>
          </a:p>
        </p:txBody>
      </p:sp>
      <p:pic>
        <p:nvPicPr>
          <p:cNvPr id="5" name="Picture 4">
            <a:extLst>
              <a:ext uri="{FF2B5EF4-FFF2-40B4-BE49-F238E27FC236}">
                <a16:creationId xmlns:a16="http://schemas.microsoft.com/office/drawing/2014/main" id="{FF7A93DA-6F94-4149-8D42-843771D8AA4B}"/>
              </a:ext>
            </a:extLst>
          </p:cNvPr>
          <p:cNvPicPr>
            <a:picLocks noChangeAspect="1"/>
          </p:cNvPicPr>
          <p:nvPr/>
        </p:nvPicPr>
        <p:blipFill rotWithShape="1">
          <a:blip r:embed="rId2"/>
          <a:srcRect l="8450" r="9156" b="19408"/>
          <a:stretch/>
        </p:blipFill>
        <p:spPr>
          <a:xfrm>
            <a:off x="4514064" y="2161095"/>
            <a:ext cx="4457700" cy="351575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F603AB-3181-41E3-8F0A-A35A45A879E7}"/>
                  </a:ext>
                </a:extLst>
              </p:cNvPr>
              <p:cNvSpPr txBox="1"/>
              <p:nvPr/>
            </p:nvSpPr>
            <p:spPr>
              <a:xfrm>
                <a:off x="4800600" y="6052421"/>
                <a:ext cx="2565446" cy="303929"/>
              </a:xfrm>
              <a:prstGeom prst="rect">
                <a:avLst/>
              </a:prstGeom>
              <a:noFill/>
            </p:spPr>
            <p:txBody>
              <a:bodyPr wrap="none" lIns="0" tIns="0" rIns="0" bIns="0" rtlCol="0">
                <a:spAutoFit/>
              </a:bodyPr>
              <a:lstStyle/>
              <a:p>
                <a14:m>
                  <m:oMath xmlns:m="http://schemas.openxmlformats.org/officeDocument/2006/math">
                    <m:sSub>
                      <m:sSubPr>
                        <m:ctrlPr>
                          <a:rPr lang="en-CA" b="0" i="1" smtClean="0">
                            <a:solidFill>
                              <a:schemeClr val="bg1"/>
                            </a:solidFill>
                            <a:latin typeface="Cambria Math" panose="02040503050406030204" pitchFamily="18" charset="0"/>
                          </a:rPr>
                        </m:ctrlPr>
                      </m:sSubPr>
                      <m:e>
                        <m:r>
                          <a:rPr lang="en-CA" b="0" i="1" smtClean="0">
                            <a:solidFill>
                              <a:schemeClr val="bg1"/>
                            </a:solidFill>
                            <a:latin typeface="Cambria Math" panose="02040503050406030204" pitchFamily="18" charset="0"/>
                          </a:rPr>
                          <m:t>𝑃</m:t>
                        </m:r>
                      </m:e>
                      <m:sub>
                        <m:r>
                          <a:rPr lang="en-CA" b="0" i="1" smtClean="0">
                            <a:solidFill>
                              <a:schemeClr val="bg1"/>
                            </a:solidFill>
                            <a:latin typeface="Cambria Math" panose="02040503050406030204" pitchFamily="18" charset="0"/>
                          </a:rPr>
                          <m:t>𝑤𝑡</m:t>
                        </m:r>
                      </m:sub>
                    </m:sSub>
                    <m:r>
                      <a:rPr lang="en-CA" b="0" i="1" smtClean="0">
                        <a:solidFill>
                          <a:schemeClr val="bg1"/>
                        </a:solidFill>
                        <a:latin typeface="Cambria Math" panose="02040503050406030204" pitchFamily="18" charset="0"/>
                      </a:rPr>
                      <m:t>=</m:t>
                    </m:r>
                    <m:sSub>
                      <m:sSubPr>
                        <m:ctrlPr>
                          <a:rPr lang="en-CA" i="1">
                            <a:solidFill>
                              <a:schemeClr val="bg1"/>
                            </a:solidFill>
                            <a:latin typeface="Cambria Math" panose="02040503050406030204" pitchFamily="18" charset="0"/>
                          </a:rPr>
                        </m:ctrlPr>
                      </m:sSubPr>
                      <m:e>
                        <m:r>
                          <a:rPr lang="en-CA" b="0" i="1" smtClean="0">
                            <a:solidFill>
                              <a:schemeClr val="bg1"/>
                            </a:solidFill>
                            <a:latin typeface="Cambria Math" panose="02040503050406030204" pitchFamily="18" charset="0"/>
                          </a:rPr>
                          <m:t>𝐶</m:t>
                        </m:r>
                      </m:e>
                      <m:sub>
                        <m:r>
                          <a:rPr lang="en-CA" b="0" i="1" smtClean="0">
                            <a:solidFill>
                              <a:schemeClr val="bg1"/>
                            </a:solidFill>
                            <a:latin typeface="Cambria Math" panose="02040503050406030204" pitchFamily="18" charset="0"/>
                          </a:rPr>
                          <m:t>𝑝</m:t>
                        </m:r>
                      </m:sub>
                    </m:sSub>
                  </m:oMath>
                </a14:m>
                <a:r>
                  <a:rPr lang="en-CA" dirty="0">
                    <a:solidFill>
                      <a:schemeClr val="bg1"/>
                    </a:solidFill>
                  </a:rPr>
                  <a:t> </a:t>
                </a:r>
                <a14:m>
                  <m:oMath xmlns:m="http://schemas.openxmlformats.org/officeDocument/2006/math">
                    <m:sSub>
                      <m:sSubPr>
                        <m:ctrlPr>
                          <a:rPr lang="en-CA" i="1">
                            <a:solidFill>
                              <a:schemeClr val="bg1"/>
                            </a:solidFill>
                            <a:latin typeface="Cambria Math" panose="02040503050406030204" pitchFamily="18" charset="0"/>
                          </a:rPr>
                        </m:ctrlPr>
                      </m:sSubPr>
                      <m:e>
                        <m:r>
                          <a:rPr lang="en-CA" i="1">
                            <a:solidFill>
                              <a:schemeClr val="bg1"/>
                            </a:solidFill>
                            <a:latin typeface="Cambria Math" panose="02040503050406030204" pitchFamily="18" charset="0"/>
                          </a:rPr>
                          <m:t>𝑃</m:t>
                        </m:r>
                      </m:e>
                      <m:sub>
                        <m:r>
                          <a:rPr lang="en-CA" b="0" i="1" smtClean="0">
                            <a:solidFill>
                              <a:schemeClr val="bg1"/>
                            </a:solidFill>
                            <a:latin typeface="Cambria Math" panose="02040503050406030204" pitchFamily="18" charset="0"/>
                          </a:rPr>
                          <m:t>𝑤</m:t>
                        </m:r>
                      </m:sub>
                    </m:sSub>
                    <m:r>
                      <a:rPr lang="en-CA" b="0" i="1" smtClean="0">
                        <a:solidFill>
                          <a:schemeClr val="bg1"/>
                        </a:solidFill>
                        <a:latin typeface="Cambria Math" panose="02040503050406030204" pitchFamily="18" charset="0"/>
                      </a:rPr>
                      <m:t>=</m:t>
                    </m:r>
                    <m:sSub>
                      <m:sSubPr>
                        <m:ctrlPr>
                          <a:rPr lang="en-CA" i="1">
                            <a:solidFill>
                              <a:schemeClr val="bg1"/>
                            </a:solidFill>
                            <a:latin typeface="Cambria Math" panose="02040503050406030204" pitchFamily="18" charset="0"/>
                          </a:rPr>
                        </m:ctrlPr>
                      </m:sSubPr>
                      <m:e>
                        <m:r>
                          <a:rPr lang="en-CA" b="0" i="1" smtClean="0">
                            <a:solidFill>
                              <a:schemeClr val="bg1"/>
                            </a:solidFill>
                            <a:latin typeface="Cambria Math" panose="02040503050406030204" pitchFamily="18" charset="0"/>
                          </a:rPr>
                          <m:t>0.5</m:t>
                        </m:r>
                        <m:r>
                          <a:rPr lang="en-CA" i="1">
                            <a:solidFill>
                              <a:schemeClr val="bg1"/>
                            </a:solidFill>
                            <a:latin typeface="Cambria Math" panose="02040503050406030204" pitchFamily="18" charset="0"/>
                          </a:rPr>
                          <m:t>𝐶</m:t>
                        </m:r>
                      </m:e>
                      <m:sub>
                        <m:r>
                          <a:rPr lang="en-CA" i="1">
                            <a:solidFill>
                              <a:schemeClr val="bg1"/>
                            </a:solidFill>
                            <a:latin typeface="Cambria Math" panose="02040503050406030204" pitchFamily="18" charset="0"/>
                          </a:rPr>
                          <m:t>𝑝</m:t>
                        </m:r>
                      </m:sub>
                    </m:sSub>
                    <m:r>
                      <a:rPr lang="en-CA" i="1" smtClean="0">
                        <a:solidFill>
                          <a:schemeClr val="bg1"/>
                        </a:solidFill>
                        <a:latin typeface="Cambria Math" panose="02040503050406030204" pitchFamily="18" charset="0"/>
                        <a:ea typeface="Cambria Math" panose="02040503050406030204" pitchFamily="18" charset="0"/>
                      </a:rPr>
                      <m:t>𝜌</m:t>
                    </m:r>
                    <m:r>
                      <a:rPr lang="en-CA" b="0" i="1" smtClean="0">
                        <a:solidFill>
                          <a:schemeClr val="bg1"/>
                        </a:solidFill>
                        <a:latin typeface="Cambria Math" panose="02040503050406030204" pitchFamily="18" charset="0"/>
                      </a:rPr>
                      <m:t>𝐴</m:t>
                    </m:r>
                    <m:sSup>
                      <m:sSupPr>
                        <m:ctrlPr>
                          <a:rPr lang="en-CA" b="0" i="1" smtClean="0">
                            <a:solidFill>
                              <a:schemeClr val="bg1"/>
                            </a:solidFill>
                            <a:latin typeface="Cambria Math" panose="02040503050406030204" pitchFamily="18" charset="0"/>
                          </a:rPr>
                        </m:ctrlPr>
                      </m:sSupPr>
                      <m:e>
                        <m:r>
                          <a:rPr lang="en-CA" b="0" i="1" smtClean="0">
                            <a:solidFill>
                              <a:schemeClr val="bg1"/>
                            </a:solidFill>
                            <a:latin typeface="Cambria Math" panose="02040503050406030204" pitchFamily="18" charset="0"/>
                          </a:rPr>
                          <m:t>𝑢</m:t>
                        </m:r>
                      </m:e>
                      <m:sup>
                        <m:r>
                          <a:rPr lang="en-CA" b="0" i="1" smtClean="0">
                            <a:solidFill>
                              <a:schemeClr val="bg1"/>
                            </a:solidFill>
                            <a:latin typeface="Cambria Math" panose="02040503050406030204" pitchFamily="18" charset="0"/>
                          </a:rPr>
                          <m:t>3</m:t>
                        </m:r>
                      </m:sup>
                    </m:sSup>
                  </m:oMath>
                </a14:m>
                <a:endParaRPr lang="en-CA" dirty="0">
                  <a:solidFill>
                    <a:schemeClr val="bg1"/>
                  </a:solidFill>
                </a:endParaRPr>
              </a:p>
            </p:txBody>
          </p:sp>
        </mc:Choice>
        <mc:Fallback xmlns="">
          <p:sp>
            <p:nvSpPr>
              <p:cNvPr id="8" name="TextBox 7">
                <a:extLst>
                  <a:ext uri="{FF2B5EF4-FFF2-40B4-BE49-F238E27FC236}">
                    <a16:creationId xmlns:a16="http://schemas.microsoft.com/office/drawing/2014/main" id="{CBF603AB-3181-41E3-8F0A-A35A45A879E7}"/>
                  </a:ext>
                </a:extLst>
              </p:cNvPr>
              <p:cNvSpPr txBox="1">
                <a:spLocks noRot="1" noChangeAspect="1" noMove="1" noResize="1" noEditPoints="1" noAdjustHandles="1" noChangeArrowheads="1" noChangeShapeType="1" noTextEdit="1"/>
              </p:cNvSpPr>
              <p:nvPr/>
            </p:nvSpPr>
            <p:spPr>
              <a:xfrm>
                <a:off x="4800600" y="6052421"/>
                <a:ext cx="2565446" cy="303929"/>
              </a:xfrm>
              <a:prstGeom prst="rect">
                <a:avLst/>
              </a:prstGeom>
              <a:blipFill>
                <a:blip r:embed="rId3"/>
                <a:stretch>
                  <a:fillRect l="-3333" r="-1190" b="-20000"/>
                </a:stretch>
              </a:blipFill>
            </p:spPr>
            <p:txBody>
              <a:bodyPr/>
              <a:lstStyle/>
              <a:p>
                <a:r>
                  <a:rPr lang="en-CA">
                    <a:noFill/>
                  </a:rPr>
                  <a:t> </a:t>
                </a:r>
              </a:p>
            </p:txBody>
          </p:sp>
        </mc:Fallback>
      </mc:AlternateContent>
      <p:pic>
        <p:nvPicPr>
          <p:cNvPr id="12" name="Picture 11">
            <a:extLst>
              <a:ext uri="{FF2B5EF4-FFF2-40B4-BE49-F238E27FC236}">
                <a16:creationId xmlns:a16="http://schemas.microsoft.com/office/drawing/2014/main" id="{7B1B3136-370D-430C-98A9-44CD325A5A3A}"/>
              </a:ext>
            </a:extLst>
          </p:cNvPr>
          <p:cNvPicPr>
            <a:picLocks noChangeAspect="1"/>
          </p:cNvPicPr>
          <p:nvPr/>
        </p:nvPicPr>
        <p:blipFill>
          <a:blip r:embed="rId4"/>
          <a:stretch>
            <a:fillRect/>
          </a:stretch>
        </p:blipFill>
        <p:spPr>
          <a:xfrm>
            <a:off x="1219200" y="4800600"/>
            <a:ext cx="1362075" cy="657225"/>
          </a:xfrm>
          <a:prstGeom prst="rect">
            <a:avLst/>
          </a:prstGeom>
        </p:spPr>
      </p:pic>
      <p:sp>
        <p:nvSpPr>
          <p:cNvPr id="14" name="TextBox 13">
            <a:extLst>
              <a:ext uri="{FF2B5EF4-FFF2-40B4-BE49-F238E27FC236}">
                <a16:creationId xmlns:a16="http://schemas.microsoft.com/office/drawing/2014/main" id="{C1F8CAC1-95F8-4F2B-ADE8-091846A7BCF6}"/>
              </a:ext>
            </a:extLst>
          </p:cNvPr>
          <p:cNvSpPr txBox="1"/>
          <p:nvPr/>
        </p:nvSpPr>
        <p:spPr>
          <a:xfrm>
            <a:off x="1131610" y="5610224"/>
            <a:ext cx="2537379" cy="646331"/>
          </a:xfrm>
          <a:prstGeom prst="rect">
            <a:avLst/>
          </a:prstGeom>
          <a:noFill/>
        </p:spPr>
        <p:txBody>
          <a:bodyPr wrap="square">
            <a:spAutoFit/>
          </a:bodyPr>
          <a:lstStyle/>
          <a:p>
            <a:r>
              <a:rPr lang="en-US" dirty="0">
                <a:solidFill>
                  <a:schemeClr val="bg1"/>
                </a:solidFill>
                <a:effectLst/>
              </a:rPr>
              <a:t>Ω, is angular velocity measured in rad/s,</a:t>
            </a:r>
          </a:p>
        </p:txBody>
      </p:sp>
    </p:spTree>
    <p:extLst>
      <p:ext uri="{BB962C8B-B14F-4D97-AF65-F5344CB8AC3E}">
        <p14:creationId xmlns:p14="http://schemas.microsoft.com/office/powerpoint/2010/main" val="125624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C46AE1-0568-4384-BB42-7F0919E96E48}"/>
              </a:ext>
            </a:extLst>
          </p:cNvPr>
          <p:cNvSpPr>
            <a:spLocks noGrp="1"/>
          </p:cNvSpPr>
          <p:nvPr>
            <p:ph type="sldNum" sz="quarter" idx="12"/>
          </p:nvPr>
        </p:nvSpPr>
        <p:spPr/>
        <p:txBody>
          <a:bodyPr/>
          <a:lstStyle/>
          <a:p>
            <a:fld id="{122D24B2-5D52-46F7-B915-67CABB3AD0CF}" type="slidenum">
              <a:rPr lang="en-US" smtClean="0"/>
              <a:pPr/>
              <a:t>16</a:t>
            </a:fld>
            <a:endParaRPr lang="en-US" dirty="0"/>
          </a:p>
        </p:txBody>
      </p:sp>
      <p:sp>
        <p:nvSpPr>
          <p:cNvPr id="3" name="Text Placeholder 2">
            <a:extLst>
              <a:ext uri="{FF2B5EF4-FFF2-40B4-BE49-F238E27FC236}">
                <a16:creationId xmlns:a16="http://schemas.microsoft.com/office/drawing/2014/main" id="{1F13F352-0D4C-4EB8-BE83-66BD7B34472E}"/>
              </a:ext>
            </a:extLst>
          </p:cNvPr>
          <p:cNvSpPr>
            <a:spLocks noGrp="1"/>
          </p:cNvSpPr>
          <p:nvPr>
            <p:ph type="body" sz="quarter" idx="13"/>
          </p:nvPr>
        </p:nvSpPr>
        <p:spPr/>
        <p:txBody>
          <a:bodyPr/>
          <a:lstStyle/>
          <a:p>
            <a:r>
              <a:rPr lang="en-CA" dirty="0"/>
              <a:t>It can be shown that power coefficient can have a maximum theoretical value. </a:t>
            </a:r>
          </a:p>
          <a:p>
            <a:r>
              <a:rPr lang="en-CA" dirty="0"/>
              <a:t>This limit is known as Betz limit and is 0.5926</a:t>
            </a:r>
          </a:p>
        </p:txBody>
      </p:sp>
      <p:sp>
        <p:nvSpPr>
          <p:cNvPr id="4" name="Title 3">
            <a:extLst>
              <a:ext uri="{FF2B5EF4-FFF2-40B4-BE49-F238E27FC236}">
                <a16:creationId xmlns:a16="http://schemas.microsoft.com/office/drawing/2014/main" id="{50FA543E-ACF9-4697-9505-51C4EF6C9390}"/>
              </a:ext>
            </a:extLst>
          </p:cNvPr>
          <p:cNvSpPr>
            <a:spLocks noGrp="1"/>
          </p:cNvSpPr>
          <p:nvPr>
            <p:ph type="title"/>
          </p:nvPr>
        </p:nvSpPr>
        <p:spPr/>
        <p:txBody>
          <a:bodyPr/>
          <a:lstStyle/>
          <a:p>
            <a:r>
              <a:rPr lang="en-US" dirty="0">
                <a:effectLst/>
              </a:rPr>
              <a:t>Theoretical Limits on Turbine Performance – Bentz Limit</a:t>
            </a:r>
            <a:br>
              <a:rPr lang="en-US" dirty="0">
                <a:effectLst/>
              </a:rPr>
            </a:br>
            <a:endParaRPr lang="en-CA" dirty="0"/>
          </a:p>
        </p:txBody>
      </p:sp>
      <p:pic>
        <p:nvPicPr>
          <p:cNvPr id="5" name="Picture 2">
            <a:extLst>
              <a:ext uri="{FF2B5EF4-FFF2-40B4-BE49-F238E27FC236}">
                <a16:creationId xmlns:a16="http://schemas.microsoft.com/office/drawing/2014/main" id="{68C116CB-BF23-4DF0-A52D-08BD7559E672}"/>
              </a:ext>
            </a:extLst>
          </p:cNvPr>
          <p:cNvPicPr>
            <a:picLocks noChangeAspect="1" noChangeArrowheads="1"/>
          </p:cNvPicPr>
          <p:nvPr/>
        </p:nvPicPr>
        <p:blipFill>
          <a:blip r:embed="rId2" cstate="print"/>
          <a:srcRect b="22973"/>
          <a:stretch>
            <a:fillRect/>
          </a:stretch>
        </p:blipFill>
        <p:spPr bwMode="auto">
          <a:xfrm>
            <a:off x="1219200" y="3435765"/>
            <a:ext cx="6086475" cy="3422235"/>
          </a:xfrm>
          <a:prstGeom prst="rect">
            <a:avLst/>
          </a:prstGeom>
          <a:noFill/>
          <a:ln w="9525">
            <a:noFill/>
            <a:miter lim="800000"/>
            <a:headEnd/>
            <a:tailEnd/>
          </a:ln>
        </p:spPr>
      </p:pic>
    </p:spTree>
    <p:extLst>
      <p:ext uri="{BB962C8B-B14F-4D97-AF65-F5344CB8AC3E}">
        <p14:creationId xmlns:p14="http://schemas.microsoft.com/office/powerpoint/2010/main" val="1549647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2 İçerik Yer Tutucusu"/>
          <p:cNvSpPr>
            <a:spLocks noGrp="1"/>
          </p:cNvSpPr>
          <p:nvPr>
            <p:ph idx="1"/>
          </p:nvPr>
        </p:nvSpPr>
        <p:spPr>
          <a:xfrm>
            <a:off x="155575" y="1447800"/>
            <a:ext cx="5102225" cy="3733800"/>
          </a:xfrm>
        </p:spPr>
        <p:txBody>
          <a:bodyPr/>
          <a:lstStyle/>
          <a:p>
            <a:pPr marL="0">
              <a:spcBef>
                <a:spcPts val="600"/>
              </a:spcBef>
              <a:spcAft>
                <a:spcPts val="600"/>
              </a:spcAft>
              <a:buNone/>
            </a:pPr>
            <a:r>
              <a:rPr lang="en-US" sz="2100" dirty="0">
                <a:latin typeface="Calibri" pitchFamily="34" charset="0"/>
              </a:rPr>
              <a:t>Every wind turbine has a characteristic power performance curve</a:t>
            </a:r>
            <a:r>
              <a:rPr lang="tr-TR" sz="2100" dirty="0">
                <a:latin typeface="Calibri" pitchFamily="34" charset="0"/>
              </a:rPr>
              <a:t>.</a:t>
            </a:r>
          </a:p>
          <a:p>
            <a:pPr marL="0">
              <a:spcBef>
                <a:spcPts val="600"/>
              </a:spcBef>
              <a:spcAft>
                <a:spcPts val="600"/>
              </a:spcAft>
              <a:buNone/>
            </a:pPr>
            <a:r>
              <a:rPr lang="en-US" sz="2100" b="1" dirty="0">
                <a:solidFill>
                  <a:srgbClr val="0000FF"/>
                </a:solidFill>
                <a:latin typeface="Calibri" pitchFamily="34" charset="0"/>
              </a:rPr>
              <a:t>Cut-in speed </a:t>
            </a:r>
            <a:r>
              <a:rPr lang="en-US" sz="2100" dirty="0">
                <a:latin typeface="Calibri" pitchFamily="34" charset="0"/>
              </a:rPr>
              <a:t>is the minimum wind speed at which useful power can be generated.</a:t>
            </a:r>
          </a:p>
          <a:p>
            <a:pPr marL="0">
              <a:spcBef>
                <a:spcPts val="600"/>
              </a:spcBef>
              <a:spcAft>
                <a:spcPts val="600"/>
              </a:spcAft>
              <a:buNone/>
            </a:pPr>
            <a:r>
              <a:rPr lang="en-US" sz="2100" b="1" dirty="0">
                <a:solidFill>
                  <a:srgbClr val="0000FF"/>
                </a:solidFill>
                <a:latin typeface="Calibri" pitchFamily="34" charset="0"/>
              </a:rPr>
              <a:t>Rated speed </a:t>
            </a:r>
            <a:r>
              <a:rPr lang="en-US" sz="2100" dirty="0">
                <a:latin typeface="Calibri" pitchFamily="34" charset="0"/>
              </a:rPr>
              <a:t>is the wind speed that delivers the rated power, usually the maximum power.</a:t>
            </a:r>
          </a:p>
        </p:txBody>
      </p:sp>
      <p:pic>
        <p:nvPicPr>
          <p:cNvPr id="8195" name="Picture 2"/>
          <p:cNvPicPr>
            <a:picLocks noChangeAspect="1" noChangeArrowheads="1"/>
          </p:cNvPicPr>
          <p:nvPr/>
        </p:nvPicPr>
        <p:blipFill>
          <a:blip r:embed="rId2" cstate="print"/>
          <a:srcRect b="36000"/>
          <a:stretch>
            <a:fillRect/>
          </a:stretch>
        </p:blipFill>
        <p:spPr bwMode="auto">
          <a:xfrm>
            <a:off x="5321610" y="1676400"/>
            <a:ext cx="3636963" cy="2209800"/>
          </a:xfrm>
          <a:prstGeom prst="rect">
            <a:avLst/>
          </a:prstGeom>
          <a:noFill/>
          <a:ln w="9525">
            <a:noFill/>
            <a:miter lim="800000"/>
            <a:headEnd/>
            <a:tailEnd/>
          </a:ln>
        </p:spPr>
      </p:pic>
      <p:sp>
        <p:nvSpPr>
          <p:cNvPr id="6" name="Title 3">
            <a:extLst>
              <a:ext uri="{FF2B5EF4-FFF2-40B4-BE49-F238E27FC236}">
                <a16:creationId xmlns:a16="http://schemas.microsoft.com/office/drawing/2014/main" id="{BD331F67-D92B-4177-801C-C4686FB2842C}"/>
              </a:ext>
            </a:extLst>
          </p:cNvPr>
          <p:cNvSpPr>
            <a:spLocks noGrp="1"/>
          </p:cNvSpPr>
          <p:nvPr>
            <p:ph type="title"/>
          </p:nvPr>
        </p:nvSpPr>
        <p:spPr>
          <a:xfrm>
            <a:off x="533400" y="697150"/>
            <a:ext cx="7810500" cy="979250"/>
          </a:xfrm>
        </p:spPr>
        <p:txBody>
          <a:bodyPr/>
          <a:lstStyle/>
          <a:p>
            <a:pPr algn="l"/>
            <a:r>
              <a:rPr lang="en-CA" b="1" dirty="0">
                <a:solidFill>
                  <a:schemeClr val="accent2"/>
                </a:solidFill>
                <a:latin typeface="Arial" panose="020B0604020202020204" pitchFamily="34" charset="0"/>
                <a:cs typeface="Arial" panose="020B0604020202020204" pitchFamily="34" charset="0"/>
              </a:rPr>
              <a:t>Characteristic Power Curve</a:t>
            </a:r>
          </a:p>
        </p:txBody>
      </p:sp>
      <p:sp>
        <p:nvSpPr>
          <p:cNvPr id="7" name="TextBox 6">
            <a:extLst>
              <a:ext uri="{FF2B5EF4-FFF2-40B4-BE49-F238E27FC236}">
                <a16:creationId xmlns:a16="http://schemas.microsoft.com/office/drawing/2014/main" id="{1332712D-44CB-4FEC-910F-70879004415B}"/>
              </a:ext>
            </a:extLst>
          </p:cNvPr>
          <p:cNvSpPr txBox="1"/>
          <p:nvPr/>
        </p:nvSpPr>
        <p:spPr>
          <a:xfrm>
            <a:off x="155575" y="4327520"/>
            <a:ext cx="8763000" cy="1708160"/>
          </a:xfrm>
          <a:prstGeom prst="rect">
            <a:avLst/>
          </a:prstGeom>
          <a:noFill/>
        </p:spPr>
        <p:txBody>
          <a:bodyPr wrap="square">
            <a:spAutoFit/>
          </a:bodyPr>
          <a:lstStyle/>
          <a:p>
            <a:pPr marL="0">
              <a:spcBef>
                <a:spcPts val="600"/>
              </a:spcBef>
              <a:spcAft>
                <a:spcPts val="600"/>
              </a:spcAft>
              <a:buNone/>
            </a:pPr>
            <a:r>
              <a:rPr lang="en-US" sz="2100" b="1" dirty="0">
                <a:solidFill>
                  <a:srgbClr val="0000FF"/>
                </a:solidFill>
                <a:latin typeface="Calibri" pitchFamily="34" charset="0"/>
                <a:ea typeface="Verdana" panose="020B0604030504040204" pitchFamily="34" charset="0"/>
              </a:rPr>
              <a:t>Cut-out speed </a:t>
            </a:r>
            <a:r>
              <a:rPr lang="en-US" sz="2100" dirty="0">
                <a:solidFill>
                  <a:srgbClr val="002060"/>
                </a:solidFill>
                <a:latin typeface="Calibri" pitchFamily="34" charset="0"/>
                <a:ea typeface="Verdana" panose="020B0604030504040204" pitchFamily="34" charset="0"/>
              </a:rPr>
              <a:t>is the maximum wind speed at which the wind turbine is designed to produce power. At wind speeds greater than the cut-out speed, the turbine blades are stopped by some type of braking mechanism to avoid damage and for safety issues.</a:t>
            </a:r>
            <a:r>
              <a:rPr lang="tr-TR" sz="2100" dirty="0">
                <a:solidFill>
                  <a:srgbClr val="002060"/>
                </a:solidFill>
                <a:latin typeface="Calibri" pitchFamily="34" charset="0"/>
                <a:ea typeface="Verdana" panose="020B0604030504040204" pitchFamily="34" charset="0"/>
              </a:rPr>
              <a:t> </a:t>
            </a:r>
            <a:r>
              <a:rPr lang="en-US" sz="2100" dirty="0">
                <a:solidFill>
                  <a:srgbClr val="002060"/>
                </a:solidFill>
                <a:latin typeface="Calibri" pitchFamily="34" charset="0"/>
                <a:ea typeface="Verdana" panose="020B0604030504040204" pitchFamily="34" charset="0"/>
              </a:rPr>
              <a:t>The short section of dashed blue line indicates the power that would  be produced if cut-out were not implemented.</a:t>
            </a:r>
            <a:endParaRPr lang="tr-TR" sz="2100" dirty="0">
              <a:solidFill>
                <a:srgbClr val="002060"/>
              </a:solidFill>
              <a:latin typeface="Calibri" pitchFamily="34" charset="0"/>
              <a:ea typeface="Verdan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4 Metin kutusu"/>
          <p:cNvSpPr txBox="1">
            <a:spLocks noChangeArrowheads="1"/>
          </p:cNvSpPr>
          <p:nvPr/>
        </p:nvSpPr>
        <p:spPr bwMode="auto">
          <a:xfrm>
            <a:off x="443060" y="2124085"/>
            <a:ext cx="7086600" cy="1261884"/>
          </a:xfrm>
          <a:prstGeom prst="rect">
            <a:avLst/>
          </a:prstGeom>
          <a:noFill/>
          <a:ln w="9525">
            <a:noFill/>
            <a:miter lim="800000"/>
            <a:headEnd/>
            <a:tailEnd/>
          </a:ln>
        </p:spPr>
        <p:txBody>
          <a:bodyPr wrap="square">
            <a:spAutoFit/>
          </a:bodyPr>
          <a:lstStyle/>
          <a:p>
            <a:pPr>
              <a:spcBef>
                <a:spcPts val="600"/>
              </a:spcBef>
              <a:spcAft>
                <a:spcPts val="600"/>
              </a:spcAft>
              <a:buClr>
                <a:srgbClr val="FF0000"/>
              </a:buClr>
            </a:pPr>
            <a:r>
              <a:rPr lang="en-US" sz="2200" b="0" dirty="0">
                <a:solidFill>
                  <a:schemeClr val="bg1"/>
                </a:solidFill>
                <a:latin typeface="Calibri" pitchFamily="34" charset="0"/>
              </a:rPr>
              <a:t>The design of HAWT turbine blades includes tapering and twist to control the turbine and maximize</a:t>
            </a:r>
            <a:r>
              <a:rPr lang="tr-TR" sz="2200" b="0" dirty="0">
                <a:solidFill>
                  <a:schemeClr val="bg1"/>
                </a:solidFill>
                <a:latin typeface="Calibri" pitchFamily="34" charset="0"/>
              </a:rPr>
              <a:t> </a:t>
            </a:r>
            <a:r>
              <a:rPr lang="en-US" sz="2200" b="0" dirty="0">
                <a:solidFill>
                  <a:schemeClr val="bg1"/>
                </a:solidFill>
                <a:latin typeface="Calibri" pitchFamily="34" charset="0"/>
              </a:rPr>
              <a:t>performance.</a:t>
            </a:r>
            <a:endParaRPr lang="tr-TR" sz="2200" b="0" dirty="0">
              <a:solidFill>
                <a:schemeClr val="bg1"/>
              </a:solidFill>
              <a:latin typeface="Calibri" pitchFamily="34" charset="0"/>
            </a:endParaRPr>
          </a:p>
          <a:p>
            <a:pPr>
              <a:spcBef>
                <a:spcPts val="600"/>
              </a:spcBef>
              <a:spcAft>
                <a:spcPts val="600"/>
              </a:spcAft>
              <a:buClr>
                <a:srgbClr val="FF0000"/>
              </a:buClr>
            </a:pPr>
            <a:r>
              <a:rPr lang="en-CA" sz="2200" b="0" dirty="0">
                <a:solidFill>
                  <a:schemeClr val="bg1"/>
                </a:solidFill>
                <a:latin typeface="Calibri" pitchFamily="34" charset="0"/>
              </a:rPr>
              <a:t> </a:t>
            </a:r>
            <a:endParaRPr lang="tr-TR" sz="2200" b="0" dirty="0">
              <a:solidFill>
                <a:schemeClr val="bg1"/>
              </a:solidFill>
              <a:latin typeface="Calibri" pitchFamily="34" charset="0"/>
            </a:endParaRPr>
          </a:p>
        </p:txBody>
      </p:sp>
      <p:pic>
        <p:nvPicPr>
          <p:cNvPr id="3" name="Picture 2">
            <a:extLst>
              <a:ext uri="{FF2B5EF4-FFF2-40B4-BE49-F238E27FC236}">
                <a16:creationId xmlns:a16="http://schemas.microsoft.com/office/drawing/2014/main" id="{410ECF6A-F268-40B8-AE6B-283B10BEBE43}"/>
              </a:ext>
            </a:extLst>
          </p:cNvPr>
          <p:cNvPicPr>
            <a:picLocks noChangeAspect="1"/>
          </p:cNvPicPr>
          <p:nvPr/>
        </p:nvPicPr>
        <p:blipFill>
          <a:blip r:embed="rId2"/>
          <a:stretch>
            <a:fillRect/>
          </a:stretch>
        </p:blipFill>
        <p:spPr>
          <a:xfrm>
            <a:off x="228600" y="3200400"/>
            <a:ext cx="4343400" cy="2709644"/>
          </a:xfrm>
          <a:prstGeom prst="rect">
            <a:avLst/>
          </a:prstGeom>
        </p:spPr>
      </p:pic>
      <p:pic>
        <p:nvPicPr>
          <p:cNvPr id="5" name="Picture 4">
            <a:extLst>
              <a:ext uri="{FF2B5EF4-FFF2-40B4-BE49-F238E27FC236}">
                <a16:creationId xmlns:a16="http://schemas.microsoft.com/office/drawing/2014/main" id="{8952E67F-08B1-46F1-AD02-2AC880DE3355}"/>
              </a:ext>
            </a:extLst>
          </p:cNvPr>
          <p:cNvPicPr>
            <a:picLocks noChangeAspect="1"/>
          </p:cNvPicPr>
          <p:nvPr/>
        </p:nvPicPr>
        <p:blipFill rotWithShape="1">
          <a:blip r:embed="rId3"/>
          <a:srcRect l="9856" r="10997" b="21214"/>
          <a:stretch/>
        </p:blipFill>
        <p:spPr>
          <a:xfrm>
            <a:off x="4724400" y="3349221"/>
            <a:ext cx="4059284" cy="2100084"/>
          </a:xfrm>
          <a:prstGeom prst="rect">
            <a:avLst/>
          </a:prstGeom>
        </p:spPr>
      </p:pic>
      <p:sp>
        <p:nvSpPr>
          <p:cNvPr id="6" name="Title 3">
            <a:extLst>
              <a:ext uri="{FF2B5EF4-FFF2-40B4-BE49-F238E27FC236}">
                <a16:creationId xmlns:a16="http://schemas.microsoft.com/office/drawing/2014/main" id="{DC5A1F14-7D78-4B7B-AC7D-1E2453721A4D}"/>
              </a:ext>
            </a:extLst>
          </p:cNvPr>
          <p:cNvSpPr>
            <a:spLocks noGrp="1"/>
          </p:cNvSpPr>
          <p:nvPr>
            <p:ph type="title"/>
          </p:nvPr>
        </p:nvSpPr>
        <p:spPr>
          <a:xfrm>
            <a:off x="457200" y="1060603"/>
            <a:ext cx="7810500" cy="979250"/>
          </a:xfrm>
        </p:spPr>
        <p:txBody>
          <a:bodyPr/>
          <a:lstStyle/>
          <a:p>
            <a:pPr algn="l"/>
            <a:r>
              <a:rPr lang="en-CA" b="1" dirty="0">
                <a:solidFill>
                  <a:schemeClr val="accent2"/>
                </a:solidFill>
                <a:latin typeface="Arial" panose="020B0604020202020204" pitchFamily="34" charset="0"/>
                <a:cs typeface="Arial" panose="020B0604020202020204" pitchFamily="34" charset="0"/>
              </a:rPr>
              <a:t>Wind Turbine Control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4 Metin kutusu"/>
          <p:cNvSpPr txBox="1">
            <a:spLocks noChangeArrowheads="1"/>
          </p:cNvSpPr>
          <p:nvPr/>
        </p:nvSpPr>
        <p:spPr bwMode="auto">
          <a:xfrm>
            <a:off x="443060" y="2124085"/>
            <a:ext cx="8624740" cy="923330"/>
          </a:xfrm>
          <a:prstGeom prst="rect">
            <a:avLst/>
          </a:prstGeom>
          <a:noFill/>
          <a:ln w="9525">
            <a:noFill/>
            <a:miter lim="800000"/>
            <a:headEnd/>
            <a:tailEnd/>
          </a:ln>
        </p:spPr>
        <p:txBody>
          <a:bodyPr wrap="square">
            <a:spAutoFit/>
          </a:bodyPr>
          <a:lstStyle/>
          <a:p>
            <a:pPr>
              <a:spcBef>
                <a:spcPts val="600"/>
              </a:spcBef>
              <a:spcAft>
                <a:spcPts val="600"/>
              </a:spcAft>
              <a:buClr>
                <a:srgbClr val="FF0000"/>
              </a:buClr>
            </a:pPr>
            <a:r>
              <a:rPr lang="en-CA" sz="2200" b="0" dirty="0">
                <a:solidFill>
                  <a:schemeClr val="bg1"/>
                </a:solidFill>
                <a:latin typeface="Calibri" pitchFamily="34" charset="0"/>
              </a:rPr>
              <a:t>Wind power is controlled through primarily </a:t>
            </a:r>
            <a:r>
              <a:rPr lang="en-CA" sz="2200" b="1" dirty="0">
                <a:solidFill>
                  <a:schemeClr val="bg1"/>
                </a:solidFill>
                <a:latin typeface="Calibri" pitchFamily="34" charset="0"/>
              </a:rPr>
              <a:t>pitch control </a:t>
            </a:r>
            <a:r>
              <a:rPr lang="en-CA" sz="2200" b="0" dirty="0">
                <a:solidFill>
                  <a:schemeClr val="bg1"/>
                </a:solidFill>
                <a:latin typeface="Calibri" pitchFamily="34" charset="0"/>
              </a:rPr>
              <a:t>and </a:t>
            </a:r>
            <a:r>
              <a:rPr lang="en-CA" sz="2200" b="1" dirty="0">
                <a:solidFill>
                  <a:schemeClr val="bg1"/>
                </a:solidFill>
                <a:latin typeface="Calibri" pitchFamily="34" charset="0"/>
              </a:rPr>
              <a:t>yaw control </a:t>
            </a:r>
            <a:endParaRPr lang="tr-TR" sz="2200" b="1" dirty="0">
              <a:solidFill>
                <a:schemeClr val="bg1"/>
              </a:solidFill>
              <a:latin typeface="Calibri" pitchFamily="34" charset="0"/>
            </a:endParaRPr>
          </a:p>
          <a:p>
            <a:pPr>
              <a:spcBef>
                <a:spcPts val="600"/>
              </a:spcBef>
              <a:spcAft>
                <a:spcPts val="600"/>
              </a:spcAft>
              <a:buClr>
                <a:srgbClr val="FF0000"/>
              </a:buClr>
            </a:pPr>
            <a:r>
              <a:rPr lang="en-CA" sz="2200" b="0" dirty="0">
                <a:solidFill>
                  <a:schemeClr val="bg1"/>
                </a:solidFill>
                <a:latin typeface="Calibri" pitchFamily="34" charset="0"/>
              </a:rPr>
              <a:t> </a:t>
            </a:r>
            <a:endParaRPr lang="tr-TR" sz="2200" b="0" dirty="0">
              <a:solidFill>
                <a:schemeClr val="bg1"/>
              </a:solidFill>
              <a:latin typeface="Calibri" pitchFamily="34" charset="0"/>
            </a:endParaRPr>
          </a:p>
        </p:txBody>
      </p:sp>
      <p:sp>
        <p:nvSpPr>
          <p:cNvPr id="6" name="Title 3">
            <a:extLst>
              <a:ext uri="{FF2B5EF4-FFF2-40B4-BE49-F238E27FC236}">
                <a16:creationId xmlns:a16="http://schemas.microsoft.com/office/drawing/2014/main" id="{DC5A1F14-7D78-4B7B-AC7D-1E2453721A4D}"/>
              </a:ext>
            </a:extLst>
          </p:cNvPr>
          <p:cNvSpPr>
            <a:spLocks noGrp="1"/>
          </p:cNvSpPr>
          <p:nvPr>
            <p:ph type="title"/>
          </p:nvPr>
        </p:nvSpPr>
        <p:spPr>
          <a:xfrm>
            <a:off x="457200" y="1060603"/>
            <a:ext cx="7810500" cy="979250"/>
          </a:xfrm>
        </p:spPr>
        <p:txBody>
          <a:bodyPr/>
          <a:lstStyle/>
          <a:p>
            <a:pPr algn="l"/>
            <a:r>
              <a:rPr lang="en-CA" b="1" dirty="0">
                <a:solidFill>
                  <a:schemeClr val="accent2"/>
                </a:solidFill>
                <a:latin typeface="Arial" panose="020B0604020202020204" pitchFamily="34" charset="0"/>
                <a:cs typeface="Arial" panose="020B0604020202020204" pitchFamily="34" charset="0"/>
              </a:rPr>
              <a:t>Wind Turbine Control</a:t>
            </a:r>
          </a:p>
        </p:txBody>
      </p:sp>
      <p:pic>
        <p:nvPicPr>
          <p:cNvPr id="4" name="Picture 3">
            <a:extLst>
              <a:ext uri="{FF2B5EF4-FFF2-40B4-BE49-F238E27FC236}">
                <a16:creationId xmlns:a16="http://schemas.microsoft.com/office/drawing/2014/main" id="{CF7E7B8B-CDEB-44C1-9932-BE66CB427FCE}"/>
              </a:ext>
            </a:extLst>
          </p:cNvPr>
          <p:cNvPicPr>
            <a:picLocks noChangeAspect="1"/>
          </p:cNvPicPr>
          <p:nvPr/>
        </p:nvPicPr>
        <p:blipFill>
          <a:blip r:embed="rId2"/>
          <a:stretch>
            <a:fillRect/>
          </a:stretch>
        </p:blipFill>
        <p:spPr>
          <a:xfrm>
            <a:off x="22781" y="2667000"/>
            <a:ext cx="9144000" cy="3377768"/>
          </a:xfrm>
          <a:prstGeom prst="rect">
            <a:avLst/>
          </a:prstGeom>
        </p:spPr>
      </p:pic>
      <p:sp>
        <p:nvSpPr>
          <p:cNvPr id="9" name="TextBox 8">
            <a:extLst>
              <a:ext uri="{FF2B5EF4-FFF2-40B4-BE49-F238E27FC236}">
                <a16:creationId xmlns:a16="http://schemas.microsoft.com/office/drawing/2014/main" id="{616F1809-FA3C-4FD4-BDF5-9B71832F7CBF}"/>
              </a:ext>
            </a:extLst>
          </p:cNvPr>
          <p:cNvSpPr txBox="1"/>
          <p:nvPr/>
        </p:nvSpPr>
        <p:spPr>
          <a:xfrm>
            <a:off x="4114800" y="6388826"/>
            <a:ext cx="4581426" cy="400110"/>
          </a:xfrm>
          <a:prstGeom prst="rect">
            <a:avLst/>
          </a:prstGeom>
          <a:noFill/>
        </p:spPr>
        <p:txBody>
          <a:bodyPr wrap="square">
            <a:spAutoFit/>
          </a:bodyPr>
          <a:lstStyle/>
          <a:p>
            <a:r>
              <a:rPr lang="en-US" sz="1000" b="0" i="0" u="none" strike="noStrike" baseline="0" dirty="0">
                <a:solidFill>
                  <a:schemeClr val="bg1"/>
                </a:solidFill>
                <a:latin typeface="CenturySchoolbook"/>
              </a:rPr>
              <a:t>Tong, Wei. 2010. “Fundamentals of Wind Energy.” In </a:t>
            </a:r>
            <a:r>
              <a:rPr lang="en-US" sz="1000" b="0" i="1" u="none" strike="noStrike" baseline="0" dirty="0">
                <a:solidFill>
                  <a:schemeClr val="bg1"/>
                </a:solidFill>
                <a:latin typeface="CenturySchoolbook-Italic"/>
              </a:rPr>
              <a:t>Wind Power Generation and Wind Turbine Design</a:t>
            </a:r>
            <a:r>
              <a:rPr lang="en-US" sz="1000" b="0" i="0" u="none" strike="noStrike" baseline="0" dirty="0">
                <a:solidFill>
                  <a:schemeClr val="bg1"/>
                </a:solidFill>
                <a:latin typeface="CenturySchoolbook"/>
              </a:rPr>
              <a:t>, 3–48. Southampton: WIT Press.</a:t>
            </a:r>
            <a:endParaRPr lang="en-CA" sz="10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9E3436-7F11-4B98-B54B-AB778AE04028}"/>
              </a:ext>
            </a:extLst>
          </p:cNvPr>
          <p:cNvSpPr>
            <a:spLocks noGrp="1"/>
          </p:cNvSpPr>
          <p:nvPr>
            <p:ph type="sldNum" sz="quarter" idx="12"/>
          </p:nvPr>
        </p:nvSpPr>
        <p:spPr/>
        <p:txBody>
          <a:bodyPr/>
          <a:lstStyle/>
          <a:p>
            <a:fld id="{122D24B2-5D52-46F7-B915-67CABB3AD0CF}" type="slidenum">
              <a:rPr lang="en-US" smtClean="0"/>
              <a:pPr/>
              <a:t>20</a:t>
            </a:fld>
            <a:endParaRPr lang="en-US" dirty="0"/>
          </a:p>
        </p:txBody>
      </p:sp>
      <p:sp>
        <p:nvSpPr>
          <p:cNvPr id="3" name="Text Placeholder 2">
            <a:extLst>
              <a:ext uri="{FF2B5EF4-FFF2-40B4-BE49-F238E27FC236}">
                <a16:creationId xmlns:a16="http://schemas.microsoft.com/office/drawing/2014/main" id="{F77113A5-0158-454D-BEE9-B8A7AD47C947}"/>
              </a:ext>
            </a:extLst>
          </p:cNvPr>
          <p:cNvSpPr>
            <a:spLocks noGrp="1"/>
          </p:cNvSpPr>
          <p:nvPr>
            <p:ph type="body" sz="quarter" idx="13"/>
          </p:nvPr>
        </p:nvSpPr>
        <p:spPr>
          <a:xfrm>
            <a:off x="-76200" y="2003982"/>
            <a:ext cx="9067800" cy="4157662"/>
          </a:xfrm>
        </p:spPr>
        <p:txBody>
          <a:bodyPr/>
          <a:lstStyle/>
          <a:p>
            <a:pPr lvl="1"/>
            <a:r>
              <a:rPr lang="en-US" sz="1800" b="1" dirty="0">
                <a:effectLst/>
              </a:rPr>
              <a:t>Maximum efficiency range</a:t>
            </a:r>
            <a:r>
              <a:rPr lang="en-US" sz="1800" dirty="0">
                <a:effectLst/>
              </a:rPr>
              <a:t>: As wind speed increases from the cut-in speed, ideal turbine operation seeks to </a:t>
            </a:r>
            <a:r>
              <a:rPr lang="en-US" sz="1800" b="1" i="1" dirty="0">
                <a:effectLst/>
              </a:rPr>
              <a:t>keep TSR in an ideal range to maximize output</a:t>
            </a:r>
            <a:r>
              <a:rPr lang="en-US" sz="1800" dirty="0">
                <a:effectLst/>
              </a:rPr>
              <a:t>. For a utility-size turbine, TSR values between λ = 6 and λ = 8 are typical. Note that due to continuous slight variations in exact wind speed and direction, it is not possible to maintain a precise value for TSR; however, as long as the value is kept within a narrow range, the effect on conversion efficiency is acceptable. </a:t>
            </a:r>
          </a:p>
          <a:p>
            <a:pPr marL="393192" lvl="1" indent="0">
              <a:buNone/>
            </a:pPr>
            <a:endParaRPr lang="en-US" sz="1800" dirty="0">
              <a:effectLst/>
            </a:endParaRPr>
          </a:p>
          <a:p>
            <a:pPr lvl="1"/>
            <a:r>
              <a:rPr lang="en-US" sz="1800" b="1" dirty="0">
                <a:effectLst/>
              </a:rPr>
              <a:t>Maximum output range</a:t>
            </a:r>
            <a:r>
              <a:rPr lang="en-US" sz="1800" dirty="0">
                <a:effectLst/>
              </a:rPr>
              <a:t>: As wind speed continues to increase, at some point before the device reaches the rated wind speed, the goal for ideal turbine operation shifts from maximizing efficiency to </a:t>
            </a:r>
            <a:r>
              <a:rPr lang="en-US" sz="1800" b="1" i="1" dirty="0">
                <a:effectLst/>
              </a:rPr>
              <a:t>maintaining the rated output of the device without excessive physical stress on the various components</a:t>
            </a:r>
            <a:r>
              <a:rPr lang="en-US" sz="1800" dirty="0">
                <a:effectLst/>
              </a:rPr>
              <a:t>, at the expense of lowering TSR. Thus wind speed continues to increase but the tip speed (product of swept area radius and angular velocity) increases only modestly compared to the highest values achieved in the maximum efficiency range.</a:t>
            </a:r>
          </a:p>
          <a:p>
            <a:endParaRPr lang="en-CA" sz="1800" dirty="0"/>
          </a:p>
        </p:txBody>
      </p:sp>
      <p:sp>
        <p:nvSpPr>
          <p:cNvPr id="4" name="Title 3">
            <a:extLst>
              <a:ext uri="{FF2B5EF4-FFF2-40B4-BE49-F238E27FC236}">
                <a16:creationId xmlns:a16="http://schemas.microsoft.com/office/drawing/2014/main" id="{9AB79A2E-C4A4-42F2-A07A-3290799161A6}"/>
              </a:ext>
            </a:extLst>
          </p:cNvPr>
          <p:cNvSpPr>
            <a:spLocks noGrp="1"/>
          </p:cNvSpPr>
          <p:nvPr>
            <p:ph type="title"/>
          </p:nvPr>
        </p:nvSpPr>
        <p:spPr/>
        <p:txBody>
          <a:bodyPr/>
          <a:lstStyle/>
          <a:p>
            <a:r>
              <a:rPr lang="en-CA" dirty="0"/>
              <a:t>Operating Strategies</a:t>
            </a:r>
          </a:p>
        </p:txBody>
      </p:sp>
    </p:spTree>
    <p:extLst>
      <p:ext uri="{BB962C8B-B14F-4D97-AF65-F5344CB8AC3E}">
        <p14:creationId xmlns:p14="http://schemas.microsoft.com/office/powerpoint/2010/main" val="3148577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71670-D9E2-418E-92DA-28608A9AF191}"/>
              </a:ext>
            </a:extLst>
          </p:cNvPr>
          <p:cNvSpPr>
            <a:spLocks noGrp="1"/>
          </p:cNvSpPr>
          <p:nvPr>
            <p:ph type="sldNum" sz="quarter" idx="12"/>
          </p:nvPr>
        </p:nvSpPr>
        <p:spPr/>
        <p:txBody>
          <a:bodyPr/>
          <a:lstStyle/>
          <a:p>
            <a:fld id="{122D24B2-5D52-46F7-B915-67CABB3AD0CF}" type="slidenum">
              <a:rPr lang="en-US" smtClean="0"/>
              <a:pPr/>
              <a:t>21</a:t>
            </a:fld>
            <a:endParaRPr lang="en-US" dirty="0"/>
          </a:p>
        </p:txBody>
      </p:sp>
      <p:sp>
        <p:nvSpPr>
          <p:cNvPr id="3" name="Text Placeholder 2">
            <a:extLst>
              <a:ext uri="{FF2B5EF4-FFF2-40B4-BE49-F238E27FC236}">
                <a16:creationId xmlns:a16="http://schemas.microsoft.com/office/drawing/2014/main" id="{80BDF1EE-6A39-477E-B4F4-BC8A5BA1183A}"/>
              </a:ext>
            </a:extLst>
          </p:cNvPr>
          <p:cNvSpPr>
            <a:spLocks noGrp="1"/>
          </p:cNvSpPr>
          <p:nvPr>
            <p:ph type="body" sz="quarter" idx="13"/>
          </p:nvPr>
        </p:nvSpPr>
        <p:spPr/>
        <p:txBody>
          <a:bodyPr/>
          <a:lstStyle/>
          <a:p>
            <a:r>
              <a:rPr lang="en-US" sz="2000" dirty="0"/>
              <a:t>R</a:t>
            </a:r>
            <a:r>
              <a:rPr lang="en-US" sz="2000" dirty="0">
                <a:effectLst/>
              </a:rPr>
              <a:t>ated capacity or nameplate capacity is the power that turbine produces at rated speed (i.e., maximum power)</a:t>
            </a:r>
          </a:p>
          <a:p>
            <a:r>
              <a:rPr lang="en-US" sz="2000" dirty="0"/>
              <a:t>T</a:t>
            </a:r>
            <a:r>
              <a:rPr lang="en-US" sz="2000" dirty="0">
                <a:effectLst/>
              </a:rPr>
              <a:t>he actual output from wind installations is substantially lower than what would be generated at the rated wind speed continually</a:t>
            </a:r>
          </a:p>
          <a:p>
            <a:r>
              <a:rPr lang="en-US" sz="2000" dirty="0">
                <a:effectLst/>
              </a:rPr>
              <a:t>The </a:t>
            </a:r>
            <a:r>
              <a:rPr lang="en-US" sz="2000" b="1" dirty="0">
                <a:effectLst/>
              </a:rPr>
              <a:t>capacity factor </a:t>
            </a:r>
            <a:r>
              <a:rPr lang="en-US" sz="2000" dirty="0">
                <a:effectLst/>
              </a:rPr>
              <a:t>for a wind turbine is the </a:t>
            </a:r>
            <a:r>
              <a:rPr lang="en-US" sz="2000" i="1" dirty="0">
                <a:effectLst/>
              </a:rPr>
              <a:t>actual annual output</a:t>
            </a:r>
            <a:r>
              <a:rPr lang="en-US" sz="2000" dirty="0">
                <a:effectLst/>
              </a:rPr>
              <a:t> divided by </a:t>
            </a:r>
            <a:r>
              <a:rPr lang="en-US" sz="2000" i="1" dirty="0">
                <a:effectLst/>
              </a:rPr>
              <a:t>the annual output </a:t>
            </a:r>
            <a:r>
              <a:rPr lang="en-US" sz="2000" dirty="0">
                <a:effectLst/>
              </a:rPr>
              <a:t>that would be obtained if the devices functioned </a:t>
            </a:r>
            <a:r>
              <a:rPr lang="en-US" sz="2000" i="1" dirty="0">
                <a:effectLst/>
              </a:rPr>
              <a:t>at rated capacity </a:t>
            </a:r>
            <a:r>
              <a:rPr lang="en-US" sz="2000" dirty="0">
                <a:effectLst/>
              </a:rPr>
              <a:t>for the entire year. For a 1.5 MW turbine that produces13.1 GWh in a year the capacity factor is 44.4%</a:t>
            </a:r>
          </a:p>
          <a:p>
            <a:endParaRPr lang="en-US" sz="2000" dirty="0">
              <a:effectLst/>
            </a:endParaRPr>
          </a:p>
          <a:p>
            <a:endParaRPr lang="en-CA" sz="2000" dirty="0"/>
          </a:p>
        </p:txBody>
      </p:sp>
      <p:sp>
        <p:nvSpPr>
          <p:cNvPr id="4" name="Title 3">
            <a:extLst>
              <a:ext uri="{FF2B5EF4-FFF2-40B4-BE49-F238E27FC236}">
                <a16:creationId xmlns:a16="http://schemas.microsoft.com/office/drawing/2014/main" id="{96F2DAEE-0326-4171-BD1B-B8A80CC0FA9D}"/>
              </a:ext>
            </a:extLst>
          </p:cNvPr>
          <p:cNvSpPr>
            <a:spLocks noGrp="1"/>
          </p:cNvSpPr>
          <p:nvPr>
            <p:ph type="title"/>
          </p:nvPr>
        </p:nvSpPr>
        <p:spPr>
          <a:xfrm>
            <a:off x="609600" y="1001951"/>
            <a:ext cx="8077200" cy="979250"/>
          </a:xfrm>
        </p:spPr>
        <p:txBody>
          <a:bodyPr/>
          <a:lstStyle/>
          <a:p>
            <a:r>
              <a:rPr lang="en-US" dirty="0">
                <a:effectLst/>
              </a:rPr>
              <a:t>Rated Capacity and Capacity Factor</a:t>
            </a:r>
            <a:br>
              <a:rPr lang="en-US" dirty="0">
                <a:effectLst/>
              </a:rPr>
            </a:br>
            <a:endParaRPr lang="en-CA" dirty="0"/>
          </a:p>
        </p:txBody>
      </p:sp>
      <p:pic>
        <p:nvPicPr>
          <p:cNvPr id="6" name="Picture 5">
            <a:extLst>
              <a:ext uri="{FF2B5EF4-FFF2-40B4-BE49-F238E27FC236}">
                <a16:creationId xmlns:a16="http://schemas.microsoft.com/office/drawing/2014/main" id="{5409B38F-2B5A-4300-9C98-2C7336C62311}"/>
              </a:ext>
            </a:extLst>
          </p:cNvPr>
          <p:cNvPicPr>
            <a:picLocks noChangeAspect="1"/>
          </p:cNvPicPr>
          <p:nvPr/>
        </p:nvPicPr>
        <p:blipFill>
          <a:blip r:embed="rId2"/>
          <a:stretch>
            <a:fillRect/>
          </a:stretch>
        </p:blipFill>
        <p:spPr>
          <a:xfrm>
            <a:off x="2462212" y="5389366"/>
            <a:ext cx="4105275" cy="876300"/>
          </a:xfrm>
          <a:prstGeom prst="rect">
            <a:avLst/>
          </a:prstGeom>
        </p:spPr>
      </p:pic>
    </p:spTree>
    <p:extLst>
      <p:ext uri="{BB962C8B-B14F-4D97-AF65-F5344CB8AC3E}">
        <p14:creationId xmlns:p14="http://schemas.microsoft.com/office/powerpoint/2010/main" val="1380789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9AF589-0A3A-4A3F-B3C8-E8C3109FFE85}"/>
              </a:ext>
            </a:extLst>
          </p:cNvPr>
          <p:cNvSpPr>
            <a:spLocks noGrp="1"/>
          </p:cNvSpPr>
          <p:nvPr>
            <p:ph type="sldNum" sz="quarter" idx="12"/>
          </p:nvPr>
        </p:nvSpPr>
        <p:spPr/>
        <p:txBody>
          <a:bodyPr/>
          <a:lstStyle/>
          <a:p>
            <a:fld id="{122D24B2-5D52-46F7-B915-67CABB3AD0CF}" type="slidenum">
              <a:rPr lang="en-US" smtClean="0"/>
              <a:pPr/>
              <a:t>22</a:t>
            </a:fld>
            <a:endParaRPr lang="en-US" dirty="0"/>
          </a:p>
        </p:txBody>
      </p:sp>
      <p:sp>
        <p:nvSpPr>
          <p:cNvPr id="3" name="Text Placeholder 2">
            <a:extLst>
              <a:ext uri="{FF2B5EF4-FFF2-40B4-BE49-F238E27FC236}">
                <a16:creationId xmlns:a16="http://schemas.microsoft.com/office/drawing/2014/main" id="{9FD0D21F-071D-4124-8584-25E9F4B88BE4}"/>
              </a:ext>
            </a:extLst>
          </p:cNvPr>
          <p:cNvSpPr>
            <a:spLocks noGrp="1"/>
          </p:cNvSpPr>
          <p:nvPr>
            <p:ph type="body" sz="quarter" idx="13"/>
          </p:nvPr>
        </p:nvSpPr>
        <p:spPr>
          <a:xfrm>
            <a:off x="304800" y="1752600"/>
            <a:ext cx="8458200" cy="4157662"/>
          </a:xfrm>
        </p:spPr>
        <p:txBody>
          <a:bodyPr/>
          <a:lstStyle/>
          <a:p>
            <a:r>
              <a:rPr lang="en-CA" sz="2000" b="1" dirty="0"/>
              <a:t>Noise: </a:t>
            </a:r>
            <a:r>
              <a:rPr lang="en-US" sz="2000" dirty="0"/>
              <a:t>this is a local concern for residents living within a kilometer or so of the wind turbine.</a:t>
            </a:r>
            <a:endParaRPr lang="en-CA" sz="2000" dirty="0"/>
          </a:p>
          <a:p>
            <a:r>
              <a:rPr lang="en-CA" sz="2000" b="1" dirty="0"/>
              <a:t>Effect on wildlife </a:t>
            </a:r>
            <a:r>
              <a:rPr lang="en-US" sz="2000" dirty="0"/>
              <a:t>(i.e., risk to birds, bats, etc.): studies have shown that other anthropogenic factors (power lines, vehicles, etc.) are a much greater concern.</a:t>
            </a:r>
            <a:endParaRPr lang="en-CA" sz="2000" dirty="0"/>
          </a:p>
          <a:p>
            <a:r>
              <a:rPr lang="en-CA" sz="2000" b="1" dirty="0"/>
              <a:t>Land use</a:t>
            </a:r>
            <a:r>
              <a:rPr lang="en-CA" sz="2000" dirty="0"/>
              <a:t>: </a:t>
            </a:r>
            <a:r>
              <a:rPr lang="en-US" sz="2000" dirty="0"/>
              <a:t>wind power is more compatible with dual land use than many other forms of energy. In many cases wind power and agriculture or solar energy can utilize common land. </a:t>
            </a:r>
            <a:endParaRPr lang="en-CA" sz="2000" dirty="0"/>
          </a:p>
          <a:p>
            <a:r>
              <a:rPr lang="en-CA" sz="2000" b="1" dirty="0"/>
              <a:t>Aesthetics</a:t>
            </a:r>
            <a:r>
              <a:rPr lang="en-CA" sz="2000" dirty="0"/>
              <a:t>: </a:t>
            </a: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 concern associated with virtually all energy production methods</a:t>
            </a:r>
          </a:p>
          <a:p>
            <a:r>
              <a:rPr lang="en-CA" sz="2000" b="1" dirty="0"/>
              <a:t>Accidents</a:t>
            </a:r>
            <a:r>
              <a:rPr lang="en-CA" sz="2000" dirty="0"/>
              <a:t>: </a:t>
            </a:r>
            <a:r>
              <a:rPr kumimoji="0" lang="en-CA"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Accidents can result from turbine failure e.g., generator fires, tower collapse or blade breakage (or a combination of these). These are a concern for nearby residents and roadways.</a:t>
            </a:r>
          </a:p>
          <a:p>
            <a:endParaRPr lang="en-CA" sz="2000" dirty="0"/>
          </a:p>
        </p:txBody>
      </p:sp>
      <p:sp>
        <p:nvSpPr>
          <p:cNvPr id="4" name="Title 3">
            <a:extLst>
              <a:ext uri="{FF2B5EF4-FFF2-40B4-BE49-F238E27FC236}">
                <a16:creationId xmlns:a16="http://schemas.microsoft.com/office/drawing/2014/main" id="{C632007F-561F-4445-AAC5-14E98D15E877}"/>
              </a:ext>
            </a:extLst>
          </p:cNvPr>
          <p:cNvSpPr>
            <a:spLocks noGrp="1"/>
          </p:cNvSpPr>
          <p:nvPr>
            <p:ph type="title"/>
          </p:nvPr>
        </p:nvSpPr>
        <p:spPr>
          <a:xfrm>
            <a:off x="628650" y="838200"/>
            <a:ext cx="7810500" cy="979250"/>
          </a:xfrm>
        </p:spPr>
        <p:txBody>
          <a:bodyPr/>
          <a:lstStyle/>
          <a:p>
            <a:r>
              <a:rPr lang="en-CA" dirty="0"/>
              <a:t>Environmental Consideration</a:t>
            </a:r>
          </a:p>
        </p:txBody>
      </p:sp>
    </p:spTree>
    <p:extLst>
      <p:ext uri="{BB962C8B-B14F-4D97-AF65-F5344CB8AC3E}">
        <p14:creationId xmlns:p14="http://schemas.microsoft.com/office/powerpoint/2010/main" val="22956083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3.xml><?xml version="1.0" encoding="utf-8"?>
<a:theme xmlns:a="http://schemas.openxmlformats.org/drawingml/2006/main" name="2_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33444</TotalTime>
  <Words>1884</Words>
  <Application>Microsoft Office PowerPoint</Application>
  <PresentationFormat>On-screen Show (4:3)</PresentationFormat>
  <Paragraphs>143</Paragraphs>
  <Slides>22</Slides>
  <Notes>1</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22</vt:i4>
      </vt:variant>
    </vt:vector>
  </HeadingPairs>
  <TitlesOfParts>
    <vt:vector size="36" baseType="lpstr">
      <vt:lpstr>Arial</vt:lpstr>
      <vt:lpstr>Calibri</vt:lpstr>
      <vt:lpstr>Cambria Math</vt:lpstr>
      <vt:lpstr>Candara</vt:lpstr>
      <vt:lpstr>CenturySchoolbook</vt:lpstr>
      <vt:lpstr>CenturySchoolbook-Italic</vt:lpstr>
      <vt:lpstr>Constantia</vt:lpstr>
      <vt:lpstr>Symbol</vt:lpstr>
      <vt:lpstr>Verdana</vt:lpstr>
      <vt:lpstr>Wingdings</vt:lpstr>
      <vt:lpstr>Wingdings 2</vt:lpstr>
      <vt:lpstr>Flow</vt:lpstr>
      <vt:lpstr>1_Waveform</vt:lpstr>
      <vt:lpstr>2_Waveform</vt:lpstr>
      <vt:lpstr>PowerPoint Presentation</vt:lpstr>
      <vt:lpstr>References</vt:lpstr>
      <vt:lpstr>Learning Objectives</vt:lpstr>
      <vt:lpstr>PowerPoint Presentation</vt:lpstr>
      <vt:lpstr>WIND TURBINE TYPES</vt:lpstr>
      <vt:lpstr>HAWT</vt:lpstr>
      <vt:lpstr>Onshore and Offshore Wind </vt:lpstr>
      <vt:lpstr>Wind Resource and Wind Resource Models</vt:lpstr>
      <vt:lpstr>Statistical Distributions to Approximate Available Energy </vt:lpstr>
      <vt:lpstr>Example</vt:lpstr>
      <vt:lpstr>Wind Speed vs. Height</vt:lpstr>
      <vt:lpstr>Wind Power Potential</vt:lpstr>
      <vt:lpstr>Wind Power Potential</vt:lpstr>
      <vt:lpstr>Wind Power Density</vt:lpstr>
      <vt:lpstr>Wind Turbine Efficiency – Power Coefficient</vt:lpstr>
      <vt:lpstr>Theoretical Limits on Turbine Performance – Bentz Limit </vt:lpstr>
      <vt:lpstr>Characteristic Power Curve</vt:lpstr>
      <vt:lpstr>Wind Turbine Control</vt:lpstr>
      <vt:lpstr>Wind Turbine Control</vt:lpstr>
      <vt:lpstr>Operating Strategies</vt:lpstr>
      <vt:lpstr>Rated Capacity and Capacity Factor </vt:lpstr>
      <vt:lpstr>Environmental Consideration</vt:lpstr>
    </vt:vector>
  </TitlesOfParts>
  <Company>NTL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altit</dc:creator>
  <cp:lastModifiedBy>Amin Ghobeity</cp:lastModifiedBy>
  <cp:revision>2318</cp:revision>
  <dcterms:created xsi:type="dcterms:W3CDTF">2013-10-11T17:23:38Z</dcterms:created>
  <dcterms:modified xsi:type="dcterms:W3CDTF">2022-07-21T21:38:44Z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