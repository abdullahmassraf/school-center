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57" r:id="rId4"/>
    <p:sldId id="260" r:id="rId5"/>
    <p:sldId id="258" r:id="rId6"/>
    <p:sldId id="259" r:id="rId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707CE-01A0-470D-A1BA-486E20CC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CEB9D-9C56-435A-8889-E5D542ECD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EFB8A-2106-4C55-9DB3-48C0CBE7F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1643-C415-4DF8-B71B-4E0E4A254A94}" type="datetimeFigureOut">
              <a:rPr lang="en-CA" smtClean="0"/>
              <a:t>2022-07-14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07BCE-8930-41D2-9C62-23507BE8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24FD8-5A32-4F2F-946B-5DE33815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08A0-F63A-4F7B-B7C1-D77513312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111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20904-02E7-46B8-8888-AD7A65632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AEACD-C908-481B-9AB1-01FD44DA6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14E1B-02B1-426C-A441-25E352802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1643-C415-4DF8-B71B-4E0E4A254A94}" type="datetimeFigureOut">
              <a:rPr lang="en-CA" smtClean="0"/>
              <a:t>2022-07-14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75D40-09EA-4F30-BF65-86034A45A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5065E-2332-4B69-94C5-08DF855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08A0-F63A-4F7B-B7C1-D77513312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0724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ADD95-C10E-4BAC-BE27-01793313C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1122A-0C24-4818-A5A2-C75F5CFEE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0FB84-21A6-4FE3-8997-1D9656819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1643-C415-4DF8-B71B-4E0E4A254A94}" type="datetimeFigureOut">
              <a:rPr lang="en-CA" smtClean="0"/>
              <a:t>2022-07-14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113CF-F37A-4408-93E3-F53D09E60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6FF28-0ACF-49C2-A899-FCC20069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08A0-F63A-4F7B-B7C1-D77513312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8999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8B6CF-7E3F-42E3-AA92-28EC9E743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DEE02-24E8-4EB3-A220-A947AB5ED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A9209-6015-4695-B978-2C9EEF7A9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26286-ECDF-43EE-BB4A-2C642E605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1643-C415-4DF8-B71B-4E0E4A254A94}" type="datetimeFigureOut">
              <a:rPr lang="en-CA" smtClean="0"/>
              <a:t>2022-07-14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46E7C8-6334-4EE5-90D3-2AEB9EF79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62EDD-ED43-4DCF-9C71-0DA2CC86C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08A0-F63A-4F7B-B7C1-D77513312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4067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7A962-E368-44F5-A6CB-4502B69E2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B9FDF-9376-4890-8BDB-365849662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778F2-04A4-46FA-9D85-98D9200C3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7FEC3-1D2D-4328-BF62-AF6D85F982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441479-BE49-4DD6-9588-33A67D5BC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78353F-6275-4998-A986-DE41D6FFD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1643-C415-4DF8-B71B-4E0E4A254A94}" type="datetimeFigureOut">
              <a:rPr lang="en-CA" smtClean="0"/>
              <a:t>2022-07-14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35E3A4-DB3E-41A5-812D-BEF222838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F6463C-D270-4F38-8EF6-ECB0105E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08A0-F63A-4F7B-B7C1-D77513312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746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E2AA0-141C-4AE9-8CDC-591143152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0B541F-F661-408A-A487-098103EAC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1643-C415-4DF8-B71B-4E0E4A254A94}" type="datetimeFigureOut">
              <a:rPr lang="en-CA" smtClean="0"/>
              <a:t>2022-07-14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E0EED7-42EE-4B91-B7F1-F42B69EB4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55AF9A-01D3-4684-A675-C29442DA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08A0-F63A-4F7B-B7C1-D77513312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8806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9E5D21-6F71-4949-AE8C-D796F7DB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1643-C415-4DF8-B71B-4E0E4A254A94}" type="datetimeFigureOut">
              <a:rPr lang="en-CA" smtClean="0"/>
              <a:t>2022-07-14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C0FC67-403E-462E-8D06-43F05393D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C2FBE-3D75-439B-87E7-B201E6D1B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08A0-F63A-4F7B-B7C1-D77513312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2808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CA1C7-7AAB-4208-A805-B3AA5CE85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7F47E-AAD7-42ED-A6F8-CDE6FE99F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94F37-D4A7-4F56-97E9-9BA7F0BED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3212F-D4D2-41EE-AFB1-1B2EFBB0A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1643-C415-4DF8-B71B-4E0E4A254A94}" type="datetimeFigureOut">
              <a:rPr lang="en-CA" smtClean="0"/>
              <a:t>2022-07-14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960AA-EEDB-4B9B-B161-689BB0BE7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33BCE-2812-4E19-8DE1-F443386AB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08A0-F63A-4F7B-B7C1-D77513312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0906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B89CC-D942-4926-910B-23C492394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0DB14F-2A31-4DD0-A3F7-F1173B54E2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79EEA-381A-4DD4-AE16-74DB2CADB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5F7DF-A1EF-436A-8D50-26A5ECE11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1643-C415-4DF8-B71B-4E0E4A254A94}" type="datetimeFigureOut">
              <a:rPr lang="en-CA" smtClean="0"/>
              <a:t>2022-07-14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77E91-CDDF-481E-B898-F79199157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A1659-9CCC-4CA6-80A1-7050EC09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08A0-F63A-4F7B-B7C1-D77513312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7287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D32CB-6421-4E43-8127-FBCF02CCA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42DF69-4BD7-4CA5-8E25-E8EC2FC0D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421F6-9217-4BCF-9E92-54D21AE23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1643-C415-4DF8-B71B-4E0E4A254A94}" type="datetimeFigureOut">
              <a:rPr lang="en-CA" smtClean="0"/>
              <a:t>2022-07-14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ABC8A-8E72-4F6D-B865-ACAE6EDAC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F0F21-0AC7-47DB-9778-098C86BFB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08A0-F63A-4F7B-B7C1-D77513312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4024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460D49-D438-41B3-9A46-DEBFB506DF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F5C5C-82CE-4F99-BEAF-0DA9B8178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374AF-F484-497F-ACF8-957FD52C1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71643-C415-4DF8-B71B-4E0E4A254A94}" type="datetimeFigureOut">
              <a:rPr lang="en-CA" smtClean="0"/>
              <a:t>2022-07-14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7C384-B4F2-42F2-95DB-C41B3C354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221D3-AE63-46E4-A302-0596EF75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08A0-F63A-4F7B-B7C1-D77513312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7191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969D78-C7A5-4206-B795-278630E69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E23B3-C06C-4020-90AB-E5110931E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DFC4D-A5FE-4F21-A896-5CBFDBEF9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71643-C415-4DF8-B71B-4E0E4A254A94}" type="datetimeFigureOut">
              <a:rPr lang="en-CA" smtClean="0"/>
              <a:t>2022-07-14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C5C99-6271-4834-9FA6-68E0887C6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D9464-1264-47E8-8F5A-1AFD4ED9C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708A0-F63A-4F7B-B7C1-D775133127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142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BF0EF-988C-471D-8ED6-2A8F13DBBD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Module 7 Class Problems </a:t>
            </a:r>
            <a:br>
              <a:rPr lang="en-CA" dirty="0"/>
            </a:b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0E45C-D54B-4434-84F4-126C83FCA9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  <a:p>
            <a:r>
              <a:rPr lang="en-CA" dirty="0"/>
              <a:t>Wind Power</a:t>
            </a:r>
          </a:p>
        </p:txBody>
      </p:sp>
    </p:spTree>
    <p:extLst>
      <p:ext uri="{BB962C8B-B14F-4D97-AF65-F5344CB8AC3E}">
        <p14:creationId xmlns:p14="http://schemas.microsoft.com/office/powerpoint/2010/main" val="598975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CB514-4EC1-4E9D-8739-A105AA8B4302}"/>
              </a:ext>
            </a:extLst>
          </p:cNvPr>
          <p:cNvSpPr txBox="1"/>
          <p:nvPr/>
        </p:nvSpPr>
        <p:spPr>
          <a:xfrm>
            <a:off x="196062" y="254852"/>
            <a:ext cx="5167185" cy="1680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b="1" dirty="0"/>
              <a:t>Q1. </a:t>
            </a:r>
            <a:r>
              <a:rPr lang="en-US" dirty="0"/>
              <a:t>The following wind measurements by bin are given for a proposed wind turbine location. Assume the air has a density of 1.15 kg/m3.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75447D-C751-4FE4-9DB1-12A735E3CA55}"/>
              </a:ext>
            </a:extLst>
          </p:cNvPr>
          <p:cNvSpPr txBox="1"/>
          <p:nvPr/>
        </p:nvSpPr>
        <p:spPr>
          <a:xfrm>
            <a:off x="0" y="2003752"/>
            <a:ext cx="5178960" cy="16805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Determine average wind velocity, u</a:t>
            </a:r>
            <a:r>
              <a:rPr lang="en-US" baseline="-25000" dirty="0">
                <a:effectLst/>
              </a:rPr>
              <a:t>mean</a:t>
            </a:r>
            <a:r>
              <a:rPr lang="en-US" dirty="0"/>
              <a:t>, for this location</a:t>
            </a:r>
            <a:endParaRPr lang="en-US" dirty="0">
              <a:effectLst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Calculate the total estimated energy available in the wind from the bin data, in kWh/m</a:t>
            </a:r>
            <a:r>
              <a:rPr lang="en-US" baseline="30000" dirty="0">
                <a:effectLst/>
              </a:rPr>
              <a:t>2</a:t>
            </a:r>
            <a:r>
              <a:rPr lang="en-US" dirty="0">
                <a:effectLst/>
              </a:rPr>
              <a:t>. For bin 16, assume an average wind speed of 16 m/s.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Calculate the estimated energy available in the wind using the average wind speed and the Rayleigh function. For bin 16, assume an average wind speed of 16 m/s.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8B5A47B-412C-494D-AA66-AB6CBD510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682224"/>
              </p:ext>
            </p:extLst>
          </p:nvPr>
        </p:nvGraphicFramePr>
        <p:xfrm>
          <a:off x="5947831" y="708533"/>
          <a:ext cx="5011364" cy="3711147"/>
        </p:xfrm>
        <a:graphic>
          <a:graphicData uri="http://schemas.openxmlformats.org/drawingml/2006/table">
            <a:tbl>
              <a:tblPr/>
              <a:tblGrid>
                <a:gridCol w="703009">
                  <a:extLst>
                    <a:ext uri="{9D8B030D-6E8A-4147-A177-3AD203B41FA5}">
                      <a16:colId xmlns:a16="http://schemas.microsoft.com/office/drawing/2014/main" val="4099320518"/>
                    </a:ext>
                  </a:extLst>
                </a:gridCol>
                <a:gridCol w="1086515">
                  <a:extLst>
                    <a:ext uri="{9D8B030D-6E8A-4147-A177-3AD203B41FA5}">
                      <a16:colId xmlns:a16="http://schemas.microsoft.com/office/drawing/2014/main" val="2732350073"/>
                    </a:ext>
                  </a:extLst>
                </a:gridCol>
                <a:gridCol w="1888876">
                  <a:extLst>
                    <a:ext uri="{9D8B030D-6E8A-4147-A177-3AD203B41FA5}">
                      <a16:colId xmlns:a16="http://schemas.microsoft.com/office/drawing/2014/main" val="2515229737"/>
                    </a:ext>
                  </a:extLst>
                </a:gridCol>
                <a:gridCol w="1332964">
                  <a:extLst>
                    <a:ext uri="{9D8B030D-6E8A-4147-A177-3AD203B41FA5}">
                      <a16:colId xmlns:a16="http://schemas.microsoft.com/office/drawing/2014/main" val="568525659"/>
                    </a:ext>
                  </a:extLst>
                </a:gridCol>
              </a:tblGrid>
              <a:tr h="284729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1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Bin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1" i="0" u="none" strike="noStrike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Wind speed (m/s)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846" marR="92846" marT="46423" marB="464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1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hours/yr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369165"/>
                  </a:ext>
                </a:extLst>
              </a:tr>
              <a:tr h="201554"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1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1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min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1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max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1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2291383"/>
                  </a:ext>
                </a:extLst>
              </a:tr>
              <a:tr h="201554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80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081463"/>
                  </a:ext>
                </a:extLst>
              </a:tr>
              <a:tr h="201554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0.0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1.0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200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1472061"/>
                  </a:ext>
                </a:extLst>
              </a:tr>
              <a:tr h="201554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1.0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2.0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501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594993"/>
                  </a:ext>
                </a:extLst>
              </a:tr>
              <a:tr h="201554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2.0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3.1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850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187120"/>
                  </a:ext>
                </a:extLst>
              </a:tr>
              <a:tr h="201554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3.1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4.1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1300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1776432"/>
                  </a:ext>
                </a:extLst>
              </a:tr>
              <a:tr h="201554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6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4.1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5.2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1407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244689"/>
                  </a:ext>
                </a:extLst>
              </a:tr>
              <a:tr h="201554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7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5.2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6.2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1351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273785"/>
                  </a:ext>
                </a:extLst>
              </a:tr>
              <a:tr h="201554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8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6.2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7.2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990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975795"/>
                  </a:ext>
                </a:extLst>
              </a:tr>
              <a:tr h="201554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7.2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8.2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641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0535634"/>
                  </a:ext>
                </a:extLst>
              </a:tr>
              <a:tr h="201554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8.2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9.3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480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447682"/>
                  </a:ext>
                </a:extLst>
              </a:tr>
              <a:tr h="201554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11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9.3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10.3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375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1740994"/>
                  </a:ext>
                </a:extLst>
              </a:tr>
              <a:tr h="201554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12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10.3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11.3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291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1862886"/>
                  </a:ext>
                </a:extLst>
              </a:tr>
              <a:tr h="201554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13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11.3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12.3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180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032503"/>
                  </a:ext>
                </a:extLst>
              </a:tr>
              <a:tr h="201554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14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12.3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13.4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78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0413604"/>
                  </a:ext>
                </a:extLst>
              </a:tr>
              <a:tr h="201554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15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13.4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14.4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32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6625397"/>
                  </a:ext>
                </a:extLst>
              </a:tr>
              <a:tr h="201554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16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14.4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unbounded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671" marR="9671" marT="967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3080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39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9F3F94-F1B0-47B4-AD26-A1FB030D2E9D}"/>
              </a:ext>
            </a:extLst>
          </p:cNvPr>
          <p:cNvSpPr txBox="1"/>
          <p:nvPr/>
        </p:nvSpPr>
        <p:spPr>
          <a:xfrm>
            <a:off x="410592" y="405660"/>
            <a:ext cx="116452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Q2. </a:t>
            </a:r>
            <a:r>
              <a:rPr lang="en-US" dirty="0">
                <a:effectLst/>
              </a:rPr>
              <a:t>A 27-mph wind at 14.7 psia and a temperature of 70</a:t>
            </a:r>
            <a:r>
              <a:rPr lang="en-US" baseline="30000" dirty="0">
                <a:effectLst/>
              </a:rPr>
              <a:t>o</a:t>
            </a:r>
            <a:r>
              <a:rPr lang="en-US" dirty="0">
                <a:effectLst/>
              </a:rPr>
              <a:t>F enters a three-bladed HAWT wind turbine with a diameter of 36 ft. Calculate (a) the power of the incoming wind, (b) the theoretical maximum power that could be extracted, (c) a reasonable value for attainable power, (d) the rotor speed, in RPM, required for part (c)</a:t>
            </a:r>
          </a:p>
        </p:txBody>
      </p:sp>
    </p:spTree>
    <p:extLst>
      <p:ext uri="{BB962C8B-B14F-4D97-AF65-F5344CB8AC3E}">
        <p14:creationId xmlns:p14="http://schemas.microsoft.com/office/powerpoint/2010/main" val="1754403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095BD5-1830-475B-8358-1532A97108FF}"/>
              </a:ext>
            </a:extLst>
          </p:cNvPr>
          <p:cNvSpPr txBox="1"/>
          <p:nvPr/>
        </p:nvSpPr>
        <p:spPr>
          <a:xfrm>
            <a:off x="149071" y="582712"/>
            <a:ext cx="10776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/>
              <a:t>Q3. 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What is the power coefficient for the Vestas V52-850 kW wind turbine at rated </a:t>
            </a:r>
            <a:r>
              <a:rPr lang="en-CA" sz="1800" b="0" i="0" u="none" strike="noStrike" baseline="0" dirty="0">
                <a:latin typeface="Arial" panose="020B0604020202020204" pitchFamily="34" charset="0"/>
              </a:rPr>
              <a:t>conditions?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713E79-0F48-45E1-8E07-C5E27515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029" y="1068487"/>
            <a:ext cx="41529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395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951718-9645-4FF8-82FC-95F0F647A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337" y="347663"/>
            <a:ext cx="7019925" cy="5829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EED003-2A72-4DB0-8E47-B77CE8D76C4C}"/>
              </a:ext>
            </a:extLst>
          </p:cNvPr>
          <p:cNvSpPr txBox="1"/>
          <p:nvPr/>
        </p:nvSpPr>
        <p:spPr>
          <a:xfrm>
            <a:off x="185738" y="527728"/>
            <a:ext cx="462595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Q4. </a:t>
            </a:r>
            <a:r>
              <a:rPr lang="en-US" dirty="0">
                <a:effectLst/>
              </a:rPr>
              <a:t>For a General Electric 1.5se wind turbine. </a:t>
            </a:r>
            <a:r>
              <a:rPr lang="en-US" dirty="0"/>
              <a:t>Given the operating strategy to maximize the power to the rated capacity, </a:t>
            </a:r>
            <a:endParaRPr lang="en-US" dirty="0">
              <a:effectLst/>
            </a:endParaRPr>
          </a:p>
          <a:p>
            <a:pPr marL="342900" indent="-342900">
              <a:buFontTx/>
              <a:buAutoNum type="alphaLcParenBoth"/>
            </a:pPr>
            <a:r>
              <a:rPr lang="en-US" dirty="0">
                <a:effectLst/>
              </a:rPr>
              <a:t>Estimate the power coefficient at the rated speed. </a:t>
            </a:r>
            <a:r>
              <a:rPr lang="en-US" dirty="0"/>
              <a:t>Determine and plot Cp vs wind speed.</a:t>
            </a:r>
            <a:endParaRPr lang="en-US" dirty="0">
              <a:effectLst/>
            </a:endParaRPr>
          </a:p>
          <a:p>
            <a:pPr marL="342900" indent="-342900">
              <a:buAutoNum type="alphaLcParenBoth"/>
            </a:pPr>
            <a:r>
              <a:rPr lang="en-US" dirty="0">
                <a:effectLst/>
              </a:rPr>
              <a:t>Estimate the yearly kWh production assuming a Rayleigh wind distribution average velocity of 8.862 m/s. Assume bin speeds of 1 m/s</a:t>
            </a:r>
          </a:p>
          <a:p>
            <a:pPr marL="342900" indent="-342900">
              <a:buAutoNum type="alphaLcParenBoth"/>
            </a:pPr>
            <a:r>
              <a:rPr lang="en-US" dirty="0"/>
              <a:t>Determine the capacity factor of the turbine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4933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2829D7-4BF7-4D29-9905-55A1B7E83DAA}"/>
              </a:ext>
            </a:extLst>
          </p:cNvPr>
          <p:cNvSpPr txBox="1"/>
          <p:nvPr/>
        </p:nvSpPr>
        <p:spPr>
          <a:xfrm>
            <a:off x="396536" y="505067"/>
            <a:ext cx="113989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Q5. </a:t>
            </a:r>
            <a:r>
              <a:rPr lang="en-US" dirty="0">
                <a:effectLst/>
              </a:rPr>
              <a:t>A wind turbine rated at 250 kW costs $450,000 and has a swept area of 1200 m</a:t>
            </a:r>
            <a:r>
              <a:rPr lang="en-US" baseline="30000" dirty="0">
                <a:effectLst/>
              </a:rPr>
              <a:t>2</a:t>
            </a:r>
            <a:r>
              <a:rPr lang="en-US" dirty="0">
                <a:effectLst/>
              </a:rPr>
              <a:t>. It is installed in a location with year-round average power density available in the wind of 320 W/ m</a:t>
            </a:r>
            <a:r>
              <a:rPr lang="en-US" baseline="30000" dirty="0">
                <a:effectLst/>
              </a:rPr>
              <a:t>2</a:t>
            </a:r>
            <a:r>
              <a:rPr lang="en-US" dirty="0">
                <a:effectLst/>
              </a:rPr>
              <a:t>, and on average converts 25% of the energy into electricity. The electricity is sold to the grid at $0.039/kWh, paid at the location of the turbine (i.e., no transmission cost). The project has a 20-year time horizon with salvage value of $20 thousand, and the MARR is 8%. Calculate the net present value (NPV) of this investment.</a:t>
            </a:r>
          </a:p>
        </p:txBody>
      </p:sp>
    </p:spTree>
    <p:extLst>
      <p:ext uri="{BB962C8B-B14F-4D97-AF65-F5344CB8AC3E}">
        <p14:creationId xmlns:p14="http://schemas.microsoft.com/office/powerpoint/2010/main" val="2568507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474</Words>
  <Application>Microsoft Office PowerPoint</Application>
  <PresentationFormat>Widescreen</PresentationFormat>
  <Paragraphs>85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Module 7 Class Problems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Amin Ghobeity</dc:creator>
  <cp:lastModifiedBy>Amin Ghobeity</cp:lastModifiedBy>
  <cp:revision>17</cp:revision>
  <cp:lastPrinted>2021-11-19T14:28:00Z</cp:lastPrinted>
  <dcterms:created xsi:type="dcterms:W3CDTF">2021-07-15T18:06:55Z</dcterms:created>
  <dcterms:modified xsi:type="dcterms:W3CDTF">2022-07-14T16:36:03Z</dcterms:modified>
</cp:coreProperties>
</file>