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7" r:id="rId3"/>
    <p:sldId id="259" r:id="rId4"/>
    <p:sldId id="260" r:id="rId5"/>
    <p:sldId id="258" r:id="rId6"/>
    <p:sldId id="262" r:id="rId7"/>
    <p:sldId id="263" r:id="rId8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86" d="100"/>
          <a:sy n="86" d="100"/>
        </p:scale>
        <p:origin x="47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34E2C-8F56-4851-B78C-02FD4F0193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2BC956-6FDE-4382-BF3D-FC0C3B11C4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674B17-12DD-4DCC-85EA-31725CE2F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C544F-CE34-4FF9-BA72-7B148D88A2DF}" type="datetimeFigureOut">
              <a:rPr lang="en-CA" smtClean="0"/>
              <a:t>2022-06-09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9400DB-BED6-4CAE-A877-3E4C20CAF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E13C1C-3A3C-401D-A1D5-9BB7D782C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1C9BD-D1BF-46F1-A02B-283B825C093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85254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4148B-AF7F-4C3D-9CA9-7C0DE75C7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9AA358-6589-4AEE-B2A3-D703C6DAF2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7F27BD-C42D-48E7-BB9F-0A31E23B1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C544F-CE34-4FF9-BA72-7B148D88A2DF}" type="datetimeFigureOut">
              <a:rPr lang="en-CA" smtClean="0"/>
              <a:t>2022-06-09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07EF19-9AEF-4B55-8263-A5F7BAA55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C28BA5-70CD-41FD-B159-2E4373C86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1C9BD-D1BF-46F1-A02B-283B825C093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67901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5BDDA-F7F0-4BDB-889F-D82F555E3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CBFB4-CE18-4E71-885A-8EE962AB8D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25C197-561A-424D-9D99-C4167ED60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C544F-CE34-4FF9-BA72-7B148D88A2DF}" type="datetimeFigureOut">
              <a:rPr lang="en-CA" smtClean="0"/>
              <a:t>2022-06-09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D3E3C-8AEB-47D0-BAB9-E15880C03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AEAA3-8428-41AD-80A6-91D79B8A0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1C9BD-D1BF-46F1-A02B-283B825C093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80754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C40C3-C59C-4CFF-A67D-DA64A2123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75D97-503B-4A23-A80A-68A42193B7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785F83-CE99-4539-BE0F-DB4103180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C2F2D5-9D31-4D1E-A044-094121A7E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C544F-CE34-4FF9-BA72-7B148D88A2DF}" type="datetimeFigureOut">
              <a:rPr lang="en-CA" smtClean="0"/>
              <a:t>2022-06-09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298AB1-D1B1-4854-842D-A0791A439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81870A-D31A-4A0B-807C-BC008D4FE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1C9BD-D1BF-46F1-A02B-283B825C093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0607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4DE18-1C3A-494D-BBBF-991B0109A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B33230-637D-4CEC-967C-DDB346B42F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4664D4-00A3-419F-B187-B0A392D87B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966EBF-08EB-43B9-9D5B-456BBCA54C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28E1C1-944D-477E-AD90-B506FDEFB0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DDDCD0-7E92-4628-873D-45181DA03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C544F-CE34-4FF9-BA72-7B148D88A2DF}" type="datetimeFigureOut">
              <a:rPr lang="en-CA" smtClean="0"/>
              <a:t>2022-06-09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1542F8-C579-4B38-BA9A-8AB5EBB40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C3BE0A-6A8F-49E8-B118-431AC29CD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1C9BD-D1BF-46F1-A02B-283B825C093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1923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A3F9D-663D-4E2C-A6D6-995C94D4F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67F384-EF78-42B7-8843-3C1AD297A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C544F-CE34-4FF9-BA72-7B148D88A2DF}" type="datetimeFigureOut">
              <a:rPr lang="en-CA" smtClean="0"/>
              <a:t>2022-06-09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C2A9AB-814B-4C16-9A9F-B4CCD8FB7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D4A4BD-0902-4A35-930C-14A7BEE65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1C9BD-D1BF-46F1-A02B-283B825C093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22056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D8C51D-A3CE-466A-8C84-A38DB542E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C544F-CE34-4FF9-BA72-7B148D88A2DF}" type="datetimeFigureOut">
              <a:rPr lang="en-CA" smtClean="0"/>
              <a:t>2022-06-09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11D8D1-C5BF-4090-BEBE-F42988617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2B2BEC-DF12-4BEE-B080-543F1A6E3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1C9BD-D1BF-46F1-A02B-283B825C093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96835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C9EEF-C17D-4D25-A033-D671B19AB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EF102-9736-42DD-9D48-3C73DA1C10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89C32E-0006-45AD-A9C8-2CAE7EA43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C0D431-BDA3-4902-A3D3-1709F56F0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C544F-CE34-4FF9-BA72-7B148D88A2DF}" type="datetimeFigureOut">
              <a:rPr lang="en-CA" smtClean="0"/>
              <a:t>2022-06-09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E91A52-7903-4379-84E6-061E7C6AE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F9E531-E273-4138-9BB3-6B98DE8FC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1C9BD-D1BF-46F1-A02B-283B825C093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5688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44AB6-0D23-4B0B-A0D6-6139CF100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097D4D-12D0-4DA9-A3A6-122BAADE14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03769D-62A2-46E7-B625-3BB84D004F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1455A5-10F1-4E91-9BBD-42F051743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C544F-CE34-4FF9-BA72-7B148D88A2DF}" type="datetimeFigureOut">
              <a:rPr lang="en-CA" smtClean="0"/>
              <a:t>2022-06-09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9AAEA-AB27-406F-ABD1-9C0E70F09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4AE53A-05A5-495B-86FD-1303F8A50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1C9BD-D1BF-46F1-A02B-283B825C093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23702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506CE-F014-414C-8BAB-F87436EC9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EDFB92-2382-41BF-B4AC-135019FB7C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238A3-6C1F-491F-B1F8-D1AB419C6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C544F-CE34-4FF9-BA72-7B148D88A2DF}" type="datetimeFigureOut">
              <a:rPr lang="en-CA" smtClean="0"/>
              <a:t>2022-06-09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A38AC-F3EA-4F7B-B6FC-3057507C2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50A60-A7EB-43E7-8310-CF73F117D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1C9BD-D1BF-46F1-A02B-283B825C093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2387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A632C1-1F23-4F00-9A60-C62DEFC9B9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DCF24E-F1C2-49B2-B0BB-1F7832FB31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85C612-1A10-414C-A9DD-3D4A0215C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C544F-CE34-4FF9-BA72-7B148D88A2DF}" type="datetimeFigureOut">
              <a:rPr lang="en-CA" smtClean="0"/>
              <a:t>2022-06-09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92CCC2-28F8-4632-942C-CD1B11532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77B0A-6D6C-43E8-97FA-2B1A017B3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1C9BD-D1BF-46F1-A02B-283B825C093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97569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BCA4F5-8D79-4ECA-96C0-FCDD421EF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1EDCB2-0D3C-4772-BB43-43AE641086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EACC1C-6577-402B-8442-7CD7E41C3C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BC544F-CE34-4FF9-BA72-7B148D88A2DF}" type="datetimeFigureOut">
              <a:rPr lang="en-CA" smtClean="0"/>
              <a:t>2022-06-09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1699EE-D778-4063-8F1C-701C5E0F7D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4CB97D-75AB-455B-8E09-E6A97FC072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41C9BD-D1BF-46F1-A02B-283B825C093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30091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BF0EF-988C-471D-8ED6-2A8F13DBBD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/>
              <a:t>Module 5 Class Problems </a:t>
            </a:r>
            <a:br>
              <a:rPr lang="en-CA"/>
            </a:b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00E45C-D54B-4434-84F4-126C83FCA9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 dirty="0"/>
          </a:p>
          <a:p>
            <a:r>
              <a:rPr lang="en-CA" dirty="0"/>
              <a:t>Nuclear Power</a:t>
            </a:r>
          </a:p>
        </p:txBody>
      </p:sp>
    </p:spTree>
    <p:extLst>
      <p:ext uri="{BB962C8B-B14F-4D97-AF65-F5344CB8AC3E}">
        <p14:creationId xmlns:p14="http://schemas.microsoft.com/office/powerpoint/2010/main" val="598975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61410-85E8-458D-ACD5-7A3C15ECD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6663" y="440708"/>
            <a:ext cx="1150176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Q1.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 thorium-234 (atomic number 90), calculate the percentage difference between the actual ratio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Z/A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and the ratio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Z/A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for this atomic number that results in the lowest energy state.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54521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FF80B8-D836-4C32-8745-C842C35F7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561" y="422953"/>
            <a:ext cx="1153727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Q2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Calculate the energy released in the following spontaneous fission reaction:</a:t>
            </a:r>
          </a:p>
          <a:p>
            <a:pPr marL="0" indent="0" algn="ctr">
              <a:buNone/>
            </a:pPr>
            <a:r>
              <a:rPr lang="en-US" sz="2000" baseline="30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238</a:t>
            </a:r>
            <a:r>
              <a:rPr lang="en-US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 → </a:t>
            </a:r>
            <a:r>
              <a:rPr lang="en-US" sz="2000" baseline="30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95</a:t>
            </a:r>
            <a:r>
              <a:rPr lang="en-US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Sr + </a:t>
            </a:r>
            <a:r>
              <a:rPr lang="en-US" sz="2000" baseline="30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140</a:t>
            </a:r>
            <a:r>
              <a:rPr lang="en-US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Xe + 3</a:t>
            </a:r>
            <a:r>
              <a:rPr lang="en-US" sz="200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en-US" sz="2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the atomic masses to be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238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U) = 238.050784 u,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95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Sr) = 94.919388 u,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140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Xe) = 139.921610 u, and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=1.008665 u.</a:t>
            </a:r>
          </a:p>
          <a:p>
            <a:endParaRPr lang="en-C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7942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75ACE-70D2-4DF3-908E-3C90B77305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762" y="245400"/>
            <a:ext cx="1183911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Q3. </a:t>
            </a:r>
            <a:r>
              <a:rPr lang="en-US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Compute the energy resulting from the following nuclear reaction:</a:t>
            </a:r>
          </a:p>
          <a:p>
            <a:pPr marL="0" indent="0">
              <a:buNone/>
            </a:pPr>
            <a:endParaRPr lang="en-US" sz="2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C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C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Mass of U-235, Xe-140, and Sr-94 can be assumed </a:t>
            </a:r>
            <a:r>
              <a:rPr lang="en-CA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235.043923 amu, 139.921640 amu, and 93.915360 amu, respectively</a:t>
            </a:r>
          </a:p>
          <a:p>
            <a:pPr marL="0" indent="0">
              <a:buNone/>
            </a:pPr>
            <a:endParaRPr lang="en-CA" sz="2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CA" sz="2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C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436285-E71A-4A98-B311-C675AEBAEE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7629" y="762276"/>
            <a:ext cx="3978158" cy="453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503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70587-AECC-42BE-AFBD-A0E9B3D6C5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294" y="289788"/>
            <a:ext cx="1162605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</a:rPr>
              <a:t>Q4. </a:t>
            </a:r>
            <a:r>
              <a:rPr lang="en-US" sz="1800" dirty="0">
                <a:latin typeface="Times New Roman" panose="02020603050405020304" pitchFamily="18" charset="0"/>
              </a:rPr>
              <a:t>A nuclear power plant, whose capital cost has been fully repaid, operates with a total of 155,000 kg of uranium (or 175,800 kg of UO</a:t>
            </a:r>
            <a:r>
              <a:rPr lang="en-US" sz="1800" baseline="-25000" dirty="0">
                <a:latin typeface="Times New Roman" panose="02020603050405020304" pitchFamily="18" charset="0"/>
              </a:rPr>
              <a:t>2</a:t>
            </a:r>
            <a:r>
              <a:rPr lang="en-US" sz="1800" dirty="0">
                <a:latin typeface="Times New Roman" panose="02020603050405020304" pitchFamily="18" charset="0"/>
              </a:rPr>
              <a:t>) in its reactor core, which has a U-235 concentration of 2.8%. Each year one-third of the reactor fuel is replaced at a cost of $40 million, which has built into it $0.001/kWh to be paid to a fund for the management of nuclear waste. The facility also incurs $118 million/year in nonfuel operating and maintenance cost. The plant has a rated capacity of 1.2 GW</a:t>
            </a:r>
            <a:r>
              <a:rPr lang="en-US" sz="1800" baseline="-25000" dirty="0">
                <a:latin typeface="Times New Roman" panose="02020603050405020304" pitchFamily="18" charset="0"/>
              </a:rPr>
              <a:t>e</a:t>
            </a:r>
            <a:r>
              <a:rPr lang="en-US" sz="1800" dirty="0">
                <a:latin typeface="Times New Roman" panose="02020603050405020304" pitchFamily="18" charset="0"/>
              </a:rPr>
              <a:t>. The working fluid is compressed to 10 MPa, and then heated to 325°C, after which it is expanded in the turbine to 10 kPa, condensed, and returned to the pump for return to the reactor core. The generator is 98% efficient. Assume that all energy released in nuclear fission is transferred to the working fluid, and that, due to various losses, the actual Rankine cycle used achieves 90% of its ideal efficiency. Ignore the contribution of fission of Pu-239 that results from transformation of some of the U-238 in the fuel. </a:t>
            </a:r>
          </a:p>
          <a:p>
            <a:pPr marL="457200" indent="-457200">
              <a:buAutoNum type="alphaLcParenBoth"/>
            </a:pPr>
            <a:r>
              <a:rPr lang="en-US" sz="1800" dirty="0">
                <a:latin typeface="Times New Roman" panose="02020603050405020304" pitchFamily="18" charset="0"/>
              </a:rPr>
              <a:t>Calculate the cost per kWh of production for this nuclear power plant. </a:t>
            </a:r>
          </a:p>
          <a:p>
            <a:pPr marL="457200" indent="-457200">
              <a:buAutoNum type="alphaLcParenBoth"/>
            </a:pPr>
            <a:r>
              <a:rPr lang="en-US" sz="1800" dirty="0">
                <a:latin typeface="Times New Roman" panose="02020603050405020304" pitchFamily="18" charset="0"/>
              </a:rPr>
              <a:t>Suppose instead that the plant is newly built at a cost of $8000 per kW to be amortized over 20 years at a 5% discount rate. What is the new cost per kWh?</a:t>
            </a:r>
          </a:p>
          <a:p>
            <a:endParaRPr lang="en-CA" sz="2000" dirty="0"/>
          </a:p>
        </p:txBody>
      </p:sp>
    </p:spTree>
    <p:extLst>
      <p:ext uri="{BB962C8B-B14F-4D97-AF65-F5344CB8AC3E}">
        <p14:creationId xmlns:p14="http://schemas.microsoft.com/office/powerpoint/2010/main" val="2879332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BE0D7-8302-450F-BAD2-F748E8E1F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885" y="387443"/>
            <a:ext cx="11439618" cy="4351338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</a:rPr>
              <a:t>Q5.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 previous question, consider the following scenarios: (a) If the cost of raw uranium is $65/kg, what percent of the cost of $40 million worth of fuel rods does this amount constitute? (b) If the cost increases to $260/kg, and all other cost components of the refueling remain the same, what is the new cost of the refueling each year?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</a:rPr>
              <a:t>Comment on the sensitivity of LCOE to fuel cost. 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00777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9DCF5-F111-4540-B8D2-AB87432FFE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007" y="201011"/>
            <a:ext cx="11821358" cy="4351338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Q6.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Carry out the rudimentary design of a small modular nuclear reactor that delivers 100 MW</a:t>
            </a:r>
            <a:r>
              <a:rPr lang="en-US" sz="18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The reactor is based on a Rankine cycle where the steam is expanded in a turbine from 12 MPa and 330°C to condensed water at 5 kPa. Assume that the generator is 98% efficient, the actual cycle achieves 90% of the efficiency of the ideal cycle, and 90% of the thermal energy released in the nuclear reactions is transferred to the working fluid. (a) If the reactor uses uranium as a fuel which is enriched to 3% U-235, what mass of fuel is consumed each year? (b) What is the flow rate of steam in kg/s required when the reactor is running at full power?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4302828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1295</TotalTime>
  <Words>635</Words>
  <Application>Microsoft Office PowerPoint</Application>
  <PresentationFormat>Widescreen</PresentationFormat>
  <Paragraphs>18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Module 5 Class Problems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Amin Ghobeity</dc:creator>
  <cp:lastModifiedBy>Amin Ghobeity</cp:lastModifiedBy>
  <cp:revision>10</cp:revision>
  <cp:lastPrinted>2021-06-17T21:55:36Z</cp:lastPrinted>
  <dcterms:created xsi:type="dcterms:W3CDTF">2021-06-17T17:16:44Z</dcterms:created>
  <dcterms:modified xsi:type="dcterms:W3CDTF">2022-06-09T15:49:36Z</dcterms:modified>
</cp:coreProperties>
</file>