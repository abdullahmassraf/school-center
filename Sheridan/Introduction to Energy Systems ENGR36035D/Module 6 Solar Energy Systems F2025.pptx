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 id="2147483793" r:id="rId2"/>
    <p:sldMasterId id="2147483798" r:id="rId3"/>
  </p:sldMasterIdLst>
  <p:notesMasterIdLst>
    <p:notesMasterId r:id="rId58"/>
  </p:notesMasterIdLst>
  <p:handoutMasterIdLst>
    <p:handoutMasterId r:id="rId59"/>
  </p:handoutMasterIdLst>
  <p:sldIdLst>
    <p:sldId id="256" r:id="rId4"/>
    <p:sldId id="877" r:id="rId5"/>
    <p:sldId id="888" r:id="rId6"/>
    <p:sldId id="317" r:id="rId7"/>
    <p:sldId id="853" r:id="rId8"/>
    <p:sldId id="857" r:id="rId9"/>
    <p:sldId id="858" r:id="rId10"/>
    <p:sldId id="859" r:id="rId11"/>
    <p:sldId id="861" r:id="rId12"/>
    <p:sldId id="299" r:id="rId13"/>
    <p:sldId id="266" r:id="rId14"/>
    <p:sldId id="865" r:id="rId15"/>
    <p:sldId id="864" r:id="rId16"/>
    <p:sldId id="267" r:id="rId17"/>
    <p:sldId id="302" r:id="rId18"/>
    <p:sldId id="312" r:id="rId19"/>
    <p:sldId id="314" r:id="rId20"/>
    <p:sldId id="866" r:id="rId21"/>
    <p:sldId id="574" r:id="rId22"/>
    <p:sldId id="867" r:id="rId23"/>
    <p:sldId id="868" r:id="rId24"/>
    <p:sldId id="869" r:id="rId25"/>
    <p:sldId id="610" r:id="rId26"/>
    <p:sldId id="612" r:id="rId27"/>
    <p:sldId id="886" r:id="rId28"/>
    <p:sldId id="880" r:id="rId29"/>
    <p:sldId id="300" r:id="rId30"/>
    <p:sldId id="881" r:id="rId31"/>
    <p:sldId id="310" r:id="rId32"/>
    <p:sldId id="882" r:id="rId33"/>
    <p:sldId id="313" r:id="rId34"/>
    <p:sldId id="315" r:id="rId35"/>
    <p:sldId id="845" r:id="rId36"/>
    <p:sldId id="318" r:id="rId37"/>
    <p:sldId id="846" r:id="rId38"/>
    <p:sldId id="847" r:id="rId39"/>
    <p:sldId id="848" r:id="rId40"/>
    <p:sldId id="851" r:id="rId41"/>
    <p:sldId id="852" r:id="rId42"/>
    <p:sldId id="883" r:id="rId43"/>
    <p:sldId id="854" r:id="rId44"/>
    <p:sldId id="855" r:id="rId45"/>
    <p:sldId id="323" r:id="rId46"/>
    <p:sldId id="884" r:id="rId47"/>
    <p:sldId id="856" r:id="rId48"/>
    <p:sldId id="885" r:id="rId49"/>
    <p:sldId id="876" r:id="rId50"/>
    <p:sldId id="284" r:id="rId51"/>
    <p:sldId id="286" r:id="rId52"/>
    <p:sldId id="872" r:id="rId53"/>
    <p:sldId id="874" r:id="rId54"/>
    <p:sldId id="292" r:id="rId55"/>
    <p:sldId id="294" r:id="rId56"/>
    <p:sldId id="870"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eftel, Mona D" initials="ZMD" lastIdx="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1234" y="67"/>
      </p:cViewPr>
      <p:guideLst>
        <p:guide orient="horz" pos="2160"/>
        <p:guide pos="2880"/>
      </p:guideLst>
    </p:cSldViewPr>
  </p:slideViewPr>
  <p:notesTextViewPr>
    <p:cViewPr>
      <p:scale>
        <a:sx n="100" d="100"/>
        <a:sy n="100" d="100"/>
      </p:scale>
      <p:origin x="0" y="0"/>
    </p:cViewPr>
  </p:notesTextViewPr>
  <p:notesViewPr>
    <p:cSldViewPr>
      <p:cViewPr varScale="1">
        <p:scale>
          <a:sx n="70" d="100"/>
          <a:sy n="70" d="100"/>
        </p:scale>
        <p:origin x="-324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notesMaster" Target="notesMasters/notesMaster1.xml"/><Relationship Id="rId5" Type="http://schemas.openxmlformats.org/officeDocument/2006/relationships/slide" Target="slides/slide2.xml"/><Relationship Id="rId61" Type="http://schemas.openxmlformats.org/officeDocument/2006/relationships/presProps" Target="pres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handoutMaster" Target="handoutMasters/handoutMaster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commentAuthors" Target="commentAuthors.xml"/><Relationship Id="rId4" Type="http://schemas.openxmlformats.org/officeDocument/2006/relationships/slide" Target="slides/slide1.xml"/><Relationship Id="rId9"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05D4A66-4E06-4F80-804F-A964EB6C0D0A}" type="datetimeFigureOut">
              <a:rPr lang="en-US" smtClean="0"/>
              <a:pPr/>
              <a:t>11/10/2025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340500-23C6-45C7-9626-EF17B47CA0A2}" type="slidenum">
              <a:rPr lang="en-US" smtClean="0"/>
              <a:pPr/>
              <a:t>‹#›</a:t>
            </a:fld>
            <a:endParaRPr lang="en-US" dirty="0"/>
          </a:p>
        </p:txBody>
      </p:sp>
    </p:spTree>
    <p:extLst>
      <p:ext uri="{BB962C8B-B14F-4D97-AF65-F5344CB8AC3E}">
        <p14:creationId xmlns:p14="http://schemas.microsoft.com/office/powerpoint/2010/main" val="25474727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0646D3D-12D9-42A1-A359-88470FD6EB52}" type="datetimeFigureOut">
              <a:rPr lang="en-US" smtClean="0"/>
              <a:pPr/>
              <a:t>11/10/2025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B58331F-8B33-4884-9995-3C14B2EEB352}" type="slidenum">
              <a:rPr lang="en-US" smtClean="0"/>
              <a:pPr/>
              <a:t>‹#›</a:t>
            </a:fld>
            <a:endParaRPr lang="en-US" dirty="0"/>
          </a:p>
        </p:txBody>
      </p:sp>
    </p:spTree>
    <p:extLst>
      <p:ext uri="{BB962C8B-B14F-4D97-AF65-F5344CB8AC3E}">
        <p14:creationId xmlns:p14="http://schemas.microsoft.com/office/powerpoint/2010/main" val="10535876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B58331F-8B33-4884-9995-3C14B2EEB352}" type="slidenum">
              <a:rPr lang="en-US" smtClean="0"/>
              <a:pPr/>
              <a:t>1</a:t>
            </a:fld>
            <a:endParaRPr lang="en-US" dirty="0"/>
          </a:p>
        </p:txBody>
      </p:sp>
    </p:spTree>
    <p:extLst>
      <p:ext uri="{BB962C8B-B14F-4D97-AF65-F5344CB8AC3E}">
        <p14:creationId xmlns:p14="http://schemas.microsoft.com/office/powerpoint/2010/main" val="3623211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7" name="Slide Number Placeholder 26"/>
          <p:cNvSpPr>
            <a:spLocks noGrp="1"/>
          </p:cNvSpPr>
          <p:nvPr>
            <p:ph type="sldNum" sz="quarter" idx="12"/>
          </p:nvPr>
        </p:nvSpPr>
        <p:spPr/>
        <p:txBody>
          <a:bodyPr/>
          <a:lstStyle/>
          <a:p>
            <a:fld id="{122D24B2-5D52-46F7-B915-67CABB3AD0CF}" type="slidenum">
              <a:rPr lang="en-US" smtClean="0"/>
              <a:pPr/>
              <a:t>‹#›</a:t>
            </a:fld>
            <a:endParaRPr lang="en-US" dirty="0"/>
          </a:p>
        </p:txBody>
      </p:sp>
      <p:sp>
        <p:nvSpPr>
          <p:cNvPr id="4" name="Text Placeholder 3"/>
          <p:cNvSpPr>
            <a:spLocks noGrp="1"/>
          </p:cNvSpPr>
          <p:nvPr>
            <p:ph type="body" sz="quarter" idx="13"/>
          </p:nvPr>
        </p:nvSpPr>
        <p:spPr>
          <a:xfrm>
            <a:off x="609600" y="2133600"/>
            <a:ext cx="7810500" cy="4157662"/>
          </a:xfrm>
          <a:prstGeom prst="rect">
            <a:avLst/>
          </a:prstGeom>
        </p:spPr>
        <p:txBody>
          <a:bodyPr/>
          <a:lstStyle>
            <a:lvl1pPr marL="463550" indent="-463550">
              <a:buFont typeface="Wingdings" panose="05000000000000000000" pitchFamily="2" charset="2"/>
              <a:buChar char="q"/>
              <a:defRPr sz="2400">
                <a:solidFill>
                  <a:schemeClr val="bg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6" name="Title 5"/>
          <p:cNvSpPr>
            <a:spLocks noGrp="1"/>
          </p:cNvSpPr>
          <p:nvPr>
            <p:ph type="title"/>
          </p:nvPr>
        </p:nvSpPr>
        <p:spPr>
          <a:xfrm>
            <a:off x="609600" y="1001951"/>
            <a:ext cx="7810500" cy="979250"/>
          </a:xfrm>
          <a:prstGeom prst="rect">
            <a:avLst/>
          </a:prstGeom>
        </p:spPr>
        <p:txBody>
          <a:bodyPr/>
          <a:lstStyle>
            <a:lvl1pPr algn="l">
              <a:defRPr kumimoji="0" lang="en-US" sz="3600" b="1" kern="1200" dirty="0">
                <a:ln>
                  <a:noFill/>
                </a:ln>
                <a:solidFill>
                  <a:schemeClr val="accent2"/>
                </a:solidFill>
                <a:effectLst/>
                <a:latin typeface="Arial" panose="020B0604020202020204" pitchFamily="34" charset="0"/>
                <a:ea typeface="Verdana" panose="020B0604030504040204" pitchFamily="34" charset="0"/>
                <a:cs typeface="Arial" panose="020B0604020202020204" pitchFamily="34" charset="0"/>
              </a:defRPr>
            </a:lvl1pPr>
          </a:lstStyle>
          <a:p>
            <a:r>
              <a:rPr lang="en-US" dirty="0"/>
              <a:t>Click to edit Master title style</a:t>
            </a:r>
          </a:p>
        </p:txBody>
      </p:sp>
      <p:sp>
        <p:nvSpPr>
          <p:cNvPr id="10" name="Footer Placeholder 8"/>
          <p:cNvSpPr txBox="1">
            <a:spLocks/>
          </p:cNvSpPr>
          <p:nvPr userDrawn="1"/>
        </p:nvSpPr>
        <p:spPr>
          <a:xfrm>
            <a:off x="1333500" y="6364275"/>
            <a:ext cx="6972300" cy="3778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kumimoji="0" lang="en-US" sz="1100" kern="1200" dirty="0">
              <a:solidFill>
                <a:srgbClr val="002060"/>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004279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7" name="Slide Number Placeholder 26"/>
          <p:cNvSpPr>
            <a:spLocks noGrp="1"/>
          </p:cNvSpPr>
          <p:nvPr>
            <p:ph type="sldNum" sz="quarter" idx="12"/>
          </p:nvPr>
        </p:nvSpPr>
        <p:spPr/>
        <p:txBody>
          <a:bodyPr/>
          <a:lstStyle/>
          <a:p>
            <a:fld id="{122D24B2-5D52-46F7-B915-67CABB3AD0CF}" type="slidenum">
              <a:rPr lang="en-US" smtClean="0"/>
              <a:pPr/>
              <a:t>‹#›</a:t>
            </a:fld>
            <a:endParaRPr lang="en-US" dirty="0"/>
          </a:p>
        </p:txBody>
      </p:sp>
      <p:sp>
        <p:nvSpPr>
          <p:cNvPr id="4" name="Text Placeholder 3"/>
          <p:cNvSpPr>
            <a:spLocks noGrp="1"/>
          </p:cNvSpPr>
          <p:nvPr>
            <p:ph type="body" sz="quarter" idx="13"/>
          </p:nvPr>
        </p:nvSpPr>
        <p:spPr>
          <a:xfrm>
            <a:off x="609600" y="2133600"/>
            <a:ext cx="7810500" cy="4157662"/>
          </a:xfrm>
          <a:prstGeom prst="rect">
            <a:avLst/>
          </a:prstGeom>
        </p:spPr>
        <p:txBody>
          <a:bodyPr/>
          <a:lstStyle>
            <a:lvl1pPr marL="463550" indent="-463550">
              <a:buFont typeface="Wingdings" panose="05000000000000000000" pitchFamily="2" charset="2"/>
              <a:buChar char="q"/>
              <a:defRPr sz="2400">
                <a:solidFill>
                  <a:schemeClr val="bg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6" name="Title 5"/>
          <p:cNvSpPr>
            <a:spLocks noGrp="1"/>
          </p:cNvSpPr>
          <p:nvPr>
            <p:ph type="title"/>
          </p:nvPr>
        </p:nvSpPr>
        <p:spPr>
          <a:xfrm>
            <a:off x="609600" y="1001951"/>
            <a:ext cx="7810500" cy="979250"/>
          </a:xfrm>
          <a:prstGeom prst="rect">
            <a:avLst/>
          </a:prstGeom>
        </p:spPr>
        <p:txBody>
          <a:bodyPr/>
          <a:lstStyle>
            <a:lvl1pPr algn="l">
              <a:defRPr b="1">
                <a:solidFill>
                  <a:schemeClr val="accent2"/>
                </a:solidFill>
                <a:latin typeface="Arial" panose="020B0604020202020204" pitchFamily="34" charset="0"/>
                <a:cs typeface="Arial" panose="020B0604020202020204" pitchFamily="34" charset="0"/>
              </a:defRPr>
            </a:lvl1pPr>
          </a:lstStyle>
          <a:p>
            <a:r>
              <a:rPr lang="en-US" dirty="0"/>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Slide Number Placeholder 4"/>
          <p:cNvSpPr>
            <a:spLocks noGrp="1"/>
          </p:cNvSpPr>
          <p:nvPr>
            <p:ph type="sldNum" sz="quarter" idx="12"/>
          </p:nvPr>
        </p:nvSpPr>
        <p:spPr/>
        <p:txBody>
          <a:bodyPr/>
          <a:lstStyle/>
          <a:p>
            <a:fld id="{070107C2-BA80-4C15-96AE-A43002ADF025}" type="slidenum">
              <a:rPr lang="en-US" smtClean="0"/>
              <a:t>‹#›</a:t>
            </a:fld>
            <a:endParaRPr lang="en-US"/>
          </a:p>
        </p:txBody>
      </p:sp>
    </p:spTree>
    <p:extLst>
      <p:ext uri="{BB962C8B-B14F-4D97-AF65-F5344CB8AC3E}">
        <p14:creationId xmlns:p14="http://schemas.microsoft.com/office/powerpoint/2010/main" val="1932065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6" name="Rounded Rectangle 15"/>
          <p:cNvSpPr/>
          <p:nvPr userDrawn="1"/>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userDrawn="1"/>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 name="Footer Placeholder 4"/>
          <p:cNvSpPr>
            <a:spLocks noGrp="1"/>
          </p:cNvSpPr>
          <p:nvPr>
            <p:ph type="ftr" sz="quarter" idx="11"/>
          </p:nvPr>
        </p:nvSpPr>
        <p:spPr/>
        <p:txBody>
          <a:bodyPr/>
          <a:lstStyle/>
          <a:p>
            <a:r>
              <a:rPr lang="en-US" dirty="0"/>
              <a:t>©2019 Cengage Learning ®. May not be scanned, copied or duplicated, or posted to a publicly accessible website, in whole or in part. </a:t>
            </a:r>
          </a:p>
        </p:txBody>
      </p:sp>
      <p:sp>
        <p:nvSpPr>
          <p:cNvPr id="17" name="Slide Number Placeholder 4"/>
          <p:cNvSpPr>
            <a:spLocks noGrp="1"/>
          </p:cNvSpPr>
          <p:nvPr>
            <p:ph type="sldNum" sz="quarter" idx="12"/>
          </p:nvPr>
        </p:nvSpPr>
        <p:spPr>
          <a:xfrm>
            <a:off x="8001000" y="6250163"/>
            <a:ext cx="934040" cy="365125"/>
          </a:xfrm>
        </p:spPr>
        <p:txBody>
          <a:bodyPr/>
          <a:lstStyle/>
          <a:p>
            <a:fld id="{070107C2-BA80-4C15-96AE-A43002ADF025}" type="slidenum">
              <a:rPr lang="en-US" smtClean="0"/>
              <a:t>‹#›</a:t>
            </a:fld>
            <a:endParaRPr lang="en-US"/>
          </a:p>
        </p:txBody>
      </p:sp>
      <p:pic>
        <p:nvPicPr>
          <p:cNvPr id="2" name="Picture 1"/>
          <p:cNvPicPr>
            <a:picLocks noChangeAspect="1"/>
          </p:cNvPicPr>
          <p:nvPr userDrawn="1"/>
        </p:nvPicPr>
        <p:blipFill>
          <a:blip r:embed="rId2"/>
          <a:stretch>
            <a:fillRect/>
          </a:stretch>
        </p:blipFill>
        <p:spPr>
          <a:xfrm>
            <a:off x="490505" y="589492"/>
            <a:ext cx="4367513" cy="5430261"/>
          </a:xfrm>
          <a:prstGeom prst="rect">
            <a:avLst/>
          </a:prstGeom>
        </p:spPr>
      </p:pic>
      <p:sp>
        <p:nvSpPr>
          <p:cNvPr id="8" name="Text Placeholder 7"/>
          <p:cNvSpPr>
            <a:spLocks noGrp="1"/>
          </p:cNvSpPr>
          <p:nvPr>
            <p:ph type="body" sz="quarter" idx="13" hasCustomPrompt="1"/>
          </p:nvPr>
        </p:nvSpPr>
        <p:spPr>
          <a:xfrm>
            <a:off x="5397500" y="1600200"/>
            <a:ext cx="3213100" cy="762000"/>
          </a:xfrm>
        </p:spPr>
        <p:txBody>
          <a:bodyPr>
            <a:normAutofit/>
          </a:bodyPr>
          <a:lstStyle>
            <a:lvl1pPr marL="0" indent="0" algn="ctr">
              <a:buNone/>
              <a:defRPr sz="3200" baseline="0"/>
            </a:lvl1pPr>
          </a:lstStyle>
          <a:p>
            <a:pPr lvl="0"/>
            <a:r>
              <a:rPr lang="en-US" dirty="0"/>
              <a:t>Chapter #</a:t>
            </a:r>
          </a:p>
        </p:txBody>
      </p:sp>
      <p:sp>
        <p:nvSpPr>
          <p:cNvPr id="10" name="Text Placeholder 9"/>
          <p:cNvSpPr>
            <a:spLocks noGrp="1"/>
          </p:cNvSpPr>
          <p:nvPr>
            <p:ph type="body" sz="quarter" idx="14" hasCustomPrompt="1"/>
          </p:nvPr>
        </p:nvSpPr>
        <p:spPr>
          <a:xfrm>
            <a:off x="5568950" y="2590800"/>
            <a:ext cx="2898775" cy="838200"/>
          </a:xfrm>
        </p:spPr>
        <p:txBody>
          <a:bodyPr/>
          <a:lstStyle>
            <a:lvl1pPr marL="0" indent="0" algn="ctr">
              <a:buNone/>
              <a:defRPr baseline="0"/>
            </a:lvl1pPr>
          </a:lstStyle>
          <a:p>
            <a:pPr lvl="0"/>
            <a:r>
              <a:rPr lang="en-US" dirty="0"/>
              <a:t>Chapter Title</a:t>
            </a:r>
          </a:p>
        </p:txBody>
      </p:sp>
    </p:spTree>
    <p:extLst>
      <p:ext uri="{BB962C8B-B14F-4D97-AF65-F5344CB8AC3E}">
        <p14:creationId xmlns:p14="http://schemas.microsoft.com/office/powerpoint/2010/main" val="4153781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Slide Number Placeholder 4"/>
          <p:cNvSpPr>
            <a:spLocks noGrp="1"/>
          </p:cNvSpPr>
          <p:nvPr>
            <p:ph type="sldNum" sz="quarter" idx="12"/>
          </p:nvPr>
        </p:nvSpPr>
        <p:spPr/>
        <p:txBody>
          <a:bodyPr/>
          <a:lstStyle/>
          <a:p>
            <a:fld id="{070107C2-BA80-4C15-96AE-A43002ADF025}" type="slidenum">
              <a:rPr lang="en-US" smtClean="0"/>
              <a:t>‹#›</a:t>
            </a:fld>
            <a:endParaRPr lang="en-US"/>
          </a:p>
        </p:txBody>
      </p:sp>
    </p:spTree>
    <p:extLst>
      <p:ext uri="{BB962C8B-B14F-4D97-AF65-F5344CB8AC3E}">
        <p14:creationId xmlns:p14="http://schemas.microsoft.com/office/powerpoint/2010/main" val="1513760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 name="Footer Placeholder 4"/>
          <p:cNvSpPr>
            <a:spLocks noGrp="1"/>
          </p:cNvSpPr>
          <p:nvPr>
            <p:ph type="ftr" sz="quarter" idx="11"/>
          </p:nvPr>
        </p:nvSpPr>
        <p:spPr/>
        <p:txBody>
          <a:bodyPr/>
          <a:lstStyle/>
          <a:p>
            <a:r>
              <a:rPr lang="en-US"/>
              <a:t>©2015 Cengage Learning Engineering. All Right Reserved.</a:t>
            </a:r>
            <a:endParaRPr lang="en-US" dirty="0"/>
          </a:p>
        </p:txBody>
      </p:sp>
      <p:sp>
        <p:nvSpPr>
          <p:cNvPr id="6" name="Slide Number Placeholder 5"/>
          <p:cNvSpPr>
            <a:spLocks noGrp="1"/>
          </p:cNvSpPr>
          <p:nvPr>
            <p:ph type="sldNum" sz="quarter" idx="12"/>
          </p:nvPr>
        </p:nvSpPr>
        <p:spPr/>
        <p:txBody>
          <a:bodyPr/>
          <a:lstStyle/>
          <a:p>
            <a:r>
              <a:rPr lang="en-US" dirty="0"/>
              <a:t>3</a:t>
            </a:r>
          </a:p>
        </p:txBody>
      </p:sp>
    </p:spTree>
    <p:extLst>
      <p:ext uri="{BB962C8B-B14F-4D97-AF65-F5344CB8AC3E}">
        <p14:creationId xmlns:p14="http://schemas.microsoft.com/office/powerpoint/2010/main" val="276820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oş">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5300E44-255A-4B82-AB29-95EF4E13FB01}" type="slidenum">
              <a:rPr lang="en-US"/>
              <a:pPr>
                <a:defRPr/>
              </a:pPr>
              <a:t>‹#›</a:t>
            </a:fld>
            <a:endParaRPr lang="en-US"/>
          </a:p>
        </p:txBody>
      </p:sp>
    </p:spTree>
    <p:extLst>
      <p:ext uri="{BB962C8B-B14F-4D97-AF65-F5344CB8AC3E}">
        <p14:creationId xmlns:p14="http://schemas.microsoft.com/office/powerpoint/2010/main" val="2042331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DB458B6-FFD1-4181-A567-ECBA1B192899}" type="slidenum">
              <a:rPr lang="en-US"/>
              <a:pPr>
                <a:defRPr/>
              </a:pPr>
              <a:t>‹#›</a:t>
            </a:fld>
            <a:endParaRPr lang="en-US"/>
          </a:p>
        </p:txBody>
      </p:sp>
    </p:spTree>
    <p:extLst>
      <p:ext uri="{BB962C8B-B14F-4D97-AF65-F5344CB8AC3E}">
        <p14:creationId xmlns:p14="http://schemas.microsoft.com/office/powerpoint/2010/main" val="633845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4E072C8-F9A0-477D-A37A-81519D0F45A1}" type="slidenum">
              <a:rPr lang="en-US"/>
              <a:pPr>
                <a:defRPr/>
              </a:pPr>
              <a:t>‹#›</a:t>
            </a:fld>
            <a:endParaRPr lang="en-US"/>
          </a:p>
        </p:txBody>
      </p:sp>
    </p:spTree>
    <p:extLst>
      <p:ext uri="{BB962C8B-B14F-4D97-AF65-F5344CB8AC3E}">
        <p14:creationId xmlns:p14="http://schemas.microsoft.com/office/powerpoint/2010/main" val="2067398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7" name="Slide Number Placeholder 26"/>
          <p:cNvSpPr>
            <a:spLocks noGrp="1"/>
          </p:cNvSpPr>
          <p:nvPr>
            <p:ph type="sldNum" sz="quarter" idx="12"/>
          </p:nvPr>
        </p:nvSpPr>
        <p:spPr/>
        <p:txBody>
          <a:bodyPr/>
          <a:lstStyle/>
          <a:p>
            <a:fld id="{122D24B2-5D52-46F7-B915-67CABB3AD0CF}" type="slidenum">
              <a:rPr lang="en-US" smtClean="0"/>
              <a:pPr/>
              <a:t>‹#›</a:t>
            </a:fld>
            <a:endParaRPr lang="en-US" dirty="0"/>
          </a:p>
        </p:txBody>
      </p:sp>
      <p:sp>
        <p:nvSpPr>
          <p:cNvPr id="4" name="Text Placeholder 3"/>
          <p:cNvSpPr>
            <a:spLocks noGrp="1"/>
          </p:cNvSpPr>
          <p:nvPr>
            <p:ph type="body" sz="quarter" idx="13"/>
          </p:nvPr>
        </p:nvSpPr>
        <p:spPr>
          <a:xfrm>
            <a:off x="609600" y="2133600"/>
            <a:ext cx="7810500" cy="4157662"/>
          </a:xfrm>
          <a:prstGeom prst="rect">
            <a:avLst/>
          </a:prstGeom>
        </p:spPr>
        <p:txBody>
          <a:bodyPr/>
          <a:lstStyle>
            <a:lvl1pPr marL="463550" indent="-463550">
              <a:buFont typeface="Wingdings" panose="05000000000000000000" pitchFamily="2" charset="2"/>
              <a:buChar char="q"/>
              <a:defRPr sz="2400">
                <a:solidFill>
                  <a:schemeClr val="bg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6" name="Title 5"/>
          <p:cNvSpPr>
            <a:spLocks noGrp="1"/>
          </p:cNvSpPr>
          <p:nvPr>
            <p:ph type="title"/>
          </p:nvPr>
        </p:nvSpPr>
        <p:spPr>
          <a:xfrm>
            <a:off x="609600" y="1001951"/>
            <a:ext cx="7810500" cy="979250"/>
          </a:xfrm>
          <a:prstGeom prst="rect">
            <a:avLst/>
          </a:prstGeom>
        </p:spPr>
        <p:txBody>
          <a:bodyPr/>
          <a:lstStyle>
            <a:lvl1pPr algn="l">
              <a:defRPr kumimoji="0" lang="en-US" sz="3600" b="1" kern="1200" dirty="0">
                <a:ln>
                  <a:noFill/>
                </a:ln>
                <a:solidFill>
                  <a:schemeClr val="accent2"/>
                </a:solidFill>
                <a:effectLst/>
                <a:latin typeface="Arial" panose="020B0604020202020204" pitchFamily="34" charset="0"/>
                <a:ea typeface="Verdana" panose="020B0604030504040204" pitchFamily="34" charset="0"/>
                <a:cs typeface="Arial" panose="020B0604020202020204" pitchFamily="34" charset="0"/>
              </a:defRPr>
            </a:lvl1pPr>
          </a:lstStyle>
          <a:p>
            <a:r>
              <a:rPr lang="en-US" dirty="0"/>
              <a:t>Click to edit Master title style</a:t>
            </a:r>
          </a:p>
        </p:txBody>
      </p:sp>
      <p:sp>
        <p:nvSpPr>
          <p:cNvPr id="10" name="Footer Placeholder 8"/>
          <p:cNvSpPr txBox="1">
            <a:spLocks/>
          </p:cNvSpPr>
          <p:nvPr userDrawn="1"/>
        </p:nvSpPr>
        <p:spPr>
          <a:xfrm>
            <a:off x="1333500" y="6364275"/>
            <a:ext cx="6972300" cy="3778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kumimoji="0" lang="en-US" sz="1100" kern="1200" dirty="0">
              <a:solidFill>
                <a:srgbClr val="002060"/>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5909804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A922DD0F-8B39-4D60-AE69-CBFBC02DBD0B}"/>
              </a:ext>
            </a:extLst>
          </p:cNvPr>
          <p:cNvSpPr>
            <a:spLocks noGrp="1"/>
          </p:cNvSpPr>
          <p:nvPr>
            <p:ph type="dt" sz="half" idx="10"/>
          </p:nvPr>
        </p:nvSpPr>
        <p:spPr/>
        <p:txBody>
          <a:bodyPr/>
          <a:lstStyle>
            <a:lvl1pPr>
              <a:defRPr/>
            </a:lvl1pPr>
          </a:lstStyle>
          <a:p>
            <a:pPr>
              <a:defRPr/>
            </a:pPr>
            <a:fld id="{96F47932-AA18-4096-B91A-EB43EF47F404}" type="datetimeFigureOut">
              <a:rPr lang="en-US"/>
              <a:pPr>
                <a:defRPr/>
              </a:pPr>
              <a:t>11/10/2025</a:t>
            </a:fld>
            <a:endParaRPr lang="en-US"/>
          </a:p>
        </p:txBody>
      </p:sp>
      <p:sp>
        <p:nvSpPr>
          <p:cNvPr id="4" name="Footer Placeholder 4">
            <a:extLst>
              <a:ext uri="{FF2B5EF4-FFF2-40B4-BE49-F238E27FC236}">
                <a16:creationId xmlns:a16="http://schemas.microsoft.com/office/drawing/2014/main" id="{E55916D0-8023-4AE9-B812-1A5499EABA69}"/>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AD50F693-4ED6-41F5-B981-4B2F62B6E864}"/>
              </a:ext>
            </a:extLst>
          </p:cNvPr>
          <p:cNvSpPr>
            <a:spLocks noGrp="1"/>
          </p:cNvSpPr>
          <p:nvPr>
            <p:ph type="sldNum" sz="quarter" idx="12"/>
          </p:nvPr>
        </p:nvSpPr>
        <p:spPr/>
        <p:txBody>
          <a:bodyPr/>
          <a:lstStyle>
            <a:lvl1pPr>
              <a:defRPr/>
            </a:lvl1pPr>
          </a:lstStyle>
          <a:p>
            <a:fld id="{04D2B7F4-D5D2-4078-9E3F-C142D4E7B12F}" type="slidenum">
              <a:rPr lang="en-US" altLang="en-US"/>
              <a:pPr/>
              <a:t>‹#›</a:t>
            </a:fld>
            <a:endParaRPr lang="en-US" altLang="en-US"/>
          </a:p>
        </p:txBody>
      </p:sp>
    </p:spTree>
    <p:extLst>
      <p:ext uri="{BB962C8B-B14F-4D97-AF65-F5344CB8AC3E}">
        <p14:creationId xmlns:p14="http://schemas.microsoft.com/office/powerpoint/2010/main" val="9144892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7" name="Slide Number Placeholder 26"/>
          <p:cNvSpPr>
            <a:spLocks noGrp="1"/>
          </p:cNvSpPr>
          <p:nvPr>
            <p:ph type="sldNum" sz="quarter" idx="12"/>
          </p:nvPr>
        </p:nvSpPr>
        <p:spPr/>
        <p:txBody>
          <a:bodyPr/>
          <a:lstStyle/>
          <a:p>
            <a:fld id="{122D24B2-5D52-46F7-B915-67CABB3AD0CF}" type="slidenum">
              <a:rPr lang="en-US" smtClean="0"/>
              <a:pPr/>
              <a:t>‹#›</a:t>
            </a:fld>
            <a:endParaRPr lang="en-US" dirty="0"/>
          </a:p>
        </p:txBody>
      </p:sp>
      <p:sp>
        <p:nvSpPr>
          <p:cNvPr id="4" name="Text Placeholder 3"/>
          <p:cNvSpPr>
            <a:spLocks noGrp="1"/>
          </p:cNvSpPr>
          <p:nvPr>
            <p:ph type="body" sz="quarter" idx="13"/>
          </p:nvPr>
        </p:nvSpPr>
        <p:spPr>
          <a:xfrm>
            <a:off x="609600" y="2133600"/>
            <a:ext cx="7810500" cy="4157662"/>
          </a:xfrm>
          <a:prstGeom prst="rect">
            <a:avLst/>
          </a:prstGeom>
        </p:spPr>
        <p:txBody>
          <a:bodyPr/>
          <a:lstStyle>
            <a:lvl1pPr marL="463550" indent="-463550">
              <a:buFont typeface="Wingdings" panose="05000000000000000000" pitchFamily="2" charset="2"/>
              <a:buChar char="q"/>
              <a:defRPr sz="2400">
                <a:solidFill>
                  <a:schemeClr val="bg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6" name="Title 5"/>
          <p:cNvSpPr>
            <a:spLocks noGrp="1"/>
          </p:cNvSpPr>
          <p:nvPr>
            <p:ph type="title"/>
          </p:nvPr>
        </p:nvSpPr>
        <p:spPr>
          <a:xfrm>
            <a:off x="609600" y="1001951"/>
            <a:ext cx="7810500" cy="979250"/>
          </a:xfrm>
          <a:prstGeom prst="rect">
            <a:avLst/>
          </a:prstGeom>
        </p:spPr>
        <p:txBody>
          <a:bodyPr/>
          <a:lstStyle>
            <a:lvl1pPr algn="l">
              <a:defRPr b="1">
                <a:solidFill>
                  <a:schemeClr val="accent2"/>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5022451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7" name="Slide Number Placeholder 26"/>
          <p:cNvSpPr>
            <a:spLocks noGrp="1"/>
          </p:cNvSpPr>
          <p:nvPr>
            <p:ph type="sldNum" sz="quarter" idx="12"/>
          </p:nvPr>
        </p:nvSpPr>
        <p:spPr/>
        <p:txBody>
          <a:bodyPr/>
          <a:lstStyle/>
          <a:p>
            <a:fld id="{122D24B2-5D52-46F7-B915-67CABB3AD0CF}" type="slidenum">
              <a:rPr lang="en-US" smtClean="0"/>
              <a:pPr/>
              <a:t>‹#›</a:t>
            </a:fld>
            <a:endParaRPr lang="en-US" dirty="0"/>
          </a:p>
        </p:txBody>
      </p:sp>
      <p:sp>
        <p:nvSpPr>
          <p:cNvPr id="4" name="Text Placeholder 3"/>
          <p:cNvSpPr>
            <a:spLocks noGrp="1"/>
          </p:cNvSpPr>
          <p:nvPr>
            <p:ph type="body" sz="quarter" idx="13"/>
          </p:nvPr>
        </p:nvSpPr>
        <p:spPr>
          <a:xfrm>
            <a:off x="609600" y="2133600"/>
            <a:ext cx="7810500" cy="4157662"/>
          </a:xfrm>
          <a:prstGeom prst="rect">
            <a:avLst/>
          </a:prstGeom>
        </p:spPr>
        <p:txBody>
          <a:bodyPr/>
          <a:lstStyle>
            <a:lvl1pPr marL="463550" indent="-463550">
              <a:buFont typeface="Wingdings" panose="05000000000000000000" pitchFamily="2" charset="2"/>
              <a:buChar char="q"/>
              <a:defRPr sz="2400">
                <a:solidFill>
                  <a:schemeClr val="bg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6" name="Title 5"/>
          <p:cNvSpPr>
            <a:spLocks noGrp="1"/>
          </p:cNvSpPr>
          <p:nvPr>
            <p:ph type="title"/>
          </p:nvPr>
        </p:nvSpPr>
        <p:spPr>
          <a:xfrm>
            <a:off x="609600" y="1001951"/>
            <a:ext cx="7810500" cy="979250"/>
          </a:xfrm>
          <a:prstGeom prst="rect">
            <a:avLst/>
          </a:prstGeom>
        </p:spPr>
        <p:txBody>
          <a:bodyPr/>
          <a:lstStyle>
            <a:lvl1pPr algn="l">
              <a:defRPr b="1">
                <a:solidFill>
                  <a:schemeClr val="accent2"/>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1686236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7409" y="632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100">
                <a:solidFill>
                  <a:srgbClr val="002060"/>
                </a:solidFill>
                <a:latin typeface="Verdana" panose="020B0604030504040204" pitchFamily="34" charset="0"/>
                <a:ea typeface="Verdana" panose="020B0604030504040204" pitchFamily="34" charset="0"/>
                <a:cs typeface="Verdana" panose="020B0604030504040204" pitchFamily="34" charset="0"/>
              </a:defRPr>
            </a:lvl1pPr>
          </a:lstStyle>
          <a:p>
            <a:fld id="{122D24B2-5D52-46F7-B915-67CABB3AD0CF}" type="slidenum">
              <a:rPr lang="en-US" smtClean="0"/>
              <a:pPr/>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
        <p:nvSpPr>
          <p:cNvPr id="9" name="TextBox 8"/>
          <p:cNvSpPr txBox="1"/>
          <p:nvPr userDrawn="1"/>
        </p:nvSpPr>
        <p:spPr>
          <a:xfrm>
            <a:off x="0" y="0"/>
            <a:ext cx="9144000" cy="307777"/>
          </a:xfrm>
          <a:prstGeom prst="rect">
            <a:avLst/>
          </a:prstGeom>
          <a:noFill/>
        </p:spPr>
        <p:txBody>
          <a:bodyPr wrap="square" rtlCol="0">
            <a:spAutoFit/>
          </a:bodyPr>
          <a:lstStyle/>
          <a:p>
            <a:r>
              <a:rPr lang="en-US" sz="1400" dirty="0">
                <a:solidFill>
                  <a:schemeClr val="bg1"/>
                </a:solidFill>
                <a:latin typeface="Verdana" panose="020B0604030504040204" pitchFamily="34" charset="0"/>
                <a:ea typeface="Verdana" panose="020B0604030504040204" pitchFamily="34" charset="0"/>
                <a:cs typeface="Verdana" panose="020B0604030504040204" pitchFamily="34" charset="0"/>
              </a:rPr>
              <a:t>				</a:t>
            </a:r>
          </a:p>
        </p:txBody>
      </p:sp>
    </p:spTree>
  </p:cSld>
  <p:clrMap bg1="dk1" tx1="lt1" bg2="dk2" tx2="lt2" accent1="accent1" accent2="accent2" accent3="accent3" accent4="accent4" accent5="accent5" accent6="accent6" hlink="hlink" folHlink="folHlink"/>
  <p:sldLayoutIdLst>
    <p:sldLayoutId id="2147483758" r:id="rId1"/>
    <p:sldLayoutId id="2147483757" r:id="rId2"/>
    <p:sldLayoutId id="2147483806" r:id="rId3"/>
  </p:sldLayoutIdLst>
  <p:hf hdr="0" ftr="0" dt="0"/>
  <p:txStyles>
    <p:titleStyle>
      <a:lvl1pPr algn="ctr" rtl="0" eaLnBrk="1" latinLnBrk="0" hangingPunct="1">
        <a:spcBef>
          <a:spcPct val="0"/>
        </a:spcBef>
        <a:buNone/>
        <a:defRPr kumimoji="0" sz="3600" b="0" kern="1200">
          <a:ln>
            <a:noFill/>
          </a:ln>
          <a:solidFill>
            <a:srgbClr val="002060"/>
          </a:solidFill>
          <a:effectLst/>
          <a:latin typeface="Verdana" panose="020B0604030504040204" pitchFamily="34" charset="0"/>
          <a:ea typeface="Verdana" panose="020B0604030504040204" pitchFamily="34" charset="0"/>
          <a:cs typeface="Verdana" panose="020B0604030504040204" pitchFamily="34" charset="0"/>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rgbClr val="002060"/>
          </a:solidFill>
          <a:latin typeface="Verdana" panose="020B0604030504040204" pitchFamily="34" charset="0"/>
          <a:ea typeface="Verdana" panose="020B0604030504040204" pitchFamily="34" charset="0"/>
          <a:cs typeface="Verdana" panose="020B0604030504040204" pitchFamily="34" charset="0"/>
        </a:defRPr>
      </a:lvl1pPr>
      <a:lvl2pPr marL="640080" indent="-246888" algn="l" rtl="0" eaLnBrk="1" latinLnBrk="0" hangingPunct="1">
        <a:spcBef>
          <a:spcPct val="20000"/>
        </a:spcBef>
        <a:buClr>
          <a:schemeClr val="accent1"/>
        </a:buClr>
        <a:buSzPct val="85000"/>
        <a:buFont typeface="Wingdings 2"/>
        <a:buChar char=""/>
        <a:defRPr kumimoji="0" sz="2400" kern="1200">
          <a:solidFill>
            <a:srgbClr val="002060"/>
          </a:solidFill>
          <a:latin typeface="Verdana" panose="020B0604030504040204" pitchFamily="34" charset="0"/>
          <a:ea typeface="Verdana" panose="020B0604030504040204" pitchFamily="34" charset="0"/>
          <a:cs typeface="Verdana" panose="020B0604030504040204" pitchFamily="34" charset="0"/>
        </a:defRPr>
      </a:lvl2pPr>
      <a:lvl3pPr marL="914400" indent="-246888" algn="l" rtl="0" eaLnBrk="1" latinLnBrk="0" hangingPunct="1">
        <a:spcBef>
          <a:spcPct val="20000"/>
        </a:spcBef>
        <a:buClr>
          <a:schemeClr val="accent2"/>
        </a:buClr>
        <a:buSzPct val="70000"/>
        <a:buFont typeface="Wingdings 2"/>
        <a:buChar char=""/>
        <a:defRPr kumimoji="0" sz="2100" kern="1200">
          <a:solidFill>
            <a:srgbClr val="002060"/>
          </a:solidFill>
          <a:latin typeface="Verdana" panose="020B0604030504040204" pitchFamily="34" charset="0"/>
          <a:ea typeface="Verdana" panose="020B0604030504040204" pitchFamily="34" charset="0"/>
          <a:cs typeface="Verdana" panose="020B0604030504040204" pitchFamily="34" charset="0"/>
        </a:defRPr>
      </a:lvl3pPr>
      <a:lvl4pPr marL="1188720" indent="-210312" algn="l" rtl="0" eaLnBrk="1" latinLnBrk="0" hangingPunct="1">
        <a:spcBef>
          <a:spcPct val="20000"/>
        </a:spcBef>
        <a:buClr>
          <a:schemeClr val="accent3"/>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4pPr>
      <a:lvl5pPr marL="1463040" indent="-210312" algn="l" rtl="0" eaLnBrk="1" latinLnBrk="0" hangingPunct="1">
        <a:spcBef>
          <a:spcPct val="20000"/>
        </a:spcBef>
        <a:buClr>
          <a:schemeClr val="accent4"/>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dirty="0"/>
              <a:t>Click to edit Master title style</a:t>
            </a:r>
          </a:p>
        </p:txBody>
      </p:sp>
      <p:sp>
        <p:nvSpPr>
          <p:cNvPr id="5" name="Footer Placeholder 4"/>
          <p:cNvSpPr>
            <a:spLocks noGrp="1"/>
          </p:cNvSpPr>
          <p:nvPr>
            <p:ph type="ftr" sz="quarter" idx="3"/>
          </p:nvPr>
        </p:nvSpPr>
        <p:spPr>
          <a:xfrm>
            <a:off x="193638" y="6250164"/>
            <a:ext cx="7807362" cy="365125"/>
          </a:xfrm>
          <a:prstGeom prst="rect">
            <a:avLst/>
          </a:prstGeom>
        </p:spPr>
        <p:txBody>
          <a:bodyPr vert="horz" lIns="91440" tIns="45720" rIns="91440" bIns="45720" rtlCol="0" anchor="ctr"/>
          <a:lstStyle>
            <a:lvl1pPr algn="l">
              <a:defRPr sz="1000">
                <a:solidFill>
                  <a:schemeClr val="tx2"/>
                </a:solidFill>
              </a:defRPr>
            </a:lvl1pPr>
          </a:lstStyle>
          <a:p>
            <a:r>
              <a:rPr lang="en-US" dirty="0"/>
              <a:t>©2019 Cengage Learning ®. May not be scanned, copied or duplicated, or posted to a publicly accessible website, in whole or in part. </a:t>
            </a:r>
          </a:p>
        </p:txBody>
      </p:sp>
      <p:sp>
        <p:nvSpPr>
          <p:cNvPr id="6" name="Slide Number Placeholder 5"/>
          <p:cNvSpPr>
            <a:spLocks noGrp="1"/>
          </p:cNvSpPr>
          <p:nvPr>
            <p:ph type="sldNum" sz="quarter" idx="4"/>
          </p:nvPr>
        </p:nvSpPr>
        <p:spPr>
          <a:xfrm>
            <a:off x="8001000" y="6250163"/>
            <a:ext cx="934040" cy="365125"/>
          </a:xfrm>
          <a:prstGeom prst="rect">
            <a:avLst/>
          </a:prstGeom>
        </p:spPr>
        <p:txBody>
          <a:bodyPr vert="horz" lIns="91440" tIns="45720" rIns="91440" bIns="45720" rtlCol="0" anchor="ctr"/>
          <a:lstStyle>
            <a:lvl1pPr algn="ctr">
              <a:defRPr sz="1000">
                <a:solidFill>
                  <a:schemeClr val="tx2"/>
                </a:solidFill>
              </a:defRPr>
            </a:lvl1pPr>
          </a:lstStyle>
          <a:p>
            <a:fld id="{070107C2-BA80-4C15-96AE-A43002ADF025}" type="slidenum">
              <a:rPr lang="en-US" smtClean="0"/>
              <a:t>‹#›</a:t>
            </a:fld>
            <a:endParaRPr lang="en-US" dirty="0"/>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39278177"/>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802" r:id="rId4"/>
    <p:sldLayoutId id="2147483803" r:id="rId5"/>
    <p:sldLayoutId id="2147483804" r:id="rId6"/>
    <p:sldLayoutId id="2147483805" r:id="rId7"/>
    <p:sldLayoutId id="2147483807" r:id="rId8"/>
  </p:sldLayoutIdLst>
  <p:hf hdr="0" dt="0"/>
  <p:txStyles>
    <p:titleStyle>
      <a:lvl1pPr algn="ctr" defTabSz="914400" rtl="0" eaLnBrk="1" latinLnBrk="0" hangingPunct="1">
        <a:spcBef>
          <a:spcPct val="0"/>
        </a:spcBef>
        <a:buNone/>
        <a:defRPr sz="3600" kern="1200">
          <a:solidFill>
            <a:srgbClr val="FFFFFF"/>
          </a:solidFill>
          <a:latin typeface="Verdana" panose="020B0604030504040204" pitchFamily="34" charset="0"/>
          <a:ea typeface="Verdana" panose="020B0604030504040204" pitchFamily="34" charset="0"/>
          <a:cs typeface="Verdana" panose="020B060403050404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Verdana" panose="020B0604030504040204" pitchFamily="34" charset="0"/>
          <a:ea typeface="Verdana" panose="020B0604030504040204" pitchFamily="34" charset="0"/>
          <a:cs typeface="Verdana" panose="020B0604030504040204" pitchFamily="34" charset="0"/>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Verdana" panose="020B0604030504040204" pitchFamily="34" charset="0"/>
          <a:ea typeface="Verdana" panose="020B0604030504040204" pitchFamily="34" charset="0"/>
          <a:cs typeface="Verdana" panose="020B0604030504040204" pitchFamily="34" charset="0"/>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Verdana" panose="020B0604030504040204" pitchFamily="34" charset="0"/>
          <a:ea typeface="Verdana" panose="020B0604030504040204" pitchFamily="34" charset="0"/>
          <a:cs typeface="Verdana" panose="020B0604030504040204" pitchFamily="34" charset="0"/>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Verdana" panose="020B0604030504040204" pitchFamily="34" charset="0"/>
          <a:ea typeface="Verdana" panose="020B0604030504040204" pitchFamily="34" charset="0"/>
          <a:cs typeface="Verdana" panose="020B0604030504040204" pitchFamily="34" charset="0"/>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7409" y="632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100">
                <a:solidFill>
                  <a:srgbClr val="002060"/>
                </a:solidFill>
                <a:latin typeface="Verdana" panose="020B0604030504040204" pitchFamily="34" charset="0"/>
                <a:ea typeface="Verdana" panose="020B0604030504040204" pitchFamily="34" charset="0"/>
                <a:cs typeface="Verdana" panose="020B0604030504040204" pitchFamily="34" charset="0"/>
              </a:defRPr>
            </a:lvl1pPr>
          </a:lstStyle>
          <a:p>
            <a:fld id="{122D24B2-5D52-46F7-B915-67CABB3AD0CF}" type="slidenum">
              <a:rPr lang="en-US" smtClean="0"/>
              <a:pPr/>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Tree>
    <p:extLst>
      <p:ext uri="{BB962C8B-B14F-4D97-AF65-F5344CB8AC3E}">
        <p14:creationId xmlns:p14="http://schemas.microsoft.com/office/powerpoint/2010/main" val="4056223218"/>
      </p:ext>
    </p:extLst>
  </p:cSld>
  <p:clrMap bg1="dk1" tx1="lt1" bg2="dk2" tx2="lt2" accent1="accent1" accent2="accent2" accent3="accent3" accent4="accent4" accent5="accent5" accent6="accent6" hlink="hlink" folHlink="folHlink"/>
  <p:sldLayoutIdLst>
    <p:sldLayoutId id="2147483799" r:id="rId1"/>
    <p:sldLayoutId id="2147483800" r:id="rId2"/>
  </p:sldLayoutIdLst>
  <p:hf hdr="0" ftr="0" dt="0"/>
  <p:txStyles>
    <p:titleStyle>
      <a:lvl1pPr algn="ctr" rtl="0" eaLnBrk="1" latinLnBrk="0" hangingPunct="1">
        <a:spcBef>
          <a:spcPct val="0"/>
        </a:spcBef>
        <a:buNone/>
        <a:defRPr kumimoji="0" sz="3600" b="0" kern="1200">
          <a:ln>
            <a:noFill/>
          </a:ln>
          <a:solidFill>
            <a:srgbClr val="002060"/>
          </a:solidFill>
          <a:effectLst/>
          <a:latin typeface="Verdana" panose="020B0604030504040204" pitchFamily="34" charset="0"/>
          <a:ea typeface="Verdana" panose="020B0604030504040204" pitchFamily="34" charset="0"/>
          <a:cs typeface="Verdana" panose="020B0604030504040204" pitchFamily="34" charset="0"/>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rgbClr val="002060"/>
          </a:solidFill>
          <a:latin typeface="Verdana" panose="020B0604030504040204" pitchFamily="34" charset="0"/>
          <a:ea typeface="Verdana" panose="020B0604030504040204" pitchFamily="34" charset="0"/>
          <a:cs typeface="Verdana" panose="020B0604030504040204" pitchFamily="34" charset="0"/>
        </a:defRPr>
      </a:lvl1pPr>
      <a:lvl2pPr marL="640080" indent="-246888" algn="l" rtl="0" eaLnBrk="1" latinLnBrk="0" hangingPunct="1">
        <a:spcBef>
          <a:spcPct val="20000"/>
        </a:spcBef>
        <a:buClr>
          <a:schemeClr val="accent1"/>
        </a:buClr>
        <a:buSzPct val="85000"/>
        <a:buFont typeface="Wingdings 2"/>
        <a:buChar char=""/>
        <a:defRPr kumimoji="0" sz="2400" kern="1200">
          <a:solidFill>
            <a:srgbClr val="002060"/>
          </a:solidFill>
          <a:latin typeface="Verdana" panose="020B0604030504040204" pitchFamily="34" charset="0"/>
          <a:ea typeface="Verdana" panose="020B0604030504040204" pitchFamily="34" charset="0"/>
          <a:cs typeface="Verdana" panose="020B0604030504040204" pitchFamily="34" charset="0"/>
        </a:defRPr>
      </a:lvl2pPr>
      <a:lvl3pPr marL="914400" indent="-246888" algn="l" rtl="0" eaLnBrk="1" latinLnBrk="0" hangingPunct="1">
        <a:spcBef>
          <a:spcPct val="20000"/>
        </a:spcBef>
        <a:buClr>
          <a:schemeClr val="accent2"/>
        </a:buClr>
        <a:buSzPct val="70000"/>
        <a:buFont typeface="Wingdings 2"/>
        <a:buChar char=""/>
        <a:defRPr kumimoji="0" sz="2100" kern="1200">
          <a:solidFill>
            <a:srgbClr val="002060"/>
          </a:solidFill>
          <a:latin typeface="Verdana" panose="020B0604030504040204" pitchFamily="34" charset="0"/>
          <a:ea typeface="Verdana" panose="020B0604030504040204" pitchFamily="34" charset="0"/>
          <a:cs typeface="Verdana" panose="020B0604030504040204" pitchFamily="34" charset="0"/>
        </a:defRPr>
      </a:lvl3pPr>
      <a:lvl4pPr marL="1188720" indent="-210312" algn="l" rtl="0" eaLnBrk="1" latinLnBrk="0" hangingPunct="1">
        <a:spcBef>
          <a:spcPct val="20000"/>
        </a:spcBef>
        <a:buClr>
          <a:schemeClr val="accent3"/>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4pPr>
      <a:lvl5pPr marL="1463040" indent="-210312" algn="l" rtl="0" eaLnBrk="1" latinLnBrk="0" hangingPunct="1">
        <a:spcBef>
          <a:spcPct val="20000"/>
        </a:spcBef>
        <a:buClr>
          <a:schemeClr val="accent4"/>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jpg"/></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hyperlink" Target="https://secure.solar-rating.org/Certification/Ratings/RatingsSummaryPage.aspx?type=1" TargetMode="External"/><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5.xml"/><Relationship Id="rId5" Type="http://schemas.openxmlformats.org/officeDocument/2006/relationships/image" Target="../media/image52.png"/><Relationship Id="rId4" Type="http://schemas.openxmlformats.org/officeDocument/2006/relationships/image" Target="../media/image5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3.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image" Target="../media/image350.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70.jpeg"/><Relationship Id="rId4" Type="http://schemas.openxmlformats.org/officeDocument/2006/relationships/image" Target="../media/image69.jpe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72.jpeg"/><Relationship Id="rId4" Type="http://schemas.openxmlformats.org/officeDocument/2006/relationships/image" Target="../media/image71.jpe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74.jpeg"/><Relationship Id="rId4" Type="http://schemas.openxmlformats.org/officeDocument/2006/relationships/image" Target="../media/image73.jpe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76.jpeg"/><Relationship Id="rId4" Type="http://schemas.openxmlformats.org/officeDocument/2006/relationships/image" Target="../media/image75.jpe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78.jpeg"/><Relationship Id="rId4" Type="http://schemas.openxmlformats.org/officeDocument/2006/relationships/image" Target="../media/image77.jpe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80.jpeg"/><Relationship Id="rId4" Type="http://schemas.openxmlformats.org/officeDocument/2006/relationships/image" Target="../media/image79.jpeg"/></Relationships>
</file>

<file path=ppt/slides/_rels/slide54.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slideLayout" Target="../slideLayouts/slideLayout5.xml"/><Relationship Id="rId1" Type="http://schemas.openxmlformats.org/officeDocument/2006/relationships/tags" Target="../tags/tag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4953000" y="1739900"/>
            <a:ext cx="3432048" cy="914400"/>
          </a:xfrm>
          <a:prstGeom prst="rect">
            <a:avLst/>
          </a:prstGeom>
        </p:spPr>
        <p:txBody>
          <a:bodyPr>
            <a:noAutofit/>
          </a:bodyPr>
          <a:lstStyle>
            <a:lvl1pPr algn="l" rtl="0" eaLnBrk="1" latinLnBrk="0" hangingPunct="1">
              <a:spcBef>
                <a:spcPct val="0"/>
              </a:spcBef>
              <a:buNone/>
              <a:defRPr kumimoji="0" sz="3600" b="1" kern="1200">
                <a:ln>
                  <a:noFill/>
                </a:ln>
                <a:solidFill>
                  <a:schemeClr val="accent2"/>
                </a:solidFill>
                <a:effectLst/>
                <a:latin typeface="Arial" panose="020B0604020202020204" pitchFamily="34" charset="0"/>
                <a:ea typeface="Verdana" panose="020B0604030504040204" pitchFamily="34" charset="0"/>
                <a:cs typeface="Arial" panose="020B0604020202020204" pitchFamily="34" charset="0"/>
              </a:defRPr>
            </a:lvl1pPr>
          </a:lstStyle>
          <a:p>
            <a:pPr algn="ctr"/>
            <a:r>
              <a:rPr lang="en-US" sz="4800" b="0" dirty="0">
                <a:solidFill>
                  <a:schemeClr val="accent1"/>
                </a:solidFill>
                <a:latin typeface="Verdana" panose="020B0604030504040204" pitchFamily="34" charset="0"/>
                <a:cs typeface="Verdana" panose="020B0604030504040204" pitchFamily="34" charset="0"/>
              </a:rPr>
              <a:t> </a:t>
            </a:r>
          </a:p>
        </p:txBody>
      </p:sp>
      <p:sp>
        <p:nvSpPr>
          <p:cNvPr id="14" name="Subtitle 2"/>
          <p:cNvSpPr txBox="1">
            <a:spLocks/>
          </p:cNvSpPr>
          <p:nvPr/>
        </p:nvSpPr>
        <p:spPr>
          <a:xfrm>
            <a:off x="533400" y="1447800"/>
            <a:ext cx="8458200" cy="4800600"/>
          </a:xfrm>
          <a:prstGeom prst="rect">
            <a:avLst/>
          </a:prstGeom>
        </p:spPr>
        <p:txBody>
          <a:bodyPr>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rgbClr val="002060"/>
                </a:solidFill>
                <a:latin typeface="Verdana" panose="020B0604030504040204" pitchFamily="34" charset="0"/>
                <a:ea typeface="Verdana" panose="020B0604030504040204" pitchFamily="34" charset="0"/>
                <a:cs typeface="Verdana" panose="020B0604030504040204" pitchFamily="34" charset="0"/>
              </a:defRPr>
            </a:lvl1pPr>
            <a:lvl2pPr marL="640080" indent="-246888" algn="l" rtl="0" eaLnBrk="1" latinLnBrk="0" hangingPunct="1">
              <a:spcBef>
                <a:spcPct val="20000"/>
              </a:spcBef>
              <a:buClr>
                <a:schemeClr val="accent1"/>
              </a:buClr>
              <a:buSzPct val="85000"/>
              <a:buFont typeface="Wingdings 2"/>
              <a:buChar char=""/>
              <a:defRPr kumimoji="0" sz="2400" kern="1200">
                <a:solidFill>
                  <a:srgbClr val="002060"/>
                </a:solidFill>
                <a:latin typeface="Verdana" panose="020B0604030504040204" pitchFamily="34" charset="0"/>
                <a:ea typeface="Verdana" panose="020B0604030504040204" pitchFamily="34" charset="0"/>
                <a:cs typeface="Verdana" panose="020B0604030504040204" pitchFamily="34" charset="0"/>
              </a:defRPr>
            </a:lvl2pPr>
            <a:lvl3pPr marL="914400" indent="-246888" algn="l" rtl="0" eaLnBrk="1" latinLnBrk="0" hangingPunct="1">
              <a:spcBef>
                <a:spcPct val="20000"/>
              </a:spcBef>
              <a:buClr>
                <a:schemeClr val="accent2"/>
              </a:buClr>
              <a:buSzPct val="70000"/>
              <a:buFont typeface="Wingdings 2"/>
              <a:buChar char=""/>
              <a:defRPr kumimoji="0" sz="2100" kern="1200">
                <a:solidFill>
                  <a:srgbClr val="002060"/>
                </a:solidFill>
                <a:latin typeface="Verdana" panose="020B0604030504040204" pitchFamily="34" charset="0"/>
                <a:ea typeface="Verdana" panose="020B0604030504040204" pitchFamily="34" charset="0"/>
                <a:cs typeface="Verdana" panose="020B0604030504040204" pitchFamily="34" charset="0"/>
              </a:defRPr>
            </a:lvl3pPr>
            <a:lvl4pPr marL="1188720" indent="-210312" algn="l" rtl="0" eaLnBrk="1" latinLnBrk="0" hangingPunct="1">
              <a:spcBef>
                <a:spcPct val="20000"/>
              </a:spcBef>
              <a:buClr>
                <a:schemeClr val="accent3"/>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4pPr>
            <a:lvl5pPr marL="1463040" indent="-210312" algn="l" rtl="0" eaLnBrk="1" latinLnBrk="0" hangingPunct="1">
              <a:spcBef>
                <a:spcPct val="20000"/>
              </a:spcBef>
              <a:buClr>
                <a:schemeClr val="accent4"/>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buFont typeface="Wingdings 2"/>
              <a:buNone/>
            </a:pPr>
            <a:r>
              <a:rPr lang="en-US" sz="3200" b="1" dirty="0">
                <a:solidFill>
                  <a:schemeClr val="accent2"/>
                </a:solidFill>
              </a:rPr>
              <a:t>Introduction to Energy Systems </a:t>
            </a:r>
          </a:p>
          <a:p>
            <a:pPr marL="0" indent="0">
              <a:buFont typeface="Wingdings 2"/>
              <a:buNone/>
            </a:pPr>
            <a:endParaRPr lang="en-US" sz="3200" dirty="0">
              <a:solidFill>
                <a:schemeClr val="accent2"/>
              </a:solidFill>
            </a:endParaRPr>
          </a:p>
          <a:p>
            <a:pPr marL="0" indent="0">
              <a:buFont typeface="Wingdings 2"/>
              <a:buNone/>
            </a:pPr>
            <a:r>
              <a:rPr lang="en-US" sz="3200" dirty="0">
                <a:solidFill>
                  <a:schemeClr val="accent2"/>
                </a:solidFill>
              </a:rPr>
              <a:t>Module 6</a:t>
            </a:r>
          </a:p>
          <a:p>
            <a:pPr marL="0" indent="0">
              <a:buFont typeface="Wingdings 2"/>
              <a:buNone/>
            </a:pPr>
            <a:endParaRPr lang="en-US" sz="3200" dirty="0">
              <a:solidFill>
                <a:schemeClr val="accent2"/>
              </a:solidFill>
            </a:endParaRPr>
          </a:p>
          <a:p>
            <a:pPr marL="0" indent="0">
              <a:buFont typeface="Wingdings 2"/>
              <a:buNone/>
            </a:pPr>
            <a:r>
              <a:rPr lang="en-US" sz="3200" dirty="0">
                <a:solidFill>
                  <a:schemeClr val="accent2"/>
                </a:solidFill>
              </a:rPr>
              <a:t>Solar Energy Systems </a:t>
            </a:r>
          </a:p>
          <a:p>
            <a:pPr marL="0" indent="0">
              <a:buFont typeface="Wingdings 2"/>
              <a:buNone/>
            </a:pPr>
            <a:endParaRPr lang="en-US" sz="3200" dirty="0">
              <a:solidFill>
                <a:schemeClr val="accent2"/>
              </a:solidFill>
            </a:endParaRPr>
          </a:p>
          <a:p>
            <a:pPr marL="0" indent="0">
              <a:buFont typeface="Wingdings 2"/>
              <a:buNone/>
            </a:pPr>
            <a:endParaRPr lang="en-US" sz="3200" dirty="0">
              <a:solidFill>
                <a:schemeClr val="accent2"/>
              </a:solidFill>
            </a:endParaRPr>
          </a:p>
          <a:p>
            <a:pPr marL="0" indent="0">
              <a:buFont typeface="Wingdings 2"/>
              <a:buNone/>
            </a:pPr>
            <a:r>
              <a:rPr lang="en-US" sz="2400" dirty="0">
                <a:solidFill>
                  <a:schemeClr val="accent2"/>
                </a:solidFill>
              </a:rPr>
              <a:t>Prepared by: Prof. Amin Ghobeity</a:t>
            </a:r>
          </a:p>
          <a:p>
            <a:pPr marL="0" indent="0">
              <a:buFont typeface="Wingdings 2"/>
              <a:buNone/>
            </a:pPr>
            <a:r>
              <a:rPr lang="en-US" sz="2400" dirty="0">
                <a:solidFill>
                  <a:schemeClr val="accent2"/>
                </a:solidFill>
              </a:rPr>
              <a:t>Please do not distribute without permission</a:t>
            </a:r>
          </a:p>
        </p:txBody>
      </p:sp>
      <p:sp>
        <p:nvSpPr>
          <p:cNvPr id="16" name="Slide Number Placeholder 15"/>
          <p:cNvSpPr>
            <a:spLocks noGrp="1"/>
          </p:cNvSpPr>
          <p:nvPr>
            <p:ph type="sldNum" sz="quarter" idx="12"/>
          </p:nvPr>
        </p:nvSpPr>
        <p:spPr/>
        <p:txBody>
          <a:bodyPr/>
          <a:lstStyle/>
          <a:p>
            <a:fld id="{122D24B2-5D52-46F7-B915-67CABB3AD0CF}"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2</a:t>
            </a:fld>
            <a:endParaRPr lang="en-US" dirty="0"/>
          </a:p>
        </p:txBody>
      </p:sp>
      <p:sp>
        <p:nvSpPr>
          <p:cNvPr id="4" name="Title 3"/>
          <p:cNvSpPr>
            <a:spLocks noGrp="1"/>
          </p:cNvSpPr>
          <p:nvPr>
            <p:ph type="title"/>
          </p:nvPr>
        </p:nvSpPr>
        <p:spPr/>
        <p:txBody>
          <a:bodyPr/>
          <a:lstStyle/>
          <a:p>
            <a:r>
              <a:rPr lang="en-CA" dirty="0"/>
              <a:t>References</a:t>
            </a:r>
          </a:p>
        </p:txBody>
      </p:sp>
      <p:sp>
        <p:nvSpPr>
          <p:cNvPr id="15" name="TextBox 14">
            <a:extLst>
              <a:ext uri="{FF2B5EF4-FFF2-40B4-BE49-F238E27FC236}">
                <a16:creationId xmlns:a16="http://schemas.microsoft.com/office/drawing/2014/main" id="{49B3CC0A-3C29-4A1E-856C-3DB053DD31A0}"/>
              </a:ext>
            </a:extLst>
          </p:cNvPr>
          <p:cNvSpPr txBox="1"/>
          <p:nvPr/>
        </p:nvSpPr>
        <p:spPr>
          <a:xfrm>
            <a:off x="6894120" y="1872766"/>
            <a:ext cx="2021280" cy="646331"/>
          </a:xfrm>
          <a:prstGeom prst="rect">
            <a:avLst/>
          </a:prstGeom>
        </p:spPr>
        <p:txBody>
          <a:bodyPr wrap="square">
            <a:spAutoFit/>
          </a:bodyPr>
          <a:lstStyle>
            <a:defPPr>
              <a:defRPr lang="en-US"/>
            </a:defPPr>
            <a:lvl1pPr>
              <a:defRPr b="1" i="1">
                <a:solidFill>
                  <a:schemeClr val="bg1"/>
                </a:solidFill>
              </a:defRPr>
            </a:lvl1pPr>
          </a:lstStyle>
          <a:p>
            <a:r>
              <a:rPr lang="en-CA" dirty="0"/>
              <a:t>+ Instructor notes</a:t>
            </a:r>
            <a:endParaRPr lang="en-CA" i="0" dirty="0"/>
          </a:p>
        </p:txBody>
      </p:sp>
      <p:pic>
        <p:nvPicPr>
          <p:cNvPr id="7" name="Picture 6" descr="Text&#10;&#10;Description automatically generated with medium confidence">
            <a:extLst>
              <a:ext uri="{FF2B5EF4-FFF2-40B4-BE49-F238E27FC236}">
                <a16:creationId xmlns:a16="http://schemas.microsoft.com/office/drawing/2014/main" id="{CE9BE1D0-BD81-4184-A12C-53173F160D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6598" y="1863988"/>
            <a:ext cx="2223220" cy="2890186"/>
          </a:xfrm>
          <a:prstGeom prst="rect">
            <a:avLst/>
          </a:prstGeom>
        </p:spPr>
      </p:pic>
      <p:sp>
        <p:nvSpPr>
          <p:cNvPr id="13" name="TextBox 12">
            <a:extLst>
              <a:ext uri="{FF2B5EF4-FFF2-40B4-BE49-F238E27FC236}">
                <a16:creationId xmlns:a16="http://schemas.microsoft.com/office/drawing/2014/main" id="{B6A8699B-D97F-40CF-8C59-C90DA94C7991}"/>
              </a:ext>
            </a:extLst>
          </p:cNvPr>
          <p:cNvSpPr txBox="1"/>
          <p:nvPr/>
        </p:nvSpPr>
        <p:spPr>
          <a:xfrm>
            <a:off x="4181574" y="4963034"/>
            <a:ext cx="4581426" cy="923330"/>
          </a:xfrm>
          <a:prstGeom prst="rect">
            <a:avLst/>
          </a:prstGeom>
          <a:noFill/>
        </p:spPr>
        <p:txBody>
          <a:bodyPr wrap="square">
            <a:spAutoFit/>
          </a:bodyPr>
          <a:lstStyle/>
          <a:p>
            <a:r>
              <a:rPr lang="en-US" b="1" dirty="0">
                <a:solidFill>
                  <a:schemeClr val="bg1"/>
                </a:solidFill>
              </a:rPr>
              <a:t>Alternative Energy Systems and Applications Paperback</a:t>
            </a:r>
          </a:p>
          <a:p>
            <a:r>
              <a:rPr lang="en-US" b="1" dirty="0">
                <a:solidFill>
                  <a:schemeClr val="bg1"/>
                </a:solidFill>
              </a:rPr>
              <a:t>By Hodge</a:t>
            </a:r>
          </a:p>
        </p:txBody>
      </p:sp>
      <p:pic>
        <p:nvPicPr>
          <p:cNvPr id="9" name="Picture 8">
            <a:extLst>
              <a:ext uri="{FF2B5EF4-FFF2-40B4-BE49-F238E27FC236}">
                <a16:creationId xmlns:a16="http://schemas.microsoft.com/office/drawing/2014/main" id="{7613E41D-71F3-49FE-B2A8-430F85AC4F9F}"/>
              </a:ext>
            </a:extLst>
          </p:cNvPr>
          <p:cNvPicPr>
            <a:picLocks noChangeAspect="1"/>
          </p:cNvPicPr>
          <p:nvPr/>
        </p:nvPicPr>
        <p:blipFill>
          <a:blip r:embed="rId3"/>
          <a:stretch>
            <a:fillRect/>
          </a:stretch>
        </p:blipFill>
        <p:spPr>
          <a:xfrm>
            <a:off x="381000" y="1839772"/>
            <a:ext cx="2224647" cy="2952371"/>
          </a:xfrm>
          <a:prstGeom prst="rect">
            <a:avLst/>
          </a:prstGeom>
        </p:spPr>
      </p:pic>
      <p:sp>
        <p:nvSpPr>
          <p:cNvPr id="10" name="Rectangle 9">
            <a:extLst>
              <a:ext uri="{FF2B5EF4-FFF2-40B4-BE49-F238E27FC236}">
                <a16:creationId xmlns:a16="http://schemas.microsoft.com/office/drawing/2014/main" id="{45C71C71-AC2B-46CE-84EC-E72FA0007C35}"/>
              </a:ext>
            </a:extLst>
          </p:cNvPr>
          <p:cNvSpPr/>
          <p:nvPr/>
        </p:nvSpPr>
        <p:spPr>
          <a:xfrm>
            <a:off x="381000" y="4948108"/>
            <a:ext cx="3522980" cy="1815882"/>
          </a:xfrm>
          <a:prstGeom prst="rect">
            <a:avLst/>
          </a:prstGeom>
        </p:spPr>
        <p:txBody>
          <a:bodyPr wrap="square">
            <a:spAutoFit/>
          </a:bodyPr>
          <a:lstStyle/>
          <a:p>
            <a:r>
              <a:rPr lang="en-US" sz="1600" b="1" i="1" dirty="0">
                <a:solidFill>
                  <a:schemeClr val="bg1"/>
                </a:solidFill>
              </a:rPr>
              <a:t>Energy Systems Engineering: Evaluation and Implementation, 4</a:t>
            </a:r>
            <a:r>
              <a:rPr lang="en-US" sz="1600" b="1" i="1" baseline="30000" dirty="0">
                <a:solidFill>
                  <a:schemeClr val="bg1"/>
                </a:solidFill>
              </a:rPr>
              <a:t>th</a:t>
            </a:r>
            <a:r>
              <a:rPr lang="en-US" sz="1600" b="1" i="1" dirty="0">
                <a:solidFill>
                  <a:schemeClr val="bg1"/>
                </a:solidFill>
              </a:rPr>
              <a:t>  Ed.</a:t>
            </a:r>
          </a:p>
          <a:p>
            <a:r>
              <a:rPr lang="en-US" sz="1600" b="1" dirty="0">
                <a:solidFill>
                  <a:schemeClr val="bg1"/>
                </a:solidFill>
              </a:rPr>
              <a:t>McGraw-Hill, New York, 2020</a:t>
            </a:r>
          </a:p>
          <a:p>
            <a:endParaRPr lang="en-US" sz="1600" b="1" dirty="0">
              <a:solidFill>
                <a:schemeClr val="bg1"/>
              </a:solidFill>
            </a:endParaRPr>
          </a:p>
          <a:p>
            <a:r>
              <a:rPr lang="en-US" sz="1600" b="1" dirty="0">
                <a:solidFill>
                  <a:srgbClr val="0070C0"/>
                </a:solidFill>
              </a:rPr>
              <a:t>Chapter 11 Solar-Thermal Technologies</a:t>
            </a:r>
          </a:p>
        </p:txBody>
      </p:sp>
    </p:spTree>
    <p:extLst>
      <p:ext uri="{BB962C8B-B14F-4D97-AF65-F5344CB8AC3E}">
        <p14:creationId xmlns:p14="http://schemas.microsoft.com/office/powerpoint/2010/main" val="917607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D3165D-71EE-3654-A680-5844413A244C}"/>
              </a:ext>
            </a:extLst>
          </p:cNvPr>
          <p:cNvSpPr>
            <a:spLocks noGrp="1"/>
          </p:cNvSpPr>
          <p:nvPr>
            <p:ph type="sldNum" sz="quarter" idx="12"/>
          </p:nvPr>
        </p:nvSpPr>
        <p:spPr/>
        <p:txBody>
          <a:bodyPr/>
          <a:lstStyle/>
          <a:p>
            <a:fld id="{070107C2-BA80-4C15-96AE-A43002ADF025}" type="slidenum">
              <a:rPr lang="en-US" smtClean="0"/>
              <a:t>3</a:t>
            </a:fld>
            <a:endParaRPr lang="en-US"/>
          </a:p>
        </p:txBody>
      </p:sp>
      <p:sp>
        <p:nvSpPr>
          <p:cNvPr id="5" name="TextBox 4">
            <a:extLst>
              <a:ext uri="{FF2B5EF4-FFF2-40B4-BE49-F238E27FC236}">
                <a16:creationId xmlns:a16="http://schemas.microsoft.com/office/drawing/2014/main" id="{C45A6493-D42E-B19F-096A-26873C4E9EDA}"/>
              </a:ext>
            </a:extLst>
          </p:cNvPr>
          <p:cNvSpPr txBox="1"/>
          <p:nvPr/>
        </p:nvSpPr>
        <p:spPr>
          <a:xfrm>
            <a:off x="1371600" y="3059668"/>
            <a:ext cx="6858000" cy="1077218"/>
          </a:xfrm>
          <a:prstGeom prst="rect">
            <a:avLst/>
          </a:prstGeom>
          <a:noFill/>
        </p:spPr>
        <p:txBody>
          <a:bodyPr wrap="square">
            <a:spAutoFit/>
          </a:bodyPr>
          <a:lstStyle/>
          <a:p>
            <a:pPr marL="0" indent="0">
              <a:buFont typeface="Wingdings 2"/>
              <a:buNone/>
            </a:pPr>
            <a:r>
              <a:rPr lang="en-US" sz="3600" dirty="0">
                <a:solidFill>
                  <a:srgbClr val="0070C0"/>
                </a:solidFill>
              </a:rPr>
              <a:t>Solar Energy Systems </a:t>
            </a:r>
          </a:p>
          <a:p>
            <a:pPr marL="0" indent="0">
              <a:buFont typeface="Wingdings 2"/>
              <a:buNone/>
            </a:pPr>
            <a:r>
              <a:rPr lang="en-US" sz="2800" i="1" dirty="0">
                <a:solidFill>
                  <a:srgbClr val="0070C0"/>
                </a:solidFill>
              </a:rPr>
              <a:t>Part 1: Solar Thermal Technologies</a:t>
            </a:r>
          </a:p>
        </p:txBody>
      </p:sp>
    </p:spTree>
    <p:extLst>
      <p:ext uri="{BB962C8B-B14F-4D97-AF65-F5344CB8AC3E}">
        <p14:creationId xmlns:p14="http://schemas.microsoft.com/office/powerpoint/2010/main" val="3984666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4</a:t>
            </a:fld>
            <a:endParaRPr lang="en-US" dirty="0"/>
          </a:p>
        </p:txBody>
      </p:sp>
      <p:sp>
        <p:nvSpPr>
          <p:cNvPr id="3" name="Text Placeholder 2"/>
          <p:cNvSpPr>
            <a:spLocks noGrp="1"/>
          </p:cNvSpPr>
          <p:nvPr>
            <p:ph type="body" sz="quarter" idx="13"/>
          </p:nvPr>
        </p:nvSpPr>
        <p:spPr>
          <a:xfrm>
            <a:off x="76200" y="1752599"/>
            <a:ext cx="8991600" cy="4968875"/>
          </a:xfrm>
        </p:spPr>
        <p:txBody>
          <a:bodyPr/>
          <a:lstStyle/>
          <a:p>
            <a:r>
              <a:rPr lang="en-CA" sz="1800" dirty="0">
                <a:latin typeface="Verdana" panose="020B0604030504040204" pitchFamily="34" charset="0"/>
                <a:ea typeface="Verdana" panose="020B0604030504040204" pitchFamily="34" charset="0"/>
                <a:cs typeface="Verdana" panose="020B0604030504040204" pitchFamily="34" charset="0"/>
              </a:rPr>
              <a:t>The energy content and properties of the sunlight incident on the earth.</a:t>
            </a:r>
          </a:p>
          <a:p>
            <a:r>
              <a:rPr lang="en-CA" sz="1800">
                <a:latin typeface="Verdana" panose="020B0604030504040204" pitchFamily="34" charset="0"/>
                <a:ea typeface="Verdana" panose="020B0604030504040204" pitchFamily="34" charset="0"/>
                <a:cs typeface="Verdana" panose="020B0604030504040204" pitchFamily="34" charset="0"/>
              </a:rPr>
              <a:t>The </a:t>
            </a:r>
            <a:r>
              <a:rPr lang="en-CA" sz="1800" dirty="0">
                <a:latin typeface="Verdana" panose="020B0604030504040204" pitchFamily="34" charset="0"/>
                <a:ea typeface="Verdana" panose="020B0604030504040204" pitchFamily="34" charset="0"/>
                <a:cs typeface="Verdana" panose="020B0604030504040204" pitchFamily="34" charset="0"/>
              </a:rPr>
              <a:t>design of a thermal solar collector.</a:t>
            </a:r>
          </a:p>
          <a:p>
            <a:r>
              <a:rPr lang="en-CA" sz="1800" dirty="0">
                <a:latin typeface="Verdana" panose="020B0604030504040204" pitchFamily="34" charset="0"/>
                <a:cs typeface="Verdana" panose="020B0604030504040204" pitchFamily="34" charset="0"/>
              </a:rPr>
              <a:t>Estimate the hourly and daily energy output of flat-plate solar collectors</a:t>
            </a:r>
          </a:p>
          <a:p>
            <a:r>
              <a:rPr lang="en-CA" sz="1800" dirty="0">
                <a:latin typeface="Verdana" panose="020B0604030504040204" pitchFamily="34" charset="0"/>
                <a:ea typeface="Verdana" panose="020B0604030504040204" pitchFamily="34" charset="0"/>
                <a:cs typeface="Verdana" panose="020B0604030504040204" pitchFamily="34" charset="0"/>
              </a:rPr>
              <a:t>Solar Rating &amp; Certification Corporation (SRCC) certificate</a:t>
            </a:r>
          </a:p>
          <a:p>
            <a:r>
              <a:rPr lang="en-CA" sz="1800" dirty="0">
                <a:latin typeface="Verdana" panose="020B0604030504040204" pitchFamily="34" charset="0"/>
                <a:ea typeface="Verdana" panose="020B0604030504040204" pitchFamily="34" charset="0"/>
                <a:cs typeface="Verdana" panose="020B0604030504040204" pitchFamily="34" charset="0"/>
              </a:rPr>
              <a:t>Concentrating solar pow</a:t>
            </a:r>
            <a:r>
              <a:rPr lang="en-CA" sz="1800" dirty="0">
                <a:latin typeface="Verdana" panose="020B0604030504040204" pitchFamily="34" charset="0"/>
                <a:cs typeface="Verdana" panose="020B0604030504040204" pitchFamily="34" charset="0"/>
              </a:rPr>
              <a:t>er (CSP) and associated Rankine power cycles</a:t>
            </a:r>
            <a:endParaRPr lang="en-CA" sz="1800" dirty="0">
              <a:latin typeface="Verdana" panose="020B0604030504040204" pitchFamily="34" charset="0"/>
              <a:ea typeface="Verdana" panose="020B0604030504040204" pitchFamily="34" charset="0"/>
              <a:cs typeface="Verdana" panose="020B0604030504040204" pitchFamily="34" charset="0"/>
            </a:endParaRPr>
          </a:p>
          <a:p>
            <a:pPr lvl="0"/>
            <a:endParaRPr lang="en-CA" sz="1800" dirty="0">
              <a:solidFill>
                <a:srgbClr val="C00000"/>
              </a:solidFill>
            </a:endParaRPr>
          </a:p>
        </p:txBody>
      </p:sp>
      <p:sp>
        <p:nvSpPr>
          <p:cNvPr id="4" name="Title 3"/>
          <p:cNvSpPr>
            <a:spLocks noGrp="1"/>
          </p:cNvSpPr>
          <p:nvPr>
            <p:ph type="title"/>
          </p:nvPr>
        </p:nvSpPr>
        <p:spPr>
          <a:xfrm>
            <a:off x="609600" y="1001951"/>
            <a:ext cx="7810500" cy="750647"/>
          </a:xfrm>
        </p:spPr>
        <p:txBody>
          <a:bodyPr/>
          <a:lstStyle/>
          <a:p>
            <a:r>
              <a:rPr lang="en-CA" dirty="0"/>
              <a:t>Learning Outcome</a:t>
            </a:r>
          </a:p>
        </p:txBody>
      </p:sp>
    </p:spTree>
    <p:extLst>
      <p:ext uri="{BB962C8B-B14F-4D97-AF65-F5344CB8AC3E}">
        <p14:creationId xmlns:p14="http://schemas.microsoft.com/office/powerpoint/2010/main" val="2987327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l"/>
            <a:r>
              <a:rPr lang="en-US" b="1" dirty="0">
                <a:solidFill>
                  <a:schemeClr val="accent2"/>
                </a:solidFill>
              </a:rPr>
              <a:t>Solar Energy</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2D24B2-5D52-46F7-B915-67CABB3AD0CF}" type="slidenum">
              <a:rPr kumimoji="0" lang="en-US" sz="1100" b="0" i="0" u="none" strike="noStrike" kern="1200" cap="none" spc="0" normalizeH="0" baseline="0" noProof="0" smtClean="0">
                <a:ln>
                  <a:noFill/>
                </a:ln>
                <a:solidFill>
                  <a:srgbClr val="002060"/>
                </a:solidFill>
                <a:effectLst/>
                <a:uLnTx/>
                <a:uFillTx/>
                <a:latin typeface="Verdana" panose="020B0604030504040204" pitchFamily="34" charset="0"/>
                <a:ea typeface="Verdana" panose="020B060403050404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100" b="0" i="0" u="none" strike="noStrike" kern="1200" cap="none" spc="0" normalizeH="0" baseline="0" noProof="0" dirty="0">
              <a:ln>
                <a:noFill/>
              </a:ln>
              <a:solidFill>
                <a:srgbClr val="002060"/>
              </a:solidFill>
              <a:effectLst/>
              <a:uLnTx/>
              <a:uFillTx/>
              <a:latin typeface="Verdana" panose="020B0604030504040204" pitchFamily="34" charset="0"/>
              <a:ea typeface="Verdana" panose="020B0604030504040204" pitchFamily="34" charset="0"/>
            </a:endParaRPr>
          </a:p>
        </p:txBody>
      </p:sp>
      <p:sp>
        <p:nvSpPr>
          <p:cNvPr id="6" name="Text Placeholder 5"/>
          <p:cNvSpPr>
            <a:spLocks noGrp="1"/>
          </p:cNvSpPr>
          <p:nvPr>
            <p:ph type="body" sz="quarter" idx="13"/>
          </p:nvPr>
        </p:nvSpPr>
        <p:spPr>
          <a:xfrm>
            <a:off x="223375" y="1727453"/>
            <a:ext cx="8697250" cy="4157662"/>
          </a:xfrm>
        </p:spPr>
        <p:txBody>
          <a:bodyPr/>
          <a:lstStyle/>
          <a:p>
            <a:pPr>
              <a:spcBef>
                <a:spcPts val="0"/>
              </a:spcBef>
              <a:spcAft>
                <a:spcPts val="1200"/>
              </a:spcAft>
            </a:pPr>
            <a:r>
              <a:rPr lang="en-US" dirty="0"/>
              <a:t>Sun </a:t>
            </a:r>
          </a:p>
          <a:p>
            <a:pPr>
              <a:spcBef>
                <a:spcPts val="0"/>
              </a:spcBef>
              <a:spcAft>
                <a:spcPts val="1200"/>
              </a:spcAft>
            </a:pPr>
            <a:r>
              <a:rPr lang="en-US" dirty="0"/>
              <a:t>Electromagnetic radiation</a:t>
            </a:r>
          </a:p>
          <a:p>
            <a:pPr>
              <a:spcBef>
                <a:spcPts val="0"/>
              </a:spcBef>
              <a:spcAft>
                <a:spcPts val="1200"/>
              </a:spcAft>
            </a:pPr>
            <a:r>
              <a:rPr lang="en-US" dirty="0"/>
              <a:t>Wide spectrum of wavelengths &amp; energy intensities</a:t>
            </a:r>
          </a:p>
          <a:p>
            <a:pPr>
              <a:spcBef>
                <a:spcPts val="0"/>
              </a:spcBef>
              <a:spcAft>
                <a:spcPts val="1200"/>
              </a:spcAft>
            </a:pPr>
            <a:r>
              <a:rPr lang="en-US" dirty="0"/>
              <a:t>3 bands: Ultraviolet, Visible </a:t>
            </a:r>
            <a:r>
              <a:rPr lang="en-US" sz="1800" dirty="0"/>
              <a:t>(48% useful for heating), </a:t>
            </a:r>
            <a:r>
              <a:rPr lang="en-US" dirty="0"/>
              <a:t>Infrared</a:t>
            </a:r>
          </a:p>
          <a:p>
            <a:pPr marL="0" indent="0">
              <a:buNone/>
            </a:pPr>
            <a:r>
              <a:rPr lang="en-US" dirty="0"/>
              <a:t>	</a:t>
            </a:r>
          </a:p>
          <a:p>
            <a:pPr>
              <a:spcBef>
                <a:spcPts val="0"/>
              </a:spcBef>
            </a:pPr>
            <a:endParaRPr lang="en-US" dirty="0"/>
          </a:p>
          <a:p>
            <a:pPr>
              <a:spcBef>
                <a:spcPts val="0"/>
              </a:spcBef>
            </a:pPr>
            <a:endParaRPr lang="en-US" dirty="0"/>
          </a:p>
        </p:txBody>
      </p:sp>
      <p:pic>
        <p:nvPicPr>
          <p:cNvPr id="2" name="Picture 1"/>
          <p:cNvPicPr>
            <a:picLocks noChangeAspect="1"/>
          </p:cNvPicPr>
          <p:nvPr/>
        </p:nvPicPr>
        <p:blipFill>
          <a:blip r:embed="rId2"/>
          <a:stretch>
            <a:fillRect/>
          </a:stretch>
        </p:blipFill>
        <p:spPr>
          <a:xfrm>
            <a:off x="5257800" y="3946757"/>
            <a:ext cx="4011230" cy="2911243"/>
          </a:xfrm>
          <a:prstGeom prst="rect">
            <a:avLst/>
          </a:prstGeom>
        </p:spPr>
      </p:pic>
      <p:sp>
        <p:nvSpPr>
          <p:cNvPr id="7" name="TextBox 6">
            <a:extLst>
              <a:ext uri="{FF2B5EF4-FFF2-40B4-BE49-F238E27FC236}">
                <a16:creationId xmlns:a16="http://schemas.microsoft.com/office/drawing/2014/main" id="{721AAE25-527D-4B16-B3CB-B4D01E02B835}"/>
              </a:ext>
            </a:extLst>
          </p:cNvPr>
          <p:cNvSpPr txBox="1"/>
          <p:nvPr/>
        </p:nvSpPr>
        <p:spPr>
          <a:xfrm>
            <a:off x="223375" y="4070160"/>
            <a:ext cx="4637986" cy="2446824"/>
          </a:xfrm>
          <a:prstGeom prst="rect">
            <a:avLst/>
          </a:prstGeom>
          <a:noFill/>
        </p:spPr>
        <p:txBody>
          <a:bodyPr wrap="square">
            <a:spAutoFit/>
          </a:bodyPr>
          <a:lstStyle/>
          <a:p>
            <a:pPr>
              <a:spcBef>
                <a:spcPts val="0"/>
              </a:spcBef>
              <a:spcAft>
                <a:spcPts val="600"/>
              </a:spcAft>
            </a:pPr>
            <a:r>
              <a:rPr lang="en-US" sz="2000" dirty="0">
                <a:solidFill>
                  <a:schemeClr val="bg1"/>
                </a:solidFill>
              </a:rPr>
              <a:t>Amount of radiation available at a place depends on</a:t>
            </a:r>
          </a:p>
          <a:p>
            <a:pPr marL="1139825" indent="-225425">
              <a:spcBef>
                <a:spcPts val="0"/>
              </a:spcBef>
              <a:buFont typeface="Arial" panose="020B0604020202020204" pitchFamily="34" charset="0"/>
              <a:buChar char="•"/>
            </a:pPr>
            <a:r>
              <a:rPr lang="en-US" sz="1800" dirty="0">
                <a:solidFill>
                  <a:schemeClr val="bg1"/>
                </a:solidFill>
              </a:rPr>
              <a:t>Location</a:t>
            </a:r>
          </a:p>
          <a:p>
            <a:pPr marL="1139825" indent="-225425">
              <a:spcBef>
                <a:spcPts val="0"/>
              </a:spcBef>
              <a:buFont typeface="Arial" panose="020B0604020202020204" pitchFamily="34" charset="0"/>
              <a:buChar char="•"/>
            </a:pPr>
            <a:r>
              <a:rPr lang="en-US" sz="1800" dirty="0">
                <a:solidFill>
                  <a:schemeClr val="bg1"/>
                </a:solidFill>
              </a:rPr>
              <a:t>Season</a:t>
            </a:r>
          </a:p>
          <a:p>
            <a:pPr marL="1139825" indent="-225425">
              <a:spcBef>
                <a:spcPts val="0"/>
              </a:spcBef>
              <a:buFont typeface="Arial" panose="020B0604020202020204" pitchFamily="34" charset="0"/>
              <a:buChar char="•"/>
            </a:pPr>
            <a:r>
              <a:rPr lang="en-US" sz="1800" dirty="0">
                <a:solidFill>
                  <a:schemeClr val="bg1"/>
                </a:solidFill>
              </a:rPr>
              <a:t>Local landscape</a:t>
            </a:r>
          </a:p>
          <a:p>
            <a:pPr marL="1139825" indent="-225425">
              <a:spcBef>
                <a:spcPts val="0"/>
              </a:spcBef>
              <a:buFont typeface="Arial" panose="020B0604020202020204" pitchFamily="34" charset="0"/>
              <a:buChar char="•"/>
            </a:pPr>
            <a:r>
              <a:rPr lang="en-US" sz="1800" dirty="0">
                <a:solidFill>
                  <a:schemeClr val="bg1"/>
                </a:solidFill>
              </a:rPr>
              <a:t>Weather</a:t>
            </a:r>
          </a:p>
          <a:p>
            <a:pPr marL="1139825" indent="-225425">
              <a:spcBef>
                <a:spcPts val="0"/>
              </a:spcBef>
              <a:buFont typeface="Arial" panose="020B0604020202020204" pitchFamily="34" charset="0"/>
              <a:buChar char="•"/>
            </a:pPr>
            <a:r>
              <a:rPr lang="en-US" sz="1800" dirty="0">
                <a:solidFill>
                  <a:schemeClr val="bg1"/>
                </a:solidFill>
              </a:rPr>
              <a:t>Time of day</a:t>
            </a:r>
          </a:p>
          <a:p>
            <a:pPr marL="1139825" indent="-225425">
              <a:spcBef>
                <a:spcPts val="0"/>
              </a:spcBef>
              <a:buFont typeface="Arial" panose="020B0604020202020204" pitchFamily="34" charset="0"/>
              <a:buChar char="•"/>
            </a:pPr>
            <a:r>
              <a:rPr lang="en-US" sz="1800" dirty="0">
                <a:solidFill>
                  <a:schemeClr val="bg1"/>
                </a:solidFill>
              </a:rPr>
              <a:t>Other factors	</a:t>
            </a:r>
          </a:p>
        </p:txBody>
      </p:sp>
    </p:spTree>
    <p:extLst>
      <p:ext uri="{BB962C8B-B14F-4D97-AF65-F5344CB8AC3E}">
        <p14:creationId xmlns:p14="http://schemas.microsoft.com/office/powerpoint/2010/main" val="2876805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2D24B2-5D52-46F7-B915-67CABB3AD0CF}" type="slidenum">
              <a:rPr kumimoji="0" lang="en-US" sz="1100" b="0" i="0" u="none" strike="noStrike" kern="1200" cap="none" spc="0" normalizeH="0" baseline="0" noProof="0" smtClean="0">
                <a:ln>
                  <a:noFill/>
                </a:ln>
                <a:solidFill>
                  <a:srgbClr val="002060"/>
                </a:solidFill>
                <a:effectLst/>
                <a:uLnTx/>
                <a:uFillTx/>
                <a:latin typeface="Verdana" panose="020B0604030504040204" pitchFamily="34" charset="0"/>
                <a:ea typeface="Verdana" panose="020B060403050404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100" b="0" i="0" u="none" strike="noStrike" kern="1200" cap="none" spc="0" normalizeH="0" baseline="0" noProof="0" dirty="0">
              <a:ln>
                <a:noFill/>
              </a:ln>
              <a:solidFill>
                <a:srgbClr val="002060"/>
              </a:solidFill>
              <a:effectLst/>
              <a:uLnTx/>
              <a:uFillTx/>
              <a:latin typeface="Verdana" panose="020B0604030504040204" pitchFamily="34" charset="0"/>
              <a:ea typeface="Verdana" panose="020B0604030504040204" pitchFamily="34" charset="0"/>
            </a:endParaRPr>
          </a:p>
        </p:txBody>
      </p:sp>
      <p:sp>
        <p:nvSpPr>
          <p:cNvPr id="6" name="Text Placeholder 5"/>
          <p:cNvSpPr>
            <a:spLocks noGrp="1"/>
          </p:cNvSpPr>
          <p:nvPr>
            <p:ph type="body" sz="quarter" idx="13"/>
          </p:nvPr>
        </p:nvSpPr>
        <p:spPr>
          <a:xfrm>
            <a:off x="638827" y="1960324"/>
            <a:ext cx="7810500" cy="4157662"/>
          </a:xfrm>
        </p:spPr>
        <p:txBody>
          <a:bodyPr/>
          <a:lstStyle/>
          <a:p>
            <a:r>
              <a:rPr lang="en-US" sz="1800" dirty="0"/>
              <a:t>As solar energy passes through the Earth’s atmosphere, some of it is absorbed, some of it is scattered, and some of it is reflected by clouds, dust, pollutants, water vapor, etc.</a:t>
            </a:r>
          </a:p>
          <a:p>
            <a:endParaRPr lang="en-US" dirty="0"/>
          </a:p>
        </p:txBody>
      </p:sp>
      <p:sp>
        <p:nvSpPr>
          <p:cNvPr id="5" name="Title 4"/>
          <p:cNvSpPr>
            <a:spLocks noGrp="1"/>
          </p:cNvSpPr>
          <p:nvPr>
            <p:ph type="title"/>
          </p:nvPr>
        </p:nvSpPr>
        <p:spPr/>
        <p:txBody>
          <a:bodyPr/>
          <a:lstStyle/>
          <a:p>
            <a:r>
              <a:rPr lang="en-US" dirty="0"/>
              <a:t>Direct and Diffuse Radiation</a:t>
            </a:r>
          </a:p>
        </p:txBody>
      </p:sp>
      <p:pic>
        <p:nvPicPr>
          <p:cNvPr id="3" name="Picture 2"/>
          <p:cNvPicPr>
            <a:picLocks noChangeAspect="1"/>
          </p:cNvPicPr>
          <p:nvPr/>
        </p:nvPicPr>
        <p:blipFill rotWithShape="1">
          <a:blip r:embed="rId2"/>
          <a:srcRect b="14574"/>
          <a:stretch/>
        </p:blipFill>
        <p:spPr>
          <a:xfrm>
            <a:off x="1042207" y="3276600"/>
            <a:ext cx="7342451" cy="2362200"/>
          </a:xfrm>
          <a:prstGeom prst="rect">
            <a:avLst/>
          </a:prstGeom>
        </p:spPr>
      </p:pic>
    </p:spTree>
    <p:extLst>
      <p:ext uri="{BB962C8B-B14F-4D97-AF65-F5344CB8AC3E}">
        <p14:creationId xmlns:p14="http://schemas.microsoft.com/office/powerpoint/2010/main" val="4288762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2D24B2-5D52-46F7-B915-67CABB3AD0CF}" type="slidenum">
              <a:rPr kumimoji="0" lang="en-US" sz="1100" b="0" i="0" u="none" strike="noStrike" kern="1200" cap="none" spc="0" normalizeH="0" baseline="0" noProof="0" smtClean="0">
                <a:ln>
                  <a:noFill/>
                </a:ln>
                <a:solidFill>
                  <a:srgbClr val="002060"/>
                </a:solidFill>
                <a:effectLst/>
                <a:uLnTx/>
                <a:uFillTx/>
                <a:latin typeface="Verdana" panose="020B0604030504040204" pitchFamily="34" charset="0"/>
                <a:ea typeface="Verdana" panose="020B060403050404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100" b="0" i="0" u="none" strike="noStrike" kern="1200" cap="none" spc="0" normalizeH="0" baseline="0" noProof="0" dirty="0">
              <a:ln>
                <a:noFill/>
              </a:ln>
              <a:solidFill>
                <a:srgbClr val="002060"/>
              </a:solidFill>
              <a:effectLst/>
              <a:uLnTx/>
              <a:uFillTx/>
              <a:latin typeface="Verdana" panose="020B0604030504040204" pitchFamily="34" charset="0"/>
              <a:ea typeface="Verdana" panose="020B0604030504040204" pitchFamily="34" charset="0"/>
            </a:endParaRPr>
          </a:p>
        </p:txBody>
      </p:sp>
      <p:sp>
        <p:nvSpPr>
          <p:cNvPr id="6" name="Text Placeholder 5"/>
          <p:cNvSpPr>
            <a:spLocks noGrp="1"/>
          </p:cNvSpPr>
          <p:nvPr>
            <p:ph type="body" sz="quarter" idx="13"/>
          </p:nvPr>
        </p:nvSpPr>
        <p:spPr>
          <a:xfrm>
            <a:off x="524788" y="1828800"/>
            <a:ext cx="8170623" cy="4157662"/>
          </a:xfrm>
        </p:spPr>
        <p:txBody>
          <a:bodyPr/>
          <a:lstStyle/>
          <a:p>
            <a:pPr>
              <a:tabLst>
                <a:tab pos="3540125" algn="l"/>
                <a:tab pos="3775075" algn="l"/>
              </a:tabLst>
            </a:pPr>
            <a:r>
              <a:rPr lang="en-US" sz="2000" dirty="0"/>
              <a:t>The rotation of the Earth – 	Hourly variations in sunlight</a:t>
            </a:r>
          </a:p>
          <a:p>
            <a:pPr>
              <a:tabLst>
                <a:tab pos="3770313" algn="l"/>
              </a:tabLst>
            </a:pPr>
            <a:r>
              <a:rPr lang="en-US" sz="2000" dirty="0"/>
              <a:t>The lower angle of the Sun – The lower amount of radiation being 	intercepted by a horizontal surface</a:t>
            </a:r>
          </a:p>
        </p:txBody>
      </p:sp>
      <p:sp>
        <p:nvSpPr>
          <p:cNvPr id="5" name="Title 4"/>
          <p:cNvSpPr>
            <a:spLocks noGrp="1"/>
          </p:cNvSpPr>
          <p:nvPr>
            <p:ph type="title"/>
          </p:nvPr>
        </p:nvSpPr>
        <p:spPr/>
        <p:txBody>
          <a:bodyPr/>
          <a:lstStyle/>
          <a:p>
            <a:r>
              <a:rPr lang="en-US" dirty="0"/>
              <a:t>Variation of Solar Intensity</a:t>
            </a:r>
          </a:p>
        </p:txBody>
      </p:sp>
      <p:pic>
        <p:nvPicPr>
          <p:cNvPr id="3" name="Picture 2"/>
          <p:cNvPicPr>
            <a:picLocks noChangeAspect="1"/>
          </p:cNvPicPr>
          <p:nvPr/>
        </p:nvPicPr>
        <p:blipFill rotWithShape="1">
          <a:blip r:embed="rId2"/>
          <a:srcRect b="18203"/>
          <a:stretch/>
        </p:blipFill>
        <p:spPr>
          <a:xfrm>
            <a:off x="777442" y="3336925"/>
            <a:ext cx="7909358" cy="2519124"/>
          </a:xfrm>
          <a:prstGeom prst="rect">
            <a:avLst/>
          </a:prstGeom>
        </p:spPr>
      </p:pic>
    </p:spTree>
    <p:extLst>
      <p:ext uri="{BB962C8B-B14F-4D97-AF65-F5344CB8AC3E}">
        <p14:creationId xmlns:p14="http://schemas.microsoft.com/office/powerpoint/2010/main" val="1435355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2D24B2-5D52-46F7-B915-67CABB3AD0CF}" type="slidenum">
              <a:rPr kumimoji="0" lang="en-US" sz="1100" b="0" i="0" u="none" strike="noStrike" kern="1200" cap="none" spc="0" normalizeH="0" baseline="0" noProof="0" smtClean="0">
                <a:ln>
                  <a:noFill/>
                </a:ln>
                <a:solidFill>
                  <a:srgbClr val="002060"/>
                </a:solidFill>
                <a:effectLst/>
                <a:uLnTx/>
                <a:uFillTx/>
                <a:latin typeface="Verdana" panose="020B0604030504040204" pitchFamily="34" charset="0"/>
                <a:ea typeface="Verdana" panose="020B060403050404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100" b="0" i="0" u="none" strike="noStrike" kern="1200" cap="none" spc="0" normalizeH="0" baseline="0" noProof="0" dirty="0">
              <a:ln>
                <a:noFill/>
              </a:ln>
              <a:solidFill>
                <a:srgbClr val="002060"/>
              </a:solidFill>
              <a:effectLst/>
              <a:uLnTx/>
              <a:uFillTx/>
              <a:latin typeface="Verdana" panose="020B0604030504040204" pitchFamily="34" charset="0"/>
              <a:ea typeface="Verdana" panose="020B0604030504040204" pitchFamily="34" charset="0"/>
            </a:endParaRPr>
          </a:p>
        </p:txBody>
      </p:sp>
      <p:sp>
        <p:nvSpPr>
          <p:cNvPr id="5" name="Title 4"/>
          <p:cNvSpPr>
            <a:spLocks noGrp="1"/>
          </p:cNvSpPr>
          <p:nvPr>
            <p:ph type="title"/>
          </p:nvPr>
        </p:nvSpPr>
        <p:spPr>
          <a:xfrm>
            <a:off x="615863" y="700086"/>
            <a:ext cx="7810500" cy="979250"/>
          </a:xfrm>
        </p:spPr>
        <p:txBody>
          <a:bodyPr/>
          <a:lstStyle/>
          <a:p>
            <a:r>
              <a:rPr lang="en-US" dirty="0"/>
              <a:t>Hourly and Monthly Variation of Solar Intensity</a:t>
            </a:r>
          </a:p>
        </p:txBody>
      </p:sp>
      <p:sp>
        <p:nvSpPr>
          <p:cNvPr id="3" name="Text Placeholder 2"/>
          <p:cNvSpPr>
            <a:spLocks noGrp="1"/>
          </p:cNvSpPr>
          <p:nvPr>
            <p:ph type="body" sz="quarter" idx="13"/>
          </p:nvPr>
        </p:nvSpPr>
        <p:spPr>
          <a:xfrm>
            <a:off x="615863" y="1779957"/>
            <a:ext cx="7810500" cy="1600200"/>
          </a:xfrm>
        </p:spPr>
        <p:txBody>
          <a:bodyPr/>
          <a:lstStyle/>
          <a:p>
            <a:pPr>
              <a:spcBef>
                <a:spcPts val="0"/>
              </a:spcBef>
              <a:spcAft>
                <a:spcPts val="600"/>
              </a:spcAft>
            </a:pPr>
            <a:r>
              <a:rPr lang="en-US" sz="1800" dirty="0"/>
              <a:t>The </a:t>
            </a:r>
            <a:r>
              <a:rPr lang="en-US" sz="1800" b="1" dirty="0"/>
              <a:t>hourly</a:t>
            </a:r>
            <a:r>
              <a:rPr lang="en-US" sz="1800" dirty="0"/>
              <a:t> peak values occur at solar noon, when the Sun is at the highest angle.</a:t>
            </a:r>
          </a:p>
          <a:p>
            <a:pPr>
              <a:spcBef>
                <a:spcPts val="0"/>
              </a:spcBef>
            </a:pPr>
            <a:r>
              <a:rPr lang="en-US" sz="1800" dirty="0"/>
              <a:t>The higher intensity of solar radiation occurs during a day in June when compared to a day in January</a:t>
            </a:r>
          </a:p>
        </p:txBody>
      </p:sp>
      <p:pic>
        <p:nvPicPr>
          <p:cNvPr id="4" name="Picture 3"/>
          <p:cNvPicPr>
            <a:picLocks noChangeAspect="1"/>
          </p:cNvPicPr>
          <p:nvPr/>
        </p:nvPicPr>
        <p:blipFill rotWithShape="1">
          <a:blip r:embed="rId2"/>
          <a:srcRect l="21532" r="16948" b="13043"/>
          <a:stretch/>
        </p:blipFill>
        <p:spPr>
          <a:xfrm>
            <a:off x="-1" y="3384870"/>
            <a:ext cx="4572001" cy="3429000"/>
          </a:xfrm>
          <a:prstGeom prst="rect">
            <a:avLst/>
          </a:prstGeom>
        </p:spPr>
      </p:pic>
      <p:pic>
        <p:nvPicPr>
          <p:cNvPr id="6" name="Picture 5">
            <a:extLst>
              <a:ext uri="{FF2B5EF4-FFF2-40B4-BE49-F238E27FC236}">
                <a16:creationId xmlns:a16="http://schemas.microsoft.com/office/drawing/2014/main" id="{A00C5A9B-CFC5-43BB-9F69-B80CFAA25B52}"/>
              </a:ext>
            </a:extLst>
          </p:cNvPr>
          <p:cNvPicPr>
            <a:picLocks noChangeAspect="1"/>
          </p:cNvPicPr>
          <p:nvPr/>
        </p:nvPicPr>
        <p:blipFill rotWithShape="1">
          <a:blip r:embed="rId3"/>
          <a:srcRect l="15802" r="11586" b="18514"/>
          <a:stretch/>
        </p:blipFill>
        <p:spPr>
          <a:xfrm>
            <a:off x="4415444" y="3581400"/>
            <a:ext cx="4728556" cy="2148645"/>
          </a:xfrm>
          <a:prstGeom prst="rect">
            <a:avLst/>
          </a:prstGeom>
        </p:spPr>
      </p:pic>
    </p:spTree>
    <p:extLst>
      <p:ext uri="{BB962C8B-B14F-4D97-AF65-F5344CB8AC3E}">
        <p14:creationId xmlns:p14="http://schemas.microsoft.com/office/powerpoint/2010/main" val="1809456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2D24B2-5D52-46F7-B915-67CABB3AD0CF}" type="slidenum">
              <a:rPr kumimoji="0" lang="en-US" sz="1100" b="0" i="0" u="none" strike="noStrike" kern="1200" cap="none" spc="0" normalizeH="0" baseline="0" noProof="0" smtClean="0">
                <a:ln>
                  <a:noFill/>
                </a:ln>
                <a:solidFill>
                  <a:srgbClr val="002060"/>
                </a:solidFill>
                <a:effectLst/>
                <a:uLnTx/>
                <a:uFillTx/>
                <a:latin typeface="Verdana" panose="020B0604030504040204" pitchFamily="34" charset="0"/>
                <a:ea typeface="Verdana" panose="020B060403050404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100" b="0" i="0" u="none" strike="noStrike" kern="1200" cap="none" spc="0" normalizeH="0" baseline="0" noProof="0" dirty="0">
              <a:ln>
                <a:noFill/>
              </a:ln>
              <a:solidFill>
                <a:srgbClr val="002060"/>
              </a:solidFill>
              <a:effectLst/>
              <a:uLnTx/>
              <a:uFillTx/>
              <a:latin typeface="Verdana" panose="020B0604030504040204" pitchFamily="34" charset="0"/>
              <a:ea typeface="Verdana" panose="020B0604030504040204" pitchFamily="34" charset="0"/>
            </a:endParaRPr>
          </a:p>
        </p:txBody>
      </p:sp>
      <p:sp>
        <p:nvSpPr>
          <p:cNvPr id="6" name="Text Placeholder 5"/>
          <p:cNvSpPr>
            <a:spLocks noGrp="1"/>
          </p:cNvSpPr>
          <p:nvPr>
            <p:ph type="body" sz="quarter" idx="13"/>
          </p:nvPr>
        </p:nvSpPr>
        <p:spPr>
          <a:xfrm>
            <a:off x="465475" y="1524000"/>
            <a:ext cx="8656529" cy="4157662"/>
          </a:xfrm>
        </p:spPr>
        <p:txBody>
          <a:bodyPr/>
          <a:lstStyle/>
          <a:p>
            <a:r>
              <a:rPr lang="en-US" sz="2000" dirty="0"/>
              <a:t>Tilt the collector so that its receiving surface is nearly perpendicular to the Sun’s rays.</a:t>
            </a:r>
          </a:p>
          <a:p>
            <a:r>
              <a:rPr lang="en-US" sz="2400" dirty="0"/>
              <a:t>Mechanical and economical considerations </a:t>
            </a:r>
          </a:p>
          <a:p>
            <a:pPr lvl="1" defTabSz="463550">
              <a:tabLst>
                <a:tab pos="463550" algn="l"/>
                <a:tab pos="1089025" algn="l"/>
              </a:tabLst>
            </a:pPr>
            <a:r>
              <a:rPr lang="en-US" sz="2000" dirty="0"/>
              <a:t>For </a:t>
            </a:r>
            <a:r>
              <a:rPr lang="en-US" sz="2000" b="1" dirty="0"/>
              <a:t>all seasons’ usage </a:t>
            </a:r>
            <a:r>
              <a:rPr lang="en-US" sz="2000" dirty="0"/>
              <a:t>– an angle equal to the latitude of the location</a:t>
            </a:r>
          </a:p>
          <a:p>
            <a:pPr lvl="1" defTabSz="463550">
              <a:tabLst>
                <a:tab pos="463550" algn="l"/>
                <a:tab pos="1089025" algn="l"/>
              </a:tabLst>
            </a:pPr>
            <a:r>
              <a:rPr lang="en-US" sz="2000" dirty="0"/>
              <a:t>For </a:t>
            </a:r>
            <a:r>
              <a:rPr lang="en-US" sz="2000" b="1" dirty="0"/>
              <a:t>space heating (i.e., winter use) </a:t>
            </a:r>
            <a:r>
              <a:rPr lang="en-US" sz="2000" dirty="0">
                <a:solidFill>
                  <a:schemeClr val="bg1"/>
                </a:solidFill>
              </a:rPr>
              <a:t>– </a:t>
            </a:r>
            <a:r>
              <a:rPr lang="en-US" sz="2000" dirty="0"/>
              <a:t>an angle equal to about </a:t>
            </a:r>
            <a:r>
              <a:rPr lang="en-US" sz="2000" b="1" dirty="0"/>
              <a:t>latitude plus 15 degrees</a:t>
            </a:r>
          </a:p>
          <a:p>
            <a:endParaRPr lang="en-US" sz="2000" dirty="0"/>
          </a:p>
        </p:txBody>
      </p:sp>
      <p:sp>
        <p:nvSpPr>
          <p:cNvPr id="5" name="Title 4"/>
          <p:cNvSpPr>
            <a:spLocks noGrp="1"/>
          </p:cNvSpPr>
          <p:nvPr>
            <p:ph type="title"/>
          </p:nvPr>
        </p:nvSpPr>
        <p:spPr>
          <a:xfrm>
            <a:off x="666750" y="664606"/>
            <a:ext cx="7810500" cy="979250"/>
          </a:xfrm>
        </p:spPr>
        <p:txBody>
          <a:bodyPr/>
          <a:lstStyle/>
          <a:p>
            <a:r>
              <a:rPr lang="en-US" dirty="0"/>
              <a:t>Solar Collector Installation</a:t>
            </a:r>
          </a:p>
        </p:txBody>
      </p:sp>
      <p:pic>
        <p:nvPicPr>
          <p:cNvPr id="3" name="Picture 2"/>
          <p:cNvPicPr>
            <a:picLocks noChangeAspect="1"/>
          </p:cNvPicPr>
          <p:nvPr/>
        </p:nvPicPr>
        <p:blipFill rotWithShape="1">
          <a:blip r:embed="rId2"/>
          <a:srcRect b="13877"/>
          <a:stretch/>
        </p:blipFill>
        <p:spPr>
          <a:xfrm>
            <a:off x="927907" y="4047838"/>
            <a:ext cx="7549343" cy="2678350"/>
          </a:xfrm>
          <a:prstGeom prst="rect">
            <a:avLst/>
          </a:prstGeom>
        </p:spPr>
      </p:pic>
    </p:spTree>
    <p:extLst>
      <p:ext uri="{BB962C8B-B14F-4D97-AF65-F5344CB8AC3E}">
        <p14:creationId xmlns:p14="http://schemas.microsoft.com/office/powerpoint/2010/main" val="3620803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Solar space/water heating</a:t>
            </a: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10</a:t>
            </a:fld>
            <a:endParaRPr lang="en-US"/>
          </a:p>
        </p:txBody>
      </p:sp>
      <p:sp>
        <p:nvSpPr>
          <p:cNvPr id="5" name="Rectangle 4"/>
          <p:cNvSpPr/>
          <p:nvPr/>
        </p:nvSpPr>
        <p:spPr>
          <a:xfrm>
            <a:off x="571500" y="2220836"/>
            <a:ext cx="8001000" cy="4431983"/>
          </a:xfrm>
          <a:prstGeom prst="rect">
            <a:avLst/>
          </a:prstGeom>
        </p:spPr>
        <p:txBody>
          <a:bodyPr wrap="square">
            <a:spAutoFit/>
          </a:bodyPr>
          <a:lstStyle/>
          <a:p>
            <a:endParaRPr lang="en-US" dirty="0"/>
          </a:p>
          <a:p>
            <a:r>
              <a:rPr lang="en-US" sz="2400" dirty="0">
                <a:latin typeface="Verdana" panose="020B0604030504040204" pitchFamily="34" charset="0"/>
                <a:ea typeface="Verdana" panose="020B0604030504040204" pitchFamily="34" charset="0"/>
                <a:cs typeface="Verdana" panose="020B0604030504040204" pitchFamily="34" charset="0"/>
              </a:rPr>
              <a:t>Solar space heating may be accomplished using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an </a:t>
            </a:r>
            <a:r>
              <a:rPr lang="en-US" sz="2400" b="1" dirty="0">
                <a:latin typeface="Verdana" panose="020B0604030504040204" pitchFamily="34" charset="0"/>
                <a:ea typeface="Verdana" panose="020B0604030504040204" pitchFamily="34" charset="0"/>
                <a:cs typeface="Verdana" panose="020B0604030504040204" pitchFamily="34" charset="0"/>
              </a:rPr>
              <a:t>active system </a:t>
            </a:r>
            <a:r>
              <a:rPr lang="en-US" sz="2400" dirty="0">
                <a:latin typeface="Verdana" panose="020B0604030504040204" pitchFamily="34" charset="0"/>
                <a:ea typeface="Verdana" panose="020B0604030504040204" pitchFamily="34" charset="0"/>
                <a:cs typeface="Verdana" panose="020B0604030504040204" pitchFamily="34" charset="0"/>
              </a:rPr>
              <a:t>consisting of a solar collector which heats a working fluid which is circulated to heat a building</a:t>
            </a:r>
          </a:p>
          <a:p>
            <a:pPr marL="342900" indent="-342900">
              <a:buFont typeface="Arial" panose="020B0604020202020204" pitchFamily="34" charset="0"/>
              <a:buChar char="•"/>
            </a:pPr>
            <a:endParaRPr lang="en-CA"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CA" sz="2400" dirty="0">
                <a:latin typeface="Verdana" panose="020B0604030504040204" pitchFamily="34" charset="0"/>
                <a:ea typeface="Verdana" panose="020B0604030504040204" pitchFamily="34" charset="0"/>
                <a:cs typeface="Verdana" panose="020B0604030504040204" pitchFamily="34" charset="0"/>
              </a:rPr>
              <a:t>a </a:t>
            </a:r>
            <a:r>
              <a:rPr lang="en-CA" sz="2400" b="1" dirty="0">
                <a:latin typeface="Verdana" panose="020B0604030504040204" pitchFamily="34" charset="0"/>
                <a:ea typeface="Verdana" panose="020B0604030504040204" pitchFamily="34" charset="0"/>
                <a:cs typeface="Verdana" panose="020B0604030504040204" pitchFamily="34" charset="0"/>
              </a:rPr>
              <a:t>passive system </a:t>
            </a:r>
            <a:r>
              <a:rPr lang="en-CA" sz="2400" dirty="0">
                <a:latin typeface="Verdana" panose="020B0604030504040204" pitchFamily="34" charset="0"/>
                <a:ea typeface="Verdana" panose="020B0604030504040204" pitchFamily="34" charset="0"/>
                <a:cs typeface="Verdana" panose="020B0604030504040204" pitchFamily="34" charset="0"/>
              </a:rPr>
              <a:t>which heats the interior of the building directly as a result of building design and placement</a:t>
            </a: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CA"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569205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CA" dirty="0"/>
            </a:br>
            <a:r>
              <a:rPr lang="en-CA" dirty="0"/>
              <a:t>Solar collectors – Non-concentrating</a:t>
            </a:r>
            <a:br>
              <a:rPr lang="en-CA" dirty="0"/>
            </a:br>
            <a:r>
              <a:rPr lang="en-CA" dirty="0"/>
              <a:t>(Residential)</a:t>
            </a: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11</a:t>
            </a:fld>
            <a:endParaRPr lang="en-US"/>
          </a:p>
        </p:txBody>
      </p:sp>
      <p:pic>
        <p:nvPicPr>
          <p:cNvPr id="9" name="Picture 8" descr="A solar panel on a roof&#10;&#10;Description automatically generated with low confidence">
            <a:extLst>
              <a:ext uri="{FF2B5EF4-FFF2-40B4-BE49-F238E27FC236}">
                <a16:creationId xmlns:a16="http://schemas.microsoft.com/office/drawing/2014/main" id="{F6A66A4C-3F51-411E-9D3B-C0936CEA11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6381" y="3429000"/>
            <a:ext cx="2307603" cy="3080769"/>
          </a:xfrm>
          <a:prstGeom prst="rect">
            <a:avLst/>
          </a:prstGeom>
        </p:spPr>
      </p:pic>
      <p:pic>
        <p:nvPicPr>
          <p:cNvPr id="11" name="Picture 10" descr="Diagram&#10;&#10;Description automatically generated">
            <a:extLst>
              <a:ext uri="{FF2B5EF4-FFF2-40B4-BE49-F238E27FC236}">
                <a16:creationId xmlns:a16="http://schemas.microsoft.com/office/drawing/2014/main" id="{9AD94605-C00B-43E0-B2F8-9C3B8E6E79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6349" y="1847478"/>
            <a:ext cx="1905000" cy="1492500"/>
          </a:xfrm>
          <a:prstGeom prst="rect">
            <a:avLst/>
          </a:prstGeom>
        </p:spPr>
      </p:pic>
      <p:pic>
        <p:nvPicPr>
          <p:cNvPr id="13" name="Picture 12">
            <a:extLst>
              <a:ext uri="{FF2B5EF4-FFF2-40B4-BE49-F238E27FC236}">
                <a16:creationId xmlns:a16="http://schemas.microsoft.com/office/drawing/2014/main" id="{EA9FCCC5-3286-4BDC-BBC2-0261118DC3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9553" y="3665918"/>
            <a:ext cx="3776761" cy="2828925"/>
          </a:xfrm>
          <a:prstGeom prst="rect">
            <a:avLst/>
          </a:prstGeom>
        </p:spPr>
      </p:pic>
      <p:pic>
        <p:nvPicPr>
          <p:cNvPr id="15" name="Picture 14">
            <a:extLst>
              <a:ext uri="{FF2B5EF4-FFF2-40B4-BE49-F238E27FC236}">
                <a16:creationId xmlns:a16="http://schemas.microsoft.com/office/drawing/2014/main" id="{117A2B8E-170B-43E7-9E4B-E47E131D8BCD}"/>
              </a:ext>
            </a:extLst>
          </p:cNvPr>
          <p:cNvPicPr>
            <a:picLocks noChangeAspect="1"/>
          </p:cNvPicPr>
          <p:nvPr/>
        </p:nvPicPr>
        <p:blipFill>
          <a:blip r:embed="rId5"/>
          <a:stretch>
            <a:fillRect/>
          </a:stretch>
        </p:blipFill>
        <p:spPr>
          <a:xfrm>
            <a:off x="4019553" y="1812228"/>
            <a:ext cx="3848098" cy="1767102"/>
          </a:xfrm>
          <a:prstGeom prst="rect">
            <a:avLst/>
          </a:prstGeom>
        </p:spPr>
      </p:pic>
      <p:sp>
        <p:nvSpPr>
          <p:cNvPr id="16" name="TextBox 15">
            <a:extLst>
              <a:ext uri="{FF2B5EF4-FFF2-40B4-BE49-F238E27FC236}">
                <a16:creationId xmlns:a16="http://schemas.microsoft.com/office/drawing/2014/main" id="{636DBF4D-8FCD-40F9-A3FB-FDE5D453C87D}"/>
              </a:ext>
            </a:extLst>
          </p:cNvPr>
          <p:cNvSpPr txBox="1"/>
          <p:nvPr/>
        </p:nvSpPr>
        <p:spPr>
          <a:xfrm>
            <a:off x="1447800" y="6519672"/>
            <a:ext cx="6096000" cy="369332"/>
          </a:xfrm>
          <a:prstGeom prst="rect">
            <a:avLst/>
          </a:prstGeom>
          <a:noFill/>
        </p:spPr>
        <p:txBody>
          <a:bodyPr wrap="square" rtlCol="0">
            <a:spAutoFit/>
          </a:bodyPr>
          <a:lstStyle/>
          <a:p>
            <a:r>
              <a:rPr lang="en-CA" dirty="0"/>
              <a:t>Evacuated Tubes                            Flat-plate Solar Collectors</a:t>
            </a:r>
          </a:p>
        </p:txBody>
      </p:sp>
    </p:spTree>
    <p:extLst>
      <p:ext uri="{BB962C8B-B14F-4D97-AF65-F5344CB8AC3E}">
        <p14:creationId xmlns:p14="http://schemas.microsoft.com/office/powerpoint/2010/main" val="1273057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CA" dirty="0"/>
            </a:br>
            <a:r>
              <a:rPr lang="en-CA" dirty="0"/>
              <a:t>Solar collectors – Concentrating</a:t>
            </a:r>
            <a:br>
              <a:rPr lang="en-CA" dirty="0"/>
            </a:br>
            <a:r>
              <a:rPr lang="en-CA" dirty="0"/>
              <a:t>(Industrial)</a:t>
            </a: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12</a:t>
            </a:fld>
            <a:endParaRPr lang="en-US"/>
          </a:p>
        </p:txBody>
      </p:sp>
      <p:pic>
        <p:nvPicPr>
          <p:cNvPr id="7" name="Picture 6" descr="Diagram&#10;&#10;Description automatically generated">
            <a:extLst>
              <a:ext uri="{FF2B5EF4-FFF2-40B4-BE49-F238E27FC236}">
                <a16:creationId xmlns:a16="http://schemas.microsoft.com/office/drawing/2014/main" id="{C5088BD7-DDC9-41D9-87D4-6C234BD04A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875" y="2819400"/>
            <a:ext cx="8096250" cy="2838450"/>
          </a:xfrm>
          <a:prstGeom prst="rect">
            <a:avLst/>
          </a:prstGeom>
        </p:spPr>
      </p:pic>
    </p:spTree>
    <p:extLst>
      <p:ext uri="{BB962C8B-B14F-4D97-AF65-F5344CB8AC3E}">
        <p14:creationId xmlns:p14="http://schemas.microsoft.com/office/powerpoint/2010/main" val="2364974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60E2D-B202-44FE-B831-95F9050BB07F}"/>
              </a:ext>
            </a:extLst>
          </p:cNvPr>
          <p:cNvSpPr>
            <a:spLocks noGrp="1"/>
          </p:cNvSpPr>
          <p:nvPr>
            <p:ph type="title"/>
          </p:nvPr>
        </p:nvSpPr>
        <p:spPr/>
        <p:txBody>
          <a:bodyPr/>
          <a:lstStyle/>
          <a:p>
            <a:r>
              <a:rPr lang="en-CA" dirty="0"/>
              <a:t>CSP</a:t>
            </a:r>
          </a:p>
        </p:txBody>
      </p:sp>
      <p:sp>
        <p:nvSpPr>
          <p:cNvPr id="3" name="Slide Number Placeholder 2">
            <a:extLst>
              <a:ext uri="{FF2B5EF4-FFF2-40B4-BE49-F238E27FC236}">
                <a16:creationId xmlns:a16="http://schemas.microsoft.com/office/drawing/2014/main" id="{112F6B20-1705-46DB-BC30-4AFA1D06C828}"/>
              </a:ext>
            </a:extLst>
          </p:cNvPr>
          <p:cNvSpPr>
            <a:spLocks noGrp="1"/>
          </p:cNvSpPr>
          <p:nvPr>
            <p:ph type="sldNum" sz="quarter" idx="12"/>
          </p:nvPr>
        </p:nvSpPr>
        <p:spPr/>
        <p:txBody>
          <a:bodyPr/>
          <a:lstStyle/>
          <a:p>
            <a:fld id="{070107C2-BA80-4C15-96AE-A43002ADF025}" type="slidenum">
              <a:rPr lang="en-US" smtClean="0"/>
              <a:t>13</a:t>
            </a:fld>
            <a:endParaRPr lang="en-US"/>
          </a:p>
        </p:txBody>
      </p:sp>
      <p:pic>
        <p:nvPicPr>
          <p:cNvPr id="1026" name="Picture 2" descr="10.2. Parabolic Trough Collector Systems | EME 811: Solar Thermal Energy  for Utilities and Industry">
            <a:extLst>
              <a:ext uri="{FF2B5EF4-FFF2-40B4-BE49-F238E27FC236}">
                <a16:creationId xmlns:a16="http://schemas.microsoft.com/office/drawing/2014/main" id="{7D05F7F9-295B-4CFF-BEE2-D62527D0C1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374" y="3809559"/>
            <a:ext cx="4008806" cy="202337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iagram of a parabolic trough collector | Download Scientific Diagram">
            <a:extLst>
              <a:ext uri="{FF2B5EF4-FFF2-40B4-BE49-F238E27FC236}">
                <a16:creationId xmlns:a16="http://schemas.microsoft.com/office/drawing/2014/main" id="{0DDE6981-5236-4C28-AAA4-9BF2017378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083630"/>
            <a:ext cx="180975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picture containing outdoor, mountain, shore&#10;&#10;Description automatically generated">
            <a:extLst>
              <a:ext uri="{FF2B5EF4-FFF2-40B4-BE49-F238E27FC236}">
                <a16:creationId xmlns:a16="http://schemas.microsoft.com/office/drawing/2014/main" id="{B5838282-5019-4102-85B4-8F3481899C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07314" y="2090700"/>
            <a:ext cx="4431886" cy="2956329"/>
          </a:xfrm>
          <a:prstGeom prst="rect">
            <a:avLst/>
          </a:prstGeom>
        </p:spPr>
      </p:pic>
      <p:sp>
        <p:nvSpPr>
          <p:cNvPr id="11" name="TextBox 10">
            <a:extLst>
              <a:ext uri="{FF2B5EF4-FFF2-40B4-BE49-F238E27FC236}">
                <a16:creationId xmlns:a16="http://schemas.microsoft.com/office/drawing/2014/main" id="{C3135BAB-D127-4F4A-A735-13B8EA865408}"/>
              </a:ext>
            </a:extLst>
          </p:cNvPr>
          <p:cNvSpPr txBox="1"/>
          <p:nvPr/>
        </p:nvSpPr>
        <p:spPr>
          <a:xfrm>
            <a:off x="4425382" y="5091710"/>
            <a:ext cx="4572000" cy="461665"/>
          </a:xfrm>
          <a:prstGeom prst="rect">
            <a:avLst/>
          </a:prstGeom>
          <a:noFill/>
        </p:spPr>
        <p:txBody>
          <a:bodyPr wrap="square">
            <a:spAutoFit/>
          </a:bodyPr>
          <a:lstStyle/>
          <a:p>
            <a:r>
              <a:rPr lang="en-US" sz="1200" b="1" dirty="0"/>
              <a:t>The Ivanpah Solar Electric Generating System (source: BrightSource Energy)</a:t>
            </a:r>
          </a:p>
        </p:txBody>
      </p:sp>
      <p:sp>
        <p:nvSpPr>
          <p:cNvPr id="13" name="TextBox 12">
            <a:extLst>
              <a:ext uri="{FF2B5EF4-FFF2-40B4-BE49-F238E27FC236}">
                <a16:creationId xmlns:a16="http://schemas.microsoft.com/office/drawing/2014/main" id="{AAFC76F4-EE6C-49EE-AB6F-C2D796BD90AE}"/>
              </a:ext>
            </a:extLst>
          </p:cNvPr>
          <p:cNvSpPr txBox="1"/>
          <p:nvPr/>
        </p:nvSpPr>
        <p:spPr>
          <a:xfrm>
            <a:off x="4425382" y="5526770"/>
            <a:ext cx="3270818" cy="646331"/>
          </a:xfrm>
          <a:prstGeom prst="rect">
            <a:avLst/>
          </a:prstGeom>
          <a:noFill/>
        </p:spPr>
        <p:txBody>
          <a:bodyPr wrap="square">
            <a:spAutoFit/>
          </a:bodyPr>
          <a:lstStyle/>
          <a:p>
            <a:r>
              <a:rPr lang="en-US" dirty="0"/>
              <a:t>Unit 1: 126 MW</a:t>
            </a:r>
            <a:br>
              <a:rPr lang="en-US" dirty="0"/>
            </a:br>
            <a:r>
              <a:rPr lang="en-US" dirty="0"/>
              <a:t>Units 2 and 3: 133 MW each. </a:t>
            </a:r>
            <a:endParaRPr lang="en-CA" dirty="0"/>
          </a:p>
        </p:txBody>
      </p:sp>
      <p:sp>
        <p:nvSpPr>
          <p:cNvPr id="14" name="TextBox 13">
            <a:extLst>
              <a:ext uri="{FF2B5EF4-FFF2-40B4-BE49-F238E27FC236}">
                <a16:creationId xmlns:a16="http://schemas.microsoft.com/office/drawing/2014/main" id="{311B0E0A-6C17-4300-94CE-09EBC78A38AF}"/>
              </a:ext>
            </a:extLst>
          </p:cNvPr>
          <p:cNvSpPr txBox="1"/>
          <p:nvPr/>
        </p:nvSpPr>
        <p:spPr>
          <a:xfrm>
            <a:off x="838200" y="6513272"/>
            <a:ext cx="8001000" cy="369332"/>
          </a:xfrm>
          <a:prstGeom prst="rect">
            <a:avLst/>
          </a:prstGeom>
          <a:noFill/>
        </p:spPr>
        <p:txBody>
          <a:bodyPr wrap="square" rtlCol="0">
            <a:spAutoFit/>
          </a:bodyPr>
          <a:lstStyle/>
          <a:p>
            <a:r>
              <a:rPr lang="en-CA" dirty="0"/>
              <a:t>Parabolic Troughs                                       Heliostat Central Receivers</a:t>
            </a:r>
          </a:p>
        </p:txBody>
      </p:sp>
    </p:spTree>
    <p:extLst>
      <p:ext uri="{BB962C8B-B14F-4D97-AF65-F5344CB8AC3E}">
        <p14:creationId xmlns:p14="http://schemas.microsoft.com/office/powerpoint/2010/main" val="2310951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br>
              <a:rPr lang="en-US" dirty="0"/>
            </a:br>
            <a:r>
              <a:rPr lang="en-US" dirty="0"/>
              <a:t>Solar collector design basis</a:t>
            </a:r>
            <a:br>
              <a:rPr lang="en-US" dirty="0"/>
            </a:br>
            <a:br>
              <a:rPr lang="en-US"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14</a:t>
            </a:fld>
            <a:endParaRPr lang="en-US"/>
          </a:p>
        </p:txBody>
      </p:sp>
      <p:pic>
        <p:nvPicPr>
          <p:cNvPr id="3" name="Picture 2"/>
          <p:cNvPicPr>
            <a:picLocks noChangeAspect="1"/>
          </p:cNvPicPr>
          <p:nvPr/>
        </p:nvPicPr>
        <p:blipFill rotWithShape="1">
          <a:blip r:embed="rId2"/>
          <a:srcRect l="13407" r="10451" b="20529"/>
          <a:stretch/>
        </p:blipFill>
        <p:spPr>
          <a:xfrm>
            <a:off x="685800" y="1828801"/>
            <a:ext cx="3886200" cy="2590800"/>
          </a:xfrm>
          <a:prstGeom prst="rect">
            <a:avLst/>
          </a:prstGeom>
        </p:spPr>
      </p:pic>
      <p:sp>
        <p:nvSpPr>
          <p:cNvPr id="5" name="Rectangle 4">
            <a:extLst>
              <a:ext uri="{FF2B5EF4-FFF2-40B4-BE49-F238E27FC236}">
                <a16:creationId xmlns:a16="http://schemas.microsoft.com/office/drawing/2014/main" id="{E2F8B20C-614B-478B-B560-AED996163B7C}"/>
              </a:ext>
            </a:extLst>
          </p:cNvPr>
          <p:cNvSpPr/>
          <p:nvPr/>
        </p:nvSpPr>
        <p:spPr>
          <a:xfrm>
            <a:off x="5477464" y="2366338"/>
            <a:ext cx="3818936" cy="2246769"/>
          </a:xfrm>
          <a:prstGeom prst="rect">
            <a:avLst/>
          </a:prstGeom>
        </p:spPr>
        <p:txBody>
          <a:bodyPr wrap="square">
            <a:spAutoFit/>
          </a:bodyPr>
          <a:lstStyle/>
          <a:p>
            <a:endParaRPr lang="en-CA" sz="1400" dirty="0"/>
          </a:p>
          <a:p>
            <a:r>
              <a:rPr lang="en-CA" dirty="0">
                <a:latin typeface="Verdana" panose="020B0604030504040204" pitchFamily="34" charset="0"/>
                <a:ea typeface="Verdana" panose="020B0604030504040204" pitchFamily="34" charset="0"/>
                <a:cs typeface="Verdana" panose="020B0604030504040204" pitchFamily="34" charset="0"/>
              </a:rPr>
              <a:t>Features of a solar collector</a:t>
            </a:r>
          </a:p>
          <a:p>
            <a:endParaRPr lang="en-CA"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CA" dirty="0">
                <a:latin typeface="Verdana" panose="020B0604030504040204" pitchFamily="34" charset="0"/>
                <a:ea typeface="Verdana" panose="020B0604030504040204" pitchFamily="34" charset="0"/>
                <a:cs typeface="Verdana" panose="020B0604030504040204" pitchFamily="34" charset="0"/>
              </a:rPr>
              <a:t>insulated box</a:t>
            </a:r>
          </a:p>
          <a:p>
            <a:pPr marL="342900" indent="-342900">
              <a:buFont typeface="Arial" panose="020B0604020202020204" pitchFamily="34" charset="0"/>
              <a:buChar char="•"/>
            </a:pPr>
            <a:r>
              <a:rPr lang="en-CA" dirty="0">
                <a:latin typeface="Verdana" panose="020B0604030504040204" pitchFamily="34" charset="0"/>
                <a:ea typeface="Verdana" panose="020B0604030504040204" pitchFamily="34" charset="0"/>
                <a:cs typeface="Verdana" panose="020B0604030504040204" pitchFamily="34" charset="0"/>
              </a:rPr>
              <a:t>transparent cover</a:t>
            </a:r>
          </a:p>
          <a:p>
            <a:pPr marL="342900" indent="-342900">
              <a:buFont typeface="Arial" panose="020B0604020202020204" pitchFamily="34" charset="0"/>
              <a:buChar char="•"/>
            </a:pPr>
            <a:r>
              <a:rPr lang="en-CA" dirty="0">
                <a:latin typeface="Verdana" panose="020B0604030504040204" pitchFamily="34" charset="0"/>
                <a:ea typeface="Verdana" panose="020B0604030504040204" pitchFamily="34" charset="0"/>
                <a:cs typeface="Verdana" panose="020B0604030504040204" pitchFamily="34" charset="0"/>
              </a:rPr>
              <a:t>absorbing plate</a:t>
            </a:r>
          </a:p>
          <a:p>
            <a:pPr marL="342900" indent="-342900">
              <a:buFont typeface="Arial" panose="020B0604020202020204" pitchFamily="34" charset="0"/>
              <a:buChar char="•"/>
            </a:pPr>
            <a:r>
              <a:rPr lang="en-CA" dirty="0">
                <a:latin typeface="Verdana" panose="020B0604030504040204" pitchFamily="34" charset="0"/>
                <a:ea typeface="Verdana" panose="020B0604030504040204" pitchFamily="34" charset="0"/>
                <a:cs typeface="Verdana" panose="020B0604030504040204" pitchFamily="34" charset="0"/>
              </a:rPr>
              <a:t>pipes to carry working fluid</a:t>
            </a:r>
          </a:p>
          <a:p>
            <a:pPr marL="342900" indent="-342900">
              <a:buFont typeface="Arial" panose="020B0604020202020204" pitchFamily="34" charset="0"/>
              <a:buChar char="•"/>
            </a:pPr>
            <a:endParaRPr lang="en-CA" dirty="0">
              <a:latin typeface="Verdana" panose="020B0604030504040204" pitchFamily="34" charset="0"/>
              <a:ea typeface="Verdana" panose="020B0604030504040204" pitchFamily="34" charset="0"/>
              <a:cs typeface="Verdana" panose="020B0604030504040204" pitchFamily="34" charset="0"/>
            </a:endParaRPr>
          </a:p>
        </p:txBody>
      </p:sp>
      <p:sp>
        <p:nvSpPr>
          <p:cNvPr id="6" name="Rectangle 5">
            <a:extLst>
              <a:ext uri="{FF2B5EF4-FFF2-40B4-BE49-F238E27FC236}">
                <a16:creationId xmlns:a16="http://schemas.microsoft.com/office/drawing/2014/main" id="{29499D22-10C4-4E12-B37D-669DDEC33546}"/>
              </a:ext>
            </a:extLst>
          </p:cNvPr>
          <p:cNvSpPr/>
          <p:nvPr/>
        </p:nvSpPr>
        <p:spPr>
          <a:xfrm>
            <a:off x="208960" y="4633779"/>
            <a:ext cx="8153400" cy="2308324"/>
          </a:xfrm>
          <a:prstGeom prst="rect">
            <a:avLst/>
          </a:prstGeom>
        </p:spPr>
        <p:txBody>
          <a:bodyPr wrap="square">
            <a:spAutoFit/>
          </a:bodyPr>
          <a:lstStyle/>
          <a:p>
            <a:pPr marL="171450" indent="-171450">
              <a:buFont typeface="Arial" panose="020B0604020202020204" pitchFamily="34" charset="0"/>
              <a:buChar char="•"/>
            </a:pPr>
            <a:r>
              <a:rPr lang="en-CA" sz="1600" dirty="0">
                <a:latin typeface="Verdana" panose="020B0604030504040204" pitchFamily="34" charset="0"/>
                <a:ea typeface="Verdana" panose="020B0604030504040204" pitchFamily="34" charset="0"/>
                <a:cs typeface="Verdana" panose="020B0604030504040204" pitchFamily="34" charset="0"/>
              </a:rPr>
              <a:t>Solar radiation enters through the transparent cover and is absorbed by the plate which heats and transfers heat to the working fluid.</a:t>
            </a:r>
          </a:p>
          <a:p>
            <a:pPr marL="171450" indent="-171450">
              <a:buFont typeface="Arial" panose="020B0604020202020204" pitchFamily="34" charset="0"/>
              <a:buChar char="•"/>
            </a:pPr>
            <a:endParaRPr lang="en-CA" sz="1600" dirty="0">
              <a:latin typeface="Verdana" panose="020B0604030504040204" pitchFamily="34" charset="0"/>
              <a:ea typeface="Verdana" panose="020B0604030504040204" pitchFamily="34" charset="0"/>
              <a:cs typeface="Verdana" panose="020B0604030504040204" pitchFamily="34" charset="0"/>
            </a:endParaRPr>
          </a:p>
          <a:p>
            <a:pPr marL="171450" indent="-171450">
              <a:buFont typeface="Arial" panose="020B0604020202020204" pitchFamily="34" charset="0"/>
              <a:buChar char="•"/>
            </a:pPr>
            <a:r>
              <a:rPr lang="en-CA" sz="1600" dirty="0">
                <a:latin typeface="Verdana" panose="020B0604030504040204" pitchFamily="34" charset="0"/>
                <a:ea typeface="Verdana" panose="020B0604030504040204" pitchFamily="34" charset="0"/>
                <a:cs typeface="Verdana" panose="020B0604030504040204" pitchFamily="34" charset="0"/>
              </a:rPr>
              <a:t>Absorbed radiation is at short wavelength characteristic of the black body temperature of the sun (about 500 nm).</a:t>
            </a:r>
          </a:p>
          <a:p>
            <a:pPr marL="171450" indent="-171450">
              <a:buFont typeface="Arial" panose="020B0604020202020204" pitchFamily="34" charset="0"/>
              <a:buChar char="•"/>
            </a:pPr>
            <a:endParaRPr lang="en-CA" sz="1600" dirty="0">
              <a:latin typeface="Verdana" panose="020B0604030504040204" pitchFamily="34" charset="0"/>
              <a:ea typeface="Verdana" panose="020B0604030504040204" pitchFamily="34" charset="0"/>
              <a:cs typeface="Verdana" panose="020B0604030504040204" pitchFamily="34" charset="0"/>
            </a:endParaRPr>
          </a:p>
          <a:p>
            <a:pPr marL="171450" indent="-171450">
              <a:buFont typeface="Arial" panose="020B0604020202020204" pitchFamily="34" charset="0"/>
              <a:buChar char="•"/>
            </a:pPr>
            <a:r>
              <a:rPr lang="en-CA" sz="1600" dirty="0">
                <a:latin typeface="Verdana" panose="020B0604030504040204" pitchFamily="34" charset="0"/>
                <a:ea typeface="Verdana" panose="020B0604030504040204" pitchFamily="34" charset="0"/>
                <a:cs typeface="Verdana" panose="020B0604030504040204" pitchFamily="34" charset="0"/>
              </a:rPr>
              <a:t>Energy re-irradiated from the plate is long wavelength characteristic of a black body at the operating temperature of the collector (about 8000 nm).</a:t>
            </a:r>
          </a:p>
          <a:p>
            <a:pPr marL="171450" indent="-171450">
              <a:buFont typeface="Arial" panose="020B0604020202020204" pitchFamily="34" charset="0"/>
              <a:buChar char="•"/>
            </a:pPr>
            <a:endParaRPr lang="en-CA" sz="1600" dirty="0"/>
          </a:p>
        </p:txBody>
      </p:sp>
    </p:spTree>
    <p:extLst>
      <p:ext uri="{BB962C8B-B14F-4D97-AF65-F5344CB8AC3E}">
        <p14:creationId xmlns:p14="http://schemas.microsoft.com/office/powerpoint/2010/main" val="1351151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CA" dirty="0"/>
            </a:br>
            <a:r>
              <a:rPr lang="en-CA" dirty="0"/>
              <a:t>Minimizing energy loss</a:t>
            </a: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15</a:t>
            </a:fld>
            <a:endParaRPr lang="en-US"/>
          </a:p>
        </p:txBody>
      </p:sp>
      <p:sp>
        <p:nvSpPr>
          <p:cNvPr id="5" name="Rectangle 4"/>
          <p:cNvSpPr/>
          <p:nvPr/>
        </p:nvSpPr>
        <p:spPr>
          <a:xfrm>
            <a:off x="228600" y="2037034"/>
            <a:ext cx="3928596" cy="3908762"/>
          </a:xfrm>
          <a:prstGeom prst="rect">
            <a:avLst/>
          </a:prstGeom>
        </p:spPr>
        <p:txBody>
          <a:bodyPr wrap="square">
            <a:spAutoFit/>
          </a:bodyPr>
          <a:lstStyle/>
          <a:p>
            <a:endParaRPr lang="en-CA" sz="1400" dirty="0"/>
          </a:p>
          <a:p>
            <a:r>
              <a:rPr lang="en-CA" dirty="0">
                <a:latin typeface="Verdana" panose="020B0604030504040204" pitchFamily="34" charset="0"/>
                <a:ea typeface="Verdana" panose="020B0604030504040204" pitchFamily="34" charset="0"/>
                <a:cs typeface="Verdana" panose="020B0604030504040204" pitchFamily="34" charset="0"/>
              </a:rPr>
              <a:t>Energy loss is minimized by two mechanisms</a:t>
            </a:r>
          </a:p>
          <a:p>
            <a:endParaRPr lang="en-CA"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CA" dirty="0">
                <a:latin typeface="Verdana" panose="020B0604030504040204" pitchFamily="34" charset="0"/>
                <a:ea typeface="Verdana" panose="020B0604030504040204" pitchFamily="34" charset="0"/>
                <a:cs typeface="Verdana" panose="020B0604030504040204" pitchFamily="34" charset="0"/>
              </a:rPr>
              <a:t>conduction is minimized by </a:t>
            </a:r>
            <a:r>
              <a:rPr lang="en-CA" b="1" dirty="0">
                <a:latin typeface="Verdana" panose="020B0604030504040204" pitchFamily="34" charset="0"/>
                <a:ea typeface="Verdana" panose="020B0604030504040204" pitchFamily="34" charset="0"/>
                <a:cs typeface="Verdana" panose="020B0604030504040204" pitchFamily="34" charset="0"/>
              </a:rPr>
              <a:t>insulation</a:t>
            </a:r>
            <a:r>
              <a:rPr lang="en-CA" dirty="0">
                <a:latin typeface="Verdana" panose="020B0604030504040204" pitchFamily="34" charset="0"/>
                <a:ea typeface="Verdana" panose="020B0604030504040204" pitchFamily="34" charset="0"/>
                <a:cs typeface="Verdana" panose="020B0604030504040204" pitchFamily="34" charset="0"/>
              </a:rPr>
              <a:t> behind the plate</a:t>
            </a:r>
          </a:p>
          <a:p>
            <a:pPr marL="342900" indent="-342900">
              <a:buFont typeface="Arial" panose="020B0604020202020204" pitchFamily="34" charset="0"/>
              <a:buChar char="•"/>
            </a:pPr>
            <a:endParaRPr lang="en-CA"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CA" dirty="0">
                <a:latin typeface="Verdana" panose="020B0604030504040204" pitchFamily="34" charset="0"/>
                <a:ea typeface="Verdana" panose="020B0604030504040204" pitchFamily="34" charset="0"/>
                <a:cs typeface="Verdana" panose="020B0604030504040204" pitchFamily="34" charset="0"/>
              </a:rPr>
              <a:t>radiative losses are minimized if the transparent cover (i.e., glazing material) is </a:t>
            </a:r>
            <a:r>
              <a:rPr lang="en-CA" b="1" dirty="0">
                <a:latin typeface="Verdana" panose="020B0604030504040204" pitchFamily="34" charset="0"/>
                <a:ea typeface="Verdana" panose="020B0604030504040204" pitchFamily="34" charset="0"/>
                <a:cs typeface="Verdana" panose="020B0604030504040204" pitchFamily="34" charset="0"/>
              </a:rPr>
              <a:t>transparent to short wavelength radiation </a:t>
            </a:r>
            <a:r>
              <a:rPr lang="en-CA" dirty="0">
                <a:latin typeface="Verdana" panose="020B0604030504040204" pitchFamily="34" charset="0"/>
                <a:ea typeface="Verdana" panose="020B0604030504040204" pitchFamily="34" charset="0"/>
                <a:cs typeface="Verdana" panose="020B0604030504040204" pitchFamily="34" charset="0"/>
              </a:rPr>
              <a:t>and </a:t>
            </a:r>
            <a:r>
              <a:rPr lang="en-CA" b="1" dirty="0">
                <a:latin typeface="Verdana" panose="020B0604030504040204" pitchFamily="34" charset="0"/>
                <a:ea typeface="Verdana" panose="020B0604030504040204" pitchFamily="34" charset="0"/>
                <a:cs typeface="Verdana" panose="020B0604030504040204" pitchFamily="34" charset="0"/>
              </a:rPr>
              <a:t>opaque to long wavelength radiation</a:t>
            </a:r>
          </a:p>
        </p:txBody>
      </p:sp>
      <p:pic>
        <p:nvPicPr>
          <p:cNvPr id="6" name="Picture 5">
            <a:extLst>
              <a:ext uri="{FF2B5EF4-FFF2-40B4-BE49-F238E27FC236}">
                <a16:creationId xmlns:a16="http://schemas.microsoft.com/office/drawing/2014/main" id="{7D8AC421-0FB9-471E-99EA-A8285FB978E6}"/>
              </a:ext>
            </a:extLst>
          </p:cNvPr>
          <p:cNvPicPr>
            <a:picLocks noChangeAspect="1"/>
          </p:cNvPicPr>
          <p:nvPr/>
        </p:nvPicPr>
        <p:blipFill>
          <a:blip r:embed="rId2"/>
          <a:stretch>
            <a:fillRect/>
          </a:stretch>
        </p:blipFill>
        <p:spPr>
          <a:xfrm>
            <a:off x="4271962" y="1559633"/>
            <a:ext cx="4872038" cy="4863565"/>
          </a:xfrm>
          <a:prstGeom prst="rect">
            <a:avLst/>
          </a:prstGeom>
        </p:spPr>
      </p:pic>
    </p:spTree>
    <p:extLst>
      <p:ext uri="{BB962C8B-B14F-4D97-AF65-F5344CB8AC3E}">
        <p14:creationId xmlns:p14="http://schemas.microsoft.com/office/powerpoint/2010/main" val="32054763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CA" dirty="0"/>
            </a:br>
            <a:r>
              <a:rPr lang="en-CA" dirty="0"/>
              <a:t>Heat storage</a:t>
            </a: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16</a:t>
            </a:fld>
            <a:endParaRPr lang="en-US"/>
          </a:p>
        </p:txBody>
      </p:sp>
      <p:sp>
        <p:nvSpPr>
          <p:cNvPr id="5" name="Rectangle 4"/>
          <p:cNvSpPr/>
          <p:nvPr/>
        </p:nvSpPr>
        <p:spPr>
          <a:xfrm>
            <a:off x="248240" y="1738491"/>
            <a:ext cx="8686800" cy="2523768"/>
          </a:xfrm>
          <a:prstGeom prst="rect">
            <a:avLst/>
          </a:prstGeom>
        </p:spPr>
        <p:txBody>
          <a:bodyPr wrap="square">
            <a:spAutoFit/>
          </a:bodyPr>
          <a:lstStyle/>
          <a:p>
            <a:endParaRPr lang="en-CA" dirty="0"/>
          </a:p>
          <a:p>
            <a:r>
              <a:rPr lang="en-CA" sz="2000" dirty="0">
                <a:latin typeface="Verdana" panose="020B0604030504040204" pitchFamily="34" charset="0"/>
                <a:ea typeface="Verdana" panose="020B0604030504040204" pitchFamily="34" charset="0"/>
                <a:cs typeface="Verdana" panose="020B0604030504040204" pitchFamily="34" charset="0"/>
              </a:rPr>
              <a:t>As solar radiation is not consistent throughout the day heat must be store to make the most effective use of this energy source.</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Material may be heated during the day and heat extracted from that material during the night.</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Heat available is</a:t>
            </a:r>
          </a:p>
        </p:txBody>
      </p:sp>
      <p:pic>
        <p:nvPicPr>
          <p:cNvPr id="6" name="Picture 5"/>
          <p:cNvPicPr>
            <a:picLocks noChangeAspect="1"/>
          </p:cNvPicPr>
          <p:nvPr/>
        </p:nvPicPr>
        <p:blipFill rotWithShape="1">
          <a:blip r:embed="rId2"/>
          <a:srcRect r="17711" b="528"/>
          <a:stretch/>
        </p:blipFill>
        <p:spPr>
          <a:xfrm>
            <a:off x="248240" y="4409694"/>
            <a:ext cx="6020117" cy="570049"/>
          </a:xfrm>
          <a:prstGeom prst="rect">
            <a:avLst/>
          </a:prstGeom>
        </p:spPr>
      </p:pic>
      <p:pic>
        <p:nvPicPr>
          <p:cNvPr id="7" name="Picture 6">
            <a:extLst>
              <a:ext uri="{FF2B5EF4-FFF2-40B4-BE49-F238E27FC236}">
                <a16:creationId xmlns:a16="http://schemas.microsoft.com/office/drawing/2014/main" id="{39A3AD92-C56B-4F90-8587-8CF47961E496}"/>
              </a:ext>
            </a:extLst>
          </p:cNvPr>
          <p:cNvPicPr>
            <a:picLocks noChangeAspect="1"/>
          </p:cNvPicPr>
          <p:nvPr/>
        </p:nvPicPr>
        <p:blipFill>
          <a:blip r:embed="rId3"/>
          <a:stretch>
            <a:fillRect/>
          </a:stretch>
        </p:blipFill>
        <p:spPr>
          <a:xfrm>
            <a:off x="2804160" y="3776472"/>
            <a:ext cx="6339840" cy="2743200"/>
          </a:xfrm>
          <a:prstGeom prst="rect">
            <a:avLst/>
          </a:prstGeom>
        </p:spPr>
      </p:pic>
    </p:spTree>
    <p:extLst>
      <p:ext uri="{BB962C8B-B14F-4D97-AF65-F5344CB8AC3E}">
        <p14:creationId xmlns:p14="http://schemas.microsoft.com/office/powerpoint/2010/main" val="2796774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CA" dirty="0"/>
            </a:br>
            <a:r>
              <a:rPr lang="en-CA" dirty="0"/>
              <a:t>Heat storage requirement</a:t>
            </a: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17</a:t>
            </a:fld>
            <a:endParaRPr lang="en-US"/>
          </a:p>
        </p:txBody>
      </p:sp>
      <p:sp>
        <p:nvSpPr>
          <p:cNvPr id="6" name="Rectangle 5"/>
          <p:cNvSpPr/>
          <p:nvPr/>
        </p:nvSpPr>
        <p:spPr>
          <a:xfrm>
            <a:off x="914400" y="2136339"/>
            <a:ext cx="7467600" cy="3754874"/>
          </a:xfrm>
          <a:prstGeom prst="rect">
            <a:avLst/>
          </a:prstGeom>
        </p:spPr>
        <p:txBody>
          <a:bodyPr wrap="square">
            <a:spAutoFit/>
          </a:bodyPr>
          <a:lstStyle/>
          <a:p>
            <a:endParaRPr lang="en-CA" dirty="0"/>
          </a:p>
          <a:p>
            <a:r>
              <a:rPr lang="en-CA" sz="2000" dirty="0">
                <a:latin typeface="Verdana" panose="020B0604030504040204" pitchFamily="34" charset="0"/>
                <a:ea typeface="Verdana" panose="020B0604030504040204" pitchFamily="34" charset="0"/>
                <a:cs typeface="Verdana" panose="020B0604030504040204" pitchFamily="34" charset="0"/>
              </a:rPr>
              <a:t>To store the energy 1.09×10</a:t>
            </a:r>
            <a:r>
              <a:rPr lang="en-CA" sz="2000" baseline="30000" dirty="0">
                <a:latin typeface="Verdana" panose="020B0604030504040204" pitchFamily="34" charset="0"/>
                <a:ea typeface="Verdana" panose="020B0604030504040204" pitchFamily="34" charset="0"/>
                <a:cs typeface="Verdana" panose="020B0604030504040204" pitchFamily="34" charset="0"/>
              </a:rPr>
              <a:t>9</a:t>
            </a:r>
            <a:r>
              <a:rPr lang="en-CA" sz="2000" dirty="0">
                <a:latin typeface="Verdana" panose="020B0604030504040204" pitchFamily="34" charset="0"/>
                <a:ea typeface="Verdana" panose="020B0604030504040204" pitchFamily="34" charset="0"/>
                <a:cs typeface="Verdana" panose="020B0604030504040204" pitchFamily="34" charset="0"/>
              </a:rPr>
              <a:t> J in water with maximum and minimum temperatures of 65 °C and </a:t>
            </a:r>
          </a:p>
          <a:p>
            <a:r>
              <a:rPr lang="en-CA" sz="2000" dirty="0">
                <a:latin typeface="Verdana" panose="020B0604030504040204" pitchFamily="34" charset="0"/>
                <a:ea typeface="Verdana" panose="020B0604030504040204" pitchFamily="34" charset="0"/>
                <a:cs typeface="Verdana" panose="020B0604030504040204" pitchFamily="34" charset="0"/>
              </a:rPr>
              <a:t>30 °C requires a mass of</a:t>
            </a:r>
          </a:p>
          <a:p>
            <a:endParaRPr lang="en-CA" sz="2000" dirty="0">
              <a:latin typeface="Verdana" panose="020B0604030504040204" pitchFamily="34" charset="0"/>
              <a:ea typeface="Verdana" panose="020B0604030504040204" pitchFamily="34" charset="0"/>
              <a:cs typeface="Verdana" panose="020B0604030504040204" pitchFamily="34" charset="0"/>
            </a:endParaRPr>
          </a:p>
          <a:p>
            <a:endParaRPr lang="en-CA" sz="2000" dirty="0">
              <a:latin typeface="Verdana" panose="020B0604030504040204" pitchFamily="34" charset="0"/>
              <a:ea typeface="Verdana" panose="020B0604030504040204" pitchFamily="34" charset="0"/>
              <a:cs typeface="Verdana" panose="020B0604030504040204" pitchFamily="34" charset="0"/>
            </a:endParaRPr>
          </a:p>
          <a:p>
            <a:endParaRPr lang="en-CA" sz="2000" dirty="0">
              <a:latin typeface="Verdana" panose="020B0604030504040204" pitchFamily="34" charset="0"/>
              <a:ea typeface="Verdana" panose="020B0604030504040204" pitchFamily="34" charset="0"/>
              <a:cs typeface="Verdana" panose="020B0604030504040204" pitchFamily="34" charset="0"/>
            </a:endParaRPr>
          </a:p>
          <a:p>
            <a:endParaRPr lang="en-CA" sz="2000" dirty="0">
              <a:latin typeface="Verdana" panose="020B0604030504040204" pitchFamily="34" charset="0"/>
              <a:ea typeface="Verdana" panose="020B0604030504040204" pitchFamily="34" charset="0"/>
              <a:cs typeface="Verdana" panose="020B0604030504040204" pitchFamily="34" charset="0"/>
            </a:endParaRP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or </a:t>
            </a:r>
          </a:p>
          <a:p>
            <a:endParaRPr lang="en-CA" sz="2000" dirty="0">
              <a:latin typeface="Verdana" panose="020B0604030504040204" pitchFamily="34" charset="0"/>
              <a:ea typeface="Verdana" panose="020B0604030504040204" pitchFamily="34" charset="0"/>
              <a:cs typeface="Verdana" panose="020B0604030504040204" pitchFamily="34" charset="0"/>
            </a:endParaRPr>
          </a:p>
          <a:p>
            <a:endParaRPr lang="en-CA" sz="2000" dirty="0">
              <a:latin typeface="Verdana" panose="020B0604030504040204" pitchFamily="34" charset="0"/>
              <a:ea typeface="Verdana" panose="020B0604030504040204" pitchFamily="34" charset="0"/>
              <a:cs typeface="Verdana" panose="020B0604030504040204" pitchFamily="34" charset="0"/>
            </a:endParaRPr>
          </a:p>
        </p:txBody>
      </p:sp>
      <p:pic>
        <p:nvPicPr>
          <p:cNvPr id="7" name="Picture 6"/>
          <p:cNvPicPr>
            <a:picLocks noChangeAspect="1"/>
          </p:cNvPicPr>
          <p:nvPr/>
        </p:nvPicPr>
        <p:blipFill rotWithShape="1">
          <a:blip r:embed="rId2"/>
          <a:srcRect r="68952"/>
          <a:stretch/>
        </p:blipFill>
        <p:spPr>
          <a:xfrm>
            <a:off x="885967" y="3429000"/>
            <a:ext cx="2390633" cy="1341236"/>
          </a:xfrm>
          <a:prstGeom prst="rect">
            <a:avLst/>
          </a:prstGeom>
        </p:spPr>
      </p:pic>
      <p:pic>
        <p:nvPicPr>
          <p:cNvPr id="8" name="Picture 7"/>
          <p:cNvPicPr>
            <a:picLocks noChangeAspect="1"/>
          </p:cNvPicPr>
          <p:nvPr/>
        </p:nvPicPr>
        <p:blipFill>
          <a:blip r:embed="rId3"/>
          <a:stretch>
            <a:fillRect/>
          </a:stretch>
        </p:blipFill>
        <p:spPr>
          <a:xfrm>
            <a:off x="930322" y="5008655"/>
            <a:ext cx="11491577" cy="1872091"/>
          </a:xfrm>
          <a:prstGeom prst="rect">
            <a:avLst/>
          </a:prstGeom>
        </p:spPr>
      </p:pic>
    </p:spTree>
    <p:extLst>
      <p:ext uri="{BB962C8B-B14F-4D97-AF65-F5344CB8AC3E}">
        <p14:creationId xmlns:p14="http://schemas.microsoft.com/office/powerpoint/2010/main" val="19025244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27C8A-EF5C-42FD-8D86-9CDECBE45C3D}"/>
              </a:ext>
            </a:extLst>
          </p:cNvPr>
          <p:cNvSpPr>
            <a:spLocks noGrp="1"/>
          </p:cNvSpPr>
          <p:nvPr>
            <p:ph type="title"/>
          </p:nvPr>
        </p:nvSpPr>
        <p:spPr/>
        <p:txBody>
          <a:bodyPr/>
          <a:lstStyle/>
          <a:p>
            <a:r>
              <a:rPr lang="en-CA" dirty="0"/>
              <a:t>Flat Plate Collector 	System</a:t>
            </a:r>
          </a:p>
        </p:txBody>
      </p:sp>
      <p:sp>
        <p:nvSpPr>
          <p:cNvPr id="3" name="Slide Number Placeholder 2">
            <a:extLst>
              <a:ext uri="{FF2B5EF4-FFF2-40B4-BE49-F238E27FC236}">
                <a16:creationId xmlns:a16="http://schemas.microsoft.com/office/drawing/2014/main" id="{2E08195D-1A0A-41D0-9783-8487EFB56192}"/>
              </a:ext>
            </a:extLst>
          </p:cNvPr>
          <p:cNvSpPr>
            <a:spLocks noGrp="1"/>
          </p:cNvSpPr>
          <p:nvPr>
            <p:ph type="sldNum" sz="quarter" idx="12"/>
          </p:nvPr>
        </p:nvSpPr>
        <p:spPr/>
        <p:txBody>
          <a:bodyPr/>
          <a:lstStyle/>
          <a:p>
            <a:fld id="{070107C2-BA80-4C15-96AE-A43002ADF025}" type="slidenum">
              <a:rPr lang="en-US" smtClean="0"/>
              <a:t>18</a:t>
            </a:fld>
            <a:endParaRPr lang="en-US"/>
          </a:p>
        </p:txBody>
      </p:sp>
      <p:pic>
        <p:nvPicPr>
          <p:cNvPr id="5" name="Picture 4">
            <a:extLst>
              <a:ext uri="{FF2B5EF4-FFF2-40B4-BE49-F238E27FC236}">
                <a16:creationId xmlns:a16="http://schemas.microsoft.com/office/drawing/2014/main" id="{90614FC5-0618-48E6-AA78-ACD28E722623}"/>
              </a:ext>
            </a:extLst>
          </p:cNvPr>
          <p:cNvPicPr>
            <a:picLocks noChangeAspect="1"/>
          </p:cNvPicPr>
          <p:nvPr/>
        </p:nvPicPr>
        <p:blipFill>
          <a:blip r:embed="rId2"/>
          <a:stretch>
            <a:fillRect/>
          </a:stretch>
        </p:blipFill>
        <p:spPr>
          <a:xfrm>
            <a:off x="3266780" y="4379856"/>
            <a:ext cx="5572420" cy="2197255"/>
          </a:xfrm>
          <a:prstGeom prst="rect">
            <a:avLst/>
          </a:prstGeom>
        </p:spPr>
      </p:pic>
      <p:pic>
        <p:nvPicPr>
          <p:cNvPr id="7" name="Picture 6">
            <a:extLst>
              <a:ext uri="{FF2B5EF4-FFF2-40B4-BE49-F238E27FC236}">
                <a16:creationId xmlns:a16="http://schemas.microsoft.com/office/drawing/2014/main" id="{2C95CC9E-F112-48EC-8134-8E9E91DCAD17}"/>
              </a:ext>
            </a:extLst>
          </p:cNvPr>
          <p:cNvPicPr>
            <a:picLocks noChangeAspect="1"/>
          </p:cNvPicPr>
          <p:nvPr/>
        </p:nvPicPr>
        <p:blipFill>
          <a:blip r:embed="rId3"/>
          <a:stretch>
            <a:fillRect/>
          </a:stretch>
        </p:blipFill>
        <p:spPr>
          <a:xfrm>
            <a:off x="304800" y="1708591"/>
            <a:ext cx="4705350" cy="2686050"/>
          </a:xfrm>
          <a:prstGeom prst="rect">
            <a:avLst/>
          </a:prstGeom>
        </p:spPr>
      </p:pic>
    </p:spTree>
    <p:extLst>
      <p:ext uri="{BB962C8B-B14F-4D97-AF65-F5344CB8AC3E}">
        <p14:creationId xmlns:p14="http://schemas.microsoft.com/office/powerpoint/2010/main" val="5333856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3"/>
          <p:cNvSpPr>
            <a:spLocks noGrp="1"/>
          </p:cNvSpPr>
          <p:nvPr>
            <p:ph type="sldNum" sz="quarter" idx="12"/>
          </p:nvPr>
        </p:nvSpPr>
        <p:spPr>
          <a:noFill/>
        </p:spPr>
        <p:txBody>
          <a:bodyPr/>
          <a:lstStyle/>
          <a:p>
            <a:fld id="{C0B7B785-68A5-4452-AC70-DCDC0B7E6FBC}" type="slidenum">
              <a:rPr lang="en-US" smtClean="0"/>
              <a:pPr/>
              <a:t>19</a:t>
            </a:fld>
            <a:endParaRPr lang="en-US"/>
          </a:p>
        </p:txBody>
      </p:sp>
      <p:sp>
        <p:nvSpPr>
          <p:cNvPr id="34819" name="Rectangle 2"/>
          <p:cNvSpPr>
            <a:spLocks noChangeArrowheads="1"/>
          </p:cNvSpPr>
          <p:nvPr/>
        </p:nvSpPr>
        <p:spPr bwMode="auto">
          <a:xfrm>
            <a:off x="156525" y="276873"/>
            <a:ext cx="6915150" cy="461963"/>
          </a:xfrm>
          <a:prstGeom prst="rect">
            <a:avLst/>
          </a:prstGeom>
          <a:noFill/>
          <a:ln w="9525">
            <a:noFill/>
            <a:miter lim="800000"/>
            <a:headEnd/>
            <a:tailEnd/>
          </a:ln>
        </p:spPr>
        <p:txBody>
          <a:bodyPr>
            <a:spAutoFit/>
          </a:bodyPr>
          <a:lstStyle/>
          <a:p>
            <a:r>
              <a:rPr lang="en-US" sz="2400" b="1" dirty="0" err="1">
                <a:solidFill>
                  <a:schemeClr val="bg1"/>
                </a:solidFill>
              </a:rPr>
              <a:t>Absorptivity</a:t>
            </a:r>
            <a:r>
              <a:rPr lang="en-US" sz="2400" b="1" dirty="0">
                <a:solidFill>
                  <a:schemeClr val="bg1"/>
                </a:solidFill>
              </a:rPr>
              <a:t>, Reflectivity, and </a:t>
            </a:r>
            <a:r>
              <a:rPr lang="en-US" sz="2400" b="1" dirty="0" err="1">
                <a:solidFill>
                  <a:schemeClr val="bg1"/>
                </a:solidFill>
              </a:rPr>
              <a:t>Transmissivity</a:t>
            </a:r>
            <a:endParaRPr lang="en-US" sz="2400" b="1" dirty="0">
              <a:solidFill>
                <a:schemeClr val="bg1"/>
              </a:solidFill>
            </a:endParaRPr>
          </a:p>
        </p:txBody>
      </p:sp>
      <p:sp>
        <p:nvSpPr>
          <p:cNvPr id="34821" name="Rectangle 6"/>
          <p:cNvSpPr>
            <a:spLocks noChangeArrowheads="1"/>
          </p:cNvSpPr>
          <p:nvPr/>
        </p:nvSpPr>
        <p:spPr bwMode="auto">
          <a:xfrm>
            <a:off x="7117238" y="2685491"/>
            <a:ext cx="1828800" cy="1446550"/>
          </a:xfrm>
          <a:prstGeom prst="rect">
            <a:avLst/>
          </a:prstGeom>
          <a:noFill/>
          <a:ln w="9525">
            <a:noFill/>
            <a:miter lim="800000"/>
            <a:headEnd/>
            <a:tailEnd/>
          </a:ln>
        </p:spPr>
        <p:txBody>
          <a:bodyPr wrap="square">
            <a:spAutoFit/>
          </a:bodyPr>
          <a:lstStyle/>
          <a:p>
            <a:r>
              <a:rPr lang="en-US" sz="2200" b="1" dirty="0">
                <a:solidFill>
                  <a:srgbClr val="C00000"/>
                </a:solidFill>
                <a:latin typeface="Calibri" pitchFamily="34" charset="0"/>
              </a:rPr>
              <a:t>Irradiation</a:t>
            </a:r>
            <a:r>
              <a:rPr lang="tr-TR" sz="2200" b="1" dirty="0">
                <a:solidFill>
                  <a:srgbClr val="C00000"/>
                </a:solidFill>
                <a:latin typeface="Calibri" pitchFamily="34" charset="0"/>
              </a:rPr>
              <a:t>, </a:t>
            </a:r>
            <a:r>
              <a:rPr lang="en-US" sz="2200" b="1" i="1" dirty="0">
                <a:solidFill>
                  <a:srgbClr val="C00000"/>
                </a:solidFill>
                <a:latin typeface="Calibri" pitchFamily="34" charset="0"/>
              </a:rPr>
              <a:t>G</a:t>
            </a:r>
            <a:r>
              <a:rPr lang="tr-TR" sz="2200" b="1" dirty="0">
                <a:solidFill>
                  <a:srgbClr val="C00000"/>
                </a:solidFill>
                <a:latin typeface="Calibri" pitchFamily="34" charset="0"/>
              </a:rPr>
              <a:t>:</a:t>
            </a:r>
            <a:r>
              <a:rPr lang="tr-TR" sz="2200" dirty="0">
                <a:latin typeface="Calibri" pitchFamily="34" charset="0"/>
              </a:rPr>
              <a:t> </a:t>
            </a:r>
            <a:r>
              <a:rPr lang="tr-TR" sz="2200" b="0" dirty="0">
                <a:latin typeface="Calibri" pitchFamily="34" charset="0"/>
              </a:rPr>
              <a:t>R</a:t>
            </a:r>
            <a:r>
              <a:rPr lang="en-US" sz="2200" b="0" dirty="0" err="1">
                <a:latin typeface="Calibri" pitchFamily="34" charset="0"/>
              </a:rPr>
              <a:t>adiation</a:t>
            </a:r>
            <a:r>
              <a:rPr lang="en-US" sz="2200" b="0" dirty="0">
                <a:latin typeface="Calibri" pitchFamily="34" charset="0"/>
              </a:rPr>
              <a:t> flux incident</a:t>
            </a:r>
            <a:r>
              <a:rPr lang="tr-TR" sz="2200" b="0" dirty="0">
                <a:latin typeface="Calibri" pitchFamily="34" charset="0"/>
              </a:rPr>
              <a:t> </a:t>
            </a:r>
            <a:r>
              <a:rPr lang="en-US" sz="2200" b="0" dirty="0">
                <a:latin typeface="Calibri" pitchFamily="34" charset="0"/>
              </a:rPr>
              <a:t>on a surface</a:t>
            </a:r>
            <a:r>
              <a:rPr lang="tr-TR" sz="2200" b="0" dirty="0">
                <a:latin typeface="Calibri" pitchFamily="34" charset="0"/>
              </a:rPr>
              <a:t>.</a:t>
            </a:r>
            <a:endParaRPr lang="en-US" sz="2200" b="0" dirty="0">
              <a:latin typeface="Calibri" pitchFamily="34" charset="0"/>
            </a:endParaRPr>
          </a:p>
        </p:txBody>
      </p:sp>
      <p:sp>
        <p:nvSpPr>
          <p:cNvPr id="34828" name="Rectangle 10"/>
          <p:cNvSpPr>
            <a:spLocks noChangeArrowheads="1"/>
          </p:cNvSpPr>
          <p:nvPr/>
        </p:nvSpPr>
        <p:spPr bwMode="auto">
          <a:xfrm>
            <a:off x="5736112" y="4307508"/>
            <a:ext cx="2419350" cy="366713"/>
          </a:xfrm>
          <a:prstGeom prst="rect">
            <a:avLst/>
          </a:prstGeom>
          <a:noFill/>
          <a:ln w="9525">
            <a:noFill/>
            <a:miter lim="800000"/>
            <a:headEnd/>
            <a:tailEnd/>
          </a:ln>
        </p:spPr>
        <p:txBody>
          <a:bodyPr>
            <a:spAutoFit/>
          </a:bodyPr>
          <a:lstStyle/>
          <a:p>
            <a:r>
              <a:rPr lang="tr-TR" b="0" dirty="0"/>
              <a:t>f</a:t>
            </a:r>
            <a:r>
              <a:rPr lang="en-US" b="0" dirty="0"/>
              <a:t>or opaque surfaces</a:t>
            </a:r>
          </a:p>
        </p:txBody>
      </p:sp>
      <p:pic>
        <p:nvPicPr>
          <p:cNvPr id="34823" name="Picture 13"/>
          <p:cNvPicPr>
            <a:picLocks noChangeAspect="1" noChangeArrowheads="1"/>
          </p:cNvPicPr>
          <p:nvPr/>
        </p:nvPicPr>
        <p:blipFill>
          <a:blip r:embed="rId2" cstate="print"/>
          <a:srcRect/>
          <a:stretch>
            <a:fillRect/>
          </a:stretch>
        </p:blipFill>
        <p:spPr bwMode="auto">
          <a:xfrm>
            <a:off x="219958" y="3034084"/>
            <a:ext cx="3254604" cy="3718298"/>
          </a:xfrm>
          <a:prstGeom prst="rect">
            <a:avLst/>
          </a:prstGeom>
          <a:noFill/>
          <a:ln w="9525">
            <a:noFill/>
            <a:miter lim="800000"/>
            <a:headEnd/>
            <a:tailEnd/>
          </a:ln>
        </p:spPr>
      </p:pic>
      <p:pic>
        <p:nvPicPr>
          <p:cNvPr id="9219" name="Picture 3"/>
          <p:cNvPicPr>
            <a:picLocks noChangeAspect="1" noChangeArrowheads="1"/>
          </p:cNvPicPr>
          <p:nvPr/>
        </p:nvPicPr>
        <p:blipFill>
          <a:blip r:embed="rId3" cstate="print"/>
          <a:srcRect/>
          <a:stretch>
            <a:fillRect/>
          </a:stretch>
        </p:blipFill>
        <p:spPr bwMode="auto">
          <a:xfrm>
            <a:off x="219958" y="906945"/>
            <a:ext cx="5791199" cy="2042469"/>
          </a:xfrm>
          <a:prstGeom prst="rect">
            <a:avLst/>
          </a:prstGeom>
          <a:noFill/>
          <a:ln w="9525">
            <a:noFill/>
            <a:miter lim="800000"/>
            <a:headEnd/>
            <a:tailEnd/>
          </a:ln>
          <a:effectLst/>
        </p:spPr>
      </p:pic>
      <p:pic>
        <p:nvPicPr>
          <p:cNvPr id="9220" name="Picture 4"/>
          <p:cNvPicPr>
            <a:picLocks noChangeAspect="1" noChangeArrowheads="1"/>
          </p:cNvPicPr>
          <p:nvPr/>
        </p:nvPicPr>
        <p:blipFill>
          <a:blip r:embed="rId4" cstate="print"/>
          <a:srcRect/>
          <a:stretch>
            <a:fillRect/>
          </a:stretch>
        </p:blipFill>
        <p:spPr bwMode="auto">
          <a:xfrm>
            <a:off x="4495800" y="3200400"/>
            <a:ext cx="2419350" cy="476250"/>
          </a:xfrm>
          <a:prstGeom prst="rect">
            <a:avLst/>
          </a:prstGeom>
          <a:noFill/>
          <a:ln w="9525">
            <a:noFill/>
            <a:miter lim="800000"/>
            <a:headEnd/>
            <a:tailEnd/>
          </a:ln>
          <a:effectLst/>
        </p:spPr>
      </p:pic>
      <p:pic>
        <p:nvPicPr>
          <p:cNvPr id="9221" name="Picture 5"/>
          <p:cNvPicPr>
            <a:picLocks noChangeAspect="1" noChangeArrowheads="1"/>
          </p:cNvPicPr>
          <p:nvPr/>
        </p:nvPicPr>
        <p:blipFill>
          <a:blip r:embed="rId5" cstate="print"/>
          <a:srcRect/>
          <a:stretch>
            <a:fillRect/>
          </a:stretch>
        </p:blipFill>
        <p:spPr bwMode="auto">
          <a:xfrm>
            <a:off x="4495800" y="3810000"/>
            <a:ext cx="1600200" cy="400050"/>
          </a:xfrm>
          <a:prstGeom prst="rect">
            <a:avLst/>
          </a:prstGeom>
          <a:noFill/>
          <a:ln w="9525">
            <a:noFill/>
            <a:miter lim="800000"/>
            <a:headEnd/>
            <a:tailEnd/>
          </a:ln>
          <a:effectLst/>
        </p:spPr>
      </p:pic>
      <p:pic>
        <p:nvPicPr>
          <p:cNvPr id="9222" name="Picture 6"/>
          <p:cNvPicPr>
            <a:picLocks noChangeAspect="1" noChangeArrowheads="1"/>
          </p:cNvPicPr>
          <p:nvPr/>
        </p:nvPicPr>
        <p:blipFill>
          <a:blip r:embed="rId6" cstate="print"/>
          <a:srcRect/>
          <a:stretch>
            <a:fillRect/>
          </a:stretch>
        </p:blipFill>
        <p:spPr bwMode="auto">
          <a:xfrm>
            <a:off x="4495800" y="4343400"/>
            <a:ext cx="1181100" cy="342900"/>
          </a:xfrm>
          <a:prstGeom prst="rect">
            <a:avLst/>
          </a:prstGeom>
          <a:noFill/>
          <a:ln w="9525">
            <a:noFill/>
            <a:miter lim="800000"/>
            <a:headEnd/>
            <a:tailEnd/>
          </a:ln>
          <a:effectLst/>
        </p:spPr>
      </p:pic>
      <p:sp>
        <p:nvSpPr>
          <p:cNvPr id="12" name="11 Dikdörtgen"/>
          <p:cNvSpPr/>
          <p:nvPr/>
        </p:nvSpPr>
        <p:spPr>
          <a:xfrm>
            <a:off x="3810000" y="5581471"/>
            <a:ext cx="3810000" cy="1200329"/>
          </a:xfrm>
          <a:prstGeom prst="rect">
            <a:avLst/>
          </a:prstGeom>
        </p:spPr>
        <p:txBody>
          <a:bodyPr wrap="square">
            <a:spAutoFit/>
          </a:bodyPr>
          <a:lstStyle/>
          <a:p>
            <a:r>
              <a:rPr lang="en-US" b="1" dirty="0">
                <a:solidFill>
                  <a:srgbClr val="0000FF"/>
                </a:solidFill>
              </a:rPr>
              <a:t>Figure 3-8 </a:t>
            </a:r>
            <a:endParaRPr lang="tr-TR" b="1" dirty="0">
              <a:solidFill>
                <a:srgbClr val="0000FF"/>
              </a:solidFill>
            </a:endParaRPr>
          </a:p>
          <a:p>
            <a:r>
              <a:rPr lang="en-US" dirty="0">
                <a:solidFill>
                  <a:srgbClr val="0000FF"/>
                </a:solidFill>
              </a:rPr>
              <a:t>The absorption, reflection, and transmission of incident radiation by a semitransparent material. </a:t>
            </a:r>
            <a:endParaRPr lang="tr-TR" dirty="0">
              <a:solidFill>
                <a:srgbClr val="0000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F165A-B30A-4372-91E2-FF1CCD6AEEC9}"/>
              </a:ext>
            </a:extLst>
          </p:cNvPr>
          <p:cNvSpPr>
            <a:spLocks noGrp="1"/>
          </p:cNvSpPr>
          <p:nvPr>
            <p:ph type="title"/>
          </p:nvPr>
        </p:nvSpPr>
        <p:spPr/>
        <p:txBody>
          <a:bodyPr/>
          <a:lstStyle/>
          <a:p>
            <a:r>
              <a:rPr lang="en-CA" dirty="0"/>
              <a:t>Collector Energy Balance</a:t>
            </a:r>
          </a:p>
        </p:txBody>
      </p:sp>
      <p:sp>
        <p:nvSpPr>
          <p:cNvPr id="3" name="Slide Number Placeholder 2">
            <a:extLst>
              <a:ext uri="{FF2B5EF4-FFF2-40B4-BE49-F238E27FC236}">
                <a16:creationId xmlns:a16="http://schemas.microsoft.com/office/drawing/2014/main" id="{9C62CE6C-1406-41E6-B631-3C1F03466468}"/>
              </a:ext>
            </a:extLst>
          </p:cNvPr>
          <p:cNvSpPr>
            <a:spLocks noGrp="1"/>
          </p:cNvSpPr>
          <p:nvPr>
            <p:ph type="sldNum" sz="quarter" idx="12"/>
          </p:nvPr>
        </p:nvSpPr>
        <p:spPr>
          <a:xfrm>
            <a:off x="7884753" y="6337109"/>
            <a:ext cx="934040" cy="365125"/>
          </a:xfrm>
        </p:spPr>
        <p:txBody>
          <a:bodyPr/>
          <a:lstStyle/>
          <a:p>
            <a:fld id="{070107C2-BA80-4C15-96AE-A43002ADF025}" type="slidenum">
              <a:rPr lang="en-US" smtClean="0"/>
              <a:t>20</a:t>
            </a:fld>
            <a:endParaRPr lang="en-US" dirty="0"/>
          </a:p>
        </p:txBody>
      </p:sp>
      <p:pic>
        <p:nvPicPr>
          <p:cNvPr id="5" name="Picture 4">
            <a:extLst>
              <a:ext uri="{FF2B5EF4-FFF2-40B4-BE49-F238E27FC236}">
                <a16:creationId xmlns:a16="http://schemas.microsoft.com/office/drawing/2014/main" id="{C2D629A4-F955-42AF-A68D-335BEF9D2981}"/>
              </a:ext>
            </a:extLst>
          </p:cNvPr>
          <p:cNvPicPr>
            <a:picLocks noChangeAspect="1"/>
          </p:cNvPicPr>
          <p:nvPr/>
        </p:nvPicPr>
        <p:blipFill>
          <a:blip r:embed="rId2"/>
          <a:stretch>
            <a:fillRect/>
          </a:stretch>
        </p:blipFill>
        <p:spPr>
          <a:xfrm>
            <a:off x="-6285" y="3707610"/>
            <a:ext cx="2954547" cy="1143000"/>
          </a:xfrm>
          <a:prstGeom prst="rect">
            <a:avLst/>
          </a:prstGeom>
        </p:spPr>
      </p:pic>
      <p:pic>
        <p:nvPicPr>
          <p:cNvPr id="7" name="Picture 6">
            <a:extLst>
              <a:ext uri="{FF2B5EF4-FFF2-40B4-BE49-F238E27FC236}">
                <a16:creationId xmlns:a16="http://schemas.microsoft.com/office/drawing/2014/main" id="{6FC01838-C600-4E3A-BF3A-EA8115F2B856}"/>
              </a:ext>
            </a:extLst>
          </p:cNvPr>
          <p:cNvPicPr>
            <a:picLocks noChangeAspect="1"/>
          </p:cNvPicPr>
          <p:nvPr/>
        </p:nvPicPr>
        <p:blipFill rotWithShape="1">
          <a:blip r:embed="rId3"/>
          <a:srcRect t="14273"/>
          <a:stretch/>
        </p:blipFill>
        <p:spPr>
          <a:xfrm>
            <a:off x="177404" y="4743178"/>
            <a:ext cx="4817339" cy="1081597"/>
          </a:xfrm>
          <a:prstGeom prst="rect">
            <a:avLst/>
          </a:prstGeom>
        </p:spPr>
      </p:pic>
      <p:pic>
        <p:nvPicPr>
          <p:cNvPr id="9" name="Picture 8">
            <a:extLst>
              <a:ext uri="{FF2B5EF4-FFF2-40B4-BE49-F238E27FC236}">
                <a16:creationId xmlns:a16="http://schemas.microsoft.com/office/drawing/2014/main" id="{E69A53E9-92DA-4412-947C-891D7C081517}"/>
              </a:ext>
            </a:extLst>
          </p:cNvPr>
          <p:cNvPicPr>
            <a:picLocks noChangeAspect="1"/>
          </p:cNvPicPr>
          <p:nvPr/>
        </p:nvPicPr>
        <p:blipFill>
          <a:blip r:embed="rId4"/>
          <a:stretch>
            <a:fillRect/>
          </a:stretch>
        </p:blipFill>
        <p:spPr>
          <a:xfrm>
            <a:off x="278173" y="1485939"/>
            <a:ext cx="3065180" cy="761152"/>
          </a:xfrm>
          <a:prstGeom prst="rect">
            <a:avLst/>
          </a:prstGeom>
        </p:spPr>
      </p:pic>
      <p:pic>
        <p:nvPicPr>
          <p:cNvPr id="11" name="Picture 10">
            <a:extLst>
              <a:ext uri="{FF2B5EF4-FFF2-40B4-BE49-F238E27FC236}">
                <a16:creationId xmlns:a16="http://schemas.microsoft.com/office/drawing/2014/main" id="{0C57DF9E-DE50-4A65-A8F8-825ABBD7893F}"/>
              </a:ext>
            </a:extLst>
          </p:cNvPr>
          <p:cNvPicPr>
            <a:picLocks noChangeAspect="1"/>
          </p:cNvPicPr>
          <p:nvPr/>
        </p:nvPicPr>
        <p:blipFill>
          <a:blip r:embed="rId5"/>
          <a:stretch>
            <a:fillRect/>
          </a:stretch>
        </p:blipFill>
        <p:spPr>
          <a:xfrm>
            <a:off x="177404" y="2175094"/>
            <a:ext cx="2849880" cy="838200"/>
          </a:xfrm>
          <a:prstGeom prst="rect">
            <a:avLst/>
          </a:prstGeom>
        </p:spPr>
      </p:pic>
      <p:pic>
        <p:nvPicPr>
          <p:cNvPr id="15" name="Picture 14">
            <a:extLst>
              <a:ext uri="{FF2B5EF4-FFF2-40B4-BE49-F238E27FC236}">
                <a16:creationId xmlns:a16="http://schemas.microsoft.com/office/drawing/2014/main" id="{2F715F8E-2106-4ACC-BEF7-2C778ADC548D}"/>
              </a:ext>
            </a:extLst>
          </p:cNvPr>
          <p:cNvPicPr>
            <a:picLocks noChangeAspect="1"/>
          </p:cNvPicPr>
          <p:nvPr/>
        </p:nvPicPr>
        <p:blipFill>
          <a:blip r:embed="rId6"/>
          <a:stretch>
            <a:fillRect/>
          </a:stretch>
        </p:blipFill>
        <p:spPr>
          <a:xfrm>
            <a:off x="3457418" y="2331192"/>
            <a:ext cx="4586811" cy="838199"/>
          </a:xfrm>
          <a:prstGeom prst="rect">
            <a:avLst/>
          </a:prstGeom>
        </p:spPr>
      </p:pic>
      <p:pic>
        <p:nvPicPr>
          <p:cNvPr id="17" name="Picture 16">
            <a:extLst>
              <a:ext uri="{FF2B5EF4-FFF2-40B4-BE49-F238E27FC236}">
                <a16:creationId xmlns:a16="http://schemas.microsoft.com/office/drawing/2014/main" id="{18F3DB34-691F-4BA5-977D-0F1B201FA5CD}"/>
              </a:ext>
            </a:extLst>
          </p:cNvPr>
          <p:cNvPicPr>
            <a:picLocks noChangeAspect="1"/>
          </p:cNvPicPr>
          <p:nvPr/>
        </p:nvPicPr>
        <p:blipFill>
          <a:blip r:embed="rId7"/>
          <a:stretch>
            <a:fillRect/>
          </a:stretch>
        </p:blipFill>
        <p:spPr>
          <a:xfrm>
            <a:off x="0" y="3100084"/>
            <a:ext cx="7925322" cy="800745"/>
          </a:xfrm>
          <a:prstGeom prst="rect">
            <a:avLst/>
          </a:prstGeom>
        </p:spPr>
      </p:pic>
      <p:sp>
        <p:nvSpPr>
          <p:cNvPr id="18" name="TextBox 17">
            <a:extLst>
              <a:ext uri="{FF2B5EF4-FFF2-40B4-BE49-F238E27FC236}">
                <a16:creationId xmlns:a16="http://schemas.microsoft.com/office/drawing/2014/main" id="{06A503F3-5F49-4F29-976A-2DD20E445569}"/>
              </a:ext>
            </a:extLst>
          </p:cNvPr>
          <p:cNvSpPr txBox="1"/>
          <p:nvPr/>
        </p:nvSpPr>
        <p:spPr>
          <a:xfrm>
            <a:off x="5362189" y="4020636"/>
            <a:ext cx="3718118" cy="2585323"/>
          </a:xfrm>
          <a:prstGeom prst="rect">
            <a:avLst/>
          </a:prstGeom>
          <a:noFill/>
        </p:spPr>
        <p:txBody>
          <a:bodyPr wrap="square" rtlCol="0">
            <a:spAutoFit/>
          </a:bodyPr>
          <a:lstStyle/>
          <a:p>
            <a:r>
              <a:rPr lang="en-CA" dirty="0">
                <a:solidFill>
                  <a:srgbClr val="0070C0"/>
                </a:solidFill>
              </a:rPr>
              <a:t>I</a:t>
            </a:r>
            <a:r>
              <a:rPr lang="en-CA" baseline="-25000" dirty="0">
                <a:solidFill>
                  <a:srgbClr val="0070C0"/>
                </a:solidFill>
              </a:rPr>
              <a:t>T</a:t>
            </a:r>
            <a:r>
              <a:rPr lang="en-CA" dirty="0">
                <a:solidFill>
                  <a:srgbClr val="0070C0"/>
                </a:solidFill>
              </a:rPr>
              <a:t>     Irradiation intensity </a:t>
            </a:r>
            <a:endParaRPr lang="en-CA" baseline="30000" dirty="0">
              <a:solidFill>
                <a:srgbClr val="0070C0"/>
              </a:solidFill>
            </a:endParaRPr>
          </a:p>
          <a:p>
            <a:r>
              <a:rPr lang="en-CA" dirty="0">
                <a:solidFill>
                  <a:srgbClr val="0070C0"/>
                </a:solidFill>
              </a:rPr>
              <a:t>Ac   Collector Area </a:t>
            </a:r>
          </a:p>
          <a:p>
            <a:r>
              <a:rPr lang="en-CA" dirty="0">
                <a:solidFill>
                  <a:srgbClr val="0070C0"/>
                </a:solidFill>
                <a:latin typeface="Symbol" panose="05050102010706020507" pitchFamily="18" charset="2"/>
              </a:rPr>
              <a:t>t</a:t>
            </a:r>
            <a:r>
              <a:rPr lang="en-CA" dirty="0">
                <a:solidFill>
                  <a:srgbClr val="0070C0"/>
                </a:solidFill>
              </a:rPr>
              <a:t>      Transmissivity</a:t>
            </a:r>
          </a:p>
          <a:p>
            <a:r>
              <a:rPr lang="en-CA" dirty="0">
                <a:solidFill>
                  <a:srgbClr val="FF0000"/>
                </a:solidFill>
              </a:rPr>
              <a:t>T</a:t>
            </a:r>
            <a:r>
              <a:rPr lang="en-CA" baseline="-25000" dirty="0">
                <a:solidFill>
                  <a:srgbClr val="FF0000"/>
                </a:solidFill>
              </a:rPr>
              <a:t>ave</a:t>
            </a:r>
            <a:r>
              <a:rPr lang="en-CA" dirty="0">
                <a:solidFill>
                  <a:srgbClr val="FF0000"/>
                </a:solidFill>
              </a:rPr>
              <a:t> Average Collector Temperature</a:t>
            </a:r>
          </a:p>
          <a:p>
            <a:r>
              <a:rPr lang="en-CA" dirty="0">
                <a:solidFill>
                  <a:srgbClr val="0070C0"/>
                </a:solidFill>
              </a:rPr>
              <a:t>T</a:t>
            </a:r>
            <a:r>
              <a:rPr lang="en-CA" baseline="-25000" dirty="0">
                <a:solidFill>
                  <a:srgbClr val="0070C0"/>
                </a:solidFill>
              </a:rPr>
              <a:t>a</a:t>
            </a:r>
            <a:r>
              <a:rPr lang="en-CA" dirty="0">
                <a:solidFill>
                  <a:srgbClr val="0070C0"/>
                </a:solidFill>
              </a:rPr>
              <a:t>    Ambient temperature</a:t>
            </a:r>
          </a:p>
          <a:p>
            <a:r>
              <a:rPr lang="en-CA" dirty="0">
                <a:solidFill>
                  <a:srgbClr val="0070C0"/>
                </a:solidFill>
              </a:rPr>
              <a:t>U</a:t>
            </a:r>
            <a:r>
              <a:rPr lang="en-CA" baseline="-25000" dirty="0">
                <a:solidFill>
                  <a:srgbClr val="0070C0"/>
                </a:solidFill>
              </a:rPr>
              <a:t>L</a:t>
            </a:r>
            <a:r>
              <a:rPr lang="en-CA" dirty="0">
                <a:solidFill>
                  <a:srgbClr val="0070C0"/>
                </a:solidFill>
              </a:rPr>
              <a:t>    Collector’s overall conductance </a:t>
            </a:r>
          </a:p>
          <a:p>
            <a:r>
              <a:rPr lang="en-CA" dirty="0">
                <a:solidFill>
                  <a:srgbClr val="0070C0"/>
                </a:solidFill>
                <a:latin typeface="Symbol" panose="05050102010706020507" pitchFamily="18" charset="2"/>
              </a:rPr>
              <a:t>a</a:t>
            </a:r>
            <a:r>
              <a:rPr lang="en-CA" dirty="0">
                <a:solidFill>
                  <a:srgbClr val="0070C0"/>
                </a:solidFill>
              </a:rPr>
              <a:t>       Absorptivity </a:t>
            </a:r>
          </a:p>
          <a:p>
            <a:r>
              <a:rPr lang="en-CA" dirty="0">
                <a:solidFill>
                  <a:srgbClr val="0070C0"/>
                </a:solidFill>
              </a:rPr>
              <a:t>T</a:t>
            </a:r>
            <a:r>
              <a:rPr lang="en-CA" baseline="-25000" dirty="0">
                <a:solidFill>
                  <a:srgbClr val="0070C0"/>
                </a:solidFill>
              </a:rPr>
              <a:t>in         </a:t>
            </a:r>
            <a:r>
              <a:rPr lang="en-CA" dirty="0">
                <a:solidFill>
                  <a:srgbClr val="0070C0"/>
                </a:solidFill>
              </a:rPr>
              <a:t>inlet water temperature</a:t>
            </a:r>
          </a:p>
          <a:p>
            <a:r>
              <a:rPr lang="en-CA" dirty="0">
                <a:solidFill>
                  <a:srgbClr val="0070C0"/>
                </a:solidFill>
              </a:rPr>
              <a:t>T</a:t>
            </a:r>
            <a:r>
              <a:rPr lang="en-CA" baseline="-25000" dirty="0">
                <a:solidFill>
                  <a:srgbClr val="0070C0"/>
                </a:solidFill>
              </a:rPr>
              <a:t>out      </a:t>
            </a:r>
            <a:r>
              <a:rPr lang="en-CA" dirty="0">
                <a:solidFill>
                  <a:srgbClr val="0070C0"/>
                </a:solidFill>
              </a:rPr>
              <a:t>outlet water temperature</a:t>
            </a:r>
          </a:p>
        </p:txBody>
      </p:sp>
      <p:sp>
        <p:nvSpPr>
          <p:cNvPr id="4" name="TextBox 3">
            <a:extLst>
              <a:ext uri="{FF2B5EF4-FFF2-40B4-BE49-F238E27FC236}">
                <a16:creationId xmlns:a16="http://schemas.microsoft.com/office/drawing/2014/main" id="{6DED4CFB-9ED7-43BE-841D-463AB55F9359}"/>
              </a:ext>
            </a:extLst>
          </p:cNvPr>
          <p:cNvSpPr txBox="1"/>
          <p:nvPr/>
        </p:nvSpPr>
        <p:spPr>
          <a:xfrm>
            <a:off x="177404" y="5657671"/>
            <a:ext cx="5415637" cy="1200329"/>
          </a:xfrm>
          <a:prstGeom prst="rect">
            <a:avLst/>
          </a:prstGeom>
          <a:noFill/>
        </p:spPr>
        <p:txBody>
          <a:bodyPr wrap="square" rtlCol="0">
            <a:spAutoFit/>
          </a:bodyPr>
          <a:lstStyle/>
          <a:p>
            <a:r>
              <a:rPr lang="en-CA" dirty="0">
                <a:solidFill>
                  <a:srgbClr val="FF0000"/>
                </a:solidFill>
              </a:rPr>
              <a:t>Basis the collector analysis on collector average temperature is challenging</a:t>
            </a:r>
            <a:r>
              <a:rPr lang="en-CA" dirty="0">
                <a:solidFill>
                  <a:srgbClr val="FF0000"/>
                </a:solidFill>
                <a:sym typeface="Wingdings" panose="05000000000000000000" pitchFamily="2" charset="2"/>
              </a:rPr>
              <a:t> The approach in the following slides is used to determine efficiency and losses of the collector</a:t>
            </a:r>
            <a:endParaRPr lang="en-CA" dirty="0">
              <a:solidFill>
                <a:srgbClr val="FF0000"/>
              </a:solidFill>
            </a:endParaRPr>
          </a:p>
        </p:txBody>
      </p:sp>
    </p:spTree>
    <p:extLst>
      <p:ext uri="{BB962C8B-B14F-4D97-AF65-F5344CB8AC3E}">
        <p14:creationId xmlns:p14="http://schemas.microsoft.com/office/powerpoint/2010/main" val="3845231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EED60-5590-42EB-BC78-BD2A5ABC272C}"/>
              </a:ext>
            </a:extLst>
          </p:cNvPr>
          <p:cNvSpPr>
            <a:spLocks noGrp="1"/>
          </p:cNvSpPr>
          <p:nvPr>
            <p:ph type="title"/>
          </p:nvPr>
        </p:nvSpPr>
        <p:spPr/>
        <p:txBody>
          <a:bodyPr/>
          <a:lstStyle/>
          <a:p>
            <a:r>
              <a:rPr lang="en-CA" dirty="0"/>
              <a:t>Collector Efficiency</a:t>
            </a:r>
          </a:p>
        </p:txBody>
      </p:sp>
      <p:sp>
        <p:nvSpPr>
          <p:cNvPr id="3" name="Slide Number Placeholder 2">
            <a:extLst>
              <a:ext uri="{FF2B5EF4-FFF2-40B4-BE49-F238E27FC236}">
                <a16:creationId xmlns:a16="http://schemas.microsoft.com/office/drawing/2014/main" id="{B52C19F3-833C-4EE2-B4B3-FD0EA84379DC}"/>
              </a:ext>
            </a:extLst>
          </p:cNvPr>
          <p:cNvSpPr>
            <a:spLocks noGrp="1"/>
          </p:cNvSpPr>
          <p:nvPr>
            <p:ph type="sldNum" sz="quarter" idx="12"/>
          </p:nvPr>
        </p:nvSpPr>
        <p:spPr/>
        <p:txBody>
          <a:bodyPr/>
          <a:lstStyle/>
          <a:p>
            <a:fld id="{070107C2-BA80-4C15-96AE-A43002ADF025}" type="slidenum">
              <a:rPr lang="en-US" smtClean="0"/>
              <a:t>21</a:t>
            </a:fld>
            <a:endParaRPr lang="en-US"/>
          </a:p>
        </p:txBody>
      </p:sp>
      <p:sp>
        <p:nvSpPr>
          <p:cNvPr id="5" name="TextBox 4">
            <a:extLst>
              <a:ext uri="{FF2B5EF4-FFF2-40B4-BE49-F238E27FC236}">
                <a16:creationId xmlns:a16="http://schemas.microsoft.com/office/drawing/2014/main" id="{8E8C6597-EAF2-4526-A8B3-AE41A0D632BC}"/>
              </a:ext>
            </a:extLst>
          </p:cNvPr>
          <p:cNvSpPr txBox="1"/>
          <p:nvPr/>
        </p:nvSpPr>
        <p:spPr>
          <a:xfrm>
            <a:off x="304800" y="2590800"/>
            <a:ext cx="8630240" cy="1200329"/>
          </a:xfrm>
          <a:prstGeom prst="rect">
            <a:avLst/>
          </a:prstGeom>
          <a:noFill/>
        </p:spPr>
        <p:txBody>
          <a:bodyPr wrap="square">
            <a:spAutoFit/>
          </a:bodyPr>
          <a:lstStyle/>
          <a:p>
            <a:r>
              <a:rPr lang="en-US" sz="2400" dirty="0">
                <a:effectLst/>
              </a:rPr>
              <a:t>The simple analysis expresses the collector efficiency in terms of the average collector temperature, T</a:t>
            </a:r>
            <a:r>
              <a:rPr lang="en-US" sz="2400" baseline="-25000" dirty="0">
                <a:effectLst/>
              </a:rPr>
              <a:t>ave</a:t>
            </a:r>
            <a:r>
              <a:rPr lang="en-US" sz="2400" dirty="0">
                <a:effectLst/>
              </a:rPr>
              <a:t>. A more useful expression that involves T</a:t>
            </a:r>
            <a:r>
              <a:rPr lang="en-US" sz="2400" baseline="-25000" dirty="0">
                <a:effectLst/>
              </a:rPr>
              <a:t>in </a:t>
            </a:r>
            <a:r>
              <a:rPr lang="en-US" sz="2400" dirty="0">
                <a:effectLst/>
              </a:rPr>
              <a:t>the inlet fluid temperature, can be cast as </a:t>
            </a:r>
          </a:p>
        </p:txBody>
      </p:sp>
      <p:pic>
        <p:nvPicPr>
          <p:cNvPr id="7" name="Picture 6">
            <a:extLst>
              <a:ext uri="{FF2B5EF4-FFF2-40B4-BE49-F238E27FC236}">
                <a16:creationId xmlns:a16="http://schemas.microsoft.com/office/drawing/2014/main" id="{9A2174C6-CE72-49AD-ACAD-27D237D270DD}"/>
              </a:ext>
            </a:extLst>
          </p:cNvPr>
          <p:cNvPicPr>
            <a:picLocks noChangeAspect="1"/>
          </p:cNvPicPr>
          <p:nvPr/>
        </p:nvPicPr>
        <p:blipFill>
          <a:blip r:embed="rId2"/>
          <a:stretch>
            <a:fillRect/>
          </a:stretch>
        </p:blipFill>
        <p:spPr>
          <a:xfrm>
            <a:off x="1084419" y="4374409"/>
            <a:ext cx="6916581" cy="923330"/>
          </a:xfrm>
          <a:prstGeom prst="rect">
            <a:avLst/>
          </a:prstGeom>
        </p:spPr>
      </p:pic>
      <p:sp>
        <p:nvSpPr>
          <p:cNvPr id="8" name="Oval 7">
            <a:extLst>
              <a:ext uri="{FF2B5EF4-FFF2-40B4-BE49-F238E27FC236}">
                <a16:creationId xmlns:a16="http://schemas.microsoft.com/office/drawing/2014/main" id="{78F373BE-4314-42F4-9DE1-14C456A847B8}"/>
              </a:ext>
            </a:extLst>
          </p:cNvPr>
          <p:cNvSpPr/>
          <p:nvPr/>
        </p:nvSpPr>
        <p:spPr>
          <a:xfrm>
            <a:off x="4742019" y="4441251"/>
            <a:ext cx="762000" cy="85648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Oval 8">
            <a:extLst>
              <a:ext uri="{FF2B5EF4-FFF2-40B4-BE49-F238E27FC236}">
                <a16:creationId xmlns:a16="http://schemas.microsoft.com/office/drawing/2014/main" id="{7B9E007B-840A-417F-B04C-8D679E96BF89}"/>
              </a:ext>
            </a:extLst>
          </p:cNvPr>
          <p:cNvSpPr/>
          <p:nvPr/>
        </p:nvSpPr>
        <p:spPr>
          <a:xfrm>
            <a:off x="5808819" y="4453820"/>
            <a:ext cx="762000" cy="85648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E07F5478-F54F-4F1C-9472-E395DD68F230}"/>
              </a:ext>
            </a:extLst>
          </p:cNvPr>
          <p:cNvSpPr txBox="1"/>
          <p:nvPr/>
        </p:nvSpPr>
        <p:spPr>
          <a:xfrm>
            <a:off x="4665819" y="5310308"/>
            <a:ext cx="2362200" cy="369332"/>
          </a:xfrm>
          <a:prstGeom prst="rect">
            <a:avLst/>
          </a:prstGeom>
          <a:noFill/>
        </p:spPr>
        <p:txBody>
          <a:bodyPr wrap="square" rtlCol="0">
            <a:spAutoFit/>
          </a:bodyPr>
          <a:lstStyle/>
          <a:p>
            <a:r>
              <a:rPr lang="en-CA" dirty="0">
                <a:solidFill>
                  <a:srgbClr val="FF0000"/>
                </a:solidFill>
              </a:rPr>
              <a:t>Intercept      Slope</a:t>
            </a:r>
          </a:p>
        </p:txBody>
      </p:sp>
    </p:spTree>
    <p:extLst>
      <p:ext uri="{BB962C8B-B14F-4D97-AF65-F5344CB8AC3E}">
        <p14:creationId xmlns:p14="http://schemas.microsoft.com/office/powerpoint/2010/main" val="30654959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3D773-5D3E-48AC-8442-D5D52B02CC3B}"/>
              </a:ext>
            </a:extLst>
          </p:cNvPr>
          <p:cNvSpPr>
            <a:spLocks noGrp="1"/>
          </p:cNvSpPr>
          <p:nvPr>
            <p:ph type="title"/>
          </p:nvPr>
        </p:nvSpPr>
        <p:spPr>
          <a:xfrm>
            <a:off x="457200" y="338328"/>
            <a:ext cx="2990458" cy="1252728"/>
          </a:xfrm>
        </p:spPr>
        <p:txBody>
          <a:bodyPr/>
          <a:lstStyle/>
          <a:p>
            <a:r>
              <a:rPr lang="en-CA" dirty="0"/>
              <a:t>SRCC Certificate</a:t>
            </a:r>
          </a:p>
        </p:txBody>
      </p:sp>
      <p:sp>
        <p:nvSpPr>
          <p:cNvPr id="3" name="Slide Number Placeholder 2">
            <a:extLst>
              <a:ext uri="{FF2B5EF4-FFF2-40B4-BE49-F238E27FC236}">
                <a16:creationId xmlns:a16="http://schemas.microsoft.com/office/drawing/2014/main" id="{7273A7AD-9D5D-4BDA-845B-38929676889B}"/>
              </a:ext>
            </a:extLst>
          </p:cNvPr>
          <p:cNvSpPr>
            <a:spLocks noGrp="1"/>
          </p:cNvSpPr>
          <p:nvPr>
            <p:ph type="sldNum" sz="quarter" idx="12"/>
          </p:nvPr>
        </p:nvSpPr>
        <p:spPr/>
        <p:txBody>
          <a:bodyPr/>
          <a:lstStyle/>
          <a:p>
            <a:fld id="{070107C2-BA80-4C15-96AE-A43002ADF025}" type="slidenum">
              <a:rPr lang="en-US" smtClean="0"/>
              <a:t>22</a:t>
            </a:fld>
            <a:endParaRPr lang="en-US"/>
          </a:p>
        </p:txBody>
      </p:sp>
      <p:pic>
        <p:nvPicPr>
          <p:cNvPr id="5" name="Picture 4">
            <a:extLst>
              <a:ext uri="{FF2B5EF4-FFF2-40B4-BE49-F238E27FC236}">
                <a16:creationId xmlns:a16="http://schemas.microsoft.com/office/drawing/2014/main" id="{429EB1FD-E792-4D55-9FB5-321F7DB33677}"/>
              </a:ext>
            </a:extLst>
          </p:cNvPr>
          <p:cNvPicPr>
            <a:picLocks noChangeAspect="1"/>
          </p:cNvPicPr>
          <p:nvPr/>
        </p:nvPicPr>
        <p:blipFill>
          <a:blip r:embed="rId2"/>
          <a:stretch>
            <a:fillRect/>
          </a:stretch>
        </p:blipFill>
        <p:spPr>
          <a:xfrm>
            <a:off x="3447658" y="312809"/>
            <a:ext cx="5505450" cy="6181725"/>
          </a:xfrm>
          <a:prstGeom prst="rect">
            <a:avLst/>
          </a:prstGeom>
        </p:spPr>
      </p:pic>
      <p:sp>
        <p:nvSpPr>
          <p:cNvPr id="6" name="Oval 5">
            <a:extLst>
              <a:ext uri="{FF2B5EF4-FFF2-40B4-BE49-F238E27FC236}">
                <a16:creationId xmlns:a16="http://schemas.microsoft.com/office/drawing/2014/main" id="{88C78CE1-71D5-4A34-8FC2-7F75F3C89964}"/>
              </a:ext>
            </a:extLst>
          </p:cNvPr>
          <p:cNvSpPr/>
          <p:nvPr/>
        </p:nvSpPr>
        <p:spPr>
          <a:xfrm>
            <a:off x="6952662" y="5333999"/>
            <a:ext cx="2057400" cy="79540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Oval 6">
            <a:extLst>
              <a:ext uri="{FF2B5EF4-FFF2-40B4-BE49-F238E27FC236}">
                <a16:creationId xmlns:a16="http://schemas.microsoft.com/office/drawing/2014/main" id="{0382C495-DC72-482B-8C7C-F43B1B057FA2}"/>
              </a:ext>
            </a:extLst>
          </p:cNvPr>
          <p:cNvSpPr/>
          <p:nvPr/>
        </p:nvSpPr>
        <p:spPr>
          <a:xfrm>
            <a:off x="3275422" y="3737995"/>
            <a:ext cx="2990458" cy="304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TextBox 8">
            <a:extLst>
              <a:ext uri="{FF2B5EF4-FFF2-40B4-BE49-F238E27FC236}">
                <a16:creationId xmlns:a16="http://schemas.microsoft.com/office/drawing/2014/main" id="{9F8B58CC-C0F8-4CC0-8C82-5E15426E3DA0}"/>
              </a:ext>
            </a:extLst>
          </p:cNvPr>
          <p:cNvSpPr txBox="1"/>
          <p:nvPr/>
        </p:nvSpPr>
        <p:spPr>
          <a:xfrm>
            <a:off x="304800" y="2376470"/>
            <a:ext cx="2990458" cy="1200329"/>
          </a:xfrm>
          <a:prstGeom prst="rect">
            <a:avLst/>
          </a:prstGeom>
          <a:noFill/>
        </p:spPr>
        <p:txBody>
          <a:bodyPr wrap="square">
            <a:spAutoFit/>
          </a:bodyPr>
          <a:lstStyle/>
          <a:p>
            <a:r>
              <a:rPr lang="en-US" dirty="0">
                <a:effectLst/>
              </a:rPr>
              <a:t>Note: consistent with SRCC recommendations, the solar collector area is the gross area, </a:t>
            </a:r>
            <a:r>
              <a:rPr lang="en-US" dirty="0">
                <a:solidFill>
                  <a:srgbClr val="FF0000"/>
                </a:solidFill>
                <a:effectLst/>
              </a:rPr>
              <a:t>not the aperture area</a:t>
            </a:r>
          </a:p>
        </p:txBody>
      </p:sp>
      <p:sp>
        <p:nvSpPr>
          <p:cNvPr id="11" name="TextBox 10">
            <a:extLst>
              <a:ext uri="{FF2B5EF4-FFF2-40B4-BE49-F238E27FC236}">
                <a16:creationId xmlns:a16="http://schemas.microsoft.com/office/drawing/2014/main" id="{5EE96C52-92D8-4876-8B97-D47EF1E2DA73}"/>
              </a:ext>
            </a:extLst>
          </p:cNvPr>
          <p:cNvSpPr txBox="1"/>
          <p:nvPr/>
        </p:nvSpPr>
        <p:spPr>
          <a:xfrm>
            <a:off x="304800" y="4554577"/>
            <a:ext cx="2970622" cy="2031325"/>
          </a:xfrm>
          <a:prstGeom prst="rect">
            <a:avLst/>
          </a:prstGeom>
          <a:noFill/>
        </p:spPr>
        <p:txBody>
          <a:bodyPr wrap="square">
            <a:spAutoFit/>
          </a:bodyPr>
          <a:lstStyle/>
          <a:p>
            <a:r>
              <a:rPr lang="en-CA" b="1" dirty="0">
                <a:hlinkClick r:id="rId3"/>
              </a:rPr>
              <a:t>SRCC:</a:t>
            </a:r>
          </a:p>
          <a:p>
            <a:endParaRPr lang="en-CA" dirty="0">
              <a:hlinkClick r:id="rId3"/>
            </a:endParaRPr>
          </a:p>
          <a:p>
            <a:r>
              <a:rPr lang="en-CA" dirty="0">
                <a:hlinkClick r:id="rId3"/>
              </a:rPr>
              <a:t>https://secure.solar-rating.org//Certification/Ratings/RatingsSummaryPage.aspx?type=1</a:t>
            </a:r>
            <a:endParaRPr lang="en-CA" dirty="0"/>
          </a:p>
          <a:p>
            <a:endParaRPr lang="en-CA" dirty="0"/>
          </a:p>
        </p:txBody>
      </p:sp>
    </p:spTree>
    <p:extLst>
      <p:ext uri="{BB962C8B-B14F-4D97-AF65-F5344CB8AC3E}">
        <p14:creationId xmlns:p14="http://schemas.microsoft.com/office/powerpoint/2010/main" val="3506064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1 Başlık"/>
          <p:cNvSpPr>
            <a:spLocks noGrp="1"/>
          </p:cNvSpPr>
          <p:nvPr>
            <p:ph type="title"/>
          </p:nvPr>
        </p:nvSpPr>
        <p:spPr>
          <a:xfrm>
            <a:off x="325769" y="435963"/>
            <a:ext cx="4267200" cy="914400"/>
          </a:xfrm>
        </p:spPr>
        <p:txBody>
          <a:bodyPr>
            <a:normAutofit fontScale="90000"/>
          </a:bodyPr>
          <a:lstStyle/>
          <a:p>
            <a:r>
              <a:rPr lang="tr-TR" sz="2800" dirty="0">
                <a:solidFill>
                  <a:srgbClr val="0000FF"/>
                </a:solidFill>
              </a:rPr>
              <a:t>CONCENTRAT</a:t>
            </a:r>
            <a:r>
              <a:rPr lang="en-US" sz="2800" dirty="0">
                <a:solidFill>
                  <a:srgbClr val="0000FF"/>
                </a:solidFill>
              </a:rPr>
              <a:t>I</a:t>
            </a:r>
            <a:r>
              <a:rPr lang="tr-TR" sz="2800" dirty="0">
                <a:solidFill>
                  <a:srgbClr val="0000FF"/>
                </a:solidFill>
              </a:rPr>
              <a:t>NG SOLAR  COLLECTOR</a:t>
            </a:r>
          </a:p>
        </p:txBody>
      </p:sp>
      <p:sp>
        <p:nvSpPr>
          <p:cNvPr id="23555" name="2 İçerik Yer Tutucusu"/>
          <p:cNvSpPr>
            <a:spLocks noGrp="1"/>
          </p:cNvSpPr>
          <p:nvPr>
            <p:ph sz="half" idx="1"/>
          </p:nvPr>
        </p:nvSpPr>
        <p:spPr>
          <a:xfrm>
            <a:off x="309272" y="1753622"/>
            <a:ext cx="4800600" cy="4648200"/>
          </a:xfrm>
        </p:spPr>
        <p:txBody>
          <a:bodyPr>
            <a:normAutofit lnSpcReduction="10000"/>
          </a:bodyPr>
          <a:lstStyle/>
          <a:p>
            <a:pPr marL="0">
              <a:spcBef>
                <a:spcPts val="600"/>
              </a:spcBef>
              <a:spcAft>
                <a:spcPts val="600"/>
              </a:spcAft>
              <a:buNone/>
            </a:pPr>
            <a:r>
              <a:rPr lang="tr-TR" sz="2000" b="1" dirty="0">
                <a:solidFill>
                  <a:srgbClr val="C00000"/>
                </a:solidFill>
                <a:latin typeface="Calibri" pitchFamily="34" charset="0"/>
              </a:rPr>
              <a:t>For higher temperatures:</a:t>
            </a:r>
            <a:r>
              <a:rPr lang="tr-TR" sz="2000" dirty="0">
                <a:latin typeface="Calibri" pitchFamily="34" charset="0"/>
              </a:rPr>
              <a:t> </a:t>
            </a:r>
            <a:r>
              <a:rPr lang="en-US" sz="2000" dirty="0">
                <a:latin typeface="Calibri" pitchFamily="34" charset="0"/>
              </a:rPr>
              <a:t>Hot fluid (water, steam, air, or another fluid) at much higher temperatures can be produced using concentrating collectors by concentrating solar radiation on a smaller area.</a:t>
            </a:r>
            <a:endParaRPr lang="tr-TR" sz="2000" dirty="0">
              <a:latin typeface="Calibri" pitchFamily="34" charset="0"/>
            </a:endParaRPr>
          </a:p>
          <a:p>
            <a:pPr marL="0">
              <a:spcBef>
                <a:spcPts val="600"/>
              </a:spcBef>
              <a:spcAft>
                <a:spcPts val="600"/>
              </a:spcAft>
              <a:buNone/>
            </a:pPr>
            <a:r>
              <a:rPr lang="en-US" sz="2000" b="1" dirty="0">
                <a:solidFill>
                  <a:srgbClr val="C00000"/>
                </a:solidFill>
                <a:latin typeface="Calibri" pitchFamily="34" charset="0"/>
              </a:rPr>
              <a:t>Parabolic trough</a:t>
            </a:r>
            <a:r>
              <a:rPr lang="tr-TR" sz="2000" b="1" dirty="0">
                <a:solidFill>
                  <a:srgbClr val="C00000"/>
                </a:solidFill>
                <a:latin typeface="Calibri" pitchFamily="34" charset="0"/>
              </a:rPr>
              <a:t> </a:t>
            </a:r>
            <a:r>
              <a:rPr lang="en-US" sz="2000" b="1" dirty="0">
                <a:solidFill>
                  <a:srgbClr val="C00000"/>
                </a:solidFill>
                <a:latin typeface="Calibri" pitchFamily="34" charset="0"/>
              </a:rPr>
              <a:t>collector</a:t>
            </a:r>
            <a:r>
              <a:rPr lang="tr-TR" sz="2000" b="1" dirty="0">
                <a:solidFill>
                  <a:srgbClr val="C00000"/>
                </a:solidFill>
                <a:latin typeface="Calibri" pitchFamily="34" charset="0"/>
              </a:rPr>
              <a:t>:</a:t>
            </a:r>
            <a:r>
              <a:rPr lang="en-US" sz="2000" dirty="0">
                <a:latin typeface="Calibri" pitchFamily="34" charset="0"/>
              </a:rPr>
              <a:t> The most common type of concentrating solar collector.</a:t>
            </a:r>
            <a:endParaRPr lang="tr-TR" sz="2000" dirty="0">
              <a:latin typeface="Calibri" pitchFamily="34" charset="0"/>
            </a:endParaRPr>
          </a:p>
          <a:p>
            <a:pPr marL="0">
              <a:spcBef>
                <a:spcPts val="600"/>
              </a:spcBef>
              <a:spcAft>
                <a:spcPts val="600"/>
              </a:spcAft>
              <a:buNone/>
            </a:pPr>
            <a:r>
              <a:rPr lang="en-CA" sz="2000" b="1" dirty="0">
                <a:solidFill>
                  <a:srgbClr val="C00000"/>
                </a:solidFill>
                <a:latin typeface="Calibri" pitchFamily="34" charset="0"/>
              </a:rPr>
              <a:t>Con</a:t>
            </a:r>
            <a:r>
              <a:rPr lang="en-US" sz="2000" b="1" dirty="0" err="1">
                <a:solidFill>
                  <a:srgbClr val="C00000"/>
                </a:solidFill>
                <a:latin typeface="Calibri" pitchFamily="34" charset="0"/>
              </a:rPr>
              <a:t>ncentration</a:t>
            </a:r>
            <a:r>
              <a:rPr lang="en-US" sz="2000" b="1" dirty="0">
                <a:solidFill>
                  <a:srgbClr val="C00000"/>
                </a:solidFill>
                <a:latin typeface="Calibri" pitchFamily="34" charset="0"/>
              </a:rPr>
              <a:t> factor</a:t>
            </a:r>
            <a:r>
              <a:rPr lang="tr-TR" sz="2000" b="1" dirty="0">
                <a:solidFill>
                  <a:srgbClr val="C00000"/>
                </a:solidFill>
                <a:latin typeface="Calibri" pitchFamily="34" charset="0"/>
              </a:rPr>
              <a:t>:</a:t>
            </a:r>
            <a:r>
              <a:rPr lang="en-US" sz="2000" dirty="0">
                <a:latin typeface="Calibri" pitchFamily="34" charset="0"/>
              </a:rPr>
              <a:t> In a concentrating collector, solar radiation is incident on the collector </a:t>
            </a:r>
            <a:r>
              <a:rPr lang="en-US" sz="2000" dirty="0" err="1">
                <a:latin typeface="Calibri" pitchFamily="34" charset="0"/>
              </a:rPr>
              <a:t>sur</a:t>
            </a:r>
            <a:r>
              <a:rPr lang="tr-TR" sz="2000" dirty="0">
                <a:latin typeface="Calibri" pitchFamily="34" charset="0"/>
              </a:rPr>
              <a:t>f</a:t>
            </a:r>
            <a:r>
              <a:rPr lang="en-US" sz="2000" dirty="0">
                <a:latin typeface="Calibri" pitchFamily="34" charset="0"/>
              </a:rPr>
              <a:t>ace, called </a:t>
            </a:r>
            <a:r>
              <a:rPr lang="en-US" sz="2000" dirty="0">
                <a:solidFill>
                  <a:srgbClr val="D60093"/>
                </a:solidFill>
                <a:latin typeface="Calibri" pitchFamily="34" charset="0"/>
              </a:rPr>
              <a:t>aperture area </a:t>
            </a:r>
            <a:r>
              <a:rPr lang="en-US" sz="2000" i="1" dirty="0" err="1">
                <a:solidFill>
                  <a:srgbClr val="D60093"/>
                </a:solidFill>
                <a:latin typeface="Calibri" pitchFamily="34" charset="0"/>
              </a:rPr>
              <a:t>A</a:t>
            </a:r>
            <a:r>
              <a:rPr lang="en-US" sz="2000" i="1" baseline="-25000" dirty="0" err="1">
                <a:solidFill>
                  <a:srgbClr val="D60093"/>
                </a:solidFill>
                <a:latin typeface="Calibri" pitchFamily="34" charset="0"/>
              </a:rPr>
              <a:t>a</a:t>
            </a:r>
            <a:r>
              <a:rPr lang="tr-TR" sz="2000" dirty="0">
                <a:solidFill>
                  <a:srgbClr val="D60093"/>
                </a:solidFill>
                <a:latin typeface="Calibri" pitchFamily="34" charset="0"/>
              </a:rPr>
              <a:t> </a:t>
            </a:r>
            <a:r>
              <a:rPr lang="en-US" sz="2000" dirty="0">
                <a:latin typeface="Calibri" pitchFamily="34" charset="0"/>
              </a:rPr>
              <a:t>and this radiation reflected or redirected into a smaller </a:t>
            </a:r>
            <a:r>
              <a:rPr lang="en-US" sz="2000" dirty="0">
                <a:solidFill>
                  <a:srgbClr val="D60093"/>
                </a:solidFill>
                <a:latin typeface="Calibri" pitchFamily="34" charset="0"/>
              </a:rPr>
              <a:t>receiver area </a:t>
            </a:r>
            <a:r>
              <a:rPr lang="en-US" sz="2000" i="1" dirty="0" err="1">
                <a:solidFill>
                  <a:srgbClr val="D60093"/>
                </a:solidFill>
                <a:latin typeface="Calibri" pitchFamily="34" charset="0"/>
              </a:rPr>
              <a:t>A</a:t>
            </a:r>
            <a:r>
              <a:rPr lang="en-US" sz="2000" i="1" baseline="-25000" dirty="0" err="1">
                <a:solidFill>
                  <a:srgbClr val="D60093"/>
                </a:solidFill>
                <a:latin typeface="Calibri" pitchFamily="34" charset="0"/>
              </a:rPr>
              <a:t>r</a:t>
            </a:r>
            <a:r>
              <a:rPr lang="tr-TR" sz="2000" dirty="0">
                <a:solidFill>
                  <a:srgbClr val="0000FF"/>
                </a:solidFill>
                <a:latin typeface="Calibri" pitchFamily="34" charset="0"/>
              </a:rPr>
              <a:t>. </a:t>
            </a:r>
            <a:r>
              <a:rPr lang="en-US" sz="2000" dirty="0">
                <a:latin typeface="Calibri" pitchFamily="34" charset="0"/>
              </a:rPr>
              <a:t>The concentration factor CR is greater than one</a:t>
            </a:r>
            <a:r>
              <a:rPr lang="tr-TR" sz="2000" dirty="0">
                <a:latin typeface="Calibri" pitchFamily="34" charset="0"/>
              </a:rPr>
              <a:t>.</a:t>
            </a:r>
          </a:p>
        </p:txBody>
      </p:sp>
      <p:pic>
        <p:nvPicPr>
          <p:cNvPr id="2051" name="Picture 3"/>
          <p:cNvPicPr>
            <a:picLocks noChangeAspect="1" noChangeArrowheads="1"/>
          </p:cNvPicPr>
          <p:nvPr/>
        </p:nvPicPr>
        <p:blipFill>
          <a:blip r:embed="rId2" cstate="print"/>
          <a:srcRect b="9182"/>
          <a:stretch>
            <a:fillRect/>
          </a:stretch>
        </p:blipFill>
        <p:spPr bwMode="auto">
          <a:xfrm>
            <a:off x="5257800" y="533400"/>
            <a:ext cx="3576928" cy="6029325"/>
          </a:xfrm>
          <a:prstGeom prst="rect">
            <a:avLst/>
          </a:prstGeom>
          <a:noFill/>
          <a:ln w="9525">
            <a:noFill/>
            <a:miter lim="800000"/>
            <a:headEnd/>
            <a:tailEnd/>
          </a:ln>
          <a:effectLst/>
        </p:spPr>
      </p:pic>
      <p:sp>
        <p:nvSpPr>
          <p:cNvPr id="6" name="5 Dikdörtgen"/>
          <p:cNvSpPr/>
          <p:nvPr/>
        </p:nvSpPr>
        <p:spPr>
          <a:xfrm>
            <a:off x="5486400" y="6397109"/>
            <a:ext cx="2895600" cy="369332"/>
          </a:xfrm>
          <a:prstGeom prst="rect">
            <a:avLst/>
          </a:prstGeom>
        </p:spPr>
        <p:txBody>
          <a:bodyPr wrap="square">
            <a:spAutoFit/>
          </a:bodyPr>
          <a:lstStyle/>
          <a:p>
            <a:pPr algn="r"/>
            <a:r>
              <a:rPr lang="en-US" dirty="0">
                <a:solidFill>
                  <a:srgbClr val="0000FF"/>
                </a:solidFill>
              </a:rPr>
              <a:t>Parabolic trough collectors </a:t>
            </a:r>
            <a:endParaRPr lang="tr-TR" dirty="0">
              <a:solidFill>
                <a:srgbClr val="0000FF"/>
              </a:solidFill>
            </a:endParaRPr>
          </a:p>
        </p:txBody>
      </p:sp>
      <p:pic>
        <p:nvPicPr>
          <p:cNvPr id="4098" name="Picture 2"/>
          <p:cNvPicPr>
            <a:picLocks noChangeAspect="1" noChangeArrowheads="1"/>
          </p:cNvPicPr>
          <p:nvPr/>
        </p:nvPicPr>
        <p:blipFill>
          <a:blip r:embed="rId3" cstate="print"/>
          <a:srcRect/>
          <a:stretch>
            <a:fillRect/>
          </a:stretch>
        </p:blipFill>
        <p:spPr bwMode="auto">
          <a:xfrm>
            <a:off x="2104734" y="6016077"/>
            <a:ext cx="1209675" cy="790575"/>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2 İçerik Yer Tutucusu"/>
          <p:cNvSpPr>
            <a:spLocks noGrp="1"/>
          </p:cNvSpPr>
          <p:nvPr>
            <p:ph idx="1"/>
          </p:nvPr>
        </p:nvSpPr>
        <p:spPr>
          <a:xfrm>
            <a:off x="6781800" y="2590800"/>
            <a:ext cx="2362200" cy="3505200"/>
          </a:xfrm>
        </p:spPr>
        <p:txBody>
          <a:bodyPr>
            <a:normAutofit/>
          </a:bodyPr>
          <a:lstStyle/>
          <a:p>
            <a:pPr marL="0">
              <a:spcBef>
                <a:spcPts val="600"/>
              </a:spcBef>
              <a:spcAft>
                <a:spcPts val="0"/>
              </a:spcAft>
              <a:buNone/>
            </a:pPr>
            <a:r>
              <a:rPr lang="en-US" sz="2000" dirty="0">
                <a:latin typeface="Calibri" pitchFamily="34" charset="0"/>
              </a:rPr>
              <a:t>Temperatures in the receiver of a concentrating collector can reach </a:t>
            </a:r>
            <a:r>
              <a:rPr lang="en-US" sz="2000" dirty="0">
                <a:solidFill>
                  <a:srgbClr val="C00000"/>
                </a:solidFill>
                <a:latin typeface="Calibri" pitchFamily="34" charset="0"/>
              </a:rPr>
              <a:t>400</a:t>
            </a:r>
            <a:r>
              <a:rPr lang="en-US" sz="2000" dirty="0">
                <a:solidFill>
                  <a:srgbClr val="C00000"/>
                </a:solidFill>
                <a:latin typeface="Calibri" pitchFamily="34" charset="0"/>
                <a:sym typeface="Symbol" pitchFamily="18" charset="2"/>
              </a:rPr>
              <a:t></a:t>
            </a:r>
            <a:r>
              <a:rPr lang="en-US" sz="2000" dirty="0">
                <a:solidFill>
                  <a:srgbClr val="C00000"/>
                </a:solidFill>
                <a:latin typeface="Calibri" pitchFamily="34" charset="0"/>
              </a:rPr>
              <a:t>C</a:t>
            </a:r>
            <a:r>
              <a:rPr lang="en-US" sz="2000" dirty="0">
                <a:latin typeface="Calibri" pitchFamily="34" charset="0"/>
              </a:rPr>
              <a:t>. </a:t>
            </a:r>
            <a:endParaRPr lang="tr-TR" sz="2000" dirty="0">
              <a:latin typeface="Calibri" pitchFamily="34" charset="0"/>
            </a:endParaRPr>
          </a:p>
          <a:p>
            <a:pPr marL="0">
              <a:spcBef>
                <a:spcPts val="600"/>
              </a:spcBef>
              <a:spcAft>
                <a:spcPts val="0"/>
              </a:spcAft>
              <a:buNone/>
            </a:pPr>
            <a:r>
              <a:rPr lang="en-US" sz="2000" dirty="0">
                <a:latin typeface="Calibri" pitchFamily="34" charset="0"/>
              </a:rPr>
              <a:t>The heated fluid can be used to drive a steam turbine for electricity production. </a:t>
            </a:r>
            <a:endParaRPr lang="tr-TR" sz="2000" dirty="0">
              <a:latin typeface="Calibri" pitchFamily="34" charset="0"/>
            </a:endParaRPr>
          </a:p>
        </p:txBody>
      </p:sp>
      <p:pic>
        <p:nvPicPr>
          <p:cNvPr id="26627" name="Picture 4"/>
          <p:cNvPicPr>
            <a:picLocks noChangeAspect="1" noChangeArrowheads="1"/>
          </p:cNvPicPr>
          <p:nvPr/>
        </p:nvPicPr>
        <p:blipFill>
          <a:blip r:embed="rId2" cstate="print"/>
          <a:srcRect b="9812"/>
          <a:stretch>
            <a:fillRect/>
          </a:stretch>
        </p:blipFill>
        <p:spPr bwMode="auto">
          <a:xfrm>
            <a:off x="152400" y="2057400"/>
            <a:ext cx="6629400" cy="4114800"/>
          </a:xfrm>
          <a:prstGeom prst="rect">
            <a:avLst/>
          </a:prstGeom>
          <a:noFill/>
          <a:ln w="9525">
            <a:noFill/>
            <a:miter lim="800000"/>
            <a:headEnd/>
            <a:tailEnd/>
          </a:ln>
        </p:spPr>
      </p:pic>
      <p:sp>
        <p:nvSpPr>
          <p:cNvPr id="4" name="3 Dikdörtgen"/>
          <p:cNvSpPr/>
          <p:nvPr/>
        </p:nvSpPr>
        <p:spPr>
          <a:xfrm>
            <a:off x="304800" y="6248400"/>
            <a:ext cx="8153400" cy="369332"/>
          </a:xfrm>
          <a:prstGeom prst="rect">
            <a:avLst/>
          </a:prstGeom>
        </p:spPr>
        <p:txBody>
          <a:bodyPr wrap="square">
            <a:spAutoFit/>
          </a:bodyPr>
          <a:lstStyle/>
          <a:p>
            <a:r>
              <a:rPr lang="en-US" dirty="0">
                <a:solidFill>
                  <a:srgbClr val="0000FF"/>
                </a:solidFill>
              </a:rPr>
              <a:t>A solar concentrator power plant using parabolic trough collectors. </a:t>
            </a:r>
            <a:endParaRPr lang="tr-TR" dirty="0">
              <a:solidFill>
                <a:srgbClr val="0000FF"/>
              </a:solidFill>
            </a:endParaRPr>
          </a:p>
        </p:txBody>
      </p:sp>
      <p:sp>
        <p:nvSpPr>
          <p:cNvPr id="5" name="1 Başlık">
            <a:extLst>
              <a:ext uri="{FF2B5EF4-FFF2-40B4-BE49-F238E27FC236}">
                <a16:creationId xmlns:a16="http://schemas.microsoft.com/office/drawing/2014/main" id="{4FFAF7BB-0C60-484A-999A-40B1CFEB56AA}"/>
              </a:ext>
            </a:extLst>
          </p:cNvPr>
          <p:cNvSpPr>
            <a:spLocks noGrp="1"/>
          </p:cNvSpPr>
          <p:nvPr>
            <p:ph type="title"/>
          </p:nvPr>
        </p:nvSpPr>
        <p:spPr>
          <a:xfrm>
            <a:off x="325768" y="435963"/>
            <a:ext cx="6913231" cy="914400"/>
          </a:xfrm>
        </p:spPr>
        <p:txBody>
          <a:bodyPr>
            <a:normAutofit fontScale="90000"/>
          </a:bodyPr>
          <a:lstStyle/>
          <a:p>
            <a:r>
              <a:rPr lang="tr-TR" sz="2800" dirty="0">
                <a:solidFill>
                  <a:srgbClr val="0000FF"/>
                </a:solidFill>
              </a:rPr>
              <a:t>CONCENTRAT</a:t>
            </a:r>
            <a:r>
              <a:rPr lang="en-US" sz="2800" dirty="0">
                <a:solidFill>
                  <a:srgbClr val="0000FF"/>
                </a:solidFill>
              </a:rPr>
              <a:t>I</a:t>
            </a:r>
            <a:r>
              <a:rPr lang="tr-TR" sz="2800" dirty="0">
                <a:solidFill>
                  <a:srgbClr val="0000FF"/>
                </a:solidFill>
              </a:rPr>
              <a:t>NG SOLAR </a:t>
            </a:r>
            <a:r>
              <a:rPr lang="en-CA" sz="2800" dirty="0">
                <a:solidFill>
                  <a:srgbClr val="0000FF"/>
                </a:solidFill>
              </a:rPr>
              <a:t>POWER (CSP)</a:t>
            </a:r>
            <a:endParaRPr lang="tr-TR" sz="2800" dirty="0">
              <a:solidFill>
                <a:srgbClr val="0000F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D3165D-71EE-3654-A680-5844413A244C}"/>
              </a:ext>
            </a:extLst>
          </p:cNvPr>
          <p:cNvSpPr>
            <a:spLocks noGrp="1"/>
          </p:cNvSpPr>
          <p:nvPr>
            <p:ph type="sldNum" sz="quarter" idx="12"/>
          </p:nvPr>
        </p:nvSpPr>
        <p:spPr/>
        <p:txBody>
          <a:bodyPr/>
          <a:lstStyle/>
          <a:p>
            <a:fld id="{070107C2-BA80-4C15-96AE-A43002ADF025}" type="slidenum">
              <a:rPr lang="en-US" smtClean="0"/>
              <a:t>25</a:t>
            </a:fld>
            <a:endParaRPr lang="en-US"/>
          </a:p>
        </p:txBody>
      </p:sp>
      <p:sp>
        <p:nvSpPr>
          <p:cNvPr id="5" name="TextBox 4">
            <a:extLst>
              <a:ext uri="{FF2B5EF4-FFF2-40B4-BE49-F238E27FC236}">
                <a16:creationId xmlns:a16="http://schemas.microsoft.com/office/drawing/2014/main" id="{C45A6493-D42E-B19F-096A-26873C4E9EDA}"/>
              </a:ext>
            </a:extLst>
          </p:cNvPr>
          <p:cNvSpPr txBox="1"/>
          <p:nvPr/>
        </p:nvSpPr>
        <p:spPr>
          <a:xfrm>
            <a:off x="1371600" y="3059668"/>
            <a:ext cx="6858000" cy="1077218"/>
          </a:xfrm>
          <a:prstGeom prst="rect">
            <a:avLst/>
          </a:prstGeom>
          <a:noFill/>
        </p:spPr>
        <p:txBody>
          <a:bodyPr wrap="square">
            <a:spAutoFit/>
          </a:bodyPr>
          <a:lstStyle/>
          <a:p>
            <a:pPr marL="0" indent="0">
              <a:buFont typeface="Wingdings 2"/>
              <a:buNone/>
            </a:pPr>
            <a:r>
              <a:rPr lang="en-US" sz="3600" dirty="0">
                <a:solidFill>
                  <a:schemeClr val="bg2">
                    <a:lumMod val="50000"/>
                  </a:schemeClr>
                </a:solidFill>
              </a:rPr>
              <a:t>Solar Energy Systems </a:t>
            </a:r>
          </a:p>
          <a:p>
            <a:pPr marL="0" indent="0">
              <a:buFont typeface="Wingdings 2"/>
              <a:buNone/>
            </a:pPr>
            <a:r>
              <a:rPr lang="en-US" sz="2800" i="1" dirty="0">
                <a:solidFill>
                  <a:schemeClr val="bg2">
                    <a:lumMod val="50000"/>
                  </a:schemeClr>
                </a:solidFill>
              </a:rPr>
              <a:t>Part 2: Solar Photovoltaic (PV) Technologies</a:t>
            </a:r>
          </a:p>
        </p:txBody>
      </p:sp>
    </p:spTree>
    <p:extLst>
      <p:ext uri="{BB962C8B-B14F-4D97-AF65-F5344CB8AC3E}">
        <p14:creationId xmlns:p14="http://schemas.microsoft.com/office/powerpoint/2010/main" val="31406598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26</a:t>
            </a:fld>
            <a:endParaRPr lang="en-US" dirty="0"/>
          </a:p>
        </p:txBody>
      </p:sp>
      <p:sp>
        <p:nvSpPr>
          <p:cNvPr id="3" name="Text Placeholder 2"/>
          <p:cNvSpPr>
            <a:spLocks noGrp="1"/>
          </p:cNvSpPr>
          <p:nvPr>
            <p:ph type="body" sz="quarter" idx="13"/>
          </p:nvPr>
        </p:nvSpPr>
        <p:spPr>
          <a:xfrm>
            <a:off x="76200" y="1752600"/>
            <a:ext cx="8991600" cy="4968875"/>
          </a:xfrm>
        </p:spPr>
        <p:txBody>
          <a:bodyPr/>
          <a:lstStyle/>
          <a:p>
            <a:r>
              <a:rPr lang="en-CA" dirty="0">
                <a:solidFill>
                  <a:schemeClr val="tx1"/>
                </a:solidFill>
                <a:latin typeface="Verdana" panose="020B0604030504040204" pitchFamily="34" charset="0"/>
                <a:ea typeface="Verdana" panose="020B0604030504040204" pitchFamily="34" charset="0"/>
                <a:cs typeface="Verdana" panose="020B0604030504040204" pitchFamily="34" charset="0"/>
              </a:rPr>
              <a:t>The basic physics of semiconducting materials and the properties of n-type and p-type materials.</a:t>
            </a:r>
          </a:p>
          <a:p>
            <a:r>
              <a:rPr lang="en-CA" dirty="0">
                <a:solidFill>
                  <a:schemeClr val="tx1"/>
                </a:solidFill>
                <a:latin typeface="Verdana" panose="020B0604030504040204" pitchFamily="34" charset="0"/>
                <a:ea typeface="Verdana" panose="020B0604030504040204" pitchFamily="34" charset="0"/>
                <a:cs typeface="Verdana" panose="020B0604030504040204" pitchFamily="34" charset="0"/>
              </a:rPr>
              <a:t>The construction of a semiconducting junction device.</a:t>
            </a:r>
          </a:p>
          <a:p>
            <a:r>
              <a:rPr lang="en-CA" dirty="0">
                <a:solidFill>
                  <a:schemeClr val="tx1"/>
                </a:solidFill>
                <a:latin typeface="Verdana" panose="020B0604030504040204" pitchFamily="34" charset="0"/>
                <a:ea typeface="Verdana" panose="020B0604030504040204" pitchFamily="34" charset="0"/>
                <a:cs typeface="Verdana" panose="020B0604030504040204" pitchFamily="34" charset="0"/>
              </a:rPr>
              <a:t>The production of electricity through the interaction of photons on semiconducting junctions.</a:t>
            </a:r>
          </a:p>
          <a:p>
            <a:r>
              <a:rPr lang="en-CA" dirty="0">
                <a:solidFill>
                  <a:schemeClr val="tx1"/>
                </a:solidFill>
                <a:latin typeface="Verdana" panose="020B0604030504040204" pitchFamily="34" charset="0"/>
                <a:ea typeface="Verdana" panose="020B0604030504040204" pitchFamily="34" charset="0"/>
                <a:cs typeface="Verdana" panose="020B0604030504040204" pitchFamily="34" charset="0"/>
              </a:rPr>
              <a:t>The sensitivity and efficiency of photovoltaic devices.</a:t>
            </a:r>
          </a:p>
          <a:p>
            <a:r>
              <a:rPr lang="en-CA" dirty="0">
                <a:solidFill>
                  <a:schemeClr val="tx1"/>
                </a:solidFill>
                <a:latin typeface="Verdana" panose="020B0604030504040204" pitchFamily="34" charset="0"/>
                <a:cs typeface="Verdana" panose="020B0604030504040204" pitchFamily="34" charset="0"/>
              </a:rPr>
              <a:t>Estimate the power produced by an array of PV modules based on product specification sheets</a:t>
            </a:r>
          </a:p>
          <a:p>
            <a:pPr marL="0" indent="0">
              <a:buNone/>
            </a:pPr>
            <a:endParaRPr lang="en-CA"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lvl="0"/>
            <a:endParaRPr lang="en-CA" dirty="0">
              <a:solidFill>
                <a:schemeClr val="tx1"/>
              </a:solidFill>
            </a:endParaRPr>
          </a:p>
        </p:txBody>
      </p:sp>
      <p:sp>
        <p:nvSpPr>
          <p:cNvPr id="4" name="Title 3"/>
          <p:cNvSpPr>
            <a:spLocks noGrp="1"/>
          </p:cNvSpPr>
          <p:nvPr>
            <p:ph type="title"/>
          </p:nvPr>
        </p:nvSpPr>
        <p:spPr>
          <a:xfrm>
            <a:off x="533400" y="609600"/>
            <a:ext cx="7810500" cy="750647"/>
          </a:xfrm>
        </p:spPr>
        <p:txBody>
          <a:bodyPr/>
          <a:lstStyle/>
          <a:p>
            <a:r>
              <a:rPr lang="en-CA" sz="3200" dirty="0">
                <a:solidFill>
                  <a:srgbClr val="FFFFFF"/>
                </a:solidFill>
                <a:latin typeface="Verdana" panose="020B0604030504040204" pitchFamily="34" charset="0"/>
              </a:rPr>
              <a:t>Learning Objectives</a:t>
            </a:r>
          </a:p>
        </p:txBody>
      </p:sp>
    </p:spTree>
    <p:extLst>
      <p:ext uri="{BB962C8B-B14F-4D97-AF65-F5344CB8AC3E}">
        <p14:creationId xmlns:p14="http://schemas.microsoft.com/office/powerpoint/2010/main" val="26179798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CA" dirty="0"/>
            </a:br>
            <a:r>
              <a:rPr lang="en-CA" dirty="0"/>
              <a:t>Solar Electric Generation</a:t>
            </a: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27</a:t>
            </a:fld>
            <a:endParaRPr lang="en-US"/>
          </a:p>
        </p:txBody>
      </p:sp>
      <p:sp>
        <p:nvSpPr>
          <p:cNvPr id="5" name="Rectangle 4"/>
          <p:cNvSpPr/>
          <p:nvPr/>
        </p:nvSpPr>
        <p:spPr>
          <a:xfrm>
            <a:off x="685800" y="2438400"/>
            <a:ext cx="8001000" cy="4062651"/>
          </a:xfrm>
          <a:prstGeom prst="rect">
            <a:avLst/>
          </a:prstGeom>
        </p:spPr>
        <p:txBody>
          <a:bodyPr wrap="square">
            <a:spAutoFit/>
          </a:bodyPr>
          <a:lstStyle/>
          <a:p>
            <a:endParaRPr lang="en-CA" dirty="0"/>
          </a:p>
          <a:p>
            <a:r>
              <a:rPr lang="en-CA" sz="2000" dirty="0">
                <a:latin typeface="Verdana" panose="020B0604030504040204" pitchFamily="34" charset="0"/>
                <a:ea typeface="Verdana" panose="020B0604030504040204" pitchFamily="34" charset="0"/>
                <a:cs typeface="Verdana" panose="020B0604030504040204" pitchFamily="34" charset="0"/>
              </a:rPr>
              <a:t>Electricity can be generated from solar radiation in two ways:</a:t>
            </a:r>
          </a:p>
          <a:p>
            <a:endParaRPr lang="en-CA"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CA" sz="2000" dirty="0">
                <a:latin typeface="Verdana" panose="020B0604030504040204" pitchFamily="34" charset="0"/>
                <a:ea typeface="Verdana" panose="020B0604030504040204" pitchFamily="34" charset="0"/>
                <a:cs typeface="Verdana" panose="020B0604030504040204" pitchFamily="34" charset="0"/>
              </a:rPr>
              <a:t>Conversion of solar radiation into heat to run a heat 	engine to drive a generator: </a:t>
            </a:r>
          </a:p>
          <a:p>
            <a:pPr marL="800100" lvl="1" indent="-342900">
              <a:buFont typeface="Arial" panose="020B0604020202020204" pitchFamily="34" charset="0"/>
              <a:buChar char="•"/>
            </a:pPr>
            <a:r>
              <a:rPr lang="en-CA" sz="2000" dirty="0">
                <a:latin typeface="Verdana" panose="020B0604030504040204" pitchFamily="34" charset="0"/>
                <a:ea typeface="Verdana" panose="020B0604030504040204" pitchFamily="34" charset="0"/>
                <a:cs typeface="Verdana" panose="020B0604030504040204" pitchFamily="34" charset="0"/>
              </a:rPr>
              <a:t>Parabolic troughs</a:t>
            </a:r>
          </a:p>
          <a:p>
            <a:pPr marL="800100" lvl="1" indent="-342900">
              <a:buFont typeface="Arial" panose="020B0604020202020204" pitchFamily="34" charset="0"/>
              <a:buChar char="•"/>
            </a:pPr>
            <a:r>
              <a:rPr lang="en-CA" sz="2000" dirty="0">
                <a:latin typeface="Verdana" panose="020B0604030504040204" pitchFamily="34" charset="0"/>
                <a:ea typeface="Verdana" panose="020B0604030504040204" pitchFamily="34" charset="0"/>
                <a:cs typeface="Verdana" panose="020B0604030504040204" pitchFamily="34" charset="0"/>
              </a:rPr>
              <a:t>Parabolic dishes</a:t>
            </a:r>
          </a:p>
          <a:p>
            <a:pPr marL="800100" lvl="1" indent="-342900">
              <a:buFont typeface="Arial" panose="020B0604020202020204" pitchFamily="34" charset="0"/>
              <a:buChar char="•"/>
            </a:pPr>
            <a:r>
              <a:rPr lang="en-CA" sz="2000" dirty="0">
                <a:latin typeface="Verdana" panose="020B0604030504040204" pitchFamily="34" charset="0"/>
                <a:ea typeface="Verdana" panose="020B0604030504040204" pitchFamily="34" charset="0"/>
                <a:cs typeface="Verdana" panose="020B0604030504040204" pitchFamily="34" charset="0"/>
              </a:rPr>
              <a:t>Central receivers</a:t>
            </a:r>
          </a:p>
          <a:p>
            <a:pPr marL="342900" indent="-342900">
              <a:buFont typeface="Arial" panose="020B0604020202020204" pitchFamily="34" charset="0"/>
              <a:buChar char="•"/>
            </a:pPr>
            <a:r>
              <a:rPr lang="en-CA" sz="2000" dirty="0">
                <a:latin typeface="Verdana" panose="020B0604030504040204" pitchFamily="34" charset="0"/>
                <a:ea typeface="Verdana" panose="020B0604030504040204" pitchFamily="34" charset="0"/>
                <a:cs typeface="Verdana" panose="020B0604030504040204" pitchFamily="34" charset="0"/>
              </a:rPr>
              <a:t>Use of a </a:t>
            </a:r>
            <a:r>
              <a:rPr lang="en-CA" sz="2000" b="1" dirty="0">
                <a:latin typeface="Verdana" panose="020B0604030504040204" pitchFamily="34" charset="0"/>
                <a:ea typeface="Verdana" panose="020B0604030504040204" pitchFamily="34" charset="0"/>
                <a:cs typeface="Verdana" panose="020B0604030504040204" pitchFamily="34" charset="0"/>
              </a:rPr>
              <a:t>photoelectric device: </a:t>
            </a:r>
            <a:r>
              <a:rPr lang="en-CA" sz="2000" dirty="0">
                <a:latin typeface="Verdana" panose="020B0604030504040204" pitchFamily="34" charset="0"/>
                <a:ea typeface="Verdana" panose="020B0604030504040204" pitchFamily="34" charset="0"/>
                <a:cs typeface="Verdana" panose="020B0604030504040204" pitchFamily="34" charset="0"/>
              </a:rPr>
              <a:t>Photovoltaic devices are semiconducting devices that convert solar radiation (or any light) directly into electricity. </a:t>
            </a:r>
          </a:p>
          <a:p>
            <a:endParaRPr lang="en-CA" sz="2000" b="1"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0134772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FD95E-7CE8-4648-B298-1D8CAB1B7596}"/>
              </a:ext>
            </a:extLst>
          </p:cNvPr>
          <p:cNvSpPr>
            <a:spLocks noGrp="1"/>
          </p:cNvSpPr>
          <p:nvPr>
            <p:ph type="title"/>
          </p:nvPr>
        </p:nvSpPr>
        <p:spPr/>
        <p:txBody>
          <a:bodyPr/>
          <a:lstStyle/>
          <a:p>
            <a:r>
              <a:rPr lang="en-CA" dirty="0"/>
              <a:t>Semiconductors</a:t>
            </a:r>
          </a:p>
        </p:txBody>
      </p:sp>
      <p:sp>
        <p:nvSpPr>
          <p:cNvPr id="3" name="Slide Number Placeholder 2">
            <a:extLst>
              <a:ext uri="{FF2B5EF4-FFF2-40B4-BE49-F238E27FC236}">
                <a16:creationId xmlns:a16="http://schemas.microsoft.com/office/drawing/2014/main" id="{3FF62C06-9443-4709-A32C-A29B0501B44F}"/>
              </a:ext>
            </a:extLst>
          </p:cNvPr>
          <p:cNvSpPr>
            <a:spLocks noGrp="1"/>
          </p:cNvSpPr>
          <p:nvPr>
            <p:ph type="sldNum" sz="quarter" idx="12"/>
          </p:nvPr>
        </p:nvSpPr>
        <p:spPr/>
        <p:txBody>
          <a:bodyPr/>
          <a:lstStyle/>
          <a:p>
            <a:fld id="{070107C2-BA80-4C15-96AE-A43002ADF025}" type="slidenum">
              <a:rPr lang="en-US" smtClean="0"/>
              <a:t>28</a:t>
            </a:fld>
            <a:endParaRPr lang="en-US"/>
          </a:p>
        </p:txBody>
      </p:sp>
      <p:sp>
        <p:nvSpPr>
          <p:cNvPr id="8" name="TextBox 7">
            <a:extLst>
              <a:ext uri="{FF2B5EF4-FFF2-40B4-BE49-F238E27FC236}">
                <a16:creationId xmlns:a16="http://schemas.microsoft.com/office/drawing/2014/main" id="{B5BF97BA-0190-4E64-BD2C-38D14260DB2D}"/>
              </a:ext>
            </a:extLst>
          </p:cNvPr>
          <p:cNvSpPr txBox="1"/>
          <p:nvPr/>
        </p:nvSpPr>
        <p:spPr>
          <a:xfrm>
            <a:off x="238420" y="2534563"/>
            <a:ext cx="8667160" cy="4401205"/>
          </a:xfrm>
          <a:prstGeom prst="rect">
            <a:avLst/>
          </a:prstGeom>
          <a:noFill/>
        </p:spPr>
        <p:txBody>
          <a:bodyPr wrap="square">
            <a:spAutoFit/>
          </a:bodyPr>
          <a:lstStyle/>
          <a:p>
            <a:pPr marL="342900" indent="-342900">
              <a:buFont typeface="Arial" panose="020B0604020202020204" pitchFamily="34" charset="0"/>
              <a:buChar char="•"/>
            </a:pPr>
            <a:r>
              <a:rPr lang="en-US" sz="2000" dirty="0"/>
              <a:t>Semiconductors act as insulators at low temperatures and conductors at higher temperatures.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Conduction occurs at higher temperature because the </a:t>
            </a:r>
            <a:r>
              <a:rPr lang="en-US" sz="2000" b="1" dirty="0"/>
              <a:t>electrons surrounding the semiconductor atoms can break away from their covalent bond and move freely </a:t>
            </a:r>
            <a:r>
              <a:rPr lang="en-US" sz="2000" dirty="0"/>
              <a:t>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conductive property of semiconductors forms the basis for understanding how we can use these materials in electrical devices.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Silicon is the most commonly used semiconductor material as it forms the basis for integrated circuit (IC) chips and is the most mature technology and most solar cells are also silicon based</a:t>
            </a:r>
            <a:endParaRPr lang="en-CA" sz="2000" dirty="0"/>
          </a:p>
          <a:p>
            <a:pPr marL="342900" indent="-342900">
              <a:buFont typeface="Arial" panose="020B0604020202020204" pitchFamily="34" charset="0"/>
              <a:buChar char="•"/>
            </a:pPr>
            <a:endParaRPr lang="en-US" sz="2000" dirty="0"/>
          </a:p>
        </p:txBody>
      </p:sp>
    </p:spTree>
    <p:extLst>
      <p:ext uri="{BB962C8B-B14F-4D97-AF65-F5344CB8AC3E}">
        <p14:creationId xmlns:p14="http://schemas.microsoft.com/office/powerpoint/2010/main" val="39360693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CA" dirty="0"/>
            </a:br>
            <a:r>
              <a:rPr lang="en-CA" dirty="0"/>
              <a:t>Photon energy</a:t>
            </a: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29</a:t>
            </a:fld>
            <a:endParaRPr lang="en-US"/>
          </a:p>
        </p:txBody>
      </p:sp>
      <p:sp>
        <p:nvSpPr>
          <p:cNvPr id="5" name="Rectangle 4"/>
          <p:cNvSpPr/>
          <p:nvPr/>
        </p:nvSpPr>
        <p:spPr>
          <a:xfrm>
            <a:off x="914400" y="2274838"/>
            <a:ext cx="7467600" cy="3077766"/>
          </a:xfrm>
          <a:prstGeom prst="rect">
            <a:avLst/>
          </a:prstGeom>
        </p:spPr>
        <p:txBody>
          <a:bodyPr wrap="square">
            <a:spAutoFit/>
          </a:bodyPr>
          <a:lstStyle/>
          <a:p>
            <a:endParaRPr lang="en-CA" dirty="0"/>
          </a:p>
          <a:p>
            <a:r>
              <a:rPr lang="en-CA" sz="2000" dirty="0">
                <a:latin typeface="Verdana" panose="020B0604030504040204" pitchFamily="34" charset="0"/>
                <a:ea typeface="Verdana" panose="020B0604030504040204" pitchFamily="34" charset="0"/>
                <a:cs typeface="Verdana" panose="020B0604030504040204" pitchFamily="34" charset="0"/>
              </a:rPr>
              <a:t>A photon has an energy related to its wavelength by</a:t>
            </a:r>
          </a:p>
          <a:p>
            <a:endParaRPr lang="en-CA" sz="2000" dirty="0">
              <a:latin typeface="Verdana" panose="020B0604030504040204" pitchFamily="34" charset="0"/>
              <a:ea typeface="Verdana" panose="020B0604030504040204" pitchFamily="34" charset="0"/>
              <a:cs typeface="Verdana" panose="020B0604030504040204" pitchFamily="34" charset="0"/>
            </a:endParaRPr>
          </a:p>
          <a:p>
            <a:endParaRPr lang="en-CA" sz="2000" dirty="0">
              <a:latin typeface="Verdana" panose="020B0604030504040204" pitchFamily="34" charset="0"/>
              <a:ea typeface="Verdana" panose="020B0604030504040204" pitchFamily="34" charset="0"/>
              <a:cs typeface="Verdana" panose="020B0604030504040204" pitchFamily="34" charset="0"/>
            </a:endParaRPr>
          </a:p>
          <a:p>
            <a:endParaRPr lang="en-CA" sz="2000" dirty="0">
              <a:latin typeface="Verdana" panose="020B0604030504040204" pitchFamily="34" charset="0"/>
              <a:ea typeface="Verdana" panose="020B0604030504040204" pitchFamily="34" charset="0"/>
              <a:cs typeface="Verdana" panose="020B0604030504040204" pitchFamily="34" charset="0"/>
            </a:endParaRPr>
          </a:p>
          <a:p>
            <a:endParaRPr lang="en-CA" sz="2000" dirty="0">
              <a:latin typeface="Verdana" panose="020B0604030504040204" pitchFamily="34" charset="0"/>
              <a:ea typeface="Verdana" panose="020B0604030504040204" pitchFamily="34" charset="0"/>
              <a:cs typeface="Verdana" panose="020B0604030504040204" pitchFamily="34" charset="0"/>
            </a:endParaRP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For energy in eV and wavelength in nm, this is</a:t>
            </a:r>
          </a:p>
          <a:p>
            <a:endParaRPr lang="en-CA" dirty="0"/>
          </a:p>
          <a:p>
            <a:endParaRPr lang="en-CA" dirty="0"/>
          </a:p>
        </p:txBody>
      </p:sp>
      <p:pic>
        <p:nvPicPr>
          <p:cNvPr id="6" name="Picture 5"/>
          <p:cNvPicPr>
            <a:picLocks noChangeAspect="1"/>
          </p:cNvPicPr>
          <p:nvPr/>
        </p:nvPicPr>
        <p:blipFill rotWithShape="1">
          <a:blip r:embed="rId2"/>
          <a:srcRect r="63643"/>
          <a:stretch/>
        </p:blipFill>
        <p:spPr>
          <a:xfrm>
            <a:off x="1177610" y="3157854"/>
            <a:ext cx="2708590" cy="1097375"/>
          </a:xfrm>
          <a:prstGeom prst="rect">
            <a:avLst/>
          </a:prstGeom>
        </p:spPr>
      </p:pic>
      <p:pic>
        <p:nvPicPr>
          <p:cNvPr id="7" name="Picture 6"/>
          <p:cNvPicPr>
            <a:picLocks noChangeAspect="1"/>
          </p:cNvPicPr>
          <p:nvPr/>
        </p:nvPicPr>
        <p:blipFill rotWithShape="1">
          <a:blip r:embed="rId3"/>
          <a:srcRect r="51640"/>
          <a:stretch/>
        </p:blipFill>
        <p:spPr>
          <a:xfrm>
            <a:off x="1036537" y="4803916"/>
            <a:ext cx="3611663" cy="1097375"/>
          </a:xfrm>
          <a:prstGeom prst="rect">
            <a:avLst/>
          </a:prstGeom>
        </p:spPr>
      </p:pic>
    </p:spTree>
    <p:extLst>
      <p:ext uri="{BB962C8B-B14F-4D97-AF65-F5344CB8AC3E}">
        <p14:creationId xmlns:p14="http://schemas.microsoft.com/office/powerpoint/2010/main" val="20982951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Electron-hole recombination</a:t>
            </a: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30</a:t>
            </a:fld>
            <a:endParaRPr lang="en-US"/>
          </a:p>
        </p:txBody>
      </p:sp>
      <p:sp>
        <p:nvSpPr>
          <p:cNvPr id="5" name="Rectangle 4"/>
          <p:cNvSpPr/>
          <p:nvPr/>
        </p:nvSpPr>
        <p:spPr>
          <a:xfrm>
            <a:off x="457200" y="2819400"/>
            <a:ext cx="8363540" cy="3139321"/>
          </a:xfrm>
          <a:prstGeom prst="rect">
            <a:avLst/>
          </a:prstGeom>
        </p:spPr>
        <p:txBody>
          <a:bodyPr wrap="square">
            <a:spAutoFit/>
          </a:bodyPr>
          <a:lstStyle/>
          <a:p>
            <a:endParaRPr lang="en-CA" dirty="0"/>
          </a:p>
          <a:p>
            <a:r>
              <a:rPr lang="en-CA" sz="2000" dirty="0">
                <a:latin typeface="Verdana" panose="020B0604030504040204" pitchFamily="34" charset="0"/>
                <a:ea typeface="Verdana" panose="020B0604030504040204" pitchFamily="34" charset="0"/>
                <a:cs typeface="Verdana" panose="020B0604030504040204" pitchFamily="34" charset="0"/>
              </a:rPr>
              <a:t>In principle the electron and hole could represent an electric current except that they attract one another and recombine.</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In the </a:t>
            </a:r>
            <a:r>
              <a:rPr lang="en-CA" sz="2000" i="1" dirty="0">
                <a:latin typeface="Verdana" panose="020B0604030504040204" pitchFamily="34" charset="0"/>
                <a:ea typeface="Verdana" panose="020B0604030504040204" pitchFamily="34" charset="0"/>
                <a:cs typeface="Verdana" panose="020B0604030504040204" pitchFamily="34" charset="0"/>
              </a:rPr>
              <a:t>band structure</a:t>
            </a:r>
            <a:r>
              <a:rPr lang="en-CA" sz="2000" dirty="0">
                <a:latin typeface="Verdana" panose="020B0604030504040204" pitchFamily="34" charset="0"/>
                <a:ea typeface="Verdana" panose="020B0604030504040204" pitchFamily="34" charset="0"/>
                <a:cs typeface="Verdana" panose="020B0604030504040204" pitchFamily="34" charset="0"/>
              </a:rPr>
              <a:t>, the electron will fall back into the hole.</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In the </a:t>
            </a:r>
            <a:r>
              <a:rPr lang="en-CA" sz="2000" i="1" dirty="0">
                <a:latin typeface="Verdana" panose="020B0604030504040204" pitchFamily="34" charset="0"/>
                <a:ea typeface="Verdana" panose="020B0604030504040204" pitchFamily="34" charset="0"/>
                <a:cs typeface="Verdana" panose="020B0604030504040204" pitchFamily="34" charset="0"/>
              </a:rPr>
              <a:t>bonding picture </a:t>
            </a:r>
            <a:r>
              <a:rPr lang="en-CA" sz="2000" dirty="0">
                <a:latin typeface="Verdana" panose="020B0604030504040204" pitchFamily="34" charset="0"/>
                <a:ea typeface="Verdana" panose="020B0604030504040204" pitchFamily="34" charset="0"/>
                <a:cs typeface="Verdana" panose="020B0604030504040204" pitchFamily="34" charset="0"/>
              </a:rPr>
              <a:t>the electron will fill the </a:t>
            </a:r>
            <a:r>
              <a:rPr lang="en-CA" sz="2000" b="1" dirty="0">
                <a:latin typeface="Verdana" panose="020B0604030504040204" pitchFamily="34" charset="0"/>
                <a:ea typeface="Verdana" panose="020B0604030504040204" pitchFamily="34" charset="0"/>
                <a:cs typeface="Verdana" panose="020B0604030504040204" pitchFamily="34" charset="0"/>
              </a:rPr>
              <a:t>broken bond</a:t>
            </a:r>
            <a:r>
              <a:rPr lang="en-CA" sz="2000" dirty="0">
                <a:latin typeface="Verdana" panose="020B0604030504040204" pitchFamily="34" charset="0"/>
                <a:ea typeface="Verdana" panose="020B0604030504040204" pitchFamily="34" charset="0"/>
                <a:cs typeface="Verdana" panose="020B0604030504040204" pitchFamily="34" charset="0"/>
              </a:rPr>
              <a:t>.</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b="1" dirty="0">
                <a:latin typeface="Verdana" panose="020B0604030504040204" pitchFamily="34" charset="0"/>
                <a:ea typeface="Verdana" panose="020B0604030504040204" pitchFamily="34" charset="0"/>
                <a:cs typeface="Verdana" panose="020B0604030504040204" pitchFamily="34" charset="0"/>
              </a:rPr>
              <a:t>To avoid this we need to use two different types of semiconductor.</a:t>
            </a:r>
            <a:endParaRPr lang="en-CA" b="1" dirty="0"/>
          </a:p>
        </p:txBody>
      </p:sp>
    </p:spTree>
    <p:extLst>
      <p:ext uri="{BB962C8B-B14F-4D97-AF65-F5344CB8AC3E}">
        <p14:creationId xmlns:p14="http://schemas.microsoft.com/office/powerpoint/2010/main" val="28418396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Doped semiconductors</a:t>
            </a: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31</a:t>
            </a:fld>
            <a:endParaRPr lang="en-US"/>
          </a:p>
        </p:txBody>
      </p:sp>
      <p:sp>
        <p:nvSpPr>
          <p:cNvPr id="5" name="Rectangle 4"/>
          <p:cNvSpPr/>
          <p:nvPr/>
        </p:nvSpPr>
        <p:spPr>
          <a:xfrm>
            <a:off x="208960" y="2203871"/>
            <a:ext cx="4668430" cy="3970318"/>
          </a:xfrm>
          <a:prstGeom prst="rect">
            <a:avLst/>
          </a:prstGeom>
        </p:spPr>
        <p:txBody>
          <a:bodyPr wrap="square">
            <a:spAutoFit/>
          </a:bodyPr>
          <a:lstStyle/>
          <a:p>
            <a:r>
              <a:rPr lang="en-US" dirty="0">
                <a:latin typeface="Verdana" panose="020B0604030504040204" pitchFamily="34" charset="0"/>
                <a:ea typeface="Verdana" panose="020B0604030504040204" pitchFamily="34" charset="0"/>
                <a:cs typeface="Verdana" panose="020B0604030504040204" pitchFamily="34" charset="0"/>
              </a:rPr>
              <a:t>A small amount of impurity </a:t>
            </a:r>
            <a:r>
              <a:rPr lang="en-CA" dirty="0">
                <a:latin typeface="Verdana" panose="020B0604030504040204" pitchFamily="34" charset="0"/>
                <a:ea typeface="Verdana" panose="020B0604030504040204" pitchFamily="34" charset="0"/>
                <a:cs typeface="Verdana" panose="020B0604030504040204" pitchFamily="34" charset="0"/>
              </a:rPr>
              <a:t>can significantly alter the electrical properties</a:t>
            </a:r>
            <a:r>
              <a:rPr lang="en-US" dirty="0">
                <a:latin typeface="Verdana" panose="020B0604030504040204" pitchFamily="34" charset="0"/>
                <a:ea typeface="Verdana" panose="020B0604030504040204" pitchFamily="34" charset="0"/>
                <a:cs typeface="Verdana" panose="020B0604030504040204" pitchFamily="34" charset="0"/>
              </a:rPr>
              <a:t> of a semiconductor.</a:t>
            </a:r>
          </a:p>
          <a:p>
            <a:endParaRPr lang="en-CA"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CA" b="1" dirty="0">
                <a:latin typeface="Verdana" panose="020B0604030504040204" pitchFamily="34" charset="0"/>
                <a:ea typeface="Verdana" panose="020B0604030504040204" pitchFamily="34" charset="0"/>
                <a:cs typeface="Verdana" panose="020B0604030504040204" pitchFamily="34" charset="0"/>
              </a:rPr>
              <a:t>n-type impurities (donors) </a:t>
            </a:r>
            <a:r>
              <a:rPr lang="en-CA" dirty="0">
                <a:latin typeface="Verdana" panose="020B0604030504040204" pitchFamily="34" charset="0"/>
                <a:ea typeface="Verdana" panose="020B0604030504040204" pitchFamily="34" charset="0"/>
                <a:cs typeface="Verdana" panose="020B0604030504040204" pitchFamily="34" charset="0"/>
              </a:rPr>
              <a:t>have one </a:t>
            </a:r>
            <a:r>
              <a:rPr lang="en-CA" b="1" dirty="0">
                <a:latin typeface="Verdana" panose="020B0604030504040204" pitchFamily="34" charset="0"/>
                <a:ea typeface="Verdana" panose="020B0604030504040204" pitchFamily="34" charset="0"/>
                <a:cs typeface="Verdana" panose="020B0604030504040204" pitchFamily="34" charset="0"/>
              </a:rPr>
              <a:t>more valence </a:t>
            </a:r>
          </a:p>
          <a:p>
            <a:pPr lvl="1"/>
            <a:r>
              <a:rPr lang="en-CA" b="1" dirty="0">
                <a:latin typeface="Verdana" panose="020B0604030504040204" pitchFamily="34" charset="0"/>
                <a:ea typeface="Verdana" panose="020B0604030504040204" pitchFamily="34" charset="0"/>
                <a:cs typeface="Verdana" panose="020B0604030504040204" pitchFamily="34" charset="0"/>
              </a:rPr>
              <a:t>	electron</a:t>
            </a:r>
            <a:r>
              <a:rPr lang="en-CA" dirty="0">
                <a:latin typeface="Verdana" panose="020B0604030504040204" pitchFamily="34" charset="0"/>
                <a:ea typeface="Verdana" panose="020B0604030504040204" pitchFamily="34" charset="0"/>
                <a:cs typeface="Verdana" panose="020B0604030504040204" pitchFamily="34" charset="0"/>
              </a:rPr>
              <a:t> than the host</a:t>
            </a:r>
          </a:p>
          <a:p>
            <a:pPr marL="342900" indent="-342900">
              <a:buFont typeface="Arial" panose="020B0604020202020204" pitchFamily="34" charset="0"/>
              <a:buChar char="•"/>
            </a:pPr>
            <a:endParaRPr lang="en-CA"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CA" b="1" dirty="0">
                <a:latin typeface="Verdana" panose="020B0604030504040204" pitchFamily="34" charset="0"/>
                <a:ea typeface="Verdana" panose="020B0604030504040204" pitchFamily="34" charset="0"/>
                <a:cs typeface="Verdana" panose="020B0604030504040204" pitchFamily="34" charset="0"/>
              </a:rPr>
              <a:t>p-type impurities (acceptors) </a:t>
            </a:r>
            <a:r>
              <a:rPr lang="en-CA" dirty="0">
                <a:latin typeface="Verdana" panose="020B0604030504040204" pitchFamily="34" charset="0"/>
                <a:ea typeface="Verdana" panose="020B0604030504040204" pitchFamily="34" charset="0"/>
                <a:cs typeface="Verdana" panose="020B0604030504040204" pitchFamily="34" charset="0"/>
              </a:rPr>
              <a:t>have </a:t>
            </a:r>
            <a:r>
              <a:rPr lang="en-CA" b="1" dirty="0">
                <a:latin typeface="Verdana" panose="020B0604030504040204" pitchFamily="34" charset="0"/>
                <a:ea typeface="Verdana" panose="020B0604030504040204" pitchFamily="34" charset="0"/>
                <a:cs typeface="Verdana" panose="020B0604030504040204" pitchFamily="34" charset="0"/>
              </a:rPr>
              <a:t>one less valence </a:t>
            </a:r>
          </a:p>
          <a:p>
            <a:r>
              <a:rPr lang="en-CA" b="1" dirty="0">
                <a:latin typeface="Verdana" panose="020B0604030504040204" pitchFamily="34" charset="0"/>
                <a:ea typeface="Verdana" panose="020B0604030504040204" pitchFamily="34" charset="0"/>
                <a:cs typeface="Verdana" panose="020B0604030504040204" pitchFamily="34" charset="0"/>
              </a:rPr>
              <a:t>	electron </a:t>
            </a:r>
            <a:r>
              <a:rPr lang="en-CA" dirty="0">
                <a:latin typeface="Verdana" panose="020B0604030504040204" pitchFamily="34" charset="0"/>
                <a:ea typeface="Verdana" panose="020B0604030504040204" pitchFamily="34" charset="0"/>
                <a:cs typeface="Verdana" panose="020B0604030504040204" pitchFamily="34" charset="0"/>
              </a:rPr>
              <a:t>than the host</a:t>
            </a:r>
          </a:p>
          <a:p>
            <a:endParaRPr lang="en-CA" dirty="0">
              <a:latin typeface="Verdana" panose="020B0604030504040204" pitchFamily="34" charset="0"/>
              <a:ea typeface="Verdana" panose="020B0604030504040204" pitchFamily="34" charset="0"/>
              <a:cs typeface="Verdana" panose="020B0604030504040204" pitchFamily="34" charset="0"/>
            </a:endParaRPr>
          </a:p>
          <a:p>
            <a:r>
              <a:rPr lang="en-CA" dirty="0">
                <a:latin typeface="Verdana" panose="020B0604030504040204" pitchFamily="34" charset="0"/>
                <a:ea typeface="Verdana" panose="020B0604030504040204" pitchFamily="34" charset="0"/>
                <a:cs typeface="Verdana" panose="020B0604030504040204" pitchFamily="34" charset="0"/>
              </a:rPr>
              <a:t>These impurities create excess electrons or holes, respectively.</a:t>
            </a:r>
            <a:endParaRPr lang="en-US"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a:extLst>
              <a:ext uri="{FF2B5EF4-FFF2-40B4-BE49-F238E27FC236}">
                <a16:creationId xmlns:a16="http://schemas.microsoft.com/office/drawing/2014/main" id="{B9D29F2B-4BEF-4621-AB7A-112426395266}"/>
              </a:ext>
            </a:extLst>
          </p:cNvPr>
          <p:cNvPicPr>
            <a:picLocks noChangeAspect="1"/>
          </p:cNvPicPr>
          <p:nvPr/>
        </p:nvPicPr>
        <p:blipFill>
          <a:blip r:embed="rId2"/>
          <a:stretch>
            <a:fillRect/>
          </a:stretch>
        </p:blipFill>
        <p:spPr>
          <a:xfrm>
            <a:off x="5103870" y="1828800"/>
            <a:ext cx="3831170" cy="2333470"/>
          </a:xfrm>
          <a:prstGeom prst="rect">
            <a:avLst/>
          </a:prstGeom>
        </p:spPr>
      </p:pic>
      <p:pic>
        <p:nvPicPr>
          <p:cNvPr id="7" name="Picture 6">
            <a:extLst>
              <a:ext uri="{FF2B5EF4-FFF2-40B4-BE49-F238E27FC236}">
                <a16:creationId xmlns:a16="http://schemas.microsoft.com/office/drawing/2014/main" id="{2780F1F5-1C27-4D44-8A2E-19D689457E0C}"/>
              </a:ext>
            </a:extLst>
          </p:cNvPr>
          <p:cNvPicPr>
            <a:picLocks noChangeAspect="1"/>
          </p:cNvPicPr>
          <p:nvPr/>
        </p:nvPicPr>
        <p:blipFill>
          <a:blip r:embed="rId3"/>
          <a:stretch>
            <a:fillRect/>
          </a:stretch>
        </p:blipFill>
        <p:spPr>
          <a:xfrm>
            <a:off x="4877390" y="4238146"/>
            <a:ext cx="4057650" cy="2194579"/>
          </a:xfrm>
          <a:prstGeom prst="rect">
            <a:avLst/>
          </a:prstGeom>
        </p:spPr>
      </p:pic>
    </p:spTree>
    <p:extLst>
      <p:ext uri="{BB962C8B-B14F-4D97-AF65-F5344CB8AC3E}">
        <p14:creationId xmlns:p14="http://schemas.microsoft.com/office/powerpoint/2010/main" val="27995825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CA" dirty="0"/>
            </a:br>
            <a:r>
              <a:rPr lang="en-CA" dirty="0"/>
              <a:t>Semiconducting junctions</a:t>
            </a: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32</a:t>
            </a:fld>
            <a:endParaRPr lang="en-US"/>
          </a:p>
        </p:txBody>
      </p:sp>
      <p:sp>
        <p:nvSpPr>
          <p:cNvPr id="5" name="Rectangle 4"/>
          <p:cNvSpPr/>
          <p:nvPr/>
        </p:nvSpPr>
        <p:spPr>
          <a:xfrm>
            <a:off x="533400" y="2057400"/>
            <a:ext cx="8401640" cy="1754326"/>
          </a:xfrm>
          <a:prstGeom prst="rect">
            <a:avLst/>
          </a:prstGeom>
        </p:spPr>
        <p:txBody>
          <a:bodyPr wrap="square">
            <a:spAutoFit/>
          </a:bodyPr>
          <a:lstStyle/>
          <a:p>
            <a:endParaRPr lang="en-CA" dirty="0"/>
          </a:p>
          <a:p>
            <a:r>
              <a:rPr lang="en-CA" dirty="0">
                <a:latin typeface="Verdana" panose="020B0604030504040204" pitchFamily="34" charset="0"/>
                <a:ea typeface="Verdana" panose="020B0604030504040204" pitchFamily="34" charset="0"/>
                <a:cs typeface="Verdana" panose="020B0604030504040204" pitchFamily="34" charset="0"/>
              </a:rPr>
              <a:t>A p-n junction made of an n-type and a p-type semiconductor forms the basis of </a:t>
            </a:r>
            <a:r>
              <a:rPr lang="en-CA" dirty="0">
                <a:latin typeface="Verdana" panose="020B0604030504040204" pitchFamily="34" charset="0"/>
                <a:ea typeface="Verdana" panose="020B0604030504040204" pitchFamily="34" charset="0"/>
              </a:rPr>
              <a:t>photovoltaic electricity. A </a:t>
            </a:r>
            <a:r>
              <a:rPr lang="en-US" dirty="0">
                <a:latin typeface="Verdana" panose="020B0604030504040204" pitchFamily="34" charset="0"/>
                <a:ea typeface="Verdana" panose="020B0604030504040204" pitchFamily="34" charset="0"/>
              </a:rPr>
              <a:t>semiconductor such as silicon is that a junction formed with n-type and p-type semi-conductor materials enhances the flow of electrons and holes. </a:t>
            </a:r>
          </a:p>
          <a:p>
            <a:endParaRPr lang="en-CA"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a:extLst>
              <a:ext uri="{FF2B5EF4-FFF2-40B4-BE49-F238E27FC236}">
                <a16:creationId xmlns:a16="http://schemas.microsoft.com/office/drawing/2014/main" id="{D05FAF69-E044-410A-BB54-6CABCC7680F4}"/>
              </a:ext>
            </a:extLst>
          </p:cNvPr>
          <p:cNvPicPr>
            <a:picLocks noChangeAspect="1"/>
          </p:cNvPicPr>
          <p:nvPr/>
        </p:nvPicPr>
        <p:blipFill>
          <a:blip r:embed="rId2"/>
          <a:stretch>
            <a:fillRect/>
          </a:stretch>
        </p:blipFill>
        <p:spPr>
          <a:xfrm>
            <a:off x="1881187" y="3811726"/>
            <a:ext cx="5381625" cy="2943323"/>
          </a:xfrm>
          <a:prstGeom prst="rect">
            <a:avLst/>
          </a:prstGeom>
        </p:spPr>
      </p:pic>
    </p:spTree>
    <p:extLst>
      <p:ext uri="{BB962C8B-B14F-4D97-AF65-F5344CB8AC3E}">
        <p14:creationId xmlns:p14="http://schemas.microsoft.com/office/powerpoint/2010/main" val="25646526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9D32F-F2E3-4B58-8FF6-80594536C2DE}"/>
              </a:ext>
            </a:extLst>
          </p:cNvPr>
          <p:cNvSpPr>
            <a:spLocks noGrp="1"/>
          </p:cNvSpPr>
          <p:nvPr>
            <p:ph type="title"/>
          </p:nvPr>
        </p:nvSpPr>
        <p:spPr/>
        <p:txBody>
          <a:bodyPr/>
          <a:lstStyle/>
          <a:p>
            <a:r>
              <a:rPr lang="en-CA" dirty="0"/>
              <a:t>Operation of PV Cells</a:t>
            </a:r>
          </a:p>
        </p:txBody>
      </p:sp>
      <p:sp>
        <p:nvSpPr>
          <p:cNvPr id="3" name="Slide Number Placeholder 2">
            <a:extLst>
              <a:ext uri="{FF2B5EF4-FFF2-40B4-BE49-F238E27FC236}">
                <a16:creationId xmlns:a16="http://schemas.microsoft.com/office/drawing/2014/main" id="{B3F5F8CA-E776-4E47-BF4C-CAB066FDB0B1}"/>
              </a:ext>
            </a:extLst>
          </p:cNvPr>
          <p:cNvSpPr>
            <a:spLocks noGrp="1"/>
          </p:cNvSpPr>
          <p:nvPr>
            <p:ph type="sldNum" sz="quarter" idx="12"/>
          </p:nvPr>
        </p:nvSpPr>
        <p:spPr/>
        <p:txBody>
          <a:bodyPr/>
          <a:lstStyle/>
          <a:p>
            <a:fld id="{070107C2-BA80-4C15-96AE-A43002ADF025}" type="slidenum">
              <a:rPr lang="en-US" smtClean="0"/>
              <a:t>33</a:t>
            </a:fld>
            <a:endParaRPr lang="en-US"/>
          </a:p>
        </p:txBody>
      </p:sp>
      <p:pic>
        <p:nvPicPr>
          <p:cNvPr id="11" name="Picture 10">
            <a:extLst>
              <a:ext uri="{FF2B5EF4-FFF2-40B4-BE49-F238E27FC236}">
                <a16:creationId xmlns:a16="http://schemas.microsoft.com/office/drawing/2014/main" id="{2E4E740E-B090-4959-9A2D-E7101133694B}"/>
              </a:ext>
            </a:extLst>
          </p:cNvPr>
          <p:cNvPicPr>
            <a:picLocks noChangeAspect="1"/>
          </p:cNvPicPr>
          <p:nvPr/>
        </p:nvPicPr>
        <p:blipFill>
          <a:blip r:embed="rId2"/>
          <a:stretch>
            <a:fillRect/>
          </a:stretch>
        </p:blipFill>
        <p:spPr>
          <a:xfrm>
            <a:off x="3276600" y="4494623"/>
            <a:ext cx="3038476" cy="2214563"/>
          </a:xfrm>
          <a:prstGeom prst="rect">
            <a:avLst/>
          </a:prstGeom>
        </p:spPr>
      </p:pic>
      <p:pic>
        <p:nvPicPr>
          <p:cNvPr id="13" name="Picture 12">
            <a:extLst>
              <a:ext uri="{FF2B5EF4-FFF2-40B4-BE49-F238E27FC236}">
                <a16:creationId xmlns:a16="http://schemas.microsoft.com/office/drawing/2014/main" id="{6FA1CF40-671A-43CB-970C-1F4A22AAD6A1}"/>
              </a:ext>
            </a:extLst>
          </p:cNvPr>
          <p:cNvPicPr>
            <a:picLocks noChangeAspect="1"/>
          </p:cNvPicPr>
          <p:nvPr/>
        </p:nvPicPr>
        <p:blipFill>
          <a:blip r:embed="rId3"/>
          <a:stretch>
            <a:fillRect/>
          </a:stretch>
        </p:blipFill>
        <p:spPr>
          <a:xfrm>
            <a:off x="76200" y="4534989"/>
            <a:ext cx="3276600" cy="2246811"/>
          </a:xfrm>
          <a:prstGeom prst="rect">
            <a:avLst/>
          </a:prstGeom>
        </p:spPr>
      </p:pic>
      <p:pic>
        <p:nvPicPr>
          <p:cNvPr id="15" name="Picture 14">
            <a:extLst>
              <a:ext uri="{FF2B5EF4-FFF2-40B4-BE49-F238E27FC236}">
                <a16:creationId xmlns:a16="http://schemas.microsoft.com/office/drawing/2014/main" id="{996C07F1-3EF9-4D32-9D0E-FD0468850B4D}"/>
              </a:ext>
            </a:extLst>
          </p:cNvPr>
          <p:cNvPicPr>
            <a:picLocks noChangeAspect="1"/>
          </p:cNvPicPr>
          <p:nvPr/>
        </p:nvPicPr>
        <p:blipFill>
          <a:blip r:embed="rId4"/>
          <a:stretch>
            <a:fillRect/>
          </a:stretch>
        </p:blipFill>
        <p:spPr>
          <a:xfrm>
            <a:off x="5988344" y="4494623"/>
            <a:ext cx="3155656" cy="2307724"/>
          </a:xfrm>
          <a:prstGeom prst="rect">
            <a:avLst/>
          </a:prstGeom>
        </p:spPr>
      </p:pic>
      <p:pic>
        <p:nvPicPr>
          <p:cNvPr id="17" name="Picture 16">
            <a:extLst>
              <a:ext uri="{FF2B5EF4-FFF2-40B4-BE49-F238E27FC236}">
                <a16:creationId xmlns:a16="http://schemas.microsoft.com/office/drawing/2014/main" id="{C8A9C585-DF45-43EC-90B1-0ACDC0DB1B88}"/>
              </a:ext>
            </a:extLst>
          </p:cNvPr>
          <p:cNvPicPr>
            <a:picLocks noChangeAspect="1"/>
          </p:cNvPicPr>
          <p:nvPr/>
        </p:nvPicPr>
        <p:blipFill>
          <a:blip r:embed="rId5"/>
          <a:stretch>
            <a:fillRect/>
          </a:stretch>
        </p:blipFill>
        <p:spPr>
          <a:xfrm>
            <a:off x="5678865" y="1985139"/>
            <a:ext cx="3276600" cy="2322425"/>
          </a:xfrm>
          <a:prstGeom prst="rect">
            <a:avLst/>
          </a:prstGeom>
        </p:spPr>
      </p:pic>
      <p:sp>
        <p:nvSpPr>
          <p:cNvPr id="19" name="TextBox 18">
            <a:extLst>
              <a:ext uri="{FF2B5EF4-FFF2-40B4-BE49-F238E27FC236}">
                <a16:creationId xmlns:a16="http://schemas.microsoft.com/office/drawing/2014/main" id="{516003B4-1353-4B77-B15D-5692658FC6DF}"/>
              </a:ext>
            </a:extLst>
          </p:cNvPr>
          <p:cNvSpPr txBox="1"/>
          <p:nvPr/>
        </p:nvSpPr>
        <p:spPr>
          <a:xfrm>
            <a:off x="381000" y="2429046"/>
            <a:ext cx="5069265" cy="1754326"/>
          </a:xfrm>
          <a:prstGeom prst="rect">
            <a:avLst/>
          </a:prstGeom>
          <a:noFill/>
        </p:spPr>
        <p:txBody>
          <a:bodyPr wrap="square">
            <a:spAutoFit/>
          </a:bodyPr>
          <a:lstStyle/>
          <a:p>
            <a:r>
              <a:rPr lang="en-US" dirty="0">
                <a:effectLst/>
              </a:rPr>
              <a:t>If the incident photon is energetic enough to dislodge a valence electron, the electron will jump to the conduction band and </a:t>
            </a:r>
            <a:r>
              <a:rPr lang="en-US" b="1" dirty="0">
                <a:effectLst/>
              </a:rPr>
              <a:t>initiate a current flow</a:t>
            </a:r>
            <a:r>
              <a:rPr lang="en-US" dirty="0">
                <a:effectLst/>
              </a:rPr>
              <a:t>. For an electron to be forced from the valence band to the conduction band, the electron must possess </a:t>
            </a:r>
            <a:r>
              <a:rPr lang="en-US" b="1" dirty="0">
                <a:effectLst/>
              </a:rPr>
              <a:t>at least the band gap energy</a:t>
            </a:r>
            <a:r>
              <a:rPr lang="en-US" dirty="0">
                <a:effectLst/>
              </a:rPr>
              <a:t>. </a:t>
            </a:r>
          </a:p>
        </p:txBody>
      </p:sp>
    </p:spTree>
    <p:extLst>
      <p:ext uri="{BB962C8B-B14F-4D97-AF65-F5344CB8AC3E}">
        <p14:creationId xmlns:p14="http://schemas.microsoft.com/office/powerpoint/2010/main" val="8599239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200" dirty="0"/>
              <a:t>Characteristics of photovoltaic cells</a:t>
            </a:r>
            <a:br>
              <a:rPr lang="en-CA" sz="3200" dirty="0"/>
            </a:br>
            <a:r>
              <a:rPr lang="en-CA" sz="3200" dirty="0"/>
              <a:t>Band Gap Energy</a:t>
            </a:r>
            <a:endParaRPr lang="en-US" sz="3200" dirty="0"/>
          </a:p>
        </p:txBody>
      </p:sp>
      <p:sp>
        <p:nvSpPr>
          <p:cNvPr id="4" name="Slide Number Placeholder 3"/>
          <p:cNvSpPr>
            <a:spLocks noGrp="1"/>
          </p:cNvSpPr>
          <p:nvPr>
            <p:ph type="sldNum" sz="quarter" idx="12"/>
          </p:nvPr>
        </p:nvSpPr>
        <p:spPr/>
        <p:txBody>
          <a:bodyPr/>
          <a:lstStyle/>
          <a:p>
            <a:fld id="{070107C2-BA80-4C15-96AE-A43002ADF025}" type="slidenum">
              <a:rPr lang="en-US" smtClean="0"/>
              <a:t>34</a:t>
            </a:fld>
            <a:endParaRPr lang="en-US"/>
          </a:p>
        </p:txBody>
      </p:sp>
      <p:sp>
        <p:nvSpPr>
          <p:cNvPr id="5" name="Rectangle 4"/>
          <p:cNvSpPr/>
          <p:nvPr/>
        </p:nvSpPr>
        <p:spPr>
          <a:xfrm>
            <a:off x="609600" y="3048000"/>
            <a:ext cx="8077200" cy="1938992"/>
          </a:xfrm>
          <a:prstGeom prst="rect">
            <a:avLst/>
          </a:prstGeom>
        </p:spPr>
        <p:txBody>
          <a:bodyPr wrap="square">
            <a:spAutoFit/>
          </a:bodyPr>
          <a:lstStyle/>
          <a:p>
            <a:r>
              <a:rPr lang="en-CA" sz="2000" dirty="0">
                <a:latin typeface="Verdana" panose="020B0604030504040204" pitchFamily="34" charset="0"/>
                <a:ea typeface="Verdana" panose="020B0604030504040204" pitchFamily="34" charset="0"/>
                <a:cs typeface="Verdana" panose="020B0604030504040204" pitchFamily="34" charset="0"/>
              </a:rPr>
              <a:t>In order to create electron-hole pairs (an hence an electric current) photons must have energy equal to (or greater than) the energy associated with the energy gap.</a:t>
            </a:r>
          </a:p>
          <a:p>
            <a:endParaRPr lang="en-CA" sz="2000" dirty="0">
              <a:latin typeface="Verdana" panose="020B0604030504040204" pitchFamily="34" charset="0"/>
              <a:ea typeface="Verdana" panose="020B0604030504040204" pitchFamily="34" charset="0"/>
              <a:cs typeface="Verdana" panose="020B0604030504040204" pitchFamily="34" charset="0"/>
            </a:endParaRPr>
          </a:p>
          <a:p>
            <a:r>
              <a:rPr lang="en-CA" sz="2000" dirty="0">
                <a:latin typeface="Verdana" panose="020B0604030504040204" pitchFamily="34" charset="0"/>
                <a:ea typeface="Verdana" panose="020B0604030504040204" pitchFamily="34" charset="0"/>
                <a:cs typeface="Verdana" panose="020B0604030504040204" pitchFamily="34" charset="0"/>
              </a:rPr>
              <a:t>Different semiconducting materials have different energy gaps and hence different spectral responses.</a:t>
            </a:r>
          </a:p>
        </p:txBody>
      </p:sp>
    </p:spTree>
    <p:extLst>
      <p:ext uri="{BB962C8B-B14F-4D97-AF65-F5344CB8AC3E}">
        <p14:creationId xmlns:p14="http://schemas.microsoft.com/office/powerpoint/2010/main" val="9585516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A2ECE-808D-4ED1-855A-07764B28C524}"/>
              </a:ext>
            </a:extLst>
          </p:cNvPr>
          <p:cNvSpPr>
            <a:spLocks noGrp="1"/>
          </p:cNvSpPr>
          <p:nvPr>
            <p:ph type="title"/>
          </p:nvPr>
        </p:nvSpPr>
        <p:spPr/>
        <p:txBody>
          <a:bodyPr/>
          <a:lstStyle/>
          <a:p>
            <a:r>
              <a:rPr lang="en-CA" dirty="0"/>
              <a:t>Band Gap Energy</a:t>
            </a:r>
          </a:p>
        </p:txBody>
      </p:sp>
      <p:sp>
        <p:nvSpPr>
          <p:cNvPr id="3" name="Slide Number Placeholder 2">
            <a:extLst>
              <a:ext uri="{FF2B5EF4-FFF2-40B4-BE49-F238E27FC236}">
                <a16:creationId xmlns:a16="http://schemas.microsoft.com/office/drawing/2014/main" id="{93D5AD3A-AE99-495B-9BB4-6C8178818B71}"/>
              </a:ext>
            </a:extLst>
          </p:cNvPr>
          <p:cNvSpPr>
            <a:spLocks noGrp="1"/>
          </p:cNvSpPr>
          <p:nvPr>
            <p:ph type="sldNum" sz="quarter" idx="12"/>
          </p:nvPr>
        </p:nvSpPr>
        <p:spPr/>
        <p:txBody>
          <a:bodyPr/>
          <a:lstStyle/>
          <a:p>
            <a:fld id="{070107C2-BA80-4C15-96AE-A43002ADF025}" type="slidenum">
              <a:rPr lang="en-US" smtClean="0"/>
              <a:t>35</a:t>
            </a:fld>
            <a:endParaRPr lang="en-US"/>
          </a:p>
        </p:txBody>
      </p:sp>
      <p:pic>
        <p:nvPicPr>
          <p:cNvPr id="5" name="Picture 4">
            <a:extLst>
              <a:ext uri="{FF2B5EF4-FFF2-40B4-BE49-F238E27FC236}">
                <a16:creationId xmlns:a16="http://schemas.microsoft.com/office/drawing/2014/main" id="{0D14C16C-840C-4874-AF67-37E6A8F79E66}"/>
              </a:ext>
            </a:extLst>
          </p:cNvPr>
          <p:cNvPicPr>
            <a:picLocks noChangeAspect="1"/>
          </p:cNvPicPr>
          <p:nvPr/>
        </p:nvPicPr>
        <p:blipFill>
          <a:blip r:embed="rId2"/>
          <a:stretch>
            <a:fillRect/>
          </a:stretch>
        </p:blipFill>
        <p:spPr>
          <a:xfrm>
            <a:off x="1676400" y="2590800"/>
            <a:ext cx="5486400" cy="2514600"/>
          </a:xfrm>
          <a:prstGeom prst="rect">
            <a:avLst/>
          </a:prstGeom>
        </p:spPr>
      </p:pic>
      <p:pic>
        <p:nvPicPr>
          <p:cNvPr id="6" name="Picture 5">
            <a:extLst>
              <a:ext uri="{FF2B5EF4-FFF2-40B4-BE49-F238E27FC236}">
                <a16:creationId xmlns:a16="http://schemas.microsoft.com/office/drawing/2014/main" id="{4ADEB7C1-2A46-48AE-B181-09C1215950CF}"/>
              </a:ext>
            </a:extLst>
          </p:cNvPr>
          <p:cNvPicPr>
            <a:picLocks noChangeAspect="1"/>
          </p:cNvPicPr>
          <p:nvPr/>
        </p:nvPicPr>
        <p:blipFill rotWithShape="1">
          <a:blip r:embed="rId3"/>
          <a:srcRect r="51640"/>
          <a:stretch/>
        </p:blipFill>
        <p:spPr>
          <a:xfrm>
            <a:off x="5356968" y="5567672"/>
            <a:ext cx="3611663" cy="1097375"/>
          </a:xfrm>
          <a:prstGeom prst="rect">
            <a:avLst/>
          </a:prstGeom>
          <a:ln>
            <a:solidFill>
              <a:schemeClr val="tx1"/>
            </a:solidFill>
          </a:ln>
        </p:spPr>
      </p:pic>
      <p:sp>
        <p:nvSpPr>
          <p:cNvPr id="8" name="TextBox 7">
            <a:extLst>
              <a:ext uri="{FF2B5EF4-FFF2-40B4-BE49-F238E27FC236}">
                <a16:creationId xmlns:a16="http://schemas.microsoft.com/office/drawing/2014/main" id="{6A8EA10C-BDDB-4ECD-9D85-B4B7339596A3}"/>
              </a:ext>
            </a:extLst>
          </p:cNvPr>
          <p:cNvSpPr txBox="1"/>
          <p:nvPr/>
        </p:nvSpPr>
        <p:spPr>
          <a:xfrm>
            <a:off x="208960" y="5464718"/>
            <a:ext cx="4572000" cy="1200329"/>
          </a:xfrm>
          <a:prstGeom prst="rect">
            <a:avLst/>
          </a:prstGeom>
          <a:noFill/>
        </p:spPr>
        <p:txBody>
          <a:bodyPr wrap="square">
            <a:spAutoFit/>
          </a:bodyPr>
          <a:lstStyle/>
          <a:p>
            <a:r>
              <a:rPr lang="en-US" dirty="0">
                <a:effectLst/>
              </a:rPr>
              <a:t>For an electron to be forced from the valence band to the conduction band, the electron must have gained </a:t>
            </a:r>
            <a:r>
              <a:rPr lang="en-US" b="1" dirty="0">
                <a:effectLst/>
              </a:rPr>
              <a:t>at least the band gap energy from interaction with photon</a:t>
            </a:r>
            <a:r>
              <a:rPr lang="en-US" dirty="0">
                <a:effectLst/>
              </a:rPr>
              <a:t>. </a:t>
            </a:r>
            <a:endParaRPr lang="en-CA" dirty="0"/>
          </a:p>
        </p:txBody>
      </p:sp>
      <p:sp>
        <p:nvSpPr>
          <p:cNvPr id="10" name="TextBox 9">
            <a:extLst>
              <a:ext uri="{FF2B5EF4-FFF2-40B4-BE49-F238E27FC236}">
                <a16:creationId xmlns:a16="http://schemas.microsoft.com/office/drawing/2014/main" id="{792AA5C6-FDCD-4CF4-8A27-343C94A2874B}"/>
              </a:ext>
            </a:extLst>
          </p:cNvPr>
          <p:cNvSpPr txBox="1"/>
          <p:nvPr/>
        </p:nvSpPr>
        <p:spPr>
          <a:xfrm>
            <a:off x="6019800" y="5126809"/>
            <a:ext cx="2286000" cy="369332"/>
          </a:xfrm>
          <a:prstGeom prst="rect">
            <a:avLst/>
          </a:prstGeom>
          <a:noFill/>
        </p:spPr>
        <p:txBody>
          <a:bodyPr wrap="square">
            <a:spAutoFit/>
          </a:bodyPr>
          <a:lstStyle/>
          <a:p>
            <a:r>
              <a:rPr lang="en-US" dirty="0">
                <a:effectLst/>
              </a:rPr>
              <a:t>Photon’s energy:</a:t>
            </a:r>
            <a:endParaRPr lang="en-CA" dirty="0"/>
          </a:p>
        </p:txBody>
      </p:sp>
    </p:spTree>
    <p:extLst>
      <p:ext uri="{BB962C8B-B14F-4D97-AF65-F5344CB8AC3E}">
        <p14:creationId xmlns:p14="http://schemas.microsoft.com/office/powerpoint/2010/main" val="33993199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C9650-1EA8-4742-9D56-BA9AA6B4AC38}"/>
              </a:ext>
            </a:extLst>
          </p:cNvPr>
          <p:cNvSpPr>
            <a:spLocks noGrp="1"/>
          </p:cNvSpPr>
          <p:nvPr>
            <p:ph type="title"/>
          </p:nvPr>
        </p:nvSpPr>
        <p:spPr/>
        <p:txBody>
          <a:bodyPr/>
          <a:lstStyle/>
          <a:p>
            <a:r>
              <a:rPr lang="en-CA" dirty="0"/>
              <a:t>Excess Energy and Cell Efficiency</a:t>
            </a:r>
          </a:p>
        </p:txBody>
      </p:sp>
      <p:sp>
        <p:nvSpPr>
          <p:cNvPr id="3" name="Slide Number Placeholder 2">
            <a:extLst>
              <a:ext uri="{FF2B5EF4-FFF2-40B4-BE49-F238E27FC236}">
                <a16:creationId xmlns:a16="http://schemas.microsoft.com/office/drawing/2014/main" id="{5440AD89-CB47-4CE6-AF1B-875B2A8C829B}"/>
              </a:ext>
            </a:extLst>
          </p:cNvPr>
          <p:cNvSpPr>
            <a:spLocks noGrp="1"/>
          </p:cNvSpPr>
          <p:nvPr>
            <p:ph type="sldNum" sz="quarter" idx="12"/>
          </p:nvPr>
        </p:nvSpPr>
        <p:spPr/>
        <p:txBody>
          <a:bodyPr/>
          <a:lstStyle/>
          <a:p>
            <a:fld id="{070107C2-BA80-4C15-96AE-A43002ADF025}" type="slidenum">
              <a:rPr lang="en-US" smtClean="0"/>
              <a:t>36</a:t>
            </a:fld>
            <a:endParaRPr lang="en-US"/>
          </a:p>
        </p:txBody>
      </p:sp>
      <p:pic>
        <p:nvPicPr>
          <p:cNvPr id="5" name="Picture 4">
            <a:extLst>
              <a:ext uri="{FF2B5EF4-FFF2-40B4-BE49-F238E27FC236}">
                <a16:creationId xmlns:a16="http://schemas.microsoft.com/office/drawing/2014/main" id="{A50F906F-3F9A-40EE-99CA-CCA85C0EA774}"/>
              </a:ext>
            </a:extLst>
          </p:cNvPr>
          <p:cNvPicPr>
            <a:picLocks noChangeAspect="1"/>
          </p:cNvPicPr>
          <p:nvPr/>
        </p:nvPicPr>
        <p:blipFill>
          <a:blip r:embed="rId2"/>
          <a:stretch>
            <a:fillRect/>
          </a:stretch>
        </p:blipFill>
        <p:spPr>
          <a:xfrm>
            <a:off x="1447800" y="1371600"/>
            <a:ext cx="5677294" cy="3393156"/>
          </a:xfrm>
          <a:prstGeom prst="rect">
            <a:avLst/>
          </a:prstGeom>
        </p:spPr>
      </p:pic>
      <p:pic>
        <p:nvPicPr>
          <p:cNvPr id="7" name="Picture 6">
            <a:extLst>
              <a:ext uri="{FF2B5EF4-FFF2-40B4-BE49-F238E27FC236}">
                <a16:creationId xmlns:a16="http://schemas.microsoft.com/office/drawing/2014/main" id="{C5887CB7-3FD2-45E5-A678-B9CB8D74A619}"/>
              </a:ext>
            </a:extLst>
          </p:cNvPr>
          <p:cNvPicPr>
            <a:picLocks noChangeAspect="1"/>
          </p:cNvPicPr>
          <p:nvPr/>
        </p:nvPicPr>
        <p:blipFill>
          <a:blip r:embed="rId3"/>
          <a:stretch>
            <a:fillRect/>
          </a:stretch>
        </p:blipFill>
        <p:spPr>
          <a:xfrm>
            <a:off x="2057400" y="4943674"/>
            <a:ext cx="4638675" cy="1731243"/>
          </a:xfrm>
          <a:prstGeom prst="rect">
            <a:avLst/>
          </a:prstGeom>
        </p:spPr>
      </p:pic>
    </p:spTree>
    <p:extLst>
      <p:ext uri="{BB962C8B-B14F-4D97-AF65-F5344CB8AC3E}">
        <p14:creationId xmlns:p14="http://schemas.microsoft.com/office/powerpoint/2010/main" val="40725966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8D02D-B156-4235-852F-667161EEE13D}"/>
              </a:ext>
            </a:extLst>
          </p:cNvPr>
          <p:cNvSpPr>
            <a:spLocks noGrp="1"/>
          </p:cNvSpPr>
          <p:nvPr>
            <p:ph type="title"/>
          </p:nvPr>
        </p:nvSpPr>
        <p:spPr/>
        <p:txBody>
          <a:bodyPr/>
          <a:lstStyle/>
          <a:p>
            <a:r>
              <a:rPr lang="en-CA" dirty="0"/>
              <a:t>Photovoltaic Cell Performance</a:t>
            </a:r>
          </a:p>
        </p:txBody>
      </p:sp>
      <p:sp>
        <p:nvSpPr>
          <p:cNvPr id="3" name="Slide Number Placeholder 2">
            <a:extLst>
              <a:ext uri="{FF2B5EF4-FFF2-40B4-BE49-F238E27FC236}">
                <a16:creationId xmlns:a16="http://schemas.microsoft.com/office/drawing/2014/main" id="{07643F5D-034E-456F-BC1C-5761B055D6A7}"/>
              </a:ext>
            </a:extLst>
          </p:cNvPr>
          <p:cNvSpPr>
            <a:spLocks noGrp="1"/>
          </p:cNvSpPr>
          <p:nvPr>
            <p:ph type="sldNum" sz="quarter" idx="12"/>
          </p:nvPr>
        </p:nvSpPr>
        <p:spPr/>
        <p:txBody>
          <a:bodyPr/>
          <a:lstStyle/>
          <a:p>
            <a:fld id="{070107C2-BA80-4C15-96AE-A43002ADF025}" type="slidenum">
              <a:rPr lang="en-US" smtClean="0"/>
              <a:t>37</a:t>
            </a:fld>
            <a:endParaRPr lang="en-US"/>
          </a:p>
        </p:txBody>
      </p:sp>
      <p:pic>
        <p:nvPicPr>
          <p:cNvPr id="5" name="Picture 4">
            <a:extLst>
              <a:ext uri="{FF2B5EF4-FFF2-40B4-BE49-F238E27FC236}">
                <a16:creationId xmlns:a16="http://schemas.microsoft.com/office/drawing/2014/main" id="{686F2251-AEBC-44AA-9B88-DB47C2E3F11D}"/>
              </a:ext>
            </a:extLst>
          </p:cNvPr>
          <p:cNvPicPr>
            <a:picLocks noChangeAspect="1"/>
          </p:cNvPicPr>
          <p:nvPr/>
        </p:nvPicPr>
        <p:blipFill>
          <a:blip r:embed="rId2"/>
          <a:stretch>
            <a:fillRect/>
          </a:stretch>
        </p:blipFill>
        <p:spPr>
          <a:xfrm>
            <a:off x="4967802" y="2632054"/>
            <a:ext cx="3999986" cy="2168546"/>
          </a:xfrm>
          <a:prstGeom prst="rect">
            <a:avLst/>
          </a:prstGeom>
        </p:spPr>
      </p:pic>
      <p:pic>
        <p:nvPicPr>
          <p:cNvPr id="7" name="Picture 6">
            <a:extLst>
              <a:ext uri="{FF2B5EF4-FFF2-40B4-BE49-F238E27FC236}">
                <a16:creationId xmlns:a16="http://schemas.microsoft.com/office/drawing/2014/main" id="{49394847-812B-4476-9856-8808BE6AFFEC}"/>
              </a:ext>
            </a:extLst>
          </p:cNvPr>
          <p:cNvPicPr>
            <a:picLocks noChangeAspect="1"/>
          </p:cNvPicPr>
          <p:nvPr/>
        </p:nvPicPr>
        <p:blipFill>
          <a:blip r:embed="rId3"/>
          <a:stretch>
            <a:fillRect/>
          </a:stretch>
        </p:blipFill>
        <p:spPr>
          <a:xfrm>
            <a:off x="9264" y="2261383"/>
            <a:ext cx="4934971" cy="2909888"/>
          </a:xfrm>
          <a:prstGeom prst="rect">
            <a:avLst/>
          </a:prstGeom>
        </p:spPr>
      </p:pic>
      <p:sp>
        <p:nvSpPr>
          <p:cNvPr id="9" name="TextBox 8">
            <a:extLst>
              <a:ext uri="{FF2B5EF4-FFF2-40B4-BE49-F238E27FC236}">
                <a16:creationId xmlns:a16="http://schemas.microsoft.com/office/drawing/2014/main" id="{8CE9DF18-7826-44B0-89E5-3A2757F663FB}"/>
              </a:ext>
            </a:extLst>
          </p:cNvPr>
          <p:cNvSpPr txBox="1"/>
          <p:nvPr/>
        </p:nvSpPr>
        <p:spPr>
          <a:xfrm>
            <a:off x="685800" y="5324954"/>
            <a:ext cx="4572000" cy="1200329"/>
          </a:xfrm>
          <a:prstGeom prst="rect">
            <a:avLst/>
          </a:prstGeom>
          <a:noFill/>
        </p:spPr>
        <p:txBody>
          <a:bodyPr wrap="square">
            <a:spAutoFit/>
          </a:bodyPr>
          <a:lstStyle/>
          <a:p>
            <a:r>
              <a:rPr lang="en-US" dirty="0"/>
              <a:t>Current voltage (IV) cure of a solar cell. To get the maximum power output of a solar cell it needs to operate at the maximum power point, P</a:t>
            </a:r>
            <a:r>
              <a:rPr lang="en-US" baseline="-25000" dirty="0"/>
              <a:t>MP</a:t>
            </a:r>
            <a:r>
              <a:rPr lang="en-US" dirty="0"/>
              <a:t>.</a:t>
            </a:r>
            <a:endParaRPr lang="en-CA" dirty="0"/>
          </a:p>
        </p:txBody>
      </p:sp>
    </p:spTree>
    <p:extLst>
      <p:ext uri="{BB962C8B-B14F-4D97-AF65-F5344CB8AC3E}">
        <p14:creationId xmlns:p14="http://schemas.microsoft.com/office/powerpoint/2010/main" val="14625732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DEF3E-7700-4609-91A8-58A24A29E35F}"/>
              </a:ext>
            </a:extLst>
          </p:cNvPr>
          <p:cNvSpPr>
            <a:spLocks noGrp="1"/>
          </p:cNvSpPr>
          <p:nvPr>
            <p:ph type="title"/>
          </p:nvPr>
        </p:nvSpPr>
        <p:spPr/>
        <p:txBody>
          <a:bodyPr/>
          <a:lstStyle/>
          <a:p>
            <a:r>
              <a:rPr lang="en-CA" dirty="0"/>
              <a:t>Fill Factor</a:t>
            </a:r>
          </a:p>
        </p:txBody>
      </p:sp>
      <p:sp>
        <p:nvSpPr>
          <p:cNvPr id="3" name="Slide Number Placeholder 2">
            <a:extLst>
              <a:ext uri="{FF2B5EF4-FFF2-40B4-BE49-F238E27FC236}">
                <a16:creationId xmlns:a16="http://schemas.microsoft.com/office/drawing/2014/main" id="{8EDA8F66-2B45-42EA-BB8B-4F76617D495D}"/>
              </a:ext>
            </a:extLst>
          </p:cNvPr>
          <p:cNvSpPr>
            <a:spLocks noGrp="1"/>
          </p:cNvSpPr>
          <p:nvPr>
            <p:ph type="sldNum" sz="quarter" idx="12"/>
          </p:nvPr>
        </p:nvSpPr>
        <p:spPr/>
        <p:txBody>
          <a:bodyPr/>
          <a:lstStyle/>
          <a:p>
            <a:fld id="{070107C2-BA80-4C15-96AE-A43002ADF025}" type="slidenum">
              <a:rPr lang="en-US" smtClean="0"/>
              <a:t>38</a:t>
            </a:fld>
            <a:endParaRPr lang="en-US"/>
          </a:p>
        </p:txBody>
      </p:sp>
      <p:sp>
        <p:nvSpPr>
          <p:cNvPr id="4" name="TextBox 3">
            <a:extLst>
              <a:ext uri="{FF2B5EF4-FFF2-40B4-BE49-F238E27FC236}">
                <a16:creationId xmlns:a16="http://schemas.microsoft.com/office/drawing/2014/main" id="{DB7E8FA6-4E85-48D0-83FD-7717D43F22B7}"/>
              </a:ext>
            </a:extLst>
          </p:cNvPr>
          <p:cNvSpPr txBox="1"/>
          <p:nvPr/>
        </p:nvSpPr>
        <p:spPr>
          <a:xfrm>
            <a:off x="340700" y="2550369"/>
            <a:ext cx="8462600" cy="923330"/>
          </a:xfrm>
          <a:prstGeom prst="rect">
            <a:avLst/>
          </a:prstGeom>
          <a:noFill/>
        </p:spPr>
        <p:txBody>
          <a:bodyPr wrap="square">
            <a:spAutoFit/>
          </a:bodyPr>
          <a:lstStyle/>
          <a:p>
            <a:r>
              <a:rPr lang="en-US" b="1" dirty="0"/>
              <a:t>F</a:t>
            </a:r>
            <a:r>
              <a:rPr lang="en-US" b="1" dirty="0">
                <a:effectLst/>
              </a:rPr>
              <a:t>ill factor (FF) </a:t>
            </a:r>
            <a:r>
              <a:rPr lang="en-US" dirty="0">
                <a:effectLst/>
              </a:rPr>
              <a:t>is used to evaluate the actual maximum value of P relative to this upper bound; </a:t>
            </a:r>
          </a:p>
          <a:p>
            <a:r>
              <a:rPr lang="en-US" dirty="0"/>
              <a:t>NOTE: </a:t>
            </a:r>
            <a:r>
              <a:rPr lang="en-US" dirty="0">
                <a:effectLst/>
              </a:rPr>
              <a:t>FF is different than efficiency</a:t>
            </a:r>
          </a:p>
        </p:txBody>
      </p:sp>
      <p:pic>
        <p:nvPicPr>
          <p:cNvPr id="6" name="Picture 5">
            <a:extLst>
              <a:ext uri="{FF2B5EF4-FFF2-40B4-BE49-F238E27FC236}">
                <a16:creationId xmlns:a16="http://schemas.microsoft.com/office/drawing/2014/main" id="{FE621246-B8AD-4FA9-9052-3B81EE045FC5}"/>
              </a:ext>
            </a:extLst>
          </p:cNvPr>
          <p:cNvPicPr>
            <a:picLocks noChangeAspect="1"/>
          </p:cNvPicPr>
          <p:nvPr/>
        </p:nvPicPr>
        <p:blipFill>
          <a:blip r:embed="rId2"/>
          <a:stretch>
            <a:fillRect/>
          </a:stretch>
        </p:blipFill>
        <p:spPr>
          <a:xfrm>
            <a:off x="472440" y="3641369"/>
            <a:ext cx="5212481" cy="3203154"/>
          </a:xfrm>
          <a:prstGeom prst="rect">
            <a:avLst/>
          </a:prstGeom>
        </p:spPr>
      </p:pic>
      <p:pic>
        <p:nvPicPr>
          <p:cNvPr id="8" name="Picture 7">
            <a:extLst>
              <a:ext uri="{FF2B5EF4-FFF2-40B4-BE49-F238E27FC236}">
                <a16:creationId xmlns:a16="http://schemas.microsoft.com/office/drawing/2014/main" id="{4F6316F5-1E72-4416-91DA-FF1E7926C69F}"/>
              </a:ext>
            </a:extLst>
          </p:cNvPr>
          <p:cNvPicPr>
            <a:picLocks noChangeAspect="1"/>
          </p:cNvPicPr>
          <p:nvPr/>
        </p:nvPicPr>
        <p:blipFill>
          <a:blip r:embed="rId3"/>
          <a:stretch>
            <a:fillRect/>
          </a:stretch>
        </p:blipFill>
        <p:spPr>
          <a:xfrm>
            <a:off x="6324600" y="4058531"/>
            <a:ext cx="1447800" cy="781050"/>
          </a:xfrm>
          <a:prstGeom prst="rect">
            <a:avLst/>
          </a:prstGeom>
        </p:spPr>
      </p:pic>
    </p:spTree>
    <p:extLst>
      <p:ext uri="{BB962C8B-B14F-4D97-AF65-F5344CB8AC3E}">
        <p14:creationId xmlns:p14="http://schemas.microsoft.com/office/powerpoint/2010/main" val="19962237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0582D-19AE-4422-9BB4-618C524D3978}"/>
              </a:ext>
            </a:extLst>
          </p:cNvPr>
          <p:cNvSpPr>
            <a:spLocks noGrp="1"/>
          </p:cNvSpPr>
          <p:nvPr>
            <p:ph type="title"/>
          </p:nvPr>
        </p:nvSpPr>
        <p:spPr/>
        <p:txBody>
          <a:bodyPr/>
          <a:lstStyle/>
          <a:p>
            <a:r>
              <a:rPr lang="en-CA" dirty="0"/>
              <a:t>Efficiency</a:t>
            </a:r>
          </a:p>
        </p:txBody>
      </p:sp>
      <p:sp>
        <p:nvSpPr>
          <p:cNvPr id="3" name="Slide Number Placeholder 2">
            <a:extLst>
              <a:ext uri="{FF2B5EF4-FFF2-40B4-BE49-F238E27FC236}">
                <a16:creationId xmlns:a16="http://schemas.microsoft.com/office/drawing/2014/main" id="{DB081817-C896-42F6-955B-C8D5333480BE}"/>
              </a:ext>
            </a:extLst>
          </p:cNvPr>
          <p:cNvSpPr>
            <a:spLocks noGrp="1"/>
          </p:cNvSpPr>
          <p:nvPr>
            <p:ph type="sldNum" sz="quarter" idx="12"/>
          </p:nvPr>
        </p:nvSpPr>
        <p:spPr/>
        <p:txBody>
          <a:bodyPr/>
          <a:lstStyle/>
          <a:p>
            <a:fld id="{070107C2-BA80-4C15-96AE-A43002ADF025}" type="slidenum">
              <a:rPr lang="en-US" smtClean="0"/>
              <a:t>39</a:t>
            </a:fld>
            <a:endParaRPr lang="en-US"/>
          </a:p>
        </p:txBody>
      </p:sp>
      <p:sp>
        <p:nvSpPr>
          <p:cNvPr id="5" name="TextBox 4">
            <a:extLst>
              <a:ext uri="{FF2B5EF4-FFF2-40B4-BE49-F238E27FC236}">
                <a16:creationId xmlns:a16="http://schemas.microsoft.com/office/drawing/2014/main" id="{A3BED7AF-BA71-4B1E-997E-92CE220163A0}"/>
              </a:ext>
            </a:extLst>
          </p:cNvPr>
          <p:cNvSpPr txBox="1"/>
          <p:nvPr/>
        </p:nvSpPr>
        <p:spPr>
          <a:xfrm>
            <a:off x="426720" y="2782669"/>
            <a:ext cx="8229600" cy="646331"/>
          </a:xfrm>
          <a:prstGeom prst="rect">
            <a:avLst/>
          </a:prstGeom>
          <a:noFill/>
        </p:spPr>
        <p:txBody>
          <a:bodyPr wrap="square">
            <a:spAutoFit/>
          </a:bodyPr>
          <a:lstStyle/>
          <a:p>
            <a:r>
              <a:rPr lang="en-US" dirty="0"/>
              <a:t>The efficiency of a solar cell is determined as the fraction of incident power which is converted to electricity and is defined as:</a:t>
            </a:r>
            <a:endParaRPr lang="en-CA" dirty="0"/>
          </a:p>
        </p:txBody>
      </p:sp>
      <p:pic>
        <p:nvPicPr>
          <p:cNvPr id="7" name="Picture 6">
            <a:extLst>
              <a:ext uri="{FF2B5EF4-FFF2-40B4-BE49-F238E27FC236}">
                <a16:creationId xmlns:a16="http://schemas.microsoft.com/office/drawing/2014/main" id="{953E19F5-9A52-40BD-B646-CB6A1CC57036}"/>
              </a:ext>
            </a:extLst>
          </p:cNvPr>
          <p:cNvPicPr>
            <a:picLocks noChangeAspect="1"/>
          </p:cNvPicPr>
          <p:nvPr/>
        </p:nvPicPr>
        <p:blipFill>
          <a:blip r:embed="rId2"/>
          <a:stretch>
            <a:fillRect/>
          </a:stretch>
        </p:blipFill>
        <p:spPr>
          <a:xfrm>
            <a:off x="3019425" y="3700519"/>
            <a:ext cx="3105150" cy="2962275"/>
          </a:xfrm>
          <a:prstGeom prst="rect">
            <a:avLst/>
          </a:prstGeom>
        </p:spPr>
      </p:pic>
    </p:spTree>
    <p:extLst>
      <p:ext uri="{BB962C8B-B14F-4D97-AF65-F5344CB8AC3E}">
        <p14:creationId xmlns:p14="http://schemas.microsoft.com/office/powerpoint/2010/main" val="25244252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490F2-646C-4F44-9BED-95570D5F2758}"/>
              </a:ext>
            </a:extLst>
          </p:cNvPr>
          <p:cNvSpPr>
            <a:spLocks noGrp="1"/>
          </p:cNvSpPr>
          <p:nvPr>
            <p:ph type="title"/>
          </p:nvPr>
        </p:nvSpPr>
        <p:spPr/>
        <p:txBody>
          <a:bodyPr/>
          <a:lstStyle/>
          <a:p>
            <a:r>
              <a:rPr lang="en-CA" dirty="0"/>
              <a:t>PV Modules</a:t>
            </a:r>
          </a:p>
        </p:txBody>
      </p:sp>
      <p:sp>
        <p:nvSpPr>
          <p:cNvPr id="3" name="Slide Number Placeholder 2">
            <a:extLst>
              <a:ext uri="{FF2B5EF4-FFF2-40B4-BE49-F238E27FC236}">
                <a16:creationId xmlns:a16="http://schemas.microsoft.com/office/drawing/2014/main" id="{4505AE34-903B-4075-9559-122DBDC11883}"/>
              </a:ext>
            </a:extLst>
          </p:cNvPr>
          <p:cNvSpPr>
            <a:spLocks noGrp="1"/>
          </p:cNvSpPr>
          <p:nvPr>
            <p:ph type="sldNum" sz="quarter" idx="12"/>
          </p:nvPr>
        </p:nvSpPr>
        <p:spPr/>
        <p:txBody>
          <a:bodyPr/>
          <a:lstStyle/>
          <a:p>
            <a:fld id="{070107C2-BA80-4C15-96AE-A43002ADF025}" type="slidenum">
              <a:rPr lang="en-US" smtClean="0"/>
              <a:t>40</a:t>
            </a:fld>
            <a:endParaRPr lang="en-US"/>
          </a:p>
        </p:txBody>
      </p:sp>
      <p:pic>
        <p:nvPicPr>
          <p:cNvPr id="5" name="Picture 4">
            <a:extLst>
              <a:ext uri="{FF2B5EF4-FFF2-40B4-BE49-F238E27FC236}">
                <a16:creationId xmlns:a16="http://schemas.microsoft.com/office/drawing/2014/main" id="{EFAB39C3-1E64-40C9-A170-8DBB36AD9480}"/>
              </a:ext>
            </a:extLst>
          </p:cNvPr>
          <p:cNvPicPr>
            <a:picLocks noChangeAspect="1"/>
          </p:cNvPicPr>
          <p:nvPr/>
        </p:nvPicPr>
        <p:blipFill>
          <a:blip r:embed="rId2"/>
          <a:stretch>
            <a:fillRect/>
          </a:stretch>
        </p:blipFill>
        <p:spPr>
          <a:xfrm>
            <a:off x="457200" y="2071863"/>
            <a:ext cx="3838575" cy="4543425"/>
          </a:xfrm>
          <a:prstGeom prst="rect">
            <a:avLst/>
          </a:prstGeom>
        </p:spPr>
      </p:pic>
      <p:pic>
        <p:nvPicPr>
          <p:cNvPr id="7" name="Picture 6">
            <a:extLst>
              <a:ext uri="{FF2B5EF4-FFF2-40B4-BE49-F238E27FC236}">
                <a16:creationId xmlns:a16="http://schemas.microsoft.com/office/drawing/2014/main" id="{CF0C5CBE-28C6-4F3D-808C-2842E0C213D1}"/>
              </a:ext>
            </a:extLst>
          </p:cNvPr>
          <p:cNvPicPr>
            <a:picLocks noChangeAspect="1"/>
          </p:cNvPicPr>
          <p:nvPr/>
        </p:nvPicPr>
        <p:blipFill>
          <a:blip r:embed="rId3"/>
          <a:stretch>
            <a:fillRect/>
          </a:stretch>
        </p:blipFill>
        <p:spPr>
          <a:xfrm>
            <a:off x="5105400" y="2930009"/>
            <a:ext cx="3105150" cy="1981200"/>
          </a:xfrm>
          <a:prstGeom prst="rect">
            <a:avLst/>
          </a:prstGeom>
        </p:spPr>
      </p:pic>
      <p:sp>
        <p:nvSpPr>
          <p:cNvPr id="9" name="TextBox 8">
            <a:extLst>
              <a:ext uri="{FF2B5EF4-FFF2-40B4-BE49-F238E27FC236}">
                <a16:creationId xmlns:a16="http://schemas.microsoft.com/office/drawing/2014/main" id="{8CF44538-5D4C-4464-B0F0-A31160E557FC}"/>
              </a:ext>
            </a:extLst>
          </p:cNvPr>
          <p:cNvSpPr txBox="1"/>
          <p:nvPr/>
        </p:nvSpPr>
        <p:spPr>
          <a:xfrm>
            <a:off x="5105400" y="5105400"/>
            <a:ext cx="3581400" cy="2031325"/>
          </a:xfrm>
          <a:prstGeom prst="rect">
            <a:avLst/>
          </a:prstGeom>
          <a:noFill/>
        </p:spPr>
        <p:txBody>
          <a:bodyPr wrap="square">
            <a:spAutoFit/>
          </a:bodyPr>
          <a:lstStyle/>
          <a:p>
            <a:r>
              <a:rPr lang="en-US" dirty="0"/>
              <a:t>N is the number of cells </a:t>
            </a:r>
            <a:r>
              <a:rPr lang="en-US" b="1" dirty="0"/>
              <a:t>in series</a:t>
            </a:r>
            <a:r>
              <a:rPr lang="en-US" dirty="0"/>
              <a:t>;</a:t>
            </a:r>
            <a:br>
              <a:rPr lang="en-US" dirty="0"/>
            </a:br>
            <a:r>
              <a:rPr lang="en-US" dirty="0"/>
              <a:t>M is the number of rows;</a:t>
            </a:r>
          </a:p>
          <a:p>
            <a:endParaRPr lang="en-US" dirty="0"/>
          </a:p>
          <a:p>
            <a:r>
              <a:rPr lang="en-US" dirty="0"/>
              <a:t>M x N is the number of cells required (based on power, W) required)</a:t>
            </a:r>
          </a:p>
          <a:p>
            <a:endParaRPr lang="en-CA" dirty="0"/>
          </a:p>
        </p:txBody>
      </p:sp>
    </p:spTree>
    <p:extLst>
      <p:ext uri="{BB962C8B-B14F-4D97-AF65-F5344CB8AC3E}">
        <p14:creationId xmlns:p14="http://schemas.microsoft.com/office/powerpoint/2010/main" val="6606978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11D77-48FF-4B5A-A613-4827A99493CD}"/>
              </a:ext>
            </a:extLst>
          </p:cNvPr>
          <p:cNvSpPr>
            <a:spLocks noGrp="1"/>
          </p:cNvSpPr>
          <p:nvPr>
            <p:ph type="title"/>
          </p:nvPr>
        </p:nvSpPr>
        <p:spPr/>
        <p:txBody>
          <a:bodyPr/>
          <a:lstStyle/>
          <a:p>
            <a:r>
              <a:rPr lang="en-CA" dirty="0"/>
              <a:t>Standard Test Conditions (STC)</a:t>
            </a:r>
          </a:p>
        </p:txBody>
      </p:sp>
      <p:sp>
        <p:nvSpPr>
          <p:cNvPr id="3" name="Slide Number Placeholder 2">
            <a:extLst>
              <a:ext uri="{FF2B5EF4-FFF2-40B4-BE49-F238E27FC236}">
                <a16:creationId xmlns:a16="http://schemas.microsoft.com/office/drawing/2014/main" id="{EE75B8A8-E48A-4478-A197-44BA77DF602A}"/>
              </a:ext>
            </a:extLst>
          </p:cNvPr>
          <p:cNvSpPr>
            <a:spLocks noGrp="1"/>
          </p:cNvSpPr>
          <p:nvPr>
            <p:ph type="sldNum" sz="quarter" idx="12"/>
          </p:nvPr>
        </p:nvSpPr>
        <p:spPr/>
        <p:txBody>
          <a:bodyPr/>
          <a:lstStyle/>
          <a:p>
            <a:fld id="{070107C2-BA80-4C15-96AE-A43002ADF025}" type="slidenum">
              <a:rPr lang="en-US" smtClean="0"/>
              <a:t>41</a:t>
            </a:fld>
            <a:endParaRPr lang="en-US"/>
          </a:p>
        </p:txBody>
      </p:sp>
      <p:pic>
        <p:nvPicPr>
          <p:cNvPr id="6" name="Picture 5">
            <a:extLst>
              <a:ext uri="{FF2B5EF4-FFF2-40B4-BE49-F238E27FC236}">
                <a16:creationId xmlns:a16="http://schemas.microsoft.com/office/drawing/2014/main" id="{BBEC3D49-7707-4662-B6E0-38EA89BF42CC}"/>
              </a:ext>
            </a:extLst>
          </p:cNvPr>
          <p:cNvPicPr>
            <a:picLocks noChangeAspect="1"/>
          </p:cNvPicPr>
          <p:nvPr/>
        </p:nvPicPr>
        <p:blipFill>
          <a:blip r:embed="rId2"/>
          <a:stretch>
            <a:fillRect/>
          </a:stretch>
        </p:blipFill>
        <p:spPr>
          <a:xfrm>
            <a:off x="2879407" y="2496445"/>
            <a:ext cx="6234113" cy="4118843"/>
          </a:xfrm>
          <a:prstGeom prst="rect">
            <a:avLst/>
          </a:prstGeom>
        </p:spPr>
      </p:pic>
      <p:sp>
        <p:nvSpPr>
          <p:cNvPr id="7" name="TextBox 6">
            <a:extLst>
              <a:ext uri="{FF2B5EF4-FFF2-40B4-BE49-F238E27FC236}">
                <a16:creationId xmlns:a16="http://schemas.microsoft.com/office/drawing/2014/main" id="{79B73255-66DC-4F38-B96A-1163302D4D4A}"/>
              </a:ext>
            </a:extLst>
          </p:cNvPr>
          <p:cNvSpPr txBox="1"/>
          <p:nvPr/>
        </p:nvSpPr>
        <p:spPr>
          <a:xfrm>
            <a:off x="304800" y="2819400"/>
            <a:ext cx="3124200" cy="1938992"/>
          </a:xfrm>
          <a:prstGeom prst="rect">
            <a:avLst/>
          </a:prstGeom>
          <a:noFill/>
        </p:spPr>
        <p:txBody>
          <a:bodyPr wrap="square" rtlCol="0">
            <a:spAutoFit/>
          </a:bodyPr>
          <a:lstStyle/>
          <a:p>
            <a:r>
              <a:rPr lang="en-CA" sz="2400" dirty="0"/>
              <a:t>PV cells and panels are rated at Standard Test Conditions (STC) of </a:t>
            </a:r>
          </a:p>
          <a:p>
            <a:r>
              <a:rPr lang="en-CA" sz="2400" b="1" dirty="0"/>
              <a:t>1000 W/m</a:t>
            </a:r>
            <a:r>
              <a:rPr lang="en-CA" sz="2400" b="1" baseline="30000" dirty="0"/>
              <a:t>2</a:t>
            </a:r>
            <a:r>
              <a:rPr lang="en-CA" sz="2400" b="1" dirty="0"/>
              <a:t> </a:t>
            </a:r>
          </a:p>
          <a:p>
            <a:r>
              <a:rPr lang="en-CA" sz="2400" b="1" dirty="0"/>
              <a:t>and 25 C</a:t>
            </a:r>
          </a:p>
        </p:txBody>
      </p:sp>
    </p:spTree>
    <p:extLst>
      <p:ext uri="{BB962C8B-B14F-4D97-AF65-F5344CB8AC3E}">
        <p14:creationId xmlns:p14="http://schemas.microsoft.com/office/powerpoint/2010/main" val="40837335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05427-465B-4151-BB22-BDA0246AD89D}"/>
              </a:ext>
            </a:extLst>
          </p:cNvPr>
          <p:cNvSpPr>
            <a:spLocks noGrp="1"/>
          </p:cNvSpPr>
          <p:nvPr>
            <p:ph type="title"/>
          </p:nvPr>
        </p:nvSpPr>
        <p:spPr/>
        <p:txBody>
          <a:bodyPr/>
          <a:lstStyle/>
          <a:p>
            <a:r>
              <a:rPr lang="en-CA" dirty="0"/>
              <a:t>Estimating Energy Production</a:t>
            </a:r>
          </a:p>
        </p:txBody>
      </p:sp>
      <p:sp>
        <p:nvSpPr>
          <p:cNvPr id="3" name="Slide Number Placeholder 2">
            <a:extLst>
              <a:ext uri="{FF2B5EF4-FFF2-40B4-BE49-F238E27FC236}">
                <a16:creationId xmlns:a16="http://schemas.microsoft.com/office/drawing/2014/main" id="{FB1D7460-249E-4C11-B86D-E5A37DF652D9}"/>
              </a:ext>
            </a:extLst>
          </p:cNvPr>
          <p:cNvSpPr>
            <a:spLocks noGrp="1"/>
          </p:cNvSpPr>
          <p:nvPr>
            <p:ph type="sldNum" sz="quarter" idx="12"/>
          </p:nvPr>
        </p:nvSpPr>
        <p:spPr/>
        <p:txBody>
          <a:bodyPr/>
          <a:lstStyle/>
          <a:p>
            <a:fld id="{070107C2-BA80-4C15-96AE-A43002ADF025}" type="slidenum">
              <a:rPr lang="en-US" smtClean="0"/>
              <a:t>42</a:t>
            </a:fld>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090BF26-2061-458E-B898-3CA503BF4C73}"/>
                  </a:ext>
                </a:extLst>
              </p:cNvPr>
              <p:cNvSpPr txBox="1"/>
              <p:nvPr/>
            </p:nvSpPr>
            <p:spPr>
              <a:xfrm>
                <a:off x="1493520" y="3033163"/>
                <a:ext cx="5715000" cy="105099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sz="2400" i="1" smtClean="0">
                              <a:latin typeface="Cambria Math" panose="02040503050406030204" pitchFamily="18" charset="0"/>
                            </a:rPr>
                          </m:ctrlPr>
                        </m:sSubPr>
                        <m:e>
                          <m:r>
                            <a:rPr lang="en-CA" sz="2400" b="0" i="1" smtClean="0">
                              <a:latin typeface="Cambria Math" panose="02040503050406030204" pitchFamily="18" charset="0"/>
                            </a:rPr>
                            <m:t>𝐸</m:t>
                          </m:r>
                        </m:e>
                        <m:sub>
                          <m:r>
                            <a:rPr lang="en-CA" sz="2400" b="0" i="1" smtClean="0">
                              <a:latin typeface="Cambria Math" panose="02040503050406030204" pitchFamily="18" charset="0"/>
                            </a:rPr>
                            <m:t>𝑝</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𝐼</m:t>
                          </m:r>
                        </m:e>
                        <m:sub>
                          <m:r>
                            <a:rPr lang="en-CA" sz="2400" b="0" i="1" smtClean="0">
                              <a:latin typeface="Cambria Math" panose="02040503050406030204" pitchFamily="18" charset="0"/>
                            </a:rPr>
                            <m:t>𝑇</m:t>
                          </m:r>
                        </m:sub>
                      </m:sSub>
                      <m:r>
                        <a:rPr lang="en-CA" sz="2400" b="0" i="1" smtClean="0">
                          <a:latin typeface="Cambria Math" panose="02040503050406030204" pitchFamily="18" charset="0"/>
                        </a:rPr>
                        <m:t>  </m:t>
                      </m:r>
                      <m:d>
                        <m:dPr>
                          <m:ctrlPr>
                            <a:rPr lang="en-CA" sz="2400" b="0" i="1" smtClean="0">
                              <a:latin typeface="Cambria Math" panose="02040503050406030204" pitchFamily="18" charset="0"/>
                            </a:rPr>
                          </m:ctrlPr>
                        </m:dPr>
                        <m:e>
                          <m:f>
                            <m:fPr>
                              <m:ctrlPr>
                                <a:rPr lang="en-CA" sz="2400" b="0" i="1" smtClean="0">
                                  <a:latin typeface="Cambria Math" panose="02040503050406030204" pitchFamily="18" charset="0"/>
                                </a:rPr>
                              </m:ctrlPr>
                            </m:fPr>
                            <m:num>
                              <m:r>
                                <a:rPr lang="en-CA" sz="2400" b="0" i="1" smtClean="0">
                                  <a:latin typeface="Cambria Math" panose="02040503050406030204" pitchFamily="18" charset="0"/>
                                </a:rPr>
                                <m:t>𝑘𝑊h</m:t>
                              </m:r>
                            </m:num>
                            <m:den>
                              <m:sSup>
                                <m:sSupPr>
                                  <m:ctrlPr>
                                    <a:rPr lang="en-CA" sz="2400" b="0" i="1" smtClean="0">
                                      <a:latin typeface="Cambria Math" panose="02040503050406030204" pitchFamily="18" charset="0"/>
                                    </a:rPr>
                                  </m:ctrlPr>
                                </m:sSupPr>
                                <m:e>
                                  <m:r>
                                    <a:rPr lang="en-CA" sz="2400" b="0" i="1" smtClean="0">
                                      <a:latin typeface="Cambria Math" panose="02040503050406030204" pitchFamily="18" charset="0"/>
                                    </a:rPr>
                                    <m:t>𝑚</m:t>
                                  </m:r>
                                </m:e>
                                <m:sup>
                                  <m:r>
                                    <a:rPr lang="en-CA" sz="2400" b="0" i="1" smtClean="0">
                                      <a:latin typeface="Cambria Math" panose="02040503050406030204" pitchFamily="18" charset="0"/>
                                    </a:rPr>
                                    <m:t>2</m:t>
                                  </m:r>
                                </m:sup>
                              </m:sSup>
                              <m:r>
                                <a:rPr lang="en-CA" sz="2400" b="0" i="1" smtClean="0">
                                  <a:latin typeface="Cambria Math" panose="02040503050406030204" pitchFamily="18" charset="0"/>
                                </a:rPr>
                                <m:t>.</m:t>
                              </m:r>
                              <m:r>
                                <a:rPr lang="en-CA" sz="2400" b="0" i="1" smtClean="0">
                                  <a:latin typeface="Cambria Math" panose="02040503050406030204" pitchFamily="18" charset="0"/>
                                </a:rPr>
                                <m:t>𝑑𝑎𝑦</m:t>
                              </m:r>
                            </m:den>
                          </m:f>
                        </m:e>
                      </m:d>
                      <m:r>
                        <a:rPr lang="en-CA" sz="2400" b="0" i="1" smtClean="0">
                          <a:latin typeface="Cambria Math" panose="02040503050406030204" pitchFamily="18" charset="0"/>
                        </a:rPr>
                        <m:t> </m:t>
                      </m:r>
                      <m:r>
                        <a:rPr lang="en-CA" sz="2400" b="0" i="1" smtClean="0">
                          <a:latin typeface="Cambria Math" panose="02040503050406030204" pitchFamily="18" charset="0"/>
                          <a:ea typeface="Cambria Math" panose="02040503050406030204" pitchFamily="18" charset="0"/>
                        </a:rPr>
                        <m:t>× </m:t>
                      </m:r>
                      <m:f>
                        <m:fPr>
                          <m:ctrlPr>
                            <a:rPr lang="en-CA" sz="2400" b="0" i="1" smtClean="0">
                              <a:latin typeface="Cambria Math" panose="02040503050406030204" pitchFamily="18" charset="0"/>
                              <a:ea typeface="Cambria Math" panose="02040503050406030204" pitchFamily="18" charset="0"/>
                            </a:rPr>
                          </m:ctrlPr>
                        </m:fPr>
                        <m:num>
                          <m:sSub>
                            <m:sSubPr>
                              <m:ctrlPr>
                                <a:rPr lang="en-CA" sz="2400" b="0" i="1" smtClean="0">
                                  <a:latin typeface="Cambria Math" panose="02040503050406030204" pitchFamily="18" charset="0"/>
                                  <a:ea typeface="Cambria Math" panose="02040503050406030204" pitchFamily="18" charset="0"/>
                                </a:rPr>
                              </m:ctrlPr>
                            </m:sSubPr>
                            <m:e>
                              <m:r>
                                <a:rPr lang="en-CA" sz="2400" b="0" i="1" smtClean="0">
                                  <a:latin typeface="Cambria Math" panose="02040503050406030204" pitchFamily="18" charset="0"/>
                                  <a:ea typeface="Cambria Math" panose="02040503050406030204" pitchFamily="18" charset="0"/>
                                </a:rPr>
                                <m:t>𝑃</m:t>
                              </m:r>
                            </m:e>
                            <m:sub>
                              <m:r>
                                <a:rPr lang="en-CA" sz="2400" b="0" i="1" smtClean="0">
                                  <a:latin typeface="Cambria Math" panose="02040503050406030204" pitchFamily="18" charset="0"/>
                                  <a:ea typeface="Cambria Math" panose="02040503050406030204" pitchFamily="18" charset="0"/>
                                </a:rPr>
                                <m:t>𝑚</m:t>
                              </m:r>
                            </m:sub>
                          </m:sSub>
                          <m:r>
                            <a:rPr lang="en-CA" sz="2400" b="0" i="1" smtClean="0">
                              <a:latin typeface="Cambria Math" panose="02040503050406030204" pitchFamily="18" charset="0"/>
                              <a:ea typeface="Cambria Math" panose="02040503050406030204" pitchFamily="18" charset="0"/>
                            </a:rPr>
                            <m:t> </m:t>
                          </m:r>
                          <m:d>
                            <m:dPr>
                              <m:ctrlPr>
                                <a:rPr lang="en-CA" sz="2400" b="0" i="1" smtClean="0">
                                  <a:latin typeface="Cambria Math" panose="02040503050406030204" pitchFamily="18" charset="0"/>
                                  <a:ea typeface="Cambria Math" panose="02040503050406030204" pitchFamily="18" charset="0"/>
                                </a:rPr>
                              </m:ctrlPr>
                            </m:dPr>
                            <m:e>
                              <m:r>
                                <a:rPr lang="en-CA" sz="2400" b="0" i="1" smtClean="0">
                                  <a:latin typeface="Cambria Math" panose="02040503050406030204" pitchFamily="18" charset="0"/>
                                  <a:ea typeface="Cambria Math" panose="02040503050406030204" pitchFamily="18" charset="0"/>
                                </a:rPr>
                                <m:t>𝑊</m:t>
                              </m:r>
                            </m:e>
                          </m:d>
                          <m:r>
                            <a:rPr lang="en-CA" sz="2400" b="0" i="1" smtClean="0">
                              <a:latin typeface="Cambria Math" panose="02040503050406030204" pitchFamily="18" charset="0"/>
                              <a:ea typeface="Cambria Math" panose="02040503050406030204" pitchFamily="18" charset="0"/>
                            </a:rPr>
                            <m:t> </m:t>
                          </m:r>
                        </m:num>
                        <m:den>
                          <m:r>
                            <a:rPr lang="en-CA" sz="2400" b="0" i="1" smtClean="0">
                              <a:latin typeface="Cambria Math" panose="02040503050406030204" pitchFamily="18" charset="0"/>
                              <a:ea typeface="Cambria Math" panose="02040503050406030204" pitchFamily="18" charset="0"/>
                            </a:rPr>
                            <m:t>1000  (</m:t>
                          </m:r>
                          <m:f>
                            <m:fPr>
                              <m:ctrlPr>
                                <a:rPr lang="en-CA" sz="2400" b="0" i="1" smtClean="0">
                                  <a:latin typeface="Cambria Math" panose="02040503050406030204" pitchFamily="18" charset="0"/>
                                  <a:ea typeface="Cambria Math" panose="02040503050406030204" pitchFamily="18" charset="0"/>
                                </a:rPr>
                              </m:ctrlPr>
                            </m:fPr>
                            <m:num>
                              <m:r>
                                <a:rPr lang="en-CA" sz="2400" b="0" i="1" smtClean="0">
                                  <a:latin typeface="Cambria Math" panose="02040503050406030204" pitchFamily="18" charset="0"/>
                                  <a:ea typeface="Cambria Math" panose="02040503050406030204" pitchFamily="18" charset="0"/>
                                </a:rPr>
                                <m:t>𝑊</m:t>
                              </m:r>
                            </m:num>
                            <m:den>
                              <m:sSup>
                                <m:sSupPr>
                                  <m:ctrlPr>
                                    <a:rPr lang="en-CA" sz="2400" i="1">
                                      <a:latin typeface="Cambria Math" panose="02040503050406030204" pitchFamily="18" charset="0"/>
                                    </a:rPr>
                                  </m:ctrlPr>
                                </m:sSupPr>
                                <m:e>
                                  <m:r>
                                    <a:rPr lang="en-CA" sz="2400" i="1">
                                      <a:latin typeface="Cambria Math" panose="02040503050406030204" pitchFamily="18" charset="0"/>
                                    </a:rPr>
                                    <m:t>𝑚</m:t>
                                  </m:r>
                                </m:e>
                                <m:sup>
                                  <m:r>
                                    <a:rPr lang="en-CA" sz="2400" i="1">
                                      <a:latin typeface="Cambria Math" panose="02040503050406030204" pitchFamily="18" charset="0"/>
                                    </a:rPr>
                                    <m:t>2</m:t>
                                  </m:r>
                                </m:sup>
                              </m:sSup>
                            </m:den>
                          </m:f>
                          <m:r>
                            <a:rPr lang="en-CA" sz="2400" b="0" i="1" smtClean="0">
                              <a:latin typeface="Cambria Math" panose="02040503050406030204" pitchFamily="18" charset="0"/>
                              <a:ea typeface="Cambria Math" panose="02040503050406030204" pitchFamily="18" charset="0"/>
                            </a:rPr>
                            <m:t>)</m:t>
                          </m:r>
                        </m:den>
                      </m:f>
                    </m:oMath>
                  </m:oMathPara>
                </a14:m>
                <a:endParaRPr lang="en-CA" sz="2400" dirty="0"/>
              </a:p>
            </p:txBody>
          </p:sp>
        </mc:Choice>
        <mc:Fallback xmlns="">
          <p:sp>
            <p:nvSpPr>
              <p:cNvPr id="4" name="TextBox 3">
                <a:extLst>
                  <a:ext uri="{FF2B5EF4-FFF2-40B4-BE49-F238E27FC236}">
                    <a16:creationId xmlns:a16="http://schemas.microsoft.com/office/drawing/2014/main" id="{4090BF26-2061-458E-B898-3CA503BF4C73}"/>
                  </a:ext>
                </a:extLst>
              </p:cNvPr>
              <p:cNvSpPr txBox="1">
                <a:spLocks noRot="1" noChangeAspect="1" noMove="1" noResize="1" noEditPoints="1" noAdjustHandles="1" noChangeArrowheads="1" noChangeShapeType="1" noTextEdit="1"/>
              </p:cNvSpPr>
              <p:nvPr/>
            </p:nvSpPr>
            <p:spPr>
              <a:xfrm>
                <a:off x="1493520" y="3033163"/>
                <a:ext cx="5715000" cy="1050993"/>
              </a:xfrm>
              <a:prstGeom prst="rect">
                <a:avLst/>
              </a:prstGeom>
              <a:blipFill>
                <a:blip r:embed="rId2"/>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DBE08A3-2524-4EBF-8D60-4BF8911AEF50}"/>
                  </a:ext>
                </a:extLst>
              </p:cNvPr>
              <p:cNvSpPr txBox="1"/>
              <p:nvPr/>
            </p:nvSpPr>
            <p:spPr>
              <a:xfrm>
                <a:off x="1295400" y="4419600"/>
                <a:ext cx="7848600" cy="1418209"/>
              </a:xfrm>
              <a:prstGeom prst="rect">
                <a:avLst/>
              </a:prstGeom>
              <a:noFill/>
            </p:spPr>
            <p:txBody>
              <a:bodyPr wrap="square" rtlCol="0">
                <a:spAutoFit/>
              </a:bodyPr>
              <a:lstStyle/>
              <a:p>
                <a14:m>
                  <m:oMath xmlns:m="http://schemas.openxmlformats.org/officeDocument/2006/math">
                    <m:sSub>
                      <m:sSubPr>
                        <m:ctrlPr>
                          <a:rPr lang="en-CA" sz="2800" i="1" smtClean="0">
                            <a:latin typeface="Cambria Math" panose="02040503050406030204" pitchFamily="18" charset="0"/>
                          </a:rPr>
                        </m:ctrlPr>
                      </m:sSubPr>
                      <m:e>
                        <m:r>
                          <a:rPr lang="en-CA" sz="2800" b="0" i="1" smtClean="0">
                            <a:latin typeface="Cambria Math" panose="02040503050406030204" pitchFamily="18" charset="0"/>
                          </a:rPr>
                          <m:t>𝐸</m:t>
                        </m:r>
                      </m:e>
                      <m:sub>
                        <m:r>
                          <a:rPr lang="en-CA" sz="2800" b="0" i="1" smtClean="0">
                            <a:latin typeface="Cambria Math" panose="02040503050406030204" pitchFamily="18" charset="0"/>
                          </a:rPr>
                          <m:t>𝑝</m:t>
                        </m:r>
                      </m:sub>
                    </m:sSub>
                    <m:r>
                      <a:rPr lang="en-CA" sz="2800" b="0" i="1" smtClean="0">
                        <a:latin typeface="Cambria Math" panose="02040503050406030204" pitchFamily="18" charset="0"/>
                      </a:rPr>
                      <m:t> </m:t>
                    </m:r>
                  </m:oMath>
                </a14:m>
                <a:r>
                  <a:rPr lang="en-CA" sz="2800" dirty="0"/>
                  <a:t>Energy produced by panel per day</a:t>
                </a:r>
              </a:p>
              <a:p>
                <a14:m>
                  <m:oMath xmlns:m="http://schemas.openxmlformats.org/officeDocument/2006/math">
                    <m:sSub>
                      <m:sSubPr>
                        <m:ctrlPr>
                          <a:rPr lang="en-CA" sz="2800" b="0" i="1" smtClean="0">
                            <a:latin typeface="Cambria Math" panose="02040503050406030204" pitchFamily="18" charset="0"/>
                          </a:rPr>
                        </m:ctrlPr>
                      </m:sSubPr>
                      <m:e>
                        <m:r>
                          <a:rPr lang="en-CA" sz="2800" b="0" i="1" smtClean="0">
                            <a:latin typeface="Cambria Math" panose="02040503050406030204" pitchFamily="18" charset="0"/>
                          </a:rPr>
                          <m:t>𝐼</m:t>
                        </m:r>
                      </m:e>
                      <m:sub>
                        <m:r>
                          <a:rPr lang="en-CA" sz="2800" b="0" i="1" smtClean="0">
                            <a:latin typeface="Cambria Math" panose="02040503050406030204" pitchFamily="18" charset="0"/>
                          </a:rPr>
                          <m:t>𝑇</m:t>
                        </m:r>
                      </m:sub>
                    </m:sSub>
                    <m:r>
                      <a:rPr lang="en-CA" sz="2800" b="0" i="1" smtClean="0">
                        <a:latin typeface="Cambria Math" panose="02040503050406030204" pitchFamily="18" charset="0"/>
                      </a:rPr>
                      <m:t> </m:t>
                    </m:r>
                  </m:oMath>
                </a14:m>
                <a:r>
                  <a:rPr lang="en-CA" sz="2800" dirty="0"/>
                  <a:t>Daily average solar irradiation</a:t>
                </a:r>
              </a:p>
              <a:p>
                <a14:m>
                  <m:oMath xmlns:m="http://schemas.openxmlformats.org/officeDocument/2006/math">
                    <m:sSub>
                      <m:sSubPr>
                        <m:ctrlPr>
                          <a:rPr lang="en-CA" sz="2800" b="0" i="1" smtClean="0">
                            <a:latin typeface="Cambria Math" panose="02040503050406030204" pitchFamily="18" charset="0"/>
                            <a:ea typeface="Cambria Math" panose="02040503050406030204" pitchFamily="18" charset="0"/>
                          </a:rPr>
                        </m:ctrlPr>
                      </m:sSubPr>
                      <m:e>
                        <m:r>
                          <a:rPr lang="en-CA" sz="2800" b="0" i="1" smtClean="0">
                            <a:latin typeface="Cambria Math" panose="02040503050406030204" pitchFamily="18" charset="0"/>
                            <a:ea typeface="Cambria Math" panose="02040503050406030204" pitchFamily="18" charset="0"/>
                          </a:rPr>
                          <m:t>𝑃</m:t>
                        </m:r>
                      </m:e>
                      <m:sub>
                        <m:r>
                          <a:rPr lang="en-CA" sz="2800" b="0" i="1" smtClean="0">
                            <a:latin typeface="Cambria Math" panose="02040503050406030204" pitchFamily="18" charset="0"/>
                            <a:ea typeface="Cambria Math" panose="02040503050406030204" pitchFamily="18" charset="0"/>
                          </a:rPr>
                          <m:t>𝑚</m:t>
                        </m:r>
                      </m:sub>
                    </m:sSub>
                    <m:r>
                      <a:rPr lang="en-CA" sz="2800" b="0" i="1" smtClean="0">
                        <a:latin typeface="Cambria Math" panose="02040503050406030204" pitchFamily="18" charset="0"/>
                        <a:ea typeface="Cambria Math" panose="02040503050406030204" pitchFamily="18" charset="0"/>
                      </a:rPr>
                      <m:t> </m:t>
                    </m:r>
                  </m:oMath>
                </a14:m>
                <a:r>
                  <a:rPr lang="en-CA" sz="2800" dirty="0"/>
                  <a:t>panel’s power rating</a:t>
                </a:r>
              </a:p>
            </p:txBody>
          </p:sp>
        </mc:Choice>
        <mc:Fallback xmlns="">
          <p:sp>
            <p:nvSpPr>
              <p:cNvPr id="5" name="TextBox 4">
                <a:extLst>
                  <a:ext uri="{FF2B5EF4-FFF2-40B4-BE49-F238E27FC236}">
                    <a16:creationId xmlns:a16="http://schemas.microsoft.com/office/drawing/2014/main" id="{DDBE08A3-2524-4EBF-8D60-4BF8911AEF50}"/>
                  </a:ext>
                </a:extLst>
              </p:cNvPr>
              <p:cNvSpPr txBox="1">
                <a:spLocks noRot="1" noChangeAspect="1" noMove="1" noResize="1" noEditPoints="1" noAdjustHandles="1" noChangeArrowheads="1" noChangeShapeType="1" noTextEdit="1"/>
              </p:cNvSpPr>
              <p:nvPr/>
            </p:nvSpPr>
            <p:spPr>
              <a:xfrm>
                <a:off x="1295400" y="4419600"/>
                <a:ext cx="7848600" cy="1418209"/>
              </a:xfrm>
              <a:prstGeom prst="rect">
                <a:avLst/>
              </a:prstGeom>
              <a:blipFill>
                <a:blip r:embed="rId3"/>
                <a:stretch>
                  <a:fillRect t="-3863" b="-11159"/>
                </a:stretch>
              </a:blipFill>
            </p:spPr>
            <p:txBody>
              <a:bodyPr/>
              <a:lstStyle/>
              <a:p>
                <a:r>
                  <a:rPr lang="en-CA">
                    <a:noFill/>
                  </a:rPr>
                  <a:t> </a:t>
                </a:r>
              </a:p>
            </p:txBody>
          </p:sp>
        </mc:Fallback>
      </mc:AlternateContent>
    </p:spTree>
    <p:extLst>
      <p:ext uri="{BB962C8B-B14F-4D97-AF65-F5344CB8AC3E}">
        <p14:creationId xmlns:p14="http://schemas.microsoft.com/office/powerpoint/2010/main" val="7820375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CA" dirty="0"/>
            </a:br>
            <a:br>
              <a:rPr lang="en-CA" dirty="0"/>
            </a:br>
            <a:r>
              <a:rPr lang="en-CA" dirty="0"/>
              <a:t>Photovoltaic Systems</a:t>
            </a:r>
            <a:br>
              <a:rPr lang="en-CA" dirty="0"/>
            </a:br>
            <a:br>
              <a:rPr lang="en-CA" dirty="0"/>
            </a:br>
            <a:endParaRPr lang="en-US" dirty="0"/>
          </a:p>
        </p:txBody>
      </p:sp>
      <p:sp>
        <p:nvSpPr>
          <p:cNvPr id="4" name="Slide Number Placeholder 3"/>
          <p:cNvSpPr>
            <a:spLocks noGrp="1"/>
          </p:cNvSpPr>
          <p:nvPr>
            <p:ph type="sldNum" sz="quarter" idx="12"/>
          </p:nvPr>
        </p:nvSpPr>
        <p:spPr/>
        <p:txBody>
          <a:bodyPr/>
          <a:lstStyle/>
          <a:p>
            <a:fld id="{070107C2-BA80-4C15-96AE-A43002ADF025}" type="slidenum">
              <a:rPr lang="en-US" smtClean="0"/>
              <a:t>43</a:t>
            </a:fld>
            <a:endParaRPr lang="en-US"/>
          </a:p>
        </p:txBody>
      </p:sp>
      <p:sp>
        <p:nvSpPr>
          <p:cNvPr id="6" name="TextBox 5">
            <a:extLst>
              <a:ext uri="{FF2B5EF4-FFF2-40B4-BE49-F238E27FC236}">
                <a16:creationId xmlns:a16="http://schemas.microsoft.com/office/drawing/2014/main" id="{E3980ECC-1705-4FE1-A884-E7350A2E44DC}"/>
              </a:ext>
            </a:extLst>
          </p:cNvPr>
          <p:cNvSpPr txBox="1"/>
          <p:nvPr/>
        </p:nvSpPr>
        <p:spPr>
          <a:xfrm>
            <a:off x="208960" y="1980117"/>
            <a:ext cx="8615000" cy="4524315"/>
          </a:xfrm>
          <a:prstGeom prst="rect">
            <a:avLst/>
          </a:prstGeom>
          <a:noFill/>
        </p:spPr>
        <p:txBody>
          <a:bodyPr wrap="square">
            <a:spAutoFit/>
          </a:bodyPr>
          <a:lstStyle/>
          <a:p>
            <a:pPr marL="285750" indent="-285750">
              <a:buFont typeface="Arial" panose="020B0604020202020204" pitchFamily="34" charset="0"/>
              <a:buChar char="•"/>
            </a:pPr>
            <a:r>
              <a:rPr lang="en-US" sz="2400" dirty="0">
                <a:effectLst/>
              </a:rPr>
              <a:t>The two principal classifications of photovoltaic systems are </a:t>
            </a:r>
            <a:r>
              <a:rPr lang="en-US" sz="2400" b="1" dirty="0">
                <a:effectLst/>
              </a:rPr>
              <a:t>stand-alone</a:t>
            </a:r>
            <a:r>
              <a:rPr lang="en-US" sz="2400" dirty="0">
                <a:effectLst/>
              </a:rPr>
              <a:t> and </a:t>
            </a:r>
            <a:r>
              <a:rPr lang="en-US" sz="2400" b="1" dirty="0">
                <a:effectLst/>
              </a:rPr>
              <a:t>grid-connected (or utility interactive)</a:t>
            </a:r>
            <a:r>
              <a:rPr lang="en-US" sz="2400" dirty="0">
                <a:effectLst/>
              </a:rPr>
              <a:t>. Stand-alone photovoltaic systems are not connected to the electric grid. Functional uses for a hierarchy of increasing complexity of photovoltaic systems are as follows:</a:t>
            </a:r>
          </a:p>
          <a:p>
            <a:pPr marL="285750" indent="-285750">
              <a:buFont typeface="Arial" panose="020B0604020202020204" pitchFamily="34" charset="0"/>
              <a:buChar char="•"/>
            </a:pPr>
            <a:endParaRPr lang="en-US" sz="2400" dirty="0">
              <a:effectLst/>
            </a:endParaRPr>
          </a:p>
          <a:p>
            <a:pPr marL="342900" indent="-342900">
              <a:buFont typeface="+mj-lt"/>
              <a:buAutoNum type="arabicPeriod"/>
            </a:pPr>
            <a:r>
              <a:rPr lang="en-US" sz="2400" dirty="0">
                <a:effectLst/>
              </a:rPr>
              <a:t>Direct-coupled </a:t>
            </a:r>
          </a:p>
          <a:p>
            <a:pPr marL="342900" indent="-342900">
              <a:buFont typeface="+mj-lt"/>
              <a:buAutoNum type="arabicPeriod"/>
            </a:pPr>
            <a:r>
              <a:rPr lang="en-US" sz="2400" dirty="0">
                <a:effectLst/>
              </a:rPr>
              <a:t>Systems with battery storage </a:t>
            </a:r>
          </a:p>
          <a:p>
            <a:pPr marL="342900" indent="-342900">
              <a:buFont typeface="+mj-lt"/>
              <a:buAutoNum type="arabicPeriod"/>
            </a:pPr>
            <a:r>
              <a:rPr lang="en-US" sz="2400" dirty="0">
                <a:effectLst/>
              </a:rPr>
              <a:t>Systems with backup (generator) power </a:t>
            </a:r>
          </a:p>
          <a:p>
            <a:pPr marL="342900" indent="-342900">
              <a:buFont typeface="+mj-lt"/>
              <a:buAutoNum type="arabicPeriod"/>
            </a:pPr>
            <a:r>
              <a:rPr lang="en-US" sz="2400" dirty="0">
                <a:effectLst/>
              </a:rPr>
              <a:t>Hybrid power systems </a:t>
            </a:r>
          </a:p>
          <a:p>
            <a:pPr marL="342900" indent="-342900">
              <a:buFont typeface="+mj-lt"/>
              <a:buAutoNum type="arabicPeriod"/>
            </a:pPr>
            <a:r>
              <a:rPr lang="en-US" sz="2400" dirty="0">
                <a:effectLst/>
              </a:rPr>
              <a:t>Systems connected to the electric grid </a:t>
            </a:r>
          </a:p>
          <a:p>
            <a:pPr marL="342900" indent="-342900">
              <a:buFont typeface="+mj-lt"/>
              <a:buAutoNum type="arabicPeriod"/>
            </a:pPr>
            <a:r>
              <a:rPr lang="en-US" sz="2400" dirty="0">
                <a:effectLst/>
              </a:rPr>
              <a:t>System for utility power production </a:t>
            </a:r>
          </a:p>
        </p:txBody>
      </p:sp>
    </p:spTree>
    <p:extLst>
      <p:ext uri="{BB962C8B-B14F-4D97-AF65-F5344CB8AC3E}">
        <p14:creationId xmlns:p14="http://schemas.microsoft.com/office/powerpoint/2010/main" val="30466157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BED3D-0B0D-4FD3-A84C-DD3931164FB0}"/>
              </a:ext>
            </a:extLst>
          </p:cNvPr>
          <p:cNvSpPr>
            <a:spLocks noGrp="1"/>
          </p:cNvSpPr>
          <p:nvPr>
            <p:ph type="title"/>
          </p:nvPr>
        </p:nvSpPr>
        <p:spPr/>
        <p:txBody>
          <a:bodyPr/>
          <a:lstStyle/>
          <a:p>
            <a:r>
              <a:rPr lang="en-CA" dirty="0"/>
              <a:t>Solar PV Batteries</a:t>
            </a:r>
          </a:p>
        </p:txBody>
      </p:sp>
      <p:sp>
        <p:nvSpPr>
          <p:cNvPr id="3" name="Slide Number Placeholder 2">
            <a:extLst>
              <a:ext uri="{FF2B5EF4-FFF2-40B4-BE49-F238E27FC236}">
                <a16:creationId xmlns:a16="http://schemas.microsoft.com/office/drawing/2014/main" id="{3EAFDABE-5311-4AE7-9331-9BB77F9125F7}"/>
              </a:ext>
            </a:extLst>
          </p:cNvPr>
          <p:cNvSpPr>
            <a:spLocks noGrp="1"/>
          </p:cNvSpPr>
          <p:nvPr>
            <p:ph type="sldNum" sz="quarter" idx="12"/>
          </p:nvPr>
        </p:nvSpPr>
        <p:spPr/>
        <p:txBody>
          <a:bodyPr/>
          <a:lstStyle/>
          <a:p>
            <a:fld id="{070107C2-BA80-4C15-96AE-A43002ADF025}" type="slidenum">
              <a:rPr lang="en-US" smtClean="0"/>
              <a:t>44</a:t>
            </a:fld>
            <a:endParaRPr lang="en-US"/>
          </a:p>
        </p:txBody>
      </p:sp>
      <p:sp>
        <p:nvSpPr>
          <p:cNvPr id="5" name="TextBox 4">
            <a:extLst>
              <a:ext uri="{FF2B5EF4-FFF2-40B4-BE49-F238E27FC236}">
                <a16:creationId xmlns:a16="http://schemas.microsoft.com/office/drawing/2014/main" id="{5F2E1B84-2DF2-4140-ACD9-F81E0EF99F0E}"/>
              </a:ext>
            </a:extLst>
          </p:cNvPr>
          <p:cNvSpPr txBox="1"/>
          <p:nvPr/>
        </p:nvSpPr>
        <p:spPr>
          <a:xfrm>
            <a:off x="15240" y="2214083"/>
            <a:ext cx="5922734" cy="4401205"/>
          </a:xfrm>
          <a:prstGeom prst="rect">
            <a:avLst/>
          </a:prstGeom>
          <a:noFill/>
        </p:spPr>
        <p:txBody>
          <a:bodyPr wrap="square">
            <a:spAutoFit/>
          </a:bodyPr>
          <a:lstStyle/>
          <a:p>
            <a:pPr marL="285750" indent="-285750">
              <a:buFont typeface="Arial" panose="020B0604020202020204" pitchFamily="34" charset="0"/>
              <a:buChar char="•"/>
            </a:pPr>
            <a:r>
              <a:rPr lang="en-US" sz="2000" dirty="0">
                <a:effectLst/>
              </a:rPr>
              <a:t>Cycle capability refers to the number of charge/discharge cycles expected from the battery. </a:t>
            </a:r>
          </a:p>
          <a:p>
            <a:pPr marL="285750" indent="-285750">
              <a:buFont typeface="Arial" panose="020B0604020202020204" pitchFamily="34" charset="0"/>
              <a:buChar char="•"/>
            </a:pPr>
            <a:r>
              <a:rPr lang="en-US" sz="2000" dirty="0">
                <a:effectLst/>
              </a:rPr>
              <a:t>The depth of discharge specifies how much (what percentage) of the stored energy at full capacity may be extracted without damage to the battery. </a:t>
            </a:r>
          </a:p>
          <a:p>
            <a:pPr marL="285750" indent="-285750">
              <a:buFont typeface="Arial" panose="020B0604020202020204" pitchFamily="34" charset="0"/>
              <a:buChar char="•"/>
            </a:pPr>
            <a:r>
              <a:rPr lang="en-US" sz="2000" dirty="0">
                <a:effectLst/>
              </a:rPr>
              <a:t>Batteries for photovoltaic applications require high cycle capacity as well as high depth of discharge capability. </a:t>
            </a:r>
          </a:p>
          <a:p>
            <a:pPr marL="285750" indent="-285750">
              <a:buFont typeface="Arial" panose="020B0604020202020204" pitchFamily="34" charset="0"/>
              <a:buChar char="•"/>
            </a:pPr>
            <a:r>
              <a:rPr lang="en-US" sz="2000" dirty="0">
                <a:effectLst/>
              </a:rPr>
              <a:t>Automotive batteries require a large amount of power draw over a short period of time (engine cranking time) with a low depth of dis- charge. Thus, automotive batteries are not suitable for solar storage applications.</a:t>
            </a:r>
          </a:p>
        </p:txBody>
      </p:sp>
      <p:pic>
        <p:nvPicPr>
          <p:cNvPr id="7" name="Picture 6">
            <a:extLst>
              <a:ext uri="{FF2B5EF4-FFF2-40B4-BE49-F238E27FC236}">
                <a16:creationId xmlns:a16="http://schemas.microsoft.com/office/drawing/2014/main" id="{9CBBAB66-292B-40E7-A3B8-4526C2F87E5C}"/>
              </a:ext>
            </a:extLst>
          </p:cNvPr>
          <p:cNvPicPr>
            <a:picLocks noChangeAspect="1"/>
          </p:cNvPicPr>
          <p:nvPr/>
        </p:nvPicPr>
        <p:blipFill>
          <a:blip r:embed="rId2"/>
          <a:stretch>
            <a:fillRect/>
          </a:stretch>
        </p:blipFill>
        <p:spPr>
          <a:xfrm>
            <a:off x="5900760" y="3258312"/>
            <a:ext cx="3228000" cy="2075688"/>
          </a:xfrm>
          <a:prstGeom prst="rect">
            <a:avLst/>
          </a:prstGeom>
        </p:spPr>
      </p:pic>
    </p:spTree>
    <p:extLst>
      <p:ext uri="{BB962C8B-B14F-4D97-AF65-F5344CB8AC3E}">
        <p14:creationId xmlns:p14="http://schemas.microsoft.com/office/powerpoint/2010/main" val="25051262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F6E70-314F-4F1C-8EED-A20CB2EFEF82}"/>
              </a:ext>
            </a:extLst>
          </p:cNvPr>
          <p:cNvSpPr>
            <a:spLocks noGrp="1"/>
          </p:cNvSpPr>
          <p:nvPr>
            <p:ph type="title"/>
          </p:nvPr>
        </p:nvSpPr>
        <p:spPr/>
        <p:txBody>
          <a:bodyPr/>
          <a:lstStyle/>
          <a:p>
            <a:r>
              <a:rPr lang="en-CA" dirty="0"/>
              <a:t>PV Systems</a:t>
            </a:r>
          </a:p>
        </p:txBody>
      </p:sp>
      <p:sp>
        <p:nvSpPr>
          <p:cNvPr id="3" name="Slide Number Placeholder 2">
            <a:extLst>
              <a:ext uri="{FF2B5EF4-FFF2-40B4-BE49-F238E27FC236}">
                <a16:creationId xmlns:a16="http://schemas.microsoft.com/office/drawing/2014/main" id="{05808034-AB7E-4059-93EC-B9E0F548FF3C}"/>
              </a:ext>
            </a:extLst>
          </p:cNvPr>
          <p:cNvSpPr>
            <a:spLocks noGrp="1"/>
          </p:cNvSpPr>
          <p:nvPr>
            <p:ph type="sldNum" sz="quarter" idx="12"/>
          </p:nvPr>
        </p:nvSpPr>
        <p:spPr/>
        <p:txBody>
          <a:bodyPr/>
          <a:lstStyle/>
          <a:p>
            <a:fld id="{070107C2-BA80-4C15-96AE-A43002ADF025}" type="slidenum">
              <a:rPr lang="en-US" smtClean="0"/>
              <a:t>45</a:t>
            </a:fld>
            <a:endParaRPr lang="en-US"/>
          </a:p>
        </p:txBody>
      </p:sp>
      <p:pic>
        <p:nvPicPr>
          <p:cNvPr id="5" name="Picture 4">
            <a:extLst>
              <a:ext uri="{FF2B5EF4-FFF2-40B4-BE49-F238E27FC236}">
                <a16:creationId xmlns:a16="http://schemas.microsoft.com/office/drawing/2014/main" id="{E30765F2-E0D0-40A9-887D-16BD20A3060A}"/>
              </a:ext>
            </a:extLst>
          </p:cNvPr>
          <p:cNvPicPr>
            <a:picLocks noChangeAspect="1"/>
          </p:cNvPicPr>
          <p:nvPr/>
        </p:nvPicPr>
        <p:blipFill>
          <a:blip r:embed="rId2"/>
          <a:stretch>
            <a:fillRect/>
          </a:stretch>
        </p:blipFill>
        <p:spPr>
          <a:xfrm>
            <a:off x="457201" y="2362201"/>
            <a:ext cx="5105400" cy="1103628"/>
          </a:xfrm>
          <a:prstGeom prst="rect">
            <a:avLst/>
          </a:prstGeom>
        </p:spPr>
      </p:pic>
      <p:pic>
        <p:nvPicPr>
          <p:cNvPr id="7" name="Picture 6">
            <a:extLst>
              <a:ext uri="{FF2B5EF4-FFF2-40B4-BE49-F238E27FC236}">
                <a16:creationId xmlns:a16="http://schemas.microsoft.com/office/drawing/2014/main" id="{73BCEA25-70BF-4D8B-B3F1-01DF2840B6D0}"/>
              </a:ext>
            </a:extLst>
          </p:cNvPr>
          <p:cNvPicPr>
            <a:picLocks noChangeAspect="1"/>
          </p:cNvPicPr>
          <p:nvPr/>
        </p:nvPicPr>
        <p:blipFill>
          <a:blip r:embed="rId3"/>
          <a:stretch>
            <a:fillRect/>
          </a:stretch>
        </p:blipFill>
        <p:spPr>
          <a:xfrm>
            <a:off x="457200" y="3887079"/>
            <a:ext cx="5419725" cy="2970921"/>
          </a:xfrm>
          <a:prstGeom prst="rect">
            <a:avLst/>
          </a:prstGeom>
        </p:spPr>
      </p:pic>
      <p:sp>
        <p:nvSpPr>
          <p:cNvPr id="9" name="TextBox 8">
            <a:extLst>
              <a:ext uri="{FF2B5EF4-FFF2-40B4-BE49-F238E27FC236}">
                <a16:creationId xmlns:a16="http://schemas.microsoft.com/office/drawing/2014/main" id="{AA0F49E4-7246-4CC2-8D00-31D6BEFA203A}"/>
              </a:ext>
            </a:extLst>
          </p:cNvPr>
          <p:cNvSpPr txBox="1"/>
          <p:nvPr/>
        </p:nvSpPr>
        <p:spPr>
          <a:xfrm>
            <a:off x="5876925" y="2782669"/>
            <a:ext cx="4572000" cy="1754326"/>
          </a:xfrm>
          <a:prstGeom prst="rect">
            <a:avLst/>
          </a:prstGeom>
          <a:noFill/>
        </p:spPr>
        <p:txBody>
          <a:bodyPr wrap="square">
            <a:spAutoFit/>
          </a:bodyPr>
          <a:lstStyle/>
          <a:p>
            <a:r>
              <a:rPr lang="en-US" sz="1800" dirty="0">
                <a:effectLst/>
              </a:rPr>
              <a:t>Direct-coupled </a:t>
            </a:r>
          </a:p>
          <a:p>
            <a:pPr marL="342900" indent="-342900">
              <a:buFont typeface="+mj-lt"/>
              <a:buAutoNum type="arabicPeriod"/>
            </a:pPr>
            <a:endParaRPr lang="en-US" dirty="0"/>
          </a:p>
          <a:p>
            <a:endParaRPr lang="en-US" sz="1800" dirty="0">
              <a:effectLst/>
            </a:endParaRPr>
          </a:p>
          <a:p>
            <a:endParaRPr lang="en-US" sz="1800" dirty="0">
              <a:effectLst/>
            </a:endParaRPr>
          </a:p>
          <a:p>
            <a:endParaRPr lang="en-US" dirty="0"/>
          </a:p>
          <a:p>
            <a:r>
              <a:rPr lang="en-US" sz="1800" dirty="0">
                <a:effectLst/>
              </a:rPr>
              <a:t>Systems with battery storage </a:t>
            </a:r>
          </a:p>
        </p:txBody>
      </p:sp>
    </p:spTree>
    <p:extLst>
      <p:ext uri="{BB962C8B-B14F-4D97-AF65-F5344CB8AC3E}">
        <p14:creationId xmlns:p14="http://schemas.microsoft.com/office/powerpoint/2010/main" val="34586749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F6E70-314F-4F1C-8EED-A20CB2EFEF82}"/>
              </a:ext>
            </a:extLst>
          </p:cNvPr>
          <p:cNvSpPr>
            <a:spLocks noGrp="1"/>
          </p:cNvSpPr>
          <p:nvPr>
            <p:ph type="title"/>
          </p:nvPr>
        </p:nvSpPr>
        <p:spPr/>
        <p:txBody>
          <a:bodyPr/>
          <a:lstStyle/>
          <a:p>
            <a:r>
              <a:rPr lang="en-CA" dirty="0"/>
              <a:t>PV Systems</a:t>
            </a:r>
          </a:p>
        </p:txBody>
      </p:sp>
      <p:sp>
        <p:nvSpPr>
          <p:cNvPr id="3" name="Slide Number Placeholder 2">
            <a:extLst>
              <a:ext uri="{FF2B5EF4-FFF2-40B4-BE49-F238E27FC236}">
                <a16:creationId xmlns:a16="http://schemas.microsoft.com/office/drawing/2014/main" id="{05808034-AB7E-4059-93EC-B9E0F548FF3C}"/>
              </a:ext>
            </a:extLst>
          </p:cNvPr>
          <p:cNvSpPr>
            <a:spLocks noGrp="1"/>
          </p:cNvSpPr>
          <p:nvPr>
            <p:ph type="sldNum" sz="quarter" idx="12"/>
          </p:nvPr>
        </p:nvSpPr>
        <p:spPr/>
        <p:txBody>
          <a:bodyPr/>
          <a:lstStyle/>
          <a:p>
            <a:fld id="{070107C2-BA80-4C15-96AE-A43002ADF025}" type="slidenum">
              <a:rPr lang="en-US" smtClean="0"/>
              <a:t>46</a:t>
            </a:fld>
            <a:endParaRPr lang="en-US"/>
          </a:p>
        </p:txBody>
      </p:sp>
      <p:sp>
        <p:nvSpPr>
          <p:cNvPr id="9" name="TextBox 8">
            <a:extLst>
              <a:ext uri="{FF2B5EF4-FFF2-40B4-BE49-F238E27FC236}">
                <a16:creationId xmlns:a16="http://schemas.microsoft.com/office/drawing/2014/main" id="{AA0F49E4-7246-4CC2-8D00-31D6BEFA203A}"/>
              </a:ext>
            </a:extLst>
          </p:cNvPr>
          <p:cNvSpPr txBox="1"/>
          <p:nvPr/>
        </p:nvSpPr>
        <p:spPr>
          <a:xfrm>
            <a:off x="5562600" y="2551837"/>
            <a:ext cx="3372440" cy="3416320"/>
          </a:xfrm>
          <a:prstGeom prst="rect">
            <a:avLst/>
          </a:prstGeom>
          <a:noFill/>
        </p:spPr>
        <p:txBody>
          <a:bodyPr wrap="square">
            <a:spAutoFit/>
          </a:bodyPr>
          <a:lstStyle/>
          <a:p>
            <a:r>
              <a:rPr lang="en-US" sz="1800" dirty="0">
                <a:effectLst/>
              </a:rPr>
              <a:t>Hybrid system</a:t>
            </a:r>
          </a:p>
          <a:p>
            <a:pPr marL="342900" indent="-342900">
              <a:buFont typeface="+mj-lt"/>
              <a:buAutoNum type="arabicPeriod"/>
            </a:pPr>
            <a:endParaRPr lang="en-US" dirty="0"/>
          </a:p>
          <a:p>
            <a:endParaRPr lang="en-US" sz="1800" dirty="0">
              <a:effectLst/>
            </a:endParaRPr>
          </a:p>
          <a:p>
            <a:r>
              <a:rPr lang="en-US" dirty="0">
                <a:effectLst/>
              </a:rPr>
              <a:t>A rectifier is used to convert AC from an AC generator to DC for battery charging.</a:t>
            </a:r>
          </a:p>
          <a:p>
            <a:endParaRPr lang="en-US" sz="1800" dirty="0">
              <a:effectLst/>
            </a:endParaRPr>
          </a:p>
          <a:p>
            <a:endParaRPr lang="en-US" dirty="0"/>
          </a:p>
          <a:p>
            <a:endParaRPr lang="en-US" sz="1800" dirty="0">
              <a:effectLst/>
            </a:endParaRPr>
          </a:p>
          <a:p>
            <a:endParaRPr lang="en-US" sz="1800" dirty="0">
              <a:effectLst/>
            </a:endParaRPr>
          </a:p>
          <a:p>
            <a:endParaRPr lang="en-US" dirty="0"/>
          </a:p>
          <a:p>
            <a:r>
              <a:rPr lang="en-US" sz="1800" dirty="0">
                <a:effectLst/>
              </a:rPr>
              <a:t>Grid Connected</a:t>
            </a:r>
          </a:p>
        </p:txBody>
      </p:sp>
      <p:pic>
        <p:nvPicPr>
          <p:cNvPr id="6" name="Picture 5">
            <a:extLst>
              <a:ext uri="{FF2B5EF4-FFF2-40B4-BE49-F238E27FC236}">
                <a16:creationId xmlns:a16="http://schemas.microsoft.com/office/drawing/2014/main" id="{9F6E5DE2-A14E-4DCC-90DD-E37FF05A449A}"/>
              </a:ext>
            </a:extLst>
          </p:cNvPr>
          <p:cNvPicPr>
            <a:picLocks noChangeAspect="1"/>
          </p:cNvPicPr>
          <p:nvPr/>
        </p:nvPicPr>
        <p:blipFill>
          <a:blip r:embed="rId2"/>
          <a:stretch>
            <a:fillRect/>
          </a:stretch>
        </p:blipFill>
        <p:spPr>
          <a:xfrm>
            <a:off x="685801" y="1563540"/>
            <a:ext cx="4572000" cy="2542717"/>
          </a:xfrm>
          <a:prstGeom prst="rect">
            <a:avLst/>
          </a:prstGeom>
        </p:spPr>
      </p:pic>
      <p:pic>
        <p:nvPicPr>
          <p:cNvPr id="10" name="Picture 9">
            <a:extLst>
              <a:ext uri="{FF2B5EF4-FFF2-40B4-BE49-F238E27FC236}">
                <a16:creationId xmlns:a16="http://schemas.microsoft.com/office/drawing/2014/main" id="{6DC26BD7-6517-4740-AC55-5A37DDBEBC4E}"/>
              </a:ext>
            </a:extLst>
          </p:cNvPr>
          <p:cNvPicPr>
            <a:picLocks noChangeAspect="1"/>
          </p:cNvPicPr>
          <p:nvPr/>
        </p:nvPicPr>
        <p:blipFill>
          <a:blip r:embed="rId3"/>
          <a:stretch>
            <a:fillRect/>
          </a:stretch>
        </p:blipFill>
        <p:spPr>
          <a:xfrm>
            <a:off x="685800" y="4256150"/>
            <a:ext cx="4572001" cy="2601850"/>
          </a:xfrm>
          <a:prstGeom prst="rect">
            <a:avLst/>
          </a:prstGeom>
        </p:spPr>
      </p:pic>
    </p:spTree>
    <p:extLst>
      <p:ext uri="{BB962C8B-B14F-4D97-AF65-F5344CB8AC3E}">
        <p14:creationId xmlns:p14="http://schemas.microsoft.com/office/powerpoint/2010/main" val="1134159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6643E-3249-4B7F-B15D-739E3CB4009E}"/>
              </a:ext>
            </a:extLst>
          </p:cNvPr>
          <p:cNvSpPr>
            <a:spLocks noGrp="1"/>
          </p:cNvSpPr>
          <p:nvPr>
            <p:ph type="title"/>
          </p:nvPr>
        </p:nvSpPr>
        <p:spPr>
          <a:xfrm>
            <a:off x="381000" y="2895600"/>
            <a:ext cx="8229600" cy="1252728"/>
          </a:xfrm>
        </p:spPr>
        <p:txBody>
          <a:bodyPr/>
          <a:lstStyle/>
          <a:p>
            <a:r>
              <a:rPr lang="en-CA" dirty="0">
                <a:solidFill>
                  <a:schemeClr val="tx1"/>
                </a:solidFill>
              </a:rPr>
              <a:t>Solar data</a:t>
            </a:r>
          </a:p>
        </p:txBody>
      </p:sp>
      <p:sp>
        <p:nvSpPr>
          <p:cNvPr id="3" name="Slide Number Placeholder 2">
            <a:extLst>
              <a:ext uri="{FF2B5EF4-FFF2-40B4-BE49-F238E27FC236}">
                <a16:creationId xmlns:a16="http://schemas.microsoft.com/office/drawing/2014/main" id="{32736306-8381-4417-AC1D-119C798BFD1A}"/>
              </a:ext>
            </a:extLst>
          </p:cNvPr>
          <p:cNvSpPr>
            <a:spLocks noGrp="1"/>
          </p:cNvSpPr>
          <p:nvPr>
            <p:ph type="sldNum" sz="quarter" idx="12"/>
          </p:nvPr>
        </p:nvSpPr>
        <p:spPr/>
        <p:txBody>
          <a:bodyPr/>
          <a:lstStyle/>
          <a:p>
            <a:fld id="{070107C2-BA80-4C15-96AE-A43002ADF025}" type="slidenum">
              <a:rPr lang="en-US" smtClean="0"/>
              <a:t>47</a:t>
            </a:fld>
            <a:endParaRPr lang="en-US"/>
          </a:p>
        </p:txBody>
      </p:sp>
    </p:spTree>
    <p:extLst>
      <p:ext uri="{BB962C8B-B14F-4D97-AF65-F5344CB8AC3E}">
        <p14:creationId xmlns:p14="http://schemas.microsoft.com/office/powerpoint/2010/main" val="40723272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1" descr="tableun_07_03.jpg">
            <a:extLst>
              <a:ext uri="{FF2B5EF4-FFF2-40B4-BE49-F238E27FC236}">
                <a16:creationId xmlns:a16="http://schemas.microsoft.com/office/drawing/2014/main" id="{C7B5769A-245A-45CB-BD95-3DE7B8925B18}"/>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381000" y="287794"/>
            <a:ext cx="4267200" cy="6486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Title 3" hidden="1">
            <a:extLst>
              <a:ext uri="{FF2B5EF4-FFF2-40B4-BE49-F238E27FC236}">
                <a16:creationId xmlns:a16="http://schemas.microsoft.com/office/drawing/2014/main" id="{C971BA1B-6D28-41A8-8AF9-DC32D0C7D825}"/>
              </a:ext>
            </a:extLst>
          </p:cNvPr>
          <p:cNvSpPr>
            <a:spLocks noGrp="1"/>
          </p:cNvSpPr>
          <p:nvPr>
            <p:ph type="title"/>
          </p:nvPr>
        </p:nvSpPr>
        <p:spPr/>
        <p:txBody>
          <a:bodyPr/>
          <a:lstStyle/>
          <a:p>
            <a:pPr eaLnBrk="1" hangingPunct="1"/>
            <a:r>
              <a:rPr lang="en-US" altLang="en-US"/>
              <a:t>tableun_07_03</a:t>
            </a:r>
          </a:p>
        </p:txBody>
      </p:sp>
      <p:pic>
        <p:nvPicPr>
          <p:cNvPr id="5" name="Picture 1" descr="tableun_07_04.jpg">
            <a:extLst>
              <a:ext uri="{FF2B5EF4-FFF2-40B4-BE49-F238E27FC236}">
                <a16:creationId xmlns:a16="http://schemas.microsoft.com/office/drawing/2014/main" id="{78EE5F0A-CFC3-4DF4-91FC-AA86DA4FA24D}"/>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4724400" y="762000"/>
            <a:ext cx="4176860" cy="5940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864184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1" descr="tableun_07_05.jpg">
            <a:extLst>
              <a:ext uri="{FF2B5EF4-FFF2-40B4-BE49-F238E27FC236}">
                <a16:creationId xmlns:a16="http://schemas.microsoft.com/office/drawing/2014/main" id="{2B74DA23-C6CA-4ED2-A4E2-E45D41A33DA3}"/>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2400" y="446379"/>
            <a:ext cx="4419600" cy="6387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6" name="Title 3" hidden="1">
            <a:extLst>
              <a:ext uri="{FF2B5EF4-FFF2-40B4-BE49-F238E27FC236}">
                <a16:creationId xmlns:a16="http://schemas.microsoft.com/office/drawing/2014/main" id="{A1CAF33D-B958-41DC-9A94-3B969A69E927}"/>
              </a:ext>
            </a:extLst>
          </p:cNvPr>
          <p:cNvSpPr>
            <a:spLocks noGrp="1"/>
          </p:cNvSpPr>
          <p:nvPr>
            <p:ph type="title"/>
          </p:nvPr>
        </p:nvSpPr>
        <p:spPr/>
        <p:txBody>
          <a:bodyPr/>
          <a:lstStyle/>
          <a:p>
            <a:pPr eaLnBrk="1" hangingPunct="1"/>
            <a:r>
              <a:rPr lang="en-US" altLang="en-US"/>
              <a:t>tableun_07_05</a:t>
            </a:r>
          </a:p>
        </p:txBody>
      </p:sp>
      <p:pic>
        <p:nvPicPr>
          <p:cNvPr id="5" name="Picture 1" descr="tableun_07_06.jpg">
            <a:extLst>
              <a:ext uri="{FF2B5EF4-FFF2-40B4-BE49-F238E27FC236}">
                <a16:creationId xmlns:a16="http://schemas.microsoft.com/office/drawing/2014/main" id="{80A43633-0F56-44DE-941F-76F8C9A940AE}"/>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4648200" y="793531"/>
            <a:ext cx="4343400" cy="6040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48662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1" descr="tableun_07_07.jpg">
            <a:extLst>
              <a:ext uri="{FF2B5EF4-FFF2-40B4-BE49-F238E27FC236}">
                <a16:creationId xmlns:a16="http://schemas.microsoft.com/office/drawing/2014/main" id="{B0316400-E400-4727-9834-C801B6FCCAC2}"/>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364067" y="395744"/>
            <a:ext cx="4419600" cy="6462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4" name="Title 3" hidden="1">
            <a:extLst>
              <a:ext uri="{FF2B5EF4-FFF2-40B4-BE49-F238E27FC236}">
                <a16:creationId xmlns:a16="http://schemas.microsoft.com/office/drawing/2014/main" id="{2202ABBD-3641-4262-A66A-E972C25022C9}"/>
              </a:ext>
            </a:extLst>
          </p:cNvPr>
          <p:cNvSpPr>
            <a:spLocks noGrp="1"/>
          </p:cNvSpPr>
          <p:nvPr>
            <p:ph type="title"/>
          </p:nvPr>
        </p:nvSpPr>
        <p:spPr/>
        <p:txBody>
          <a:bodyPr/>
          <a:lstStyle/>
          <a:p>
            <a:pPr eaLnBrk="1" hangingPunct="1"/>
            <a:r>
              <a:rPr lang="en-US" altLang="en-US"/>
              <a:t>tableun_07_07</a:t>
            </a:r>
          </a:p>
        </p:txBody>
      </p:sp>
      <p:pic>
        <p:nvPicPr>
          <p:cNvPr id="5" name="Picture 1" descr="tableun_07_08.jpg">
            <a:extLst>
              <a:ext uri="{FF2B5EF4-FFF2-40B4-BE49-F238E27FC236}">
                <a16:creationId xmlns:a16="http://schemas.microsoft.com/office/drawing/2014/main" id="{CE37DC75-32B2-4938-AC21-AB81B45F879A}"/>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4800600" y="338579"/>
            <a:ext cx="4243633" cy="5944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25397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1" descr="tableun_07_09.jpg">
            <a:extLst>
              <a:ext uri="{FF2B5EF4-FFF2-40B4-BE49-F238E27FC236}">
                <a16:creationId xmlns:a16="http://schemas.microsoft.com/office/drawing/2014/main" id="{EBAF686E-0B29-4C28-867C-87B71B9BEAA2}"/>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79978" y="228600"/>
            <a:ext cx="4492022" cy="6473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2" name="Title 3" hidden="1">
            <a:extLst>
              <a:ext uri="{FF2B5EF4-FFF2-40B4-BE49-F238E27FC236}">
                <a16:creationId xmlns:a16="http://schemas.microsoft.com/office/drawing/2014/main" id="{F9814DB3-981D-4F3C-A1F7-0AD75EC26440}"/>
              </a:ext>
            </a:extLst>
          </p:cNvPr>
          <p:cNvSpPr>
            <a:spLocks noGrp="1"/>
          </p:cNvSpPr>
          <p:nvPr>
            <p:ph type="title"/>
          </p:nvPr>
        </p:nvSpPr>
        <p:spPr/>
        <p:txBody>
          <a:bodyPr/>
          <a:lstStyle/>
          <a:p>
            <a:pPr eaLnBrk="1" hangingPunct="1"/>
            <a:r>
              <a:rPr lang="en-US" altLang="en-US"/>
              <a:t>tableun_07_09</a:t>
            </a:r>
          </a:p>
        </p:txBody>
      </p:sp>
      <p:pic>
        <p:nvPicPr>
          <p:cNvPr id="5" name="Picture 1" descr="tableun_07_10.jpg">
            <a:extLst>
              <a:ext uri="{FF2B5EF4-FFF2-40B4-BE49-F238E27FC236}">
                <a16:creationId xmlns:a16="http://schemas.microsoft.com/office/drawing/2014/main" id="{ECFA4952-D7A9-4103-B3E2-D457385963C7}"/>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4609706" y="609600"/>
            <a:ext cx="4454315" cy="6126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520462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1" descr="tableun_07_11.jpg">
            <a:extLst>
              <a:ext uri="{FF2B5EF4-FFF2-40B4-BE49-F238E27FC236}">
                <a16:creationId xmlns:a16="http://schemas.microsoft.com/office/drawing/2014/main" id="{1B1B82C0-8EE8-44F8-B3D6-BCF78D5EBC08}"/>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76200" y="457200"/>
            <a:ext cx="4267200" cy="6332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0" name="Title 3" hidden="1">
            <a:extLst>
              <a:ext uri="{FF2B5EF4-FFF2-40B4-BE49-F238E27FC236}">
                <a16:creationId xmlns:a16="http://schemas.microsoft.com/office/drawing/2014/main" id="{6F91254A-9FAB-4E36-90ED-481E7CBB0E6A}"/>
              </a:ext>
            </a:extLst>
          </p:cNvPr>
          <p:cNvSpPr>
            <a:spLocks noGrp="1"/>
          </p:cNvSpPr>
          <p:nvPr>
            <p:ph type="title"/>
          </p:nvPr>
        </p:nvSpPr>
        <p:spPr/>
        <p:txBody>
          <a:bodyPr/>
          <a:lstStyle/>
          <a:p>
            <a:pPr eaLnBrk="1" hangingPunct="1"/>
            <a:r>
              <a:rPr lang="en-US" altLang="en-US"/>
              <a:t>tableun_07_11</a:t>
            </a:r>
          </a:p>
        </p:txBody>
      </p:sp>
      <p:pic>
        <p:nvPicPr>
          <p:cNvPr id="5" name="Picture 1" descr="tableun_07_12.jpg">
            <a:extLst>
              <a:ext uri="{FF2B5EF4-FFF2-40B4-BE49-F238E27FC236}">
                <a16:creationId xmlns:a16="http://schemas.microsoft.com/office/drawing/2014/main" id="{94FC0BF6-6532-42E3-9569-AF5B70312A16}"/>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4495800" y="513296"/>
            <a:ext cx="4572000" cy="6219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57394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1" descr="tableun_07_13.jpg">
            <a:extLst>
              <a:ext uri="{FF2B5EF4-FFF2-40B4-BE49-F238E27FC236}">
                <a16:creationId xmlns:a16="http://schemas.microsoft.com/office/drawing/2014/main" id="{5E96DAAE-4B1C-46F1-A0DA-D01811E72BAC}"/>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2400" y="228600"/>
            <a:ext cx="4343400" cy="640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Title 3" hidden="1">
            <a:extLst>
              <a:ext uri="{FF2B5EF4-FFF2-40B4-BE49-F238E27FC236}">
                <a16:creationId xmlns:a16="http://schemas.microsoft.com/office/drawing/2014/main" id="{7A550482-B246-44BB-B367-A90D9B54C7FF}"/>
              </a:ext>
            </a:extLst>
          </p:cNvPr>
          <p:cNvSpPr>
            <a:spLocks noGrp="1"/>
          </p:cNvSpPr>
          <p:nvPr>
            <p:ph type="title"/>
          </p:nvPr>
        </p:nvSpPr>
        <p:spPr/>
        <p:txBody>
          <a:bodyPr/>
          <a:lstStyle/>
          <a:p>
            <a:pPr eaLnBrk="1" hangingPunct="1"/>
            <a:r>
              <a:rPr lang="en-US" altLang="en-US"/>
              <a:t>tableun_07_13</a:t>
            </a:r>
          </a:p>
        </p:txBody>
      </p:sp>
      <p:pic>
        <p:nvPicPr>
          <p:cNvPr id="5" name="Picture 1" descr="tableun_07_14.jpg">
            <a:extLst>
              <a:ext uri="{FF2B5EF4-FFF2-40B4-BE49-F238E27FC236}">
                <a16:creationId xmlns:a16="http://schemas.microsoft.com/office/drawing/2014/main" id="{3E4879B3-7344-4C5B-B734-1E12E41F942C}"/>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4562483" y="539665"/>
            <a:ext cx="4581517"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97302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68FD9-0415-48E8-9431-31DABF568386}"/>
              </a:ext>
            </a:extLst>
          </p:cNvPr>
          <p:cNvSpPr>
            <a:spLocks noGrp="1"/>
          </p:cNvSpPr>
          <p:nvPr>
            <p:ph type="title"/>
          </p:nvPr>
        </p:nvSpPr>
        <p:spPr>
          <a:xfrm>
            <a:off x="457200" y="338328"/>
            <a:ext cx="2895600" cy="1252728"/>
          </a:xfrm>
        </p:spPr>
        <p:txBody>
          <a:bodyPr>
            <a:normAutofit fontScale="90000"/>
          </a:bodyPr>
          <a:lstStyle/>
          <a:p>
            <a:r>
              <a:rPr lang="en-CA" dirty="0"/>
              <a:t>Average Monthly Data Sample</a:t>
            </a:r>
          </a:p>
        </p:txBody>
      </p:sp>
      <p:sp>
        <p:nvSpPr>
          <p:cNvPr id="3" name="Slide Number Placeholder 2">
            <a:extLst>
              <a:ext uri="{FF2B5EF4-FFF2-40B4-BE49-F238E27FC236}">
                <a16:creationId xmlns:a16="http://schemas.microsoft.com/office/drawing/2014/main" id="{94BB6532-D5DE-4636-98FB-609D3D5763DA}"/>
              </a:ext>
            </a:extLst>
          </p:cNvPr>
          <p:cNvSpPr>
            <a:spLocks noGrp="1"/>
          </p:cNvSpPr>
          <p:nvPr>
            <p:ph type="sldNum" sz="quarter" idx="12"/>
          </p:nvPr>
        </p:nvSpPr>
        <p:spPr/>
        <p:txBody>
          <a:bodyPr/>
          <a:lstStyle/>
          <a:p>
            <a:fld id="{070107C2-BA80-4C15-96AE-A43002ADF025}" type="slidenum">
              <a:rPr lang="en-US" smtClean="0"/>
              <a:t>54</a:t>
            </a:fld>
            <a:endParaRPr lang="en-US"/>
          </a:p>
        </p:txBody>
      </p:sp>
      <p:pic>
        <p:nvPicPr>
          <p:cNvPr id="4" name="Picture 1" descr="fig_07_12.jpg">
            <a:extLst>
              <a:ext uri="{FF2B5EF4-FFF2-40B4-BE49-F238E27FC236}">
                <a16:creationId xmlns:a16="http://schemas.microsoft.com/office/drawing/2014/main" id="{E336EDC4-9385-4347-9B33-610F07C276F2}"/>
              </a:ext>
            </a:extLst>
          </p:cNvPr>
          <p:cNvPicPr>
            <a:picLocks noChangeAspect="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3679825" y="338328"/>
            <a:ext cx="5464175" cy="6489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94333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IW_TYPE_IMAGE" val="TextBox 2"/>
</p:tagLst>
</file>

<file path=ppt/tags/tag2.xml><?xml version="1.0" encoding="utf-8"?>
<p:tagLst xmlns:a="http://schemas.openxmlformats.org/drawingml/2006/main" xmlns:r="http://schemas.openxmlformats.org/officeDocument/2006/relationships" xmlns:p="http://schemas.openxmlformats.org/presentationml/2006/main">
  <p:tag name="IIW_TYPE_IMAGE" val="TextBox 2"/>
</p:tagLst>
</file>

<file path=ppt/tags/tag3.xml><?xml version="1.0" encoding="utf-8"?>
<p:tagLst xmlns:a="http://schemas.openxmlformats.org/drawingml/2006/main" xmlns:r="http://schemas.openxmlformats.org/officeDocument/2006/relationships" xmlns:p="http://schemas.openxmlformats.org/presentationml/2006/main">
  <p:tag name="IIW_TYPE_IMAGE" val="TextBox 2"/>
</p:tagLst>
</file>

<file path=ppt/tags/tag4.xml><?xml version="1.0" encoding="utf-8"?>
<p:tagLst xmlns:a="http://schemas.openxmlformats.org/drawingml/2006/main" xmlns:r="http://schemas.openxmlformats.org/officeDocument/2006/relationships" xmlns:p="http://schemas.openxmlformats.org/presentationml/2006/main">
  <p:tag name="IIW_TYPE_IMAGE" val="TextBox 2"/>
</p:tagLst>
</file>

<file path=ppt/tags/tag5.xml><?xml version="1.0" encoding="utf-8"?>
<p:tagLst xmlns:a="http://schemas.openxmlformats.org/drawingml/2006/main" xmlns:r="http://schemas.openxmlformats.org/officeDocument/2006/relationships" xmlns:p="http://schemas.openxmlformats.org/presentationml/2006/main">
  <p:tag name="IIW_TYPE_IMAGE" val="TextBox 2"/>
</p:tagLst>
</file>

<file path=ppt/tags/tag6.xml><?xml version="1.0" encoding="utf-8"?>
<p:tagLst xmlns:a="http://schemas.openxmlformats.org/drawingml/2006/main" xmlns:r="http://schemas.openxmlformats.org/officeDocument/2006/relationships" xmlns:p="http://schemas.openxmlformats.org/presentationml/2006/main">
  <p:tag name="IIW_TYPE_IMAGE" val="TextBox 2"/>
</p:tagLst>
</file>

<file path=ppt/tags/tag7.xml><?xml version="1.0" encoding="utf-8"?>
<p:tagLst xmlns:a="http://schemas.openxmlformats.org/drawingml/2006/main" xmlns:r="http://schemas.openxmlformats.org/officeDocument/2006/relationships" xmlns:p="http://schemas.openxmlformats.org/presentationml/2006/main">
  <p:tag name="IIW_TYPE_IMAGE" val="TextBox 2"/>
</p:tagLst>
</file>

<file path=ppt/tags/tag8.xml><?xml version="1.0" encoding="utf-8"?>
<p:tagLst xmlns:a="http://schemas.openxmlformats.org/drawingml/2006/main" xmlns:r="http://schemas.openxmlformats.org/officeDocument/2006/relationships" xmlns:p="http://schemas.openxmlformats.org/presentationml/2006/main">
  <p:tag name="IIW_TYPE_IMAGE" val="TextBox 2"/>
</p:tagLst>
</file>

<file path=ppt/tags/tag9.xml><?xml version="1.0" encoding="utf-8"?>
<p:tagLst xmlns:a="http://schemas.openxmlformats.org/drawingml/2006/main" xmlns:r="http://schemas.openxmlformats.org/officeDocument/2006/relationships" xmlns:p="http://schemas.openxmlformats.org/presentationml/2006/main">
  <p:tag name="IIW_TYPE_IMAGE" val="TextBox 2"/>
</p:tagLst>
</file>

<file path=ppt/tags/tag10.xml><?xml version="1.0" encoding="utf-8"?>
<p:tagLst xmlns:a="http://schemas.openxmlformats.org/drawingml/2006/main" xmlns:r="http://schemas.openxmlformats.org/officeDocument/2006/relationships" xmlns:p="http://schemas.openxmlformats.org/presentationml/2006/main">
  <p:tag name="IIW_TYPE_IMAGE" val="TextBox 2"/>
</p:tagLst>
</file>

<file path=ppt/tags/tag11.xml><?xml version="1.0" encoding="utf-8"?>
<p:tagLst xmlns:a="http://schemas.openxmlformats.org/drawingml/2006/main" xmlns:r="http://schemas.openxmlformats.org/officeDocument/2006/relationships" xmlns:p="http://schemas.openxmlformats.org/presentationml/2006/main">
  <p:tag name="IIW_TYPE_IMAGE" val="TextBox 2"/>
</p:tagLst>
</file>

<file path=ppt/tags/tag12.xml><?xml version="1.0" encoding="utf-8"?>
<p:tagLst xmlns:a="http://schemas.openxmlformats.org/drawingml/2006/main" xmlns:r="http://schemas.openxmlformats.org/officeDocument/2006/relationships" xmlns:p="http://schemas.openxmlformats.org/presentationml/2006/main">
  <p:tag name="IIW_TYPE_IMAGE" val="TextBox 2"/>
</p:tagLst>
</file>

<file path=ppt/tags/tag13.xml><?xml version="1.0" encoding="utf-8"?>
<p:tagLst xmlns:a="http://schemas.openxmlformats.org/drawingml/2006/main" xmlns:r="http://schemas.openxmlformats.org/officeDocument/2006/relationships" xmlns:p="http://schemas.openxmlformats.org/presentationml/2006/main">
  <p:tag name="IIW_TYPE_IMAGE" val="TextBox 2"/>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1_Waveform">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3.xml><?xml version="1.0" encoding="utf-8"?>
<a:theme xmlns:a="http://schemas.openxmlformats.org/drawingml/2006/main" name="1_Flow">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36050</TotalTime>
  <Words>2031</Words>
  <Application>Microsoft Office PowerPoint</Application>
  <PresentationFormat>On-screen Show (4:3)</PresentationFormat>
  <Paragraphs>310</Paragraphs>
  <Slides>54</Slides>
  <Notes>1</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54</vt:i4>
      </vt:variant>
    </vt:vector>
  </HeadingPairs>
  <TitlesOfParts>
    <vt:vector size="66" baseType="lpstr">
      <vt:lpstr>Arial</vt:lpstr>
      <vt:lpstr>Calibri</vt:lpstr>
      <vt:lpstr>Cambria Math</vt:lpstr>
      <vt:lpstr>Candara</vt:lpstr>
      <vt:lpstr>Constantia</vt:lpstr>
      <vt:lpstr>Symbol</vt:lpstr>
      <vt:lpstr>Verdana</vt:lpstr>
      <vt:lpstr>Wingdings</vt:lpstr>
      <vt:lpstr>Wingdings 2</vt:lpstr>
      <vt:lpstr>Flow</vt:lpstr>
      <vt:lpstr>1_Waveform</vt:lpstr>
      <vt:lpstr>1_Flow</vt:lpstr>
      <vt:lpstr>PowerPoint Presentation</vt:lpstr>
      <vt:lpstr>References</vt:lpstr>
      <vt:lpstr>PowerPoint Presentation</vt:lpstr>
      <vt:lpstr>Learning Outcome</vt:lpstr>
      <vt:lpstr>Solar Energy</vt:lpstr>
      <vt:lpstr>Direct and Diffuse Radiation</vt:lpstr>
      <vt:lpstr>Variation of Solar Intensity</vt:lpstr>
      <vt:lpstr>Hourly and Monthly Variation of Solar Intensity</vt:lpstr>
      <vt:lpstr>Solar Collector Installation</vt:lpstr>
      <vt:lpstr>Solar space/water heating</vt:lpstr>
      <vt:lpstr> Solar collectors – Non-concentrating (Residential) </vt:lpstr>
      <vt:lpstr> Solar collectors – Concentrating (Industrial) </vt:lpstr>
      <vt:lpstr>CSP</vt:lpstr>
      <vt:lpstr>  Solar collector design basis  </vt:lpstr>
      <vt:lpstr> Minimizing energy loss </vt:lpstr>
      <vt:lpstr> Heat storage </vt:lpstr>
      <vt:lpstr> Heat storage requirement </vt:lpstr>
      <vt:lpstr>Flat Plate Collector  System</vt:lpstr>
      <vt:lpstr>PowerPoint Presentation</vt:lpstr>
      <vt:lpstr>Collector Energy Balance</vt:lpstr>
      <vt:lpstr>Collector Efficiency</vt:lpstr>
      <vt:lpstr>SRCC Certificate</vt:lpstr>
      <vt:lpstr>CONCENTRATING SOLAR  COLLECTOR</vt:lpstr>
      <vt:lpstr>CONCENTRATING SOLAR POWER (CSP)</vt:lpstr>
      <vt:lpstr>PowerPoint Presentation</vt:lpstr>
      <vt:lpstr>Learning Objectives</vt:lpstr>
      <vt:lpstr> Solar Electric Generation </vt:lpstr>
      <vt:lpstr>Semiconductors</vt:lpstr>
      <vt:lpstr> Photon energy </vt:lpstr>
      <vt:lpstr>Electron-hole recombination </vt:lpstr>
      <vt:lpstr>Doped semiconductors</vt:lpstr>
      <vt:lpstr> Semiconducting junctions </vt:lpstr>
      <vt:lpstr>Operation of PV Cells</vt:lpstr>
      <vt:lpstr>Characteristics of photovoltaic cells Band Gap Energy</vt:lpstr>
      <vt:lpstr>Band Gap Energy</vt:lpstr>
      <vt:lpstr>Excess Energy and Cell Efficiency</vt:lpstr>
      <vt:lpstr>Photovoltaic Cell Performance</vt:lpstr>
      <vt:lpstr>Fill Factor</vt:lpstr>
      <vt:lpstr>Efficiency</vt:lpstr>
      <vt:lpstr>PV Modules</vt:lpstr>
      <vt:lpstr>Standard Test Conditions (STC)</vt:lpstr>
      <vt:lpstr>Estimating Energy Production</vt:lpstr>
      <vt:lpstr>  Photovoltaic Systems  </vt:lpstr>
      <vt:lpstr>Solar PV Batteries</vt:lpstr>
      <vt:lpstr>PV Systems</vt:lpstr>
      <vt:lpstr>PV Systems</vt:lpstr>
      <vt:lpstr>Solar data</vt:lpstr>
      <vt:lpstr>tableun_07_03</vt:lpstr>
      <vt:lpstr>tableun_07_05</vt:lpstr>
      <vt:lpstr>tableun_07_07</vt:lpstr>
      <vt:lpstr>tableun_07_09</vt:lpstr>
      <vt:lpstr>tableun_07_11</vt:lpstr>
      <vt:lpstr>tableun_07_13</vt:lpstr>
      <vt:lpstr>Average Monthly Data Sample</vt:lpstr>
    </vt:vector>
  </TitlesOfParts>
  <Company>NTL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altit</dc:creator>
  <cp:lastModifiedBy>Amin Ghobeity</cp:lastModifiedBy>
  <cp:revision>2247</cp:revision>
  <dcterms:created xsi:type="dcterms:W3CDTF">2013-10-11T17:23:38Z</dcterms:created>
  <dcterms:modified xsi:type="dcterms:W3CDTF">2025-11-11T18:59:55Z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