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3.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27"/>
  </p:notesMasterIdLst>
  <p:handoutMasterIdLst>
    <p:handoutMasterId r:id="rId28"/>
  </p:handoutMasterIdLst>
  <p:sldIdLst>
    <p:sldId id="256" r:id="rId2"/>
    <p:sldId id="387" r:id="rId3"/>
    <p:sldId id="344" r:id="rId4"/>
    <p:sldId id="378" r:id="rId5"/>
    <p:sldId id="381" r:id="rId6"/>
    <p:sldId id="382" r:id="rId7"/>
    <p:sldId id="343" r:id="rId8"/>
    <p:sldId id="347" r:id="rId9"/>
    <p:sldId id="358" r:id="rId10"/>
    <p:sldId id="372" r:id="rId11"/>
    <p:sldId id="373" r:id="rId12"/>
    <p:sldId id="365" r:id="rId13"/>
    <p:sldId id="375" r:id="rId14"/>
    <p:sldId id="361" r:id="rId15"/>
    <p:sldId id="362" r:id="rId16"/>
    <p:sldId id="363" r:id="rId17"/>
    <p:sldId id="367" r:id="rId18"/>
    <p:sldId id="369" r:id="rId19"/>
    <p:sldId id="368" r:id="rId20"/>
    <p:sldId id="370" r:id="rId21"/>
    <p:sldId id="384" r:id="rId22"/>
    <p:sldId id="374" r:id="rId23"/>
    <p:sldId id="377" r:id="rId24"/>
    <p:sldId id="376" r:id="rId25"/>
    <p:sldId id="38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eftel, Mona D" initials="ZMD"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notesViewPr>
    <p:cSldViewPr>
      <p:cViewPr varScale="1">
        <p:scale>
          <a:sx n="70" d="100"/>
          <a:sy n="70" d="100"/>
        </p:scale>
        <p:origin x="-324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D4A66-4E06-4F80-804F-A964EB6C0D0A}" type="datetimeFigureOut">
              <a:rPr lang="en-US" smtClean="0"/>
              <a:pPr/>
              <a:t>9/14/2026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340500-23C6-45C7-9626-EF17B47CA0A2}" type="slidenum">
              <a:rPr lang="en-US" smtClean="0"/>
              <a:pPr/>
              <a:t>‹#›</a:t>
            </a:fld>
            <a:endParaRPr lang="en-US" dirty="0"/>
          </a:p>
        </p:txBody>
      </p:sp>
    </p:spTree>
    <p:extLst>
      <p:ext uri="{BB962C8B-B14F-4D97-AF65-F5344CB8AC3E}">
        <p14:creationId xmlns:p14="http://schemas.microsoft.com/office/powerpoint/2010/main" val="25474727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646D3D-12D9-42A1-A359-88470FD6EB52}" type="datetimeFigureOut">
              <a:rPr lang="en-US" smtClean="0"/>
              <a:pPr/>
              <a:t>9/14/2026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58331F-8B33-4884-9995-3C14B2EEB352}" type="slidenum">
              <a:rPr lang="en-US" smtClean="0"/>
              <a:pPr/>
              <a:t>‹#›</a:t>
            </a:fld>
            <a:endParaRPr lang="en-US" dirty="0"/>
          </a:p>
        </p:txBody>
      </p:sp>
    </p:spTree>
    <p:extLst>
      <p:ext uri="{BB962C8B-B14F-4D97-AF65-F5344CB8AC3E}">
        <p14:creationId xmlns:p14="http://schemas.microsoft.com/office/powerpoint/2010/main" val="1053587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B58331F-8B33-4884-9995-3C14B2EEB352}" type="slidenum">
              <a:rPr lang="en-US" smtClean="0"/>
              <a:pPr/>
              <a:t>1</a:t>
            </a:fld>
            <a:endParaRPr lang="en-US" dirty="0"/>
          </a:p>
        </p:txBody>
      </p:sp>
    </p:spTree>
    <p:extLst>
      <p:ext uri="{BB962C8B-B14F-4D97-AF65-F5344CB8AC3E}">
        <p14:creationId xmlns:p14="http://schemas.microsoft.com/office/powerpoint/2010/main" val="362321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63100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2" name="Shape 202"/>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Slide 2 is list of textbook LO numbers and statements</a:t>
            </a:r>
          </a:p>
        </p:txBody>
      </p:sp>
      <p:sp>
        <p:nvSpPr>
          <p:cNvPr id="203" name="Shape 203"/>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70284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kumimoji="0" lang="en-US" sz="3600" b="1" kern="1200" dirty="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r>
              <a:rPr lang="en-US" dirty="0"/>
              <a:t>Click to edit Master title style</a:t>
            </a:r>
          </a:p>
        </p:txBody>
      </p:sp>
      <p:sp>
        <p:nvSpPr>
          <p:cNvPr id="10" name="Footer Placeholder 8"/>
          <p:cNvSpPr txBox="1">
            <a:spLocks/>
          </p:cNvSpPr>
          <p:nvPr userDrawn="1"/>
        </p:nvSpPr>
        <p:spPr>
          <a:xfrm>
            <a:off x="1333500" y="6364275"/>
            <a:ext cx="6972300" cy="37785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kumimoji="0" lang="en-US" sz="1100" kern="1200" dirty="0">
              <a:solidFill>
                <a:srgbClr val="00206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0427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122D24B2-5D52-46F7-B915-67CABB3AD0CF}" type="slidenum">
              <a:rPr lang="en-US" smtClean="0"/>
              <a:pPr/>
              <a:t>‹#›</a:t>
            </a:fld>
            <a:endParaRPr lang="en-US" dirty="0"/>
          </a:p>
        </p:txBody>
      </p:sp>
      <p:sp>
        <p:nvSpPr>
          <p:cNvPr id="4" name="Text Placeholder 3"/>
          <p:cNvSpPr>
            <a:spLocks noGrp="1"/>
          </p:cNvSpPr>
          <p:nvPr>
            <p:ph type="body" sz="quarter" idx="13"/>
          </p:nvPr>
        </p:nvSpPr>
        <p:spPr>
          <a:xfrm>
            <a:off x="609600" y="2133600"/>
            <a:ext cx="7810500" cy="4157662"/>
          </a:xfrm>
          <a:prstGeom prst="rect">
            <a:avLst/>
          </a:prstGeom>
        </p:spPr>
        <p:txBody>
          <a:bodyPr/>
          <a:lstStyle>
            <a:lvl1pPr marL="463550" indent="-463550">
              <a:buFont typeface="Wingdings" panose="05000000000000000000" pitchFamily="2" charset="2"/>
              <a:buChar char="q"/>
              <a:defRPr sz="2400">
                <a:solidFill>
                  <a:schemeClr val="bg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6" name="Title 5"/>
          <p:cNvSpPr>
            <a:spLocks noGrp="1"/>
          </p:cNvSpPr>
          <p:nvPr>
            <p:ph type="title"/>
          </p:nvPr>
        </p:nvSpPr>
        <p:spPr>
          <a:xfrm>
            <a:off x="609600" y="1001951"/>
            <a:ext cx="7810500" cy="979250"/>
          </a:xfrm>
          <a:prstGeom prst="rect">
            <a:avLst/>
          </a:prstGeom>
        </p:spPr>
        <p:txBody>
          <a:bodyPr/>
          <a:lstStyle>
            <a:lvl1pPr algn="l">
              <a:defRPr b="1">
                <a:solidFill>
                  <a:schemeClr val="accent2"/>
                </a:solidFill>
                <a:latin typeface="Arial" panose="020B0604020202020204" pitchFamily="34" charset="0"/>
                <a:cs typeface="Arial" panose="020B0604020202020204" pitchFamily="34" charset="0"/>
              </a:defRPr>
            </a:lvl1pPr>
          </a:lstStyle>
          <a:p>
            <a:r>
              <a:rPr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483532"/>
            <a:ext cx="8229600" cy="728452"/>
          </a:xfrm>
        </p:spPr>
        <p:txBody>
          <a:bodyPr/>
          <a:lstStyle/>
          <a:p>
            <a:r>
              <a:rPr lang="en-US" dirty="0"/>
              <a:t>Click to edit Master title style</a:t>
            </a:r>
          </a:p>
        </p:txBody>
      </p:sp>
      <p:sp>
        <p:nvSpPr>
          <p:cNvPr id="3" name="Content Placeholder 2"/>
          <p:cNvSpPr>
            <a:spLocks noGrp="1"/>
          </p:cNvSpPr>
          <p:nvPr>
            <p:ph idx="1"/>
          </p:nvPr>
        </p:nvSpPr>
        <p:spPr>
          <a:xfrm>
            <a:off x="457200" y="1658923"/>
            <a:ext cx="8229600" cy="4525963"/>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Tree>
    <p:extLst>
      <p:ext uri="{BB962C8B-B14F-4D97-AF65-F5344CB8AC3E}">
        <p14:creationId xmlns:p14="http://schemas.microsoft.com/office/powerpoint/2010/main" val="11392579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7409" y="632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10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fld id="{122D24B2-5D52-46F7-B915-67CABB3AD0CF}"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
        <p:nvSpPr>
          <p:cNvPr id="9" name="TextBox 8"/>
          <p:cNvSpPr txBox="1"/>
          <p:nvPr userDrawn="1"/>
        </p:nvSpPr>
        <p:spPr>
          <a:xfrm>
            <a:off x="0" y="0"/>
            <a:ext cx="9144000" cy="307777"/>
          </a:xfrm>
          <a:prstGeom prst="rect">
            <a:avLst/>
          </a:prstGeom>
          <a:noFill/>
        </p:spPr>
        <p:txBody>
          <a:bodyPr wrap="square" rtlCol="0">
            <a:spAutoFit/>
          </a:bodyPr>
          <a:lstStyle/>
          <a:p>
            <a:r>
              <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Tree>
  </p:cSld>
  <p:clrMap bg1="dk1" tx1="lt1" bg2="dk2" tx2="lt2" accent1="accent1" accent2="accent2" accent3="accent3" accent4="accent4" accent5="accent5" accent6="accent6" hlink="hlink" folHlink="folHlink"/>
  <p:sldLayoutIdLst>
    <p:sldLayoutId id="2147483758" r:id="rId1"/>
    <p:sldLayoutId id="2147483757" r:id="rId2"/>
    <p:sldLayoutId id="2147483759" r:id="rId3"/>
  </p:sldLayoutIdLst>
  <p:hf hdr="0" ftr="0" dt="0"/>
  <p:txStyles>
    <p:title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wmf"/><Relationship Id="rId5" Type="http://schemas.openxmlformats.org/officeDocument/2006/relationships/oleObject" Target="../embeddings/oleObject4.bin"/><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6.wmf"/><Relationship Id="rId2" Type="http://schemas.openxmlformats.org/officeDocument/2006/relationships/slideLayout" Target="../slideLayouts/slideLayout3.xml"/><Relationship Id="rId1" Type="http://schemas.openxmlformats.org/officeDocument/2006/relationships/themeOverride" Target="../theme/themeOverride2.xml"/><Relationship Id="rId6" Type="http://schemas.openxmlformats.org/officeDocument/2006/relationships/oleObject" Target="../embeddings/oleObject6.bin"/><Relationship Id="rId5" Type="http://schemas.openxmlformats.org/officeDocument/2006/relationships/image" Target="../media/image15.w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8.wmf"/><Relationship Id="rId5" Type="http://schemas.openxmlformats.org/officeDocument/2006/relationships/oleObject" Target="../embeddings/oleObject8.bin"/><Relationship Id="rId4" Type="http://schemas.openxmlformats.org/officeDocument/2006/relationships/image" Target="../media/image17.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0.wmf"/><Relationship Id="rId2" Type="http://schemas.openxmlformats.org/officeDocument/2006/relationships/slideLayout" Target="../slideLayouts/slideLayout3.xml"/><Relationship Id="rId1" Type="http://schemas.openxmlformats.org/officeDocument/2006/relationships/themeOverride" Target="../theme/themeOverride3.xml"/><Relationship Id="rId6" Type="http://schemas.openxmlformats.org/officeDocument/2006/relationships/oleObject" Target="../embeddings/oleObject10.bin"/><Relationship Id="rId5" Type="http://schemas.openxmlformats.org/officeDocument/2006/relationships/image" Target="../media/image19.wmf"/><Relationship Id="rId4"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2.wmf"/><Relationship Id="rId5" Type="http://schemas.openxmlformats.org/officeDocument/2006/relationships/oleObject" Target="../embeddings/oleObject12.bin"/><Relationship Id="rId4" Type="http://schemas.openxmlformats.org/officeDocument/2006/relationships/image" Target="../media/image21.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4.wmf"/><Relationship Id="rId5" Type="http://schemas.openxmlformats.org/officeDocument/2006/relationships/oleObject" Target="../embeddings/oleObject14.bin"/><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4953000" y="1739900"/>
            <a:ext cx="3432048" cy="914400"/>
          </a:xfrm>
          <a:prstGeom prst="rect">
            <a:avLst/>
          </a:prstGeom>
        </p:spPr>
        <p:txBody>
          <a:bodyPr>
            <a:noAutofit/>
          </a:bodyPr>
          <a:lstStyle>
            <a:lvl1pPr algn="l" rtl="0" eaLnBrk="1" latinLnBrk="0" hangingPunct="1">
              <a:spcBef>
                <a:spcPct val="0"/>
              </a:spcBef>
              <a:buNone/>
              <a:defRPr kumimoji="0" sz="3600" b="1" kern="1200">
                <a:ln>
                  <a:noFill/>
                </a:ln>
                <a:solidFill>
                  <a:schemeClr val="accent2"/>
                </a:solidFill>
                <a:effectLst/>
                <a:latin typeface="Arial" panose="020B0604020202020204" pitchFamily="34" charset="0"/>
                <a:ea typeface="Verdana" panose="020B0604030504040204" pitchFamily="34" charset="0"/>
                <a:cs typeface="Arial" panose="020B0604020202020204" pitchFamily="34" charset="0"/>
              </a:defRPr>
            </a:lvl1pPr>
          </a:lstStyle>
          <a:p>
            <a:pPr algn="ctr"/>
            <a:r>
              <a:rPr lang="en-US" sz="4800" b="0" dirty="0">
                <a:solidFill>
                  <a:schemeClr val="accent1"/>
                </a:solidFill>
                <a:latin typeface="Verdana" panose="020B0604030504040204" pitchFamily="34" charset="0"/>
                <a:cs typeface="Verdana" panose="020B0604030504040204" pitchFamily="34" charset="0"/>
              </a:rPr>
              <a:t> </a:t>
            </a:r>
          </a:p>
        </p:txBody>
      </p:sp>
      <p:sp>
        <p:nvSpPr>
          <p:cNvPr id="14" name="Subtitle 2"/>
          <p:cNvSpPr txBox="1">
            <a:spLocks/>
          </p:cNvSpPr>
          <p:nvPr/>
        </p:nvSpPr>
        <p:spPr>
          <a:xfrm>
            <a:off x="228600" y="1447800"/>
            <a:ext cx="8763000" cy="4800600"/>
          </a:xfrm>
          <a:prstGeom prst="rect">
            <a:avLst/>
          </a:prstGeom>
        </p:spPr>
        <p:txBody>
          <a:bodyPr>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chemeClr val="accent1"/>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chemeClr val="accent2"/>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chemeClr val="accent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chemeClr val="accent4"/>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a:buFont typeface="Wingdings 2"/>
              <a:buNone/>
            </a:pPr>
            <a:r>
              <a:rPr lang="en-US" sz="3200" b="1" dirty="0">
                <a:solidFill>
                  <a:schemeClr val="accent2"/>
                </a:solidFill>
              </a:rPr>
              <a:t>Introduction to Energy Systems </a:t>
            </a:r>
          </a:p>
          <a:p>
            <a:pPr marL="0" indent="0">
              <a:buFont typeface="Wingdings 2"/>
              <a:buNone/>
            </a:pPr>
            <a:endParaRPr lang="en-US" sz="3200" dirty="0">
              <a:solidFill>
                <a:schemeClr val="accent2"/>
              </a:solidFill>
            </a:endParaRPr>
          </a:p>
          <a:p>
            <a:pPr marL="0" indent="0">
              <a:buFont typeface="Wingdings 2"/>
              <a:buNone/>
            </a:pPr>
            <a:r>
              <a:rPr lang="en-US" sz="3200" dirty="0">
                <a:solidFill>
                  <a:schemeClr val="accent2"/>
                </a:solidFill>
              </a:rPr>
              <a:t>Module 1 Part 2</a:t>
            </a:r>
          </a:p>
          <a:p>
            <a:pPr marL="0" indent="0">
              <a:buFont typeface="Wingdings 2"/>
              <a:buNone/>
            </a:pPr>
            <a:r>
              <a:rPr lang="en-US" sz="3200" dirty="0">
                <a:solidFill>
                  <a:schemeClr val="accent2"/>
                </a:solidFill>
              </a:rPr>
              <a:t>Basic Tools for Analysis of Energy Systems</a:t>
            </a:r>
          </a:p>
          <a:p>
            <a:pPr marL="0" indent="0">
              <a:buFont typeface="Wingdings 2"/>
              <a:buNone/>
            </a:pPr>
            <a:endParaRPr lang="en-US" sz="3200" dirty="0">
              <a:solidFill>
                <a:schemeClr val="accent2"/>
              </a:solidFill>
            </a:endParaRPr>
          </a:p>
          <a:p>
            <a:pPr marL="0" indent="0">
              <a:buFont typeface="Wingdings 2"/>
              <a:buNone/>
            </a:pPr>
            <a:r>
              <a:rPr lang="en-US" sz="2400" dirty="0">
                <a:solidFill>
                  <a:schemeClr val="accent2"/>
                </a:solidFill>
              </a:rPr>
              <a:t>Prepared by: Prof. Amin Ghobeity</a:t>
            </a:r>
          </a:p>
          <a:p>
            <a:pPr marL="0" indent="0">
              <a:buFont typeface="Wingdings 2"/>
              <a:buNone/>
            </a:pPr>
            <a:r>
              <a:rPr lang="en-US" sz="2400" dirty="0">
                <a:solidFill>
                  <a:schemeClr val="accent2"/>
                </a:solidFill>
              </a:rPr>
              <a:t>Please do not distribute without permission</a:t>
            </a:r>
          </a:p>
        </p:txBody>
      </p:sp>
      <p:sp>
        <p:nvSpPr>
          <p:cNvPr id="16" name="Slide Number Placeholder 15"/>
          <p:cNvSpPr>
            <a:spLocks noGrp="1"/>
          </p:cNvSpPr>
          <p:nvPr>
            <p:ph type="sldNum" sz="quarter" idx="12"/>
          </p:nvPr>
        </p:nvSpPr>
        <p:spPr/>
        <p:txBody>
          <a:bodyPr/>
          <a:lstStyle/>
          <a:p>
            <a:fld id="{122D24B2-5D52-46F7-B915-67CABB3AD0CF}"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2</a:t>
            </a:fld>
            <a:endParaRPr lang="en-US" dirty="0"/>
          </a:p>
        </p:txBody>
      </p:sp>
      <p:sp>
        <p:nvSpPr>
          <p:cNvPr id="4" name="Title 3"/>
          <p:cNvSpPr>
            <a:spLocks noGrp="1"/>
          </p:cNvSpPr>
          <p:nvPr>
            <p:ph type="title"/>
          </p:nvPr>
        </p:nvSpPr>
        <p:spPr/>
        <p:txBody>
          <a:bodyPr/>
          <a:lstStyle/>
          <a:p>
            <a:r>
              <a:rPr lang="en-CA" dirty="0"/>
              <a:t>References</a:t>
            </a:r>
          </a:p>
        </p:txBody>
      </p:sp>
      <p:sp>
        <p:nvSpPr>
          <p:cNvPr id="3" name="Rectangle 2"/>
          <p:cNvSpPr/>
          <p:nvPr/>
        </p:nvSpPr>
        <p:spPr>
          <a:xfrm>
            <a:off x="624840" y="4835826"/>
            <a:ext cx="3522980" cy="1477328"/>
          </a:xfrm>
          <a:prstGeom prst="rect">
            <a:avLst/>
          </a:prstGeom>
        </p:spPr>
        <p:txBody>
          <a:bodyPr wrap="square">
            <a:spAutoFit/>
          </a:bodyPr>
          <a:lstStyle/>
          <a:p>
            <a:r>
              <a:rPr lang="en-US" b="1" i="1" dirty="0">
                <a:solidFill>
                  <a:schemeClr val="bg1"/>
                </a:solidFill>
              </a:rPr>
              <a:t>Energy Systems Engineering: Evaluation and Implementation, 4</a:t>
            </a:r>
            <a:r>
              <a:rPr lang="en-US" b="1" i="1" baseline="30000" dirty="0">
                <a:solidFill>
                  <a:schemeClr val="bg1"/>
                </a:solidFill>
              </a:rPr>
              <a:t>th</a:t>
            </a:r>
            <a:r>
              <a:rPr lang="en-US" b="1" i="1" dirty="0">
                <a:solidFill>
                  <a:schemeClr val="bg1"/>
                </a:solidFill>
              </a:rPr>
              <a:t>  Ed.</a:t>
            </a:r>
          </a:p>
          <a:p>
            <a:r>
              <a:rPr lang="en-US" b="1" dirty="0">
                <a:solidFill>
                  <a:schemeClr val="bg1"/>
                </a:solidFill>
              </a:rPr>
              <a:t>McGraw-Hill, New York, 2016</a:t>
            </a:r>
          </a:p>
          <a:p>
            <a:r>
              <a:rPr lang="en-US" b="1" dirty="0">
                <a:solidFill>
                  <a:schemeClr val="bg1"/>
                </a:solidFill>
              </a:rPr>
              <a:t>Chapter </a:t>
            </a:r>
            <a:r>
              <a:rPr lang="en-US" b="1" dirty="0">
                <a:solidFill>
                  <a:srgbClr val="FF0000"/>
                </a:solidFill>
              </a:rPr>
              <a:t>2 &amp; 3</a:t>
            </a:r>
          </a:p>
        </p:txBody>
      </p:sp>
      <p:sp>
        <p:nvSpPr>
          <p:cNvPr id="8" name="Rectangle 7">
            <a:extLst>
              <a:ext uri="{FF2B5EF4-FFF2-40B4-BE49-F238E27FC236}">
                <a16:creationId xmlns:a16="http://schemas.microsoft.com/office/drawing/2014/main" id="{7F07A550-0FF9-4423-A04C-BBA21DE607F9}"/>
              </a:ext>
            </a:extLst>
          </p:cNvPr>
          <p:cNvSpPr/>
          <p:nvPr/>
        </p:nvSpPr>
        <p:spPr>
          <a:xfrm>
            <a:off x="4380994" y="2340333"/>
            <a:ext cx="2608580" cy="369332"/>
          </a:xfrm>
          <a:prstGeom prst="rect">
            <a:avLst/>
          </a:prstGeom>
        </p:spPr>
        <p:txBody>
          <a:bodyPr wrap="square">
            <a:spAutoFit/>
          </a:bodyPr>
          <a:lstStyle/>
          <a:p>
            <a:r>
              <a:rPr lang="en-US" b="1" i="1" dirty="0">
                <a:solidFill>
                  <a:schemeClr val="bg1"/>
                </a:solidFill>
              </a:rPr>
              <a:t>Instructor Notes</a:t>
            </a:r>
            <a:endParaRPr lang="en-US" b="1" dirty="0">
              <a:solidFill>
                <a:schemeClr val="bg1"/>
              </a:solidFill>
            </a:endParaRPr>
          </a:p>
        </p:txBody>
      </p:sp>
      <p:pic>
        <p:nvPicPr>
          <p:cNvPr id="10" name="Picture 9">
            <a:extLst>
              <a:ext uri="{FF2B5EF4-FFF2-40B4-BE49-F238E27FC236}">
                <a16:creationId xmlns:a16="http://schemas.microsoft.com/office/drawing/2014/main" id="{0EAE3CDF-D6DA-48D3-851D-F3CB11A1FBF2}"/>
              </a:ext>
            </a:extLst>
          </p:cNvPr>
          <p:cNvPicPr>
            <a:picLocks noChangeAspect="1"/>
          </p:cNvPicPr>
          <p:nvPr/>
        </p:nvPicPr>
        <p:blipFill>
          <a:blip r:embed="rId2"/>
          <a:stretch>
            <a:fillRect/>
          </a:stretch>
        </p:blipFill>
        <p:spPr>
          <a:xfrm>
            <a:off x="723900" y="1752600"/>
            <a:ext cx="2224647" cy="2952371"/>
          </a:xfrm>
          <a:prstGeom prst="rect">
            <a:avLst/>
          </a:prstGeom>
        </p:spPr>
      </p:pic>
    </p:spTree>
    <p:extLst>
      <p:ext uri="{BB962C8B-B14F-4D97-AF65-F5344CB8AC3E}">
        <p14:creationId xmlns:p14="http://schemas.microsoft.com/office/powerpoint/2010/main" val="396158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2B4D2E-466C-4532-9BD1-1A1752F0E0C9}"/>
              </a:ext>
            </a:extLst>
          </p:cNvPr>
          <p:cNvSpPr>
            <a:spLocks noGrp="1"/>
          </p:cNvSpPr>
          <p:nvPr>
            <p:ph type="sldNum" sz="quarter" idx="12"/>
          </p:nvPr>
        </p:nvSpPr>
        <p:spPr/>
        <p:txBody>
          <a:bodyPr/>
          <a:lstStyle/>
          <a:p>
            <a:fld id="{122D24B2-5D52-46F7-B915-67CABB3AD0CF}" type="slidenum">
              <a:rPr lang="en-US" smtClean="0"/>
              <a:pPr/>
              <a:t>3</a:t>
            </a:fld>
            <a:endParaRPr lang="en-US" dirty="0"/>
          </a:p>
        </p:txBody>
      </p:sp>
      <p:sp>
        <p:nvSpPr>
          <p:cNvPr id="3" name="Text Placeholder 2">
            <a:extLst>
              <a:ext uri="{FF2B5EF4-FFF2-40B4-BE49-F238E27FC236}">
                <a16:creationId xmlns:a16="http://schemas.microsoft.com/office/drawing/2014/main" id="{17A18A82-0882-4C8F-B10F-85658D6ABEF5}"/>
              </a:ext>
            </a:extLst>
          </p:cNvPr>
          <p:cNvSpPr>
            <a:spLocks noGrp="1"/>
          </p:cNvSpPr>
          <p:nvPr>
            <p:ph type="body" sz="quarter" idx="13"/>
          </p:nvPr>
        </p:nvSpPr>
        <p:spPr/>
        <p:txBody>
          <a:bodyPr/>
          <a:lstStyle/>
          <a:p>
            <a:r>
              <a:rPr lang="en-CA" dirty="0"/>
              <a:t>Energy Consumption Growth Model</a:t>
            </a:r>
          </a:p>
          <a:p>
            <a:r>
              <a:rPr lang="en-CA" dirty="0"/>
              <a:t>Economics Analysis of Energy Systems</a:t>
            </a:r>
          </a:p>
          <a:p>
            <a:pPr marL="0" indent="0">
              <a:buNone/>
            </a:pPr>
            <a:endParaRPr lang="en-CA" dirty="0"/>
          </a:p>
        </p:txBody>
      </p:sp>
      <p:sp>
        <p:nvSpPr>
          <p:cNvPr id="4" name="Title 3">
            <a:extLst>
              <a:ext uri="{FF2B5EF4-FFF2-40B4-BE49-F238E27FC236}">
                <a16:creationId xmlns:a16="http://schemas.microsoft.com/office/drawing/2014/main" id="{20CDB6E8-5300-4249-AAAC-132DA81D71C1}"/>
              </a:ext>
            </a:extLst>
          </p:cNvPr>
          <p:cNvSpPr>
            <a:spLocks noGrp="1"/>
          </p:cNvSpPr>
          <p:nvPr>
            <p:ph type="title"/>
          </p:nvPr>
        </p:nvSpPr>
        <p:spPr/>
        <p:txBody>
          <a:bodyPr/>
          <a:lstStyle/>
          <a:p>
            <a:r>
              <a:rPr lang="en-CA" dirty="0"/>
              <a:t>Outline</a:t>
            </a:r>
          </a:p>
        </p:txBody>
      </p:sp>
    </p:spTree>
    <p:extLst>
      <p:ext uri="{BB962C8B-B14F-4D97-AF65-F5344CB8AC3E}">
        <p14:creationId xmlns:p14="http://schemas.microsoft.com/office/powerpoint/2010/main" val="2312858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1403-909C-41E8-9872-27E9956548B9}"/>
              </a:ext>
            </a:extLst>
          </p:cNvPr>
          <p:cNvSpPr>
            <a:spLocks noGrp="1"/>
          </p:cNvSpPr>
          <p:nvPr>
            <p:ph type="title"/>
          </p:nvPr>
        </p:nvSpPr>
        <p:spPr>
          <a:xfrm>
            <a:off x="457200" y="658695"/>
            <a:ext cx="8229600" cy="728452"/>
          </a:xfrm>
        </p:spPr>
        <p:txBody>
          <a:bodyPr/>
          <a:lstStyle/>
          <a:p>
            <a:r>
              <a:rPr lang="en-CA" b="1" dirty="0">
                <a:solidFill>
                  <a:schemeClr val="accent2"/>
                </a:solidFill>
                <a:latin typeface="Arial" panose="020B0604020202020204" pitchFamily="34" charset="0"/>
                <a:cs typeface="Arial" panose="020B0604020202020204" pitchFamily="34" charset="0"/>
              </a:rPr>
              <a:t>Energy Consumption Growth Models - Exponential</a:t>
            </a:r>
          </a:p>
        </p:txBody>
      </p:sp>
      <p:sp>
        <p:nvSpPr>
          <p:cNvPr id="3" name="Content Placeholder 2">
            <a:extLst>
              <a:ext uri="{FF2B5EF4-FFF2-40B4-BE49-F238E27FC236}">
                <a16:creationId xmlns:a16="http://schemas.microsoft.com/office/drawing/2014/main" id="{B1C3B795-93BC-4C59-B33D-F24948218352}"/>
              </a:ext>
            </a:extLst>
          </p:cNvPr>
          <p:cNvSpPr>
            <a:spLocks noGrp="1"/>
          </p:cNvSpPr>
          <p:nvPr>
            <p:ph idx="1"/>
          </p:nvPr>
        </p:nvSpPr>
        <p:spPr>
          <a:xfrm>
            <a:off x="457200" y="2209800"/>
            <a:ext cx="8229600" cy="4525963"/>
          </a:xfrm>
        </p:spPr>
        <p:txBody>
          <a:bodyPr/>
          <a:lstStyle/>
          <a:p>
            <a:r>
              <a:rPr lang="en-CA" b="1" dirty="0"/>
              <a:t>Exponential growth model </a:t>
            </a:r>
            <a:r>
              <a:rPr lang="en-CA" dirty="0"/>
              <a:t>is a good model for short-term prediction of an early adoption of new energy systems</a:t>
            </a:r>
          </a:p>
          <a:p>
            <a:endParaRPr lang="en-CA" dirty="0"/>
          </a:p>
          <a:p>
            <a:endParaRPr lang="en-CA" dirty="0"/>
          </a:p>
          <a:p>
            <a:pPr marL="0" indent="0">
              <a:buNone/>
            </a:pPr>
            <a:r>
              <a:rPr lang="en-CA" dirty="0"/>
              <a:t> </a:t>
            </a:r>
          </a:p>
        </p:txBody>
      </p:sp>
      <p:pic>
        <p:nvPicPr>
          <p:cNvPr id="5" name="Picture 4">
            <a:extLst>
              <a:ext uri="{FF2B5EF4-FFF2-40B4-BE49-F238E27FC236}">
                <a16:creationId xmlns:a16="http://schemas.microsoft.com/office/drawing/2014/main" id="{3806ABA8-0C1F-448F-AD10-E632F61F5B90}"/>
              </a:ext>
            </a:extLst>
          </p:cNvPr>
          <p:cNvPicPr>
            <a:picLocks noChangeAspect="1"/>
          </p:cNvPicPr>
          <p:nvPr/>
        </p:nvPicPr>
        <p:blipFill rotWithShape="1">
          <a:blip r:embed="rId2">
            <a:extLst>
              <a:ext uri="{28A0092B-C50C-407E-A947-70E740481C1C}">
                <a14:useLocalDpi xmlns:a14="http://schemas.microsoft.com/office/drawing/2010/main" val="0"/>
              </a:ext>
            </a:extLst>
          </a:blip>
          <a:srcRect r="70191" b="-5203"/>
          <a:stretch/>
        </p:blipFill>
        <p:spPr>
          <a:xfrm>
            <a:off x="842058" y="4678005"/>
            <a:ext cx="3124200" cy="521072"/>
          </a:xfrm>
          <a:prstGeom prst="rect">
            <a:avLst/>
          </a:prstGeom>
        </p:spPr>
      </p:pic>
      <p:pic>
        <p:nvPicPr>
          <p:cNvPr id="7" name="Picture 6" descr="Chart, line chart&#10;&#10;Description automatically generated">
            <a:extLst>
              <a:ext uri="{FF2B5EF4-FFF2-40B4-BE49-F238E27FC236}">
                <a16:creationId xmlns:a16="http://schemas.microsoft.com/office/drawing/2014/main" id="{46C0895B-3A4E-4418-A566-A0E64A5995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3350" y="3688099"/>
            <a:ext cx="4937807" cy="2500884"/>
          </a:xfrm>
          <a:prstGeom prst="rect">
            <a:avLst/>
          </a:prstGeom>
        </p:spPr>
      </p:pic>
    </p:spTree>
    <p:extLst>
      <p:ext uri="{BB962C8B-B14F-4D97-AF65-F5344CB8AC3E}">
        <p14:creationId xmlns:p14="http://schemas.microsoft.com/office/powerpoint/2010/main" val="3542371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1403-909C-41E8-9872-27E9956548B9}"/>
              </a:ext>
            </a:extLst>
          </p:cNvPr>
          <p:cNvSpPr>
            <a:spLocks noGrp="1"/>
          </p:cNvSpPr>
          <p:nvPr>
            <p:ph type="title"/>
          </p:nvPr>
        </p:nvSpPr>
        <p:spPr>
          <a:xfrm>
            <a:off x="457200" y="658695"/>
            <a:ext cx="8229600" cy="728452"/>
          </a:xfrm>
        </p:spPr>
        <p:txBody>
          <a:bodyPr/>
          <a:lstStyle/>
          <a:p>
            <a:r>
              <a:rPr lang="en-CA" b="1" dirty="0">
                <a:solidFill>
                  <a:schemeClr val="accent2"/>
                </a:solidFill>
                <a:latin typeface="Arial" panose="020B0604020202020204" pitchFamily="34" charset="0"/>
                <a:cs typeface="Arial" panose="020B0604020202020204" pitchFamily="34" charset="0"/>
              </a:rPr>
              <a:t>Energy Consumption Growth Models – Logistics </a:t>
            </a:r>
          </a:p>
        </p:txBody>
      </p:sp>
      <p:sp>
        <p:nvSpPr>
          <p:cNvPr id="3" name="Content Placeholder 2">
            <a:extLst>
              <a:ext uri="{FF2B5EF4-FFF2-40B4-BE49-F238E27FC236}">
                <a16:creationId xmlns:a16="http://schemas.microsoft.com/office/drawing/2014/main" id="{B1C3B795-93BC-4C59-B33D-F24948218352}"/>
              </a:ext>
            </a:extLst>
          </p:cNvPr>
          <p:cNvSpPr>
            <a:spLocks noGrp="1"/>
          </p:cNvSpPr>
          <p:nvPr>
            <p:ph idx="1"/>
          </p:nvPr>
        </p:nvSpPr>
        <p:spPr>
          <a:xfrm>
            <a:off x="58838" y="1851818"/>
            <a:ext cx="9067800" cy="4525963"/>
          </a:xfrm>
        </p:spPr>
        <p:txBody>
          <a:bodyPr/>
          <a:lstStyle/>
          <a:p>
            <a:r>
              <a:rPr lang="en-CA" b="1" dirty="0"/>
              <a:t>Logistics growth model: </a:t>
            </a:r>
            <a:r>
              <a:rPr lang="en-US" dirty="0">
                <a:effectLst/>
              </a:rPr>
              <a:t>the growth rate slows as it approaches some absolute ceiling in terms of magnitude</a:t>
            </a:r>
          </a:p>
          <a:p>
            <a:endParaRPr lang="en-CA" b="1" dirty="0"/>
          </a:p>
          <a:p>
            <a:endParaRPr lang="en-CA" b="1" dirty="0"/>
          </a:p>
          <a:p>
            <a:endParaRPr lang="en-US" sz="1600" dirty="0">
              <a:effectLst/>
            </a:endParaRPr>
          </a:p>
          <a:p>
            <a:endParaRPr lang="en-US" sz="1600" dirty="0"/>
          </a:p>
          <a:p>
            <a:r>
              <a:rPr lang="en-US" sz="1600" dirty="0">
                <a:effectLst/>
              </a:rPr>
              <a:t>Here t is the value of time in appropriate units (e.g., years, months), </a:t>
            </a:r>
          </a:p>
          <a:p>
            <a:r>
              <a:rPr lang="en-US" sz="1600" b="1" dirty="0">
                <a:effectLst/>
              </a:rPr>
              <a:t>f(t) is the fraction of the population that has converted to the new technology </a:t>
            </a:r>
            <a:r>
              <a:rPr lang="en-US" sz="1600" dirty="0">
                <a:effectLst/>
              </a:rPr>
              <a:t>at time t, </a:t>
            </a:r>
          </a:p>
          <a:p>
            <a:r>
              <a:rPr lang="en-US" sz="1600" b="1" dirty="0">
                <a:effectLst/>
              </a:rPr>
              <a:t>F is the maximum fraction or market penetration </a:t>
            </a:r>
            <a:r>
              <a:rPr lang="en-US" sz="1600" dirty="0">
                <a:effectLst/>
              </a:rPr>
              <a:t>that is expected (i.e., F = 100% if the entire market is eventually expected to convert, or less if some fraction is expected to remain unconverted), </a:t>
            </a:r>
          </a:p>
          <a:p>
            <a:r>
              <a:rPr lang="en-US" sz="1600" dirty="0"/>
              <a:t>c1</a:t>
            </a:r>
            <a:r>
              <a:rPr lang="en-US" sz="1600" dirty="0">
                <a:effectLst/>
              </a:rPr>
              <a:t> and c2 are parameters used to shape the function so that it fits the historically observed rate of penetration.</a:t>
            </a:r>
          </a:p>
          <a:p>
            <a:endParaRPr lang="en-CA" dirty="0"/>
          </a:p>
          <a:p>
            <a:endParaRPr lang="en-CA" dirty="0"/>
          </a:p>
          <a:p>
            <a:endParaRPr lang="en-CA" dirty="0"/>
          </a:p>
          <a:p>
            <a:pPr marL="0" indent="0">
              <a:buNone/>
            </a:pPr>
            <a:r>
              <a:rPr lang="en-CA" dirty="0"/>
              <a:t> </a:t>
            </a:r>
          </a:p>
        </p:txBody>
      </p:sp>
      <p:pic>
        <p:nvPicPr>
          <p:cNvPr id="6" name="Picture 5">
            <a:extLst>
              <a:ext uri="{FF2B5EF4-FFF2-40B4-BE49-F238E27FC236}">
                <a16:creationId xmlns:a16="http://schemas.microsoft.com/office/drawing/2014/main" id="{4A4C1153-8B2B-4343-95EB-A7937A6E7525}"/>
              </a:ext>
            </a:extLst>
          </p:cNvPr>
          <p:cNvPicPr>
            <a:picLocks noChangeAspect="1"/>
          </p:cNvPicPr>
          <p:nvPr/>
        </p:nvPicPr>
        <p:blipFill rotWithShape="1">
          <a:blip r:embed="rId2">
            <a:extLst>
              <a:ext uri="{28A0092B-C50C-407E-A947-70E740481C1C}">
                <a14:useLocalDpi xmlns:a14="http://schemas.microsoft.com/office/drawing/2010/main" val="0"/>
              </a:ext>
            </a:extLst>
          </a:blip>
          <a:srcRect r="67290"/>
          <a:stretch/>
        </p:blipFill>
        <p:spPr>
          <a:xfrm>
            <a:off x="2819400" y="3418390"/>
            <a:ext cx="3200400" cy="914400"/>
          </a:xfrm>
          <a:prstGeom prst="rect">
            <a:avLst/>
          </a:prstGeom>
        </p:spPr>
      </p:pic>
    </p:spTree>
    <p:extLst>
      <p:ext uri="{BB962C8B-B14F-4D97-AF65-F5344CB8AC3E}">
        <p14:creationId xmlns:p14="http://schemas.microsoft.com/office/powerpoint/2010/main" val="1567956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F127B-C5CA-48DC-BE4C-AB89A333DE2E}"/>
              </a:ext>
            </a:extLst>
          </p:cNvPr>
          <p:cNvSpPr>
            <a:spLocks noGrp="1"/>
          </p:cNvSpPr>
          <p:nvPr>
            <p:ph type="title"/>
          </p:nvPr>
        </p:nvSpPr>
        <p:spPr>
          <a:xfrm>
            <a:off x="266700" y="798975"/>
            <a:ext cx="8229600" cy="728452"/>
          </a:xfrm>
        </p:spPr>
        <p:txBody>
          <a:bodyPr/>
          <a:lstStyle/>
          <a:p>
            <a:r>
              <a:rPr lang="en-CA" b="1" dirty="0">
                <a:solidFill>
                  <a:schemeClr val="accent2"/>
                </a:solidFill>
                <a:latin typeface="Arial" panose="020B0604020202020204" pitchFamily="34" charset="0"/>
                <a:cs typeface="Arial" panose="020B0604020202020204" pitchFamily="34" charset="0"/>
              </a:rPr>
              <a:t>Example – Adoption of EVs</a:t>
            </a:r>
          </a:p>
        </p:txBody>
      </p:sp>
      <p:sp>
        <p:nvSpPr>
          <p:cNvPr id="3" name="Content Placeholder 2">
            <a:extLst>
              <a:ext uri="{FF2B5EF4-FFF2-40B4-BE49-F238E27FC236}">
                <a16:creationId xmlns:a16="http://schemas.microsoft.com/office/drawing/2014/main" id="{21E5BDFD-C417-4A61-8220-48FBFAE9C550}"/>
              </a:ext>
            </a:extLst>
          </p:cNvPr>
          <p:cNvSpPr>
            <a:spLocks noGrp="1"/>
          </p:cNvSpPr>
          <p:nvPr>
            <p:ph idx="1"/>
          </p:nvPr>
        </p:nvSpPr>
        <p:spPr>
          <a:xfrm>
            <a:off x="76200" y="1658923"/>
            <a:ext cx="9067800" cy="4525963"/>
          </a:xfrm>
        </p:spPr>
        <p:txBody>
          <a:bodyPr/>
          <a:lstStyle/>
          <a:p>
            <a:r>
              <a:rPr lang="en-US" sz="1400" dirty="0">
                <a:effectLst/>
              </a:rPr>
              <a:t>Vehicle production in a country amounts to 1 million vehicles per year, which does not change over time since it depends on typical demand. Starting in the year 2013, manufacturers begin to produce electric vehicles too. Compute future penetration of electric vehicle </a:t>
            </a:r>
            <a:r>
              <a:rPr lang="en-US" sz="1400" dirty="0"/>
              <a:t>u</a:t>
            </a:r>
            <a:r>
              <a:rPr lang="en-US" sz="1400" dirty="0">
                <a:effectLst/>
              </a:rPr>
              <a:t>sing the logistics growth model, assuming that ultimately 100% of all vehicles produced are EVs.  Suppose we treat 2013 as year 0, and that 5000 EVs are in the market. In 2014, the number rises to 20,000 EVs. How many electric vehicles are produced in 2016?</a:t>
            </a:r>
          </a:p>
          <a:p>
            <a:endParaRPr lang="en-CA" sz="1400" dirty="0"/>
          </a:p>
          <a:p>
            <a:endParaRPr lang="en-CA" sz="1400" dirty="0"/>
          </a:p>
          <a:p>
            <a:endParaRPr lang="en-CA" sz="1400" dirty="0"/>
          </a:p>
          <a:p>
            <a:endParaRPr lang="en-CA" sz="1400" dirty="0"/>
          </a:p>
          <a:p>
            <a:r>
              <a:rPr lang="en-CA" sz="1400" dirty="0">
                <a:effectLst/>
              </a:rPr>
              <a:t>c</a:t>
            </a:r>
            <a:r>
              <a:rPr lang="en-CA" sz="1400" baseline="-25000" dirty="0">
                <a:effectLst/>
              </a:rPr>
              <a:t>1</a:t>
            </a:r>
            <a:r>
              <a:rPr lang="en-CA" sz="1400" dirty="0">
                <a:effectLst/>
              </a:rPr>
              <a:t> = –5.29</a:t>
            </a:r>
          </a:p>
          <a:p>
            <a:endParaRPr lang="en-CA" sz="1400" dirty="0"/>
          </a:p>
          <a:p>
            <a:endParaRPr lang="en-CA" sz="1400" dirty="0">
              <a:effectLst/>
            </a:endParaRPr>
          </a:p>
          <a:p>
            <a:endParaRPr lang="en-CA" sz="1400" dirty="0"/>
          </a:p>
          <a:p>
            <a:r>
              <a:rPr lang="en-CA" sz="1400" dirty="0"/>
              <a:t>c</a:t>
            </a:r>
            <a:r>
              <a:rPr lang="en-CA" sz="1400" baseline="-25000" dirty="0"/>
              <a:t>2</a:t>
            </a:r>
            <a:r>
              <a:rPr lang="en-CA" sz="1400" dirty="0"/>
              <a:t> = 1.40</a:t>
            </a:r>
          </a:p>
          <a:p>
            <a:endParaRPr lang="en-CA" sz="1050" dirty="0">
              <a:effectLst/>
            </a:endParaRPr>
          </a:p>
          <a:p>
            <a:endParaRPr lang="en-CA" sz="1050" dirty="0"/>
          </a:p>
          <a:p>
            <a:endParaRPr lang="en-CA" sz="1050" dirty="0">
              <a:effectLst/>
            </a:endParaRPr>
          </a:p>
          <a:p>
            <a:endParaRPr lang="en-CA" sz="1050" dirty="0"/>
          </a:p>
          <a:p>
            <a:endParaRPr lang="en-CA" sz="1050" dirty="0">
              <a:effectLst/>
            </a:endParaRPr>
          </a:p>
          <a:p>
            <a:r>
              <a:rPr lang="en-US" sz="1100" dirty="0"/>
              <a:t>Since </a:t>
            </a:r>
            <a:r>
              <a:rPr lang="en-US" sz="1100" i="1" dirty="0"/>
              <a:t>f</a:t>
            </a:r>
            <a:r>
              <a:rPr lang="en-US" sz="1100" dirty="0"/>
              <a:t>(3) = 0.252, the prediction is that 0.252(1 × 10</a:t>
            </a:r>
            <a:r>
              <a:rPr lang="en-US" sz="1100" baseline="30000" dirty="0"/>
              <a:t>6</a:t>
            </a:r>
            <a:r>
              <a:rPr lang="en-US" sz="1100" dirty="0"/>
              <a:t>) = </a:t>
            </a:r>
            <a:r>
              <a:rPr lang="en-US" sz="1100" b="1" dirty="0"/>
              <a:t>252,000</a:t>
            </a:r>
            <a:r>
              <a:rPr lang="en-US" sz="1100" dirty="0"/>
              <a:t> EVs will be made in 2016</a:t>
            </a:r>
            <a:endParaRPr lang="en-CA" sz="1600" dirty="0">
              <a:effectLst/>
            </a:endParaRPr>
          </a:p>
          <a:p>
            <a:endParaRPr lang="en-CA" sz="1400" dirty="0">
              <a:effectLst/>
            </a:endParaRPr>
          </a:p>
          <a:p>
            <a:endParaRPr lang="en-CA" sz="1400" dirty="0"/>
          </a:p>
        </p:txBody>
      </p:sp>
      <p:pic>
        <p:nvPicPr>
          <p:cNvPr id="5" name="Picture 4">
            <a:extLst>
              <a:ext uri="{FF2B5EF4-FFF2-40B4-BE49-F238E27FC236}">
                <a16:creationId xmlns:a16="http://schemas.microsoft.com/office/drawing/2014/main" id="{C5F37719-AA12-4410-B859-042ED77DB147}"/>
              </a:ext>
            </a:extLst>
          </p:cNvPr>
          <p:cNvPicPr>
            <a:picLocks noChangeAspect="1"/>
          </p:cNvPicPr>
          <p:nvPr/>
        </p:nvPicPr>
        <p:blipFill>
          <a:blip r:embed="rId2"/>
          <a:stretch>
            <a:fillRect/>
          </a:stretch>
        </p:blipFill>
        <p:spPr>
          <a:xfrm>
            <a:off x="457200" y="3002692"/>
            <a:ext cx="4385344" cy="1035908"/>
          </a:xfrm>
          <a:prstGeom prst="rect">
            <a:avLst/>
          </a:prstGeom>
        </p:spPr>
      </p:pic>
      <p:pic>
        <p:nvPicPr>
          <p:cNvPr id="7" name="Picture 6">
            <a:extLst>
              <a:ext uri="{FF2B5EF4-FFF2-40B4-BE49-F238E27FC236}">
                <a16:creationId xmlns:a16="http://schemas.microsoft.com/office/drawing/2014/main" id="{4B44F4E4-6048-4DF2-AC89-89F353A9B379}"/>
              </a:ext>
            </a:extLst>
          </p:cNvPr>
          <p:cNvPicPr>
            <a:picLocks noChangeAspect="1"/>
          </p:cNvPicPr>
          <p:nvPr/>
        </p:nvPicPr>
        <p:blipFill>
          <a:blip r:embed="rId3"/>
          <a:stretch>
            <a:fillRect/>
          </a:stretch>
        </p:blipFill>
        <p:spPr>
          <a:xfrm>
            <a:off x="990600" y="4250566"/>
            <a:ext cx="5154388" cy="798246"/>
          </a:xfrm>
          <a:prstGeom prst="rect">
            <a:avLst/>
          </a:prstGeom>
        </p:spPr>
      </p:pic>
      <p:pic>
        <p:nvPicPr>
          <p:cNvPr id="9" name="Picture 8">
            <a:extLst>
              <a:ext uri="{FF2B5EF4-FFF2-40B4-BE49-F238E27FC236}">
                <a16:creationId xmlns:a16="http://schemas.microsoft.com/office/drawing/2014/main" id="{197917BC-3EAF-4BBD-9B5B-24DD0D2978B9}"/>
              </a:ext>
            </a:extLst>
          </p:cNvPr>
          <p:cNvPicPr>
            <a:picLocks noChangeAspect="1"/>
          </p:cNvPicPr>
          <p:nvPr/>
        </p:nvPicPr>
        <p:blipFill>
          <a:blip r:embed="rId4"/>
          <a:stretch>
            <a:fillRect/>
          </a:stretch>
        </p:blipFill>
        <p:spPr>
          <a:xfrm>
            <a:off x="914400" y="5357908"/>
            <a:ext cx="4911430" cy="798246"/>
          </a:xfrm>
          <a:prstGeom prst="rect">
            <a:avLst/>
          </a:prstGeom>
        </p:spPr>
      </p:pic>
    </p:spTree>
    <p:extLst>
      <p:ext uri="{BB962C8B-B14F-4D97-AF65-F5344CB8AC3E}">
        <p14:creationId xmlns:p14="http://schemas.microsoft.com/office/powerpoint/2010/main" val="4222957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22D24B2-5D52-46F7-B915-67CABB3AD0CF}" type="slidenum">
              <a:rPr lang="en-US" smtClean="0"/>
              <a:pPr/>
              <a:t>7</a:t>
            </a:fld>
            <a:endParaRPr lang="en-US" dirty="0"/>
          </a:p>
        </p:txBody>
      </p:sp>
      <p:sp>
        <p:nvSpPr>
          <p:cNvPr id="4" name="Title 3"/>
          <p:cNvSpPr>
            <a:spLocks noGrp="1"/>
          </p:cNvSpPr>
          <p:nvPr>
            <p:ph type="title"/>
          </p:nvPr>
        </p:nvSpPr>
        <p:spPr>
          <a:xfrm>
            <a:off x="838200" y="2895600"/>
            <a:ext cx="7696200" cy="979250"/>
          </a:xfrm>
        </p:spPr>
        <p:txBody>
          <a:bodyPr/>
          <a:lstStyle/>
          <a:p>
            <a:pPr algn="ctr"/>
            <a:r>
              <a:rPr lang="en-CA" dirty="0"/>
              <a:t>Part 2 </a:t>
            </a:r>
            <a:br>
              <a:rPr lang="en-CA" dirty="0"/>
            </a:br>
            <a:r>
              <a:rPr lang="en-CA" dirty="0"/>
              <a:t>Economic Analysis</a:t>
            </a:r>
          </a:p>
        </p:txBody>
      </p:sp>
    </p:spTree>
    <p:extLst>
      <p:ext uri="{BB962C8B-B14F-4D97-AF65-F5344CB8AC3E}">
        <p14:creationId xmlns:p14="http://schemas.microsoft.com/office/powerpoint/2010/main" val="65036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7F3E99-485B-4A9D-8C82-647F59809262}"/>
              </a:ext>
            </a:extLst>
          </p:cNvPr>
          <p:cNvSpPr>
            <a:spLocks noGrp="1"/>
          </p:cNvSpPr>
          <p:nvPr>
            <p:ph type="sldNum" sz="quarter" idx="12"/>
          </p:nvPr>
        </p:nvSpPr>
        <p:spPr/>
        <p:txBody>
          <a:bodyPr/>
          <a:lstStyle/>
          <a:p>
            <a:fld id="{122D24B2-5D52-46F7-B915-67CABB3AD0CF}" type="slidenum">
              <a:rPr lang="en-US" smtClean="0"/>
              <a:pPr/>
              <a:t>8</a:t>
            </a:fld>
            <a:endParaRPr lang="en-US" dirty="0"/>
          </a:p>
        </p:txBody>
      </p:sp>
      <p:sp>
        <p:nvSpPr>
          <p:cNvPr id="3" name="Text Placeholder 2">
            <a:extLst>
              <a:ext uri="{FF2B5EF4-FFF2-40B4-BE49-F238E27FC236}">
                <a16:creationId xmlns:a16="http://schemas.microsoft.com/office/drawing/2014/main" id="{925825A7-FB25-4595-8E58-F8B7FD45FCC5}"/>
              </a:ext>
            </a:extLst>
          </p:cNvPr>
          <p:cNvSpPr>
            <a:spLocks noGrp="1"/>
          </p:cNvSpPr>
          <p:nvPr>
            <p:ph type="body" sz="quarter" idx="13"/>
          </p:nvPr>
        </p:nvSpPr>
        <p:spPr>
          <a:xfrm>
            <a:off x="635524" y="1729810"/>
            <a:ext cx="8203676" cy="4157662"/>
          </a:xfrm>
        </p:spPr>
        <p:txBody>
          <a:bodyPr/>
          <a:lstStyle/>
          <a:p>
            <a:r>
              <a:rPr lang="en-CA" dirty="0"/>
              <a:t>Energy systems analysis involves comprehensive treatment of various cost and revenue components</a:t>
            </a:r>
          </a:p>
          <a:p>
            <a:r>
              <a:rPr lang="en-CA" dirty="0"/>
              <a:t>Various parameters are important. Namely, initial capital cost, interest, </a:t>
            </a:r>
            <a:r>
              <a:rPr lang="en-CA" b="1" dirty="0"/>
              <a:t>net present vale (NPV), capital recovery factor (CRF)</a:t>
            </a:r>
            <a:r>
              <a:rPr lang="en-CA" dirty="0"/>
              <a:t>, </a:t>
            </a:r>
            <a:r>
              <a:rPr lang="en-CA" b="1" dirty="0"/>
              <a:t>annuity</a:t>
            </a:r>
            <a:r>
              <a:rPr lang="en-CA" dirty="0"/>
              <a:t>, </a:t>
            </a:r>
            <a:r>
              <a:rPr lang="en-CA" b="1" dirty="0"/>
              <a:t>term of project</a:t>
            </a:r>
            <a:r>
              <a:rPr lang="en-CA" dirty="0"/>
              <a:t>, </a:t>
            </a:r>
            <a:r>
              <a:rPr lang="en-CA" b="1" dirty="0"/>
              <a:t>annual capital cost (ACC)</a:t>
            </a:r>
          </a:p>
          <a:p>
            <a:r>
              <a:rPr lang="en-CA" dirty="0"/>
              <a:t>Economic analysis influences decisions on energy projects. For instance, Electric Power Research Institute (EPRI) recommends, as a general rule, that a CRF &lt; 12% for a power plant to be economically viable (check definition of ACC in the following slides)</a:t>
            </a:r>
          </a:p>
        </p:txBody>
      </p:sp>
      <p:sp>
        <p:nvSpPr>
          <p:cNvPr id="4" name="Title 3">
            <a:extLst>
              <a:ext uri="{FF2B5EF4-FFF2-40B4-BE49-F238E27FC236}">
                <a16:creationId xmlns:a16="http://schemas.microsoft.com/office/drawing/2014/main" id="{5630007F-029C-4706-BF45-CFA10CE7F146}"/>
              </a:ext>
            </a:extLst>
          </p:cNvPr>
          <p:cNvSpPr>
            <a:spLocks noGrp="1"/>
          </p:cNvSpPr>
          <p:nvPr>
            <p:ph type="title"/>
          </p:nvPr>
        </p:nvSpPr>
        <p:spPr/>
        <p:txBody>
          <a:bodyPr/>
          <a:lstStyle/>
          <a:p>
            <a:r>
              <a:rPr lang="en-CA" dirty="0"/>
              <a:t>Economic Analysis</a:t>
            </a:r>
          </a:p>
        </p:txBody>
      </p:sp>
    </p:spTree>
    <p:extLst>
      <p:ext uri="{BB962C8B-B14F-4D97-AF65-F5344CB8AC3E}">
        <p14:creationId xmlns:p14="http://schemas.microsoft.com/office/powerpoint/2010/main" val="2392997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37909" y="1065308"/>
            <a:ext cx="8212138" cy="1589721"/>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Economic Equivalence Allows us to Compare Alternatives on a Common Basis</a:t>
            </a:r>
            <a:endParaRPr lang="en-US" b="1" dirty="0">
              <a:solidFill>
                <a:schemeClr val="accent2"/>
              </a:solidFill>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457200" y="2971800"/>
            <a:ext cx="8212138" cy="2820892"/>
          </a:xfrm>
        </p:spPr>
        <p:txBody>
          <a:bodyPr vert="horz" lIns="0" tIns="0" rIns="0" bIns="0" rtlCol="0">
            <a:noAutofit/>
          </a:bodyPr>
          <a:lstStyle/>
          <a:p>
            <a:pPr>
              <a:lnSpc>
                <a:spcPct val="90000"/>
              </a:lnSpc>
            </a:pPr>
            <a:r>
              <a:rPr lang="en-US" altLang="en-US" dirty="0">
                <a:solidFill>
                  <a:schemeClr val="bg1"/>
                </a:solidFill>
                <a:latin typeface="Arial" panose="020B0604020202020204" pitchFamily="34" charset="0"/>
                <a:cs typeface="Arial" panose="020B0604020202020204" pitchFamily="34" charset="0"/>
              </a:rPr>
              <a:t>Each alternative can be reduced to an </a:t>
            </a:r>
            <a:r>
              <a:rPr lang="en-US" altLang="en-US" b="1" i="1" dirty="0">
                <a:solidFill>
                  <a:schemeClr val="bg1"/>
                </a:solidFill>
                <a:latin typeface="Arial" panose="020B0604020202020204" pitchFamily="34" charset="0"/>
                <a:cs typeface="Arial" panose="020B0604020202020204" pitchFamily="34" charset="0"/>
              </a:rPr>
              <a:t>equivalent basis</a:t>
            </a:r>
            <a:r>
              <a:rPr lang="en-US" altLang="en-US" dirty="0">
                <a:solidFill>
                  <a:schemeClr val="bg1"/>
                </a:solidFill>
                <a:latin typeface="Arial" panose="020B0604020202020204" pitchFamily="34" charset="0"/>
                <a:cs typeface="Arial" panose="020B0604020202020204" pitchFamily="34" charset="0"/>
              </a:rPr>
              <a:t> dependent on</a:t>
            </a:r>
          </a:p>
          <a:p>
            <a:pPr lvl="1">
              <a:lnSpc>
                <a:spcPct val="90000"/>
              </a:lnSpc>
            </a:pPr>
            <a:r>
              <a:rPr lang="en-US" altLang="en-US" dirty="0">
                <a:solidFill>
                  <a:schemeClr val="bg1"/>
                </a:solidFill>
                <a:latin typeface="Arial" panose="020B0604020202020204" pitchFamily="34" charset="0"/>
                <a:cs typeface="Arial" panose="020B0604020202020204" pitchFamily="34" charset="0"/>
              </a:rPr>
              <a:t>interest rate,</a:t>
            </a:r>
          </a:p>
          <a:p>
            <a:pPr lvl="1">
              <a:lnSpc>
                <a:spcPct val="90000"/>
              </a:lnSpc>
            </a:pPr>
            <a:r>
              <a:rPr lang="en-US" altLang="en-US" dirty="0">
                <a:solidFill>
                  <a:schemeClr val="bg1"/>
                </a:solidFill>
                <a:latin typeface="Arial" panose="020B0604020202020204" pitchFamily="34" charset="0"/>
                <a:cs typeface="Arial" panose="020B0604020202020204" pitchFamily="34" charset="0"/>
              </a:rPr>
              <a:t>amount of money involved, and</a:t>
            </a:r>
          </a:p>
          <a:p>
            <a:pPr lvl="1">
              <a:lnSpc>
                <a:spcPct val="90000"/>
              </a:lnSpc>
            </a:pPr>
            <a:r>
              <a:rPr lang="en-US" altLang="en-US" dirty="0">
                <a:solidFill>
                  <a:schemeClr val="bg1"/>
                </a:solidFill>
                <a:latin typeface="Arial" panose="020B0604020202020204" pitchFamily="34" charset="0"/>
                <a:cs typeface="Arial" panose="020B0604020202020204" pitchFamily="34" charset="0"/>
              </a:rPr>
              <a:t>timing of monetary receipts or expenses.</a:t>
            </a:r>
          </a:p>
          <a:p>
            <a:pPr>
              <a:lnSpc>
                <a:spcPct val="90000"/>
              </a:lnSpc>
            </a:pPr>
            <a:r>
              <a:rPr lang="en-US" altLang="en-US" dirty="0">
                <a:solidFill>
                  <a:schemeClr val="bg1"/>
                </a:solidFill>
                <a:latin typeface="Arial" panose="020B0604020202020204" pitchFamily="34" charset="0"/>
                <a:cs typeface="Arial" panose="020B0604020202020204" pitchFamily="34" charset="0"/>
              </a:rPr>
              <a:t>Using these elements, we can </a:t>
            </a:r>
            <a:r>
              <a:rPr lang="ja-JP" altLang="en-US" b="1" dirty="0">
                <a:solidFill>
                  <a:srgbClr val="0070C0"/>
                </a:solidFill>
                <a:latin typeface="Arial" panose="020B0604020202020204" pitchFamily="34" charset="0"/>
                <a:cs typeface="Arial" panose="020B0604020202020204" pitchFamily="34" charset="0"/>
              </a:rPr>
              <a:t>“</a:t>
            </a:r>
            <a:r>
              <a:rPr lang="en-US" altLang="ja-JP" b="1" dirty="0">
                <a:solidFill>
                  <a:srgbClr val="0070C0"/>
                </a:solidFill>
                <a:latin typeface="Arial" panose="020B0604020202020204" pitchFamily="34" charset="0"/>
                <a:cs typeface="Arial" panose="020B0604020202020204" pitchFamily="34" charset="0"/>
              </a:rPr>
              <a:t>move</a:t>
            </a:r>
            <a:r>
              <a:rPr lang="ja-JP" altLang="en-US" b="1" dirty="0">
                <a:solidFill>
                  <a:srgbClr val="0070C0"/>
                </a:solidFill>
                <a:latin typeface="Arial" panose="020B0604020202020204" pitchFamily="34" charset="0"/>
                <a:cs typeface="Arial" panose="020B0604020202020204" pitchFamily="34" charset="0"/>
              </a:rPr>
              <a:t>”</a:t>
            </a:r>
            <a:r>
              <a:rPr lang="en-US" altLang="ja-JP" b="1" dirty="0">
                <a:solidFill>
                  <a:srgbClr val="0070C0"/>
                </a:solidFill>
                <a:latin typeface="Arial" panose="020B0604020202020204" pitchFamily="34" charset="0"/>
                <a:cs typeface="Arial" panose="020B0604020202020204" pitchFamily="34" charset="0"/>
              </a:rPr>
              <a:t> cash flows </a:t>
            </a:r>
            <a:r>
              <a:rPr lang="en-US" altLang="ja-JP" dirty="0">
                <a:solidFill>
                  <a:schemeClr val="bg1"/>
                </a:solidFill>
                <a:latin typeface="Arial" panose="020B0604020202020204" pitchFamily="34" charset="0"/>
                <a:cs typeface="Arial" panose="020B0604020202020204" pitchFamily="34" charset="0"/>
              </a:rPr>
              <a:t>so that we can compare them at a </a:t>
            </a:r>
            <a:r>
              <a:rPr lang="en-US" altLang="ja-JP" dirty="0">
                <a:solidFill>
                  <a:schemeClr val="bg1"/>
                </a:solidFill>
                <a:cs typeface="Arial" panose="020B0604020202020204" pitchFamily="34" charset="0"/>
              </a:rPr>
              <a:t>particular</a:t>
            </a:r>
            <a:r>
              <a:rPr lang="en-US" altLang="ja-JP" dirty="0">
                <a:solidFill>
                  <a:schemeClr val="bg1"/>
                </a:solidFill>
                <a:latin typeface="Arial" panose="020B0604020202020204" pitchFamily="34" charset="0"/>
                <a:cs typeface="Arial" panose="020B0604020202020204" pitchFamily="34" charset="0"/>
              </a:rPr>
              <a:t> point in time (</a:t>
            </a:r>
            <a:r>
              <a:rPr lang="en-US" altLang="ja-JP" dirty="0">
                <a:solidFill>
                  <a:srgbClr val="0070C0"/>
                </a:solidFill>
                <a:latin typeface="Arial" panose="020B0604020202020204" pitchFamily="34" charset="0"/>
                <a:cs typeface="Arial" panose="020B0604020202020204" pitchFamily="34" charset="0"/>
              </a:rPr>
              <a:t>typically to present</a:t>
            </a:r>
            <a:r>
              <a:rPr lang="en-US" altLang="ja-JP" dirty="0">
                <a:solidFill>
                  <a:schemeClr val="bg1"/>
                </a:solidFill>
                <a:latin typeface="Arial" panose="020B0604020202020204" pitchFamily="34" charset="0"/>
                <a:cs typeface="Arial" panose="020B0604020202020204" pitchFamily="34" charset="0"/>
              </a:rPr>
              <a:t>). Usually equivalent present value, i.e., the </a:t>
            </a:r>
            <a:r>
              <a:rPr lang="en-US" altLang="ja-JP" b="1" dirty="0">
                <a:solidFill>
                  <a:schemeClr val="bg1"/>
                </a:solidFill>
                <a:latin typeface="Arial" panose="020B0604020202020204" pitchFamily="34" charset="0"/>
                <a:cs typeface="Arial" panose="020B0604020202020204" pitchFamily="34" charset="0"/>
              </a:rPr>
              <a:t>net present value (NPV)</a:t>
            </a:r>
            <a:r>
              <a:rPr lang="en-US" altLang="ja-JP" dirty="0">
                <a:solidFill>
                  <a:schemeClr val="bg1"/>
                </a:solidFill>
                <a:latin typeface="Arial" panose="020B0604020202020204" pitchFamily="34" charset="0"/>
                <a:cs typeface="Arial" panose="020B0604020202020204" pitchFamily="34" charset="0"/>
              </a:rPr>
              <a:t> is considered.</a:t>
            </a:r>
            <a:endParaRPr lang="en-US" alt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7217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738470-810A-4F66-B54E-DAC8A517064C}"/>
              </a:ext>
            </a:extLst>
          </p:cNvPr>
          <p:cNvSpPr>
            <a:spLocks noGrp="1"/>
          </p:cNvSpPr>
          <p:nvPr>
            <p:ph type="sldNum" sz="quarter" idx="12"/>
          </p:nvPr>
        </p:nvSpPr>
        <p:spPr/>
        <p:txBody>
          <a:bodyPr/>
          <a:lstStyle/>
          <a:p>
            <a:fld id="{122D24B2-5D52-46F7-B915-67CABB3AD0CF}" type="slidenum">
              <a:rPr lang="en-US" smtClean="0"/>
              <a:pPr/>
              <a:t>10</a:t>
            </a:fld>
            <a:endParaRPr lang="en-US" dirty="0"/>
          </a:p>
        </p:txBody>
      </p:sp>
      <p:sp>
        <p:nvSpPr>
          <p:cNvPr id="3" name="Text Placeholder 2">
            <a:extLst>
              <a:ext uri="{FF2B5EF4-FFF2-40B4-BE49-F238E27FC236}">
                <a16:creationId xmlns:a16="http://schemas.microsoft.com/office/drawing/2014/main" id="{74C6D8A2-34D8-496E-85B6-4325098062F7}"/>
              </a:ext>
            </a:extLst>
          </p:cNvPr>
          <p:cNvSpPr>
            <a:spLocks noGrp="1"/>
          </p:cNvSpPr>
          <p:nvPr>
            <p:ph type="body" sz="quarter" idx="13"/>
          </p:nvPr>
        </p:nvSpPr>
        <p:spPr>
          <a:xfrm>
            <a:off x="304800" y="2381250"/>
            <a:ext cx="4038600" cy="4157662"/>
          </a:xfrm>
        </p:spPr>
        <p:txBody>
          <a:bodyPr/>
          <a:lstStyle/>
          <a:p>
            <a:r>
              <a:rPr lang="en-CA" dirty="0"/>
              <a:t>Value of money declines with time</a:t>
            </a:r>
          </a:p>
          <a:p>
            <a:r>
              <a:rPr lang="en-CA" b="1" dirty="0"/>
              <a:t>Simple Payback Cash Flow Analysis</a:t>
            </a:r>
            <a:r>
              <a:rPr lang="en-CA" dirty="0"/>
              <a:t> ignores the change in value of money</a:t>
            </a:r>
          </a:p>
          <a:p>
            <a:r>
              <a:rPr lang="en-CA" b="1" dirty="0"/>
              <a:t>Discounted Cash Flow Analysis</a:t>
            </a:r>
            <a:r>
              <a:rPr lang="en-CA" dirty="0"/>
              <a:t> takes into account the change in value of money</a:t>
            </a:r>
          </a:p>
          <a:p>
            <a:pPr marL="393192" lvl="1" indent="0">
              <a:buNone/>
            </a:pPr>
            <a:endParaRPr lang="en-CA" dirty="0"/>
          </a:p>
        </p:txBody>
      </p:sp>
      <p:sp>
        <p:nvSpPr>
          <p:cNvPr id="4" name="Title 3">
            <a:extLst>
              <a:ext uri="{FF2B5EF4-FFF2-40B4-BE49-F238E27FC236}">
                <a16:creationId xmlns:a16="http://schemas.microsoft.com/office/drawing/2014/main" id="{0FAE2152-8E3B-438E-84FB-6ABB5453E93B}"/>
              </a:ext>
            </a:extLst>
          </p:cNvPr>
          <p:cNvSpPr>
            <a:spLocks noGrp="1"/>
          </p:cNvSpPr>
          <p:nvPr>
            <p:ph type="title"/>
          </p:nvPr>
        </p:nvSpPr>
        <p:spPr>
          <a:xfrm>
            <a:off x="381000" y="886063"/>
            <a:ext cx="7810500" cy="979250"/>
          </a:xfrm>
        </p:spPr>
        <p:txBody>
          <a:bodyPr/>
          <a:lstStyle/>
          <a:p>
            <a:r>
              <a:rPr lang="en-CA" dirty="0"/>
              <a:t>Value of Money and Types of Economic Analysis</a:t>
            </a:r>
          </a:p>
        </p:txBody>
      </p:sp>
      <p:pic>
        <p:nvPicPr>
          <p:cNvPr id="6" name="Picture 5">
            <a:extLst>
              <a:ext uri="{FF2B5EF4-FFF2-40B4-BE49-F238E27FC236}">
                <a16:creationId xmlns:a16="http://schemas.microsoft.com/office/drawing/2014/main" id="{4C20EA2D-96EF-47EF-8D24-6123F7FE56EC}"/>
              </a:ext>
            </a:extLst>
          </p:cNvPr>
          <p:cNvPicPr>
            <a:picLocks noChangeAspect="1"/>
          </p:cNvPicPr>
          <p:nvPr/>
        </p:nvPicPr>
        <p:blipFill>
          <a:blip r:embed="rId2"/>
          <a:stretch>
            <a:fillRect/>
          </a:stretch>
        </p:blipFill>
        <p:spPr>
          <a:xfrm>
            <a:off x="4646994" y="1865313"/>
            <a:ext cx="4192206" cy="4783606"/>
          </a:xfrm>
          <a:prstGeom prst="rect">
            <a:avLst/>
          </a:prstGeom>
        </p:spPr>
      </p:pic>
    </p:spTree>
    <p:extLst>
      <p:ext uri="{BB962C8B-B14F-4D97-AF65-F5344CB8AC3E}">
        <p14:creationId xmlns:p14="http://schemas.microsoft.com/office/powerpoint/2010/main" val="142209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DE4E60-006B-4206-9851-4BCFAA88AFA6}"/>
              </a:ext>
            </a:extLst>
          </p:cNvPr>
          <p:cNvSpPr>
            <a:spLocks noGrp="1"/>
          </p:cNvSpPr>
          <p:nvPr>
            <p:ph type="sldNum" sz="quarter" idx="12"/>
          </p:nvPr>
        </p:nvSpPr>
        <p:spPr/>
        <p:txBody>
          <a:bodyPr/>
          <a:lstStyle/>
          <a:p>
            <a:fld id="{122D24B2-5D52-46F7-B915-67CABB3AD0CF}" type="slidenum">
              <a:rPr lang="en-US" smtClean="0"/>
              <a:pPr/>
              <a:t>11</a:t>
            </a:fld>
            <a:endParaRPr lang="en-US" dirty="0"/>
          </a:p>
        </p:txBody>
      </p:sp>
      <p:sp>
        <p:nvSpPr>
          <p:cNvPr id="3" name="Text Placeholder 2">
            <a:extLst>
              <a:ext uri="{FF2B5EF4-FFF2-40B4-BE49-F238E27FC236}">
                <a16:creationId xmlns:a16="http://schemas.microsoft.com/office/drawing/2014/main" id="{167EFF4A-4630-467A-B186-A18363F5167D}"/>
              </a:ext>
            </a:extLst>
          </p:cNvPr>
          <p:cNvSpPr>
            <a:spLocks noGrp="1"/>
          </p:cNvSpPr>
          <p:nvPr>
            <p:ph type="body" sz="quarter" idx="13"/>
          </p:nvPr>
        </p:nvSpPr>
        <p:spPr>
          <a:xfrm>
            <a:off x="304800" y="1705139"/>
            <a:ext cx="7810500" cy="4157662"/>
          </a:xfrm>
        </p:spPr>
        <p:txBody>
          <a:bodyPr/>
          <a:lstStyle/>
          <a:p>
            <a:r>
              <a:rPr lang="en-CA" sz="2000" dirty="0"/>
              <a:t>Simple payback is reasonable for </a:t>
            </a:r>
            <a:r>
              <a:rPr lang="en-CA" sz="2000" b="1" dirty="0">
                <a:solidFill>
                  <a:srgbClr val="0070C0"/>
                </a:solidFill>
              </a:rPr>
              <a:t>small projects over short term</a:t>
            </a:r>
            <a:r>
              <a:rPr lang="en-CA" sz="2000" dirty="0"/>
              <a:t>. NPV and CRF are considered in such analysis</a:t>
            </a:r>
          </a:p>
          <a:p>
            <a:r>
              <a:rPr lang="en-CA" sz="2000" dirty="0"/>
              <a:t>Net present value (</a:t>
            </a:r>
            <a:r>
              <a:rPr lang="en-CA" sz="2000" b="1" dirty="0">
                <a:solidFill>
                  <a:srgbClr val="0070C0"/>
                </a:solidFill>
              </a:rPr>
              <a:t>NPV</a:t>
            </a:r>
            <a:r>
              <a:rPr lang="en-CA" sz="2000" dirty="0"/>
              <a:t>) is calculated taking into account initial cost, annuities (+/-), and salvage value</a:t>
            </a:r>
          </a:p>
          <a:p>
            <a:r>
              <a:rPr lang="en-CA" sz="2000" dirty="0"/>
              <a:t>NPV&gt;0 indicates a financially viable project</a:t>
            </a:r>
          </a:p>
          <a:p>
            <a:r>
              <a:rPr lang="en-CA" sz="2000" dirty="0"/>
              <a:t>Capital recovery factor (</a:t>
            </a:r>
            <a:r>
              <a:rPr lang="en-CA" sz="2000" b="1" dirty="0">
                <a:solidFill>
                  <a:srgbClr val="0070C0"/>
                </a:solidFill>
              </a:rPr>
              <a:t>CRF</a:t>
            </a:r>
            <a:r>
              <a:rPr lang="en-CA" sz="2000" dirty="0"/>
              <a:t>), as applied to electricity generation industry, is a measure of relationship between cashflow and investment cost. </a:t>
            </a:r>
          </a:p>
          <a:p>
            <a:r>
              <a:rPr lang="en-CA" sz="2000" dirty="0"/>
              <a:t>High CRF indicates a high annual cost compared to net value of the project. </a:t>
            </a:r>
            <a:r>
              <a:rPr lang="en-CA" sz="2000" b="1" dirty="0">
                <a:solidFill>
                  <a:srgbClr val="0070C0"/>
                </a:solidFill>
              </a:rPr>
              <a:t>CRF should typically be below 12%</a:t>
            </a:r>
          </a:p>
        </p:txBody>
      </p:sp>
      <p:sp>
        <p:nvSpPr>
          <p:cNvPr id="4" name="Title 3">
            <a:extLst>
              <a:ext uri="{FF2B5EF4-FFF2-40B4-BE49-F238E27FC236}">
                <a16:creationId xmlns:a16="http://schemas.microsoft.com/office/drawing/2014/main" id="{BC696D17-1963-4CCE-804B-FFBC80B6C23A}"/>
              </a:ext>
            </a:extLst>
          </p:cNvPr>
          <p:cNvSpPr>
            <a:spLocks noGrp="1"/>
          </p:cNvSpPr>
          <p:nvPr>
            <p:ph type="title"/>
          </p:nvPr>
        </p:nvSpPr>
        <p:spPr/>
        <p:txBody>
          <a:bodyPr/>
          <a:lstStyle/>
          <a:p>
            <a:r>
              <a:rPr lang="en-CA" dirty="0"/>
              <a:t>Simple Payback  </a:t>
            </a:r>
          </a:p>
        </p:txBody>
      </p:sp>
      <p:pic>
        <p:nvPicPr>
          <p:cNvPr id="6" name="Picture 5">
            <a:extLst>
              <a:ext uri="{FF2B5EF4-FFF2-40B4-BE49-F238E27FC236}">
                <a16:creationId xmlns:a16="http://schemas.microsoft.com/office/drawing/2014/main" id="{679D9992-C6AF-451E-8894-FF3C29E73010}"/>
              </a:ext>
            </a:extLst>
          </p:cNvPr>
          <p:cNvPicPr>
            <a:picLocks noChangeAspect="1"/>
          </p:cNvPicPr>
          <p:nvPr/>
        </p:nvPicPr>
        <p:blipFill>
          <a:blip r:embed="rId2"/>
          <a:srcRect l="13943" t="46547"/>
          <a:stretch>
            <a:fillRect/>
          </a:stretch>
        </p:blipFill>
        <p:spPr>
          <a:xfrm>
            <a:off x="838200" y="5080749"/>
            <a:ext cx="4419600" cy="979250"/>
          </a:xfrm>
          <a:prstGeom prst="rect">
            <a:avLst/>
          </a:prstGeom>
        </p:spPr>
      </p:pic>
      <p:pic>
        <p:nvPicPr>
          <p:cNvPr id="7" name="Picture 6">
            <a:extLst>
              <a:ext uri="{FF2B5EF4-FFF2-40B4-BE49-F238E27FC236}">
                <a16:creationId xmlns:a16="http://schemas.microsoft.com/office/drawing/2014/main" id="{ADBF1448-0FAF-915E-6ED9-F53AAB84EF2E}"/>
              </a:ext>
            </a:extLst>
          </p:cNvPr>
          <p:cNvPicPr>
            <a:picLocks noChangeAspect="1"/>
          </p:cNvPicPr>
          <p:nvPr/>
        </p:nvPicPr>
        <p:blipFill>
          <a:blip r:embed="rId2"/>
          <a:srcRect l="64143" b="55248"/>
          <a:stretch>
            <a:fillRect/>
          </a:stretch>
        </p:blipFill>
        <p:spPr>
          <a:xfrm>
            <a:off x="2895600" y="6026132"/>
            <a:ext cx="1841500" cy="819843"/>
          </a:xfrm>
          <a:prstGeom prst="rect">
            <a:avLst/>
          </a:prstGeom>
        </p:spPr>
      </p:pic>
      <p:sp>
        <p:nvSpPr>
          <p:cNvPr id="9" name="TextBox 8">
            <a:extLst>
              <a:ext uri="{FF2B5EF4-FFF2-40B4-BE49-F238E27FC236}">
                <a16:creationId xmlns:a16="http://schemas.microsoft.com/office/drawing/2014/main" id="{B37AE6EC-8EE8-59F4-DE7B-F3E3D8659A08}"/>
              </a:ext>
            </a:extLst>
          </p:cNvPr>
          <p:cNvSpPr txBox="1"/>
          <p:nvPr/>
        </p:nvSpPr>
        <p:spPr>
          <a:xfrm>
            <a:off x="5581650" y="5607115"/>
            <a:ext cx="3587750" cy="1200329"/>
          </a:xfrm>
          <a:prstGeom prst="rect">
            <a:avLst/>
          </a:prstGeom>
          <a:noFill/>
        </p:spPr>
        <p:txBody>
          <a:bodyPr wrap="square" rtlCol="0">
            <a:spAutoFit/>
          </a:bodyPr>
          <a:lstStyle/>
          <a:p>
            <a:r>
              <a:rPr lang="en-CA" u="sng" dirty="0">
                <a:solidFill>
                  <a:srgbClr val="0070C0"/>
                </a:solidFill>
              </a:rPr>
              <a:t>IMPORTANT: </a:t>
            </a:r>
          </a:p>
          <a:p>
            <a:r>
              <a:rPr lang="en-CA" dirty="0">
                <a:solidFill>
                  <a:srgbClr val="0070C0"/>
                </a:solidFill>
              </a:rPr>
              <a:t>NPV and CRF are typically calculated based on a discounted cash flow analysis</a:t>
            </a:r>
          </a:p>
        </p:txBody>
      </p:sp>
    </p:spTree>
    <p:extLst>
      <p:ext uri="{BB962C8B-B14F-4D97-AF65-F5344CB8AC3E}">
        <p14:creationId xmlns:p14="http://schemas.microsoft.com/office/powerpoint/2010/main" val="3331957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0" y="838200"/>
            <a:ext cx="8212138" cy="1085801"/>
          </a:xfrm>
        </p:spPr>
        <p:txBody>
          <a:bodyPr lIns="0" tIns="0" rIns="0" bIns="0"/>
          <a:lstStyle/>
          <a:p>
            <a:r>
              <a:rPr lang="en-US" b="1" dirty="0">
                <a:solidFill>
                  <a:schemeClr val="accent2"/>
                </a:solidFill>
                <a:latin typeface="Arial" panose="020B0604020202020204" pitchFamily="34" charset="0"/>
                <a:cs typeface="Arial" panose="020B0604020202020204" pitchFamily="34" charset="0"/>
              </a:rPr>
              <a:t>Discounted Cash Flow Analysis</a:t>
            </a:r>
          </a:p>
        </p:txBody>
      </p:sp>
      <p:sp>
        <p:nvSpPr>
          <p:cNvPr id="6" name="Content Placeholder 5"/>
          <p:cNvSpPr>
            <a:spLocks noGrp="1"/>
          </p:cNvSpPr>
          <p:nvPr>
            <p:ph idx="1"/>
          </p:nvPr>
        </p:nvSpPr>
        <p:spPr>
          <a:xfrm>
            <a:off x="228600" y="1531720"/>
            <a:ext cx="8763000" cy="3794559"/>
          </a:xfrm>
        </p:spPr>
        <p:txBody>
          <a:bodyPr vert="horz" lIns="0" tIns="0" rIns="0" bIns="0" rtlCol="0">
            <a:noAutofit/>
          </a:bodyPr>
          <a:lstStyle/>
          <a:p>
            <a:pPr>
              <a:lnSpc>
                <a:spcPct val="90000"/>
              </a:lnSpc>
            </a:pPr>
            <a:r>
              <a:rPr lang="en-US" altLang="en-US" sz="2300" dirty="0">
                <a:solidFill>
                  <a:schemeClr val="bg1"/>
                </a:solidFill>
                <a:latin typeface="Arial" panose="020B0604020202020204" pitchFamily="34" charset="0"/>
                <a:cs typeface="Arial" panose="020B0604020202020204" pitchFamily="34" charset="0"/>
              </a:rPr>
              <a:t>Takes into account time-value of money. This requires us to define a few terms and tools to find </a:t>
            </a:r>
            <a:r>
              <a:rPr lang="en-US" altLang="en-US" sz="2300" b="1" dirty="0">
                <a:solidFill>
                  <a:srgbClr val="0070C0"/>
                </a:solidFill>
                <a:latin typeface="Arial" panose="020B0604020202020204" pitchFamily="34" charset="0"/>
                <a:cs typeface="Arial" panose="020B0604020202020204" pitchFamily="34" charset="0"/>
              </a:rPr>
              <a:t>economic equivalences</a:t>
            </a:r>
          </a:p>
          <a:p>
            <a:pPr>
              <a:lnSpc>
                <a:spcPct val="90000"/>
              </a:lnSpc>
            </a:pPr>
            <a:r>
              <a:rPr lang="en-US" altLang="en-US" sz="2300" dirty="0">
                <a:solidFill>
                  <a:schemeClr val="bg1"/>
                </a:solidFill>
                <a:latin typeface="Arial" panose="020B0604020202020204" pitchFamily="34" charset="0"/>
                <a:cs typeface="Arial" panose="020B0604020202020204" pitchFamily="34" charset="0"/>
              </a:rPr>
              <a:t>Notation used in formulas for compound interest calculations.</a:t>
            </a:r>
          </a:p>
          <a:p>
            <a:pPr lvl="1">
              <a:lnSpc>
                <a:spcPct val="90000"/>
              </a:lnSpc>
            </a:pPr>
            <a:r>
              <a:rPr lang="en-US" altLang="en-US" sz="2300" b="1" i="1" dirty="0" err="1">
                <a:solidFill>
                  <a:srgbClr val="0070C0"/>
                </a:solidFill>
                <a:latin typeface="Arial" panose="020B0604020202020204" pitchFamily="34" charset="0"/>
                <a:cs typeface="Arial" panose="020B0604020202020204" pitchFamily="34" charset="0"/>
              </a:rPr>
              <a:t>i</a:t>
            </a:r>
            <a:r>
              <a:rPr lang="en-US" altLang="en-US" sz="2300" dirty="0">
                <a:solidFill>
                  <a:schemeClr val="bg1"/>
                </a:solidFill>
                <a:latin typeface="Arial" panose="020B0604020202020204" pitchFamily="34" charset="0"/>
                <a:cs typeface="Arial" panose="020B0604020202020204" pitchFamily="34" charset="0"/>
              </a:rPr>
              <a:t> = effective interest rate per interest period</a:t>
            </a:r>
          </a:p>
          <a:p>
            <a:pPr lvl="1">
              <a:lnSpc>
                <a:spcPct val="90000"/>
              </a:lnSpc>
            </a:pPr>
            <a:r>
              <a:rPr lang="en-US" altLang="en-US" sz="2300" b="1" i="1" dirty="0">
                <a:solidFill>
                  <a:srgbClr val="0070C0"/>
                </a:solidFill>
                <a:latin typeface="Arial" panose="020B0604020202020204" pitchFamily="34" charset="0"/>
                <a:cs typeface="Arial" panose="020B0604020202020204" pitchFamily="34" charset="0"/>
              </a:rPr>
              <a:t>N</a:t>
            </a:r>
            <a:r>
              <a:rPr lang="en-US" altLang="en-US" sz="2300" dirty="0">
                <a:solidFill>
                  <a:schemeClr val="bg1"/>
                </a:solidFill>
                <a:latin typeface="Arial" panose="020B0604020202020204" pitchFamily="34" charset="0"/>
                <a:cs typeface="Arial" panose="020B0604020202020204" pitchFamily="34" charset="0"/>
              </a:rPr>
              <a:t> = number of compounding (interest) periods</a:t>
            </a:r>
          </a:p>
          <a:p>
            <a:pPr lvl="1">
              <a:lnSpc>
                <a:spcPct val="90000"/>
              </a:lnSpc>
            </a:pPr>
            <a:r>
              <a:rPr lang="en-US" altLang="en-US" sz="2300" b="1" i="1" dirty="0">
                <a:solidFill>
                  <a:srgbClr val="0070C0"/>
                </a:solidFill>
                <a:latin typeface="Arial" panose="020B0604020202020204" pitchFamily="34" charset="0"/>
                <a:cs typeface="Arial" panose="020B0604020202020204" pitchFamily="34" charset="0"/>
              </a:rPr>
              <a:t>P</a:t>
            </a:r>
            <a:r>
              <a:rPr lang="en-US" altLang="en-US" sz="2300" dirty="0">
                <a:solidFill>
                  <a:schemeClr val="bg1"/>
                </a:solidFill>
                <a:latin typeface="Arial" panose="020B0604020202020204" pitchFamily="34" charset="0"/>
                <a:cs typeface="Arial" panose="020B0604020202020204" pitchFamily="34" charset="0"/>
              </a:rPr>
              <a:t> = present sum of money; </a:t>
            </a:r>
            <a:r>
              <a:rPr lang="en-US" altLang="en-US" sz="2300" i="1" dirty="0">
                <a:solidFill>
                  <a:schemeClr val="bg1"/>
                </a:solidFill>
                <a:latin typeface="Arial" panose="020B0604020202020204" pitchFamily="34" charset="0"/>
                <a:cs typeface="Arial" panose="020B0604020202020204" pitchFamily="34" charset="0"/>
              </a:rPr>
              <a:t>equivalent</a:t>
            </a:r>
            <a:r>
              <a:rPr lang="en-US" altLang="en-US" sz="2300" dirty="0">
                <a:solidFill>
                  <a:schemeClr val="bg1"/>
                </a:solidFill>
                <a:latin typeface="Arial" panose="020B0604020202020204" pitchFamily="34" charset="0"/>
                <a:cs typeface="Arial" panose="020B0604020202020204" pitchFamily="34" charset="0"/>
              </a:rPr>
              <a:t> value of one or more cash flows at a reference point in time; </a:t>
            </a:r>
            <a:r>
              <a:rPr lang="en-US" altLang="en-US" sz="2300" b="1" dirty="0">
                <a:solidFill>
                  <a:schemeClr val="bg1"/>
                </a:solidFill>
                <a:latin typeface="Arial" panose="020B0604020202020204" pitchFamily="34" charset="0"/>
                <a:cs typeface="Arial" panose="020B0604020202020204" pitchFamily="34" charset="0"/>
              </a:rPr>
              <a:t>the present</a:t>
            </a:r>
          </a:p>
          <a:p>
            <a:pPr lvl="1">
              <a:lnSpc>
                <a:spcPct val="90000"/>
              </a:lnSpc>
            </a:pPr>
            <a:r>
              <a:rPr lang="en-US" altLang="en-US" sz="2300" b="1" i="1" dirty="0">
                <a:solidFill>
                  <a:srgbClr val="0070C0"/>
                </a:solidFill>
                <a:latin typeface="Arial" panose="020B0604020202020204" pitchFamily="34" charset="0"/>
                <a:cs typeface="Arial" panose="020B0604020202020204" pitchFamily="34" charset="0"/>
              </a:rPr>
              <a:t>F</a:t>
            </a:r>
            <a:r>
              <a:rPr lang="en-US" altLang="en-US" sz="2300" dirty="0">
                <a:solidFill>
                  <a:schemeClr val="bg1"/>
                </a:solidFill>
                <a:latin typeface="Arial" panose="020B0604020202020204" pitchFamily="34" charset="0"/>
                <a:cs typeface="Arial" panose="020B0604020202020204" pitchFamily="34" charset="0"/>
              </a:rPr>
              <a:t> = future sum of money; </a:t>
            </a:r>
            <a:r>
              <a:rPr lang="en-US" altLang="en-US" sz="2300" i="1" dirty="0">
                <a:solidFill>
                  <a:schemeClr val="bg1"/>
                </a:solidFill>
                <a:latin typeface="Arial" panose="020B0604020202020204" pitchFamily="34" charset="0"/>
                <a:cs typeface="Arial" panose="020B0604020202020204" pitchFamily="34" charset="0"/>
              </a:rPr>
              <a:t>equivalent</a:t>
            </a:r>
            <a:r>
              <a:rPr lang="en-US" altLang="en-US" sz="2300" dirty="0">
                <a:solidFill>
                  <a:schemeClr val="bg1"/>
                </a:solidFill>
                <a:latin typeface="Arial" panose="020B0604020202020204" pitchFamily="34" charset="0"/>
                <a:cs typeface="Arial" panose="020B0604020202020204" pitchFamily="34" charset="0"/>
              </a:rPr>
              <a:t> value of one or more cash flows at a reference point in time; </a:t>
            </a:r>
            <a:r>
              <a:rPr lang="en-US" altLang="en-US" sz="2300" b="1" dirty="0">
                <a:solidFill>
                  <a:schemeClr val="bg1"/>
                </a:solidFill>
                <a:latin typeface="Arial" panose="020B0604020202020204" pitchFamily="34" charset="0"/>
                <a:cs typeface="Arial" panose="020B0604020202020204" pitchFamily="34" charset="0"/>
              </a:rPr>
              <a:t>the future</a:t>
            </a:r>
          </a:p>
          <a:p>
            <a:pPr lvl="1">
              <a:lnSpc>
                <a:spcPct val="90000"/>
              </a:lnSpc>
            </a:pPr>
            <a:r>
              <a:rPr lang="en-US" altLang="en-US" sz="2300" b="1" i="1" dirty="0">
                <a:solidFill>
                  <a:srgbClr val="0070C0"/>
                </a:solidFill>
                <a:latin typeface="Arial" panose="020B0604020202020204" pitchFamily="34" charset="0"/>
                <a:cs typeface="Arial" panose="020B0604020202020204" pitchFamily="34" charset="0"/>
              </a:rPr>
              <a:t>A</a:t>
            </a:r>
            <a:r>
              <a:rPr lang="en-US" altLang="en-US" sz="2300" dirty="0">
                <a:solidFill>
                  <a:schemeClr val="bg1"/>
                </a:solidFill>
                <a:latin typeface="Arial" panose="020B0604020202020204" pitchFamily="34" charset="0"/>
                <a:cs typeface="Arial" panose="020B0604020202020204" pitchFamily="34" charset="0"/>
              </a:rPr>
              <a:t> = end-of-period cash flows in </a:t>
            </a:r>
            <a:r>
              <a:rPr lang="en-US" altLang="en-US" sz="2300" u="sng" dirty="0">
                <a:solidFill>
                  <a:srgbClr val="0070C0"/>
                </a:solidFill>
                <a:latin typeface="Arial" panose="020B0604020202020204" pitchFamily="34" charset="0"/>
                <a:cs typeface="Arial" panose="020B0604020202020204" pitchFamily="34" charset="0"/>
              </a:rPr>
              <a:t>a uniform series continuing </a:t>
            </a:r>
            <a:r>
              <a:rPr lang="en-US" altLang="en-US" sz="2300" dirty="0">
                <a:solidFill>
                  <a:schemeClr val="bg1"/>
                </a:solidFill>
                <a:latin typeface="Arial" panose="020B0604020202020204" pitchFamily="34" charset="0"/>
                <a:cs typeface="Arial" panose="020B0604020202020204" pitchFamily="34" charset="0"/>
              </a:rPr>
              <a:t>for a certain number of periods N, starting at the end of the first period and continuing through the last</a:t>
            </a:r>
          </a:p>
          <a:p>
            <a:pPr lvl="1">
              <a:lnSpc>
                <a:spcPct val="90000"/>
              </a:lnSpc>
            </a:pPr>
            <a:r>
              <a:rPr lang="en-US" altLang="en-US" sz="2300" b="1" i="1" dirty="0">
                <a:solidFill>
                  <a:srgbClr val="0070C0"/>
                </a:solidFill>
                <a:latin typeface="Arial" panose="020B0604020202020204" pitchFamily="34" charset="0"/>
                <a:cs typeface="Arial" panose="020B0604020202020204" pitchFamily="34" charset="0"/>
              </a:rPr>
              <a:t>S</a:t>
            </a:r>
            <a:r>
              <a:rPr lang="en-US" altLang="en-US" sz="2300" b="1" dirty="0">
                <a:solidFill>
                  <a:schemeClr val="bg1"/>
                </a:solidFill>
                <a:latin typeface="Arial" panose="020B0604020202020204" pitchFamily="34" charset="0"/>
                <a:cs typeface="Arial" panose="020B0604020202020204" pitchFamily="34" charset="0"/>
              </a:rPr>
              <a:t> </a:t>
            </a:r>
            <a:r>
              <a:rPr lang="en-US" altLang="en-US" sz="2300" dirty="0">
                <a:solidFill>
                  <a:schemeClr val="bg1"/>
                </a:solidFill>
                <a:latin typeface="Arial" panose="020B0604020202020204" pitchFamily="34" charset="0"/>
                <a:cs typeface="Arial" panose="020B0604020202020204" pitchFamily="34" charset="0"/>
              </a:rPr>
              <a:t>= Salvage value: a one-time positive cash flow at the end of a project from sale of assets at the end of project (e.g. selling used gas turbines)</a:t>
            </a:r>
          </a:p>
        </p:txBody>
      </p:sp>
    </p:spTree>
    <p:extLst>
      <p:ext uri="{BB962C8B-B14F-4D97-AF65-F5344CB8AC3E}">
        <p14:creationId xmlns:p14="http://schemas.microsoft.com/office/powerpoint/2010/main" val="3930167893"/>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DE4E60-006B-4206-9851-4BCFAA88AFA6}"/>
              </a:ext>
            </a:extLst>
          </p:cNvPr>
          <p:cNvSpPr>
            <a:spLocks noGrp="1"/>
          </p:cNvSpPr>
          <p:nvPr>
            <p:ph type="sldNum" sz="quarter" idx="12"/>
          </p:nvPr>
        </p:nvSpPr>
        <p:spPr/>
        <p:txBody>
          <a:bodyPr/>
          <a:lstStyle/>
          <a:p>
            <a:fld id="{122D24B2-5D52-46F7-B915-67CABB3AD0CF}" type="slidenum">
              <a:rPr lang="en-US" smtClean="0"/>
              <a:pPr/>
              <a:t>13</a:t>
            </a:fld>
            <a:endParaRPr lang="en-US" dirty="0"/>
          </a:p>
        </p:txBody>
      </p:sp>
      <p:sp>
        <p:nvSpPr>
          <p:cNvPr id="3" name="Text Placeholder 2">
            <a:extLst>
              <a:ext uri="{FF2B5EF4-FFF2-40B4-BE49-F238E27FC236}">
                <a16:creationId xmlns:a16="http://schemas.microsoft.com/office/drawing/2014/main" id="{167EFF4A-4630-467A-B186-A18363F5167D}"/>
              </a:ext>
            </a:extLst>
          </p:cNvPr>
          <p:cNvSpPr>
            <a:spLocks noGrp="1"/>
          </p:cNvSpPr>
          <p:nvPr>
            <p:ph type="body" sz="quarter" idx="13"/>
          </p:nvPr>
        </p:nvSpPr>
        <p:spPr>
          <a:xfrm>
            <a:off x="495300" y="1972734"/>
            <a:ext cx="7810500" cy="4157662"/>
          </a:xfrm>
        </p:spPr>
        <p:txBody>
          <a:bodyPr/>
          <a:lstStyle/>
          <a:p>
            <a:r>
              <a:rPr lang="en-CA" sz="2000" b="1" dirty="0">
                <a:solidFill>
                  <a:srgbClr val="0070C0"/>
                </a:solidFill>
              </a:rPr>
              <a:t>Inflation</a:t>
            </a:r>
            <a:r>
              <a:rPr lang="en-CA" sz="2000" dirty="0"/>
              <a:t> reduces future value of money</a:t>
            </a:r>
          </a:p>
          <a:p>
            <a:r>
              <a:rPr lang="en-CA" sz="2000" dirty="0"/>
              <a:t>MARR is the minimum investment interest rate required for a project to make the project </a:t>
            </a:r>
            <a:r>
              <a:rPr lang="en-CA" sz="2000" b="1" dirty="0">
                <a:solidFill>
                  <a:srgbClr val="0070C0"/>
                </a:solidFill>
              </a:rPr>
              <a:t>financially attractive</a:t>
            </a:r>
            <a:r>
              <a:rPr lang="en-CA" sz="2000" dirty="0"/>
              <a:t>.</a:t>
            </a:r>
          </a:p>
          <a:p>
            <a:r>
              <a:rPr lang="en-CA" sz="2000" dirty="0"/>
              <a:t>MARR is not less than </a:t>
            </a:r>
            <a:r>
              <a:rPr lang="en-CA" sz="2000" i="1" dirty="0"/>
              <a:t>expected</a:t>
            </a:r>
            <a:r>
              <a:rPr lang="en-CA" sz="2000" dirty="0"/>
              <a:t> rate of inflation.</a:t>
            </a:r>
          </a:p>
          <a:p>
            <a:pPr lvl="1"/>
            <a:r>
              <a:rPr lang="en-CA" sz="2000" dirty="0">
                <a:solidFill>
                  <a:schemeClr val="bg1"/>
                </a:solidFill>
              </a:rPr>
              <a:t>If MARR is unknown for a project, then expected inflation rate is used.</a:t>
            </a:r>
          </a:p>
          <a:p>
            <a:pPr lvl="1"/>
            <a:r>
              <a:rPr lang="en-CA" sz="2000" dirty="0">
                <a:solidFill>
                  <a:schemeClr val="bg1"/>
                </a:solidFill>
              </a:rPr>
              <a:t>In our analysis, MARR and </a:t>
            </a:r>
            <a:r>
              <a:rPr lang="en-CA" sz="2000" dirty="0" err="1">
                <a:solidFill>
                  <a:schemeClr val="bg1"/>
                </a:solidFill>
              </a:rPr>
              <a:t>i</a:t>
            </a:r>
            <a:r>
              <a:rPr lang="en-CA" sz="2000" dirty="0">
                <a:solidFill>
                  <a:schemeClr val="bg1"/>
                </a:solidFill>
              </a:rPr>
              <a:t>, interest rate, are treated similarly, meaning that we are dealing with either MARR (expected return on energy project investment) or an interest rate for borrowed money to pay capital cost.</a:t>
            </a:r>
          </a:p>
          <a:p>
            <a:r>
              <a:rPr lang="en-CA" sz="2000" dirty="0"/>
              <a:t>Note that a project may be considered financially viable through a </a:t>
            </a:r>
            <a:r>
              <a:rPr lang="en-CA" sz="2000" dirty="0">
                <a:solidFill>
                  <a:srgbClr val="0070C0"/>
                </a:solidFill>
              </a:rPr>
              <a:t>simple payback analysis </a:t>
            </a:r>
            <a:r>
              <a:rPr lang="en-CA" sz="2000" dirty="0"/>
              <a:t>but given a possible MARR not viable through a discounted cash flow analysis.</a:t>
            </a:r>
          </a:p>
          <a:p>
            <a:endParaRPr lang="en-CA" sz="2000" dirty="0"/>
          </a:p>
        </p:txBody>
      </p:sp>
      <p:sp>
        <p:nvSpPr>
          <p:cNvPr id="4" name="Title 3">
            <a:extLst>
              <a:ext uri="{FF2B5EF4-FFF2-40B4-BE49-F238E27FC236}">
                <a16:creationId xmlns:a16="http://schemas.microsoft.com/office/drawing/2014/main" id="{BC696D17-1963-4CCE-804B-FFBC80B6C23A}"/>
              </a:ext>
            </a:extLst>
          </p:cNvPr>
          <p:cNvSpPr>
            <a:spLocks noGrp="1"/>
          </p:cNvSpPr>
          <p:nvPr>
            <p:ph type="title"/>
          </p:nvPr>
        </p:nvSpPr>
        <p:spPr/>
        <p:txBody>
          <a:bodyPr/>
          <a:lstStyle/>
          <a:p>
            <a:r>
              <a:rPr lang="en-CA" dirty="0"/>
              <a:t>Minimum Attractive Rate of Return</a:t>
            </a:r>
          </a:p>
        </p:txBody>
      </p:sp>
    </p:spTree>
    <p:extLst>
      <p:ext uri="{BB962C8B-B14F-4D97-AF65-F5344CB8AC3E}">
        <p14:creationId xmlns:p14="http://schemas.microsoft.com/office/powerpoint/2010/main" val="3404189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15129" y="787974"/>
            <a:ext cx="8212138" cy="1589721"/>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Compound Interest Formulas</a:t>
            </a:r>
            <a:endParaRPr lang="en-US" b="1" dirty="0">
              <a:solidFill>
                <a:schemeClr val="accent2"/>
              </a:solidFill>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415129" y="1582834"/>
            <a:ext cx="8212138" cy="3743759"/>
          </a:xfrm>
        </p:spPr>
        <p:txBody>
          <a:bodyPr vert="horz" lIns="0" tIns="0" rIns="0" bIns="0" rtlCol="0">
            <a:noAutofit/>
          </a:bodyPr>
          <a:lstStyle/>
          <a:p>
            <a:pPr marL="0" indent="0">
              <a:buNone/>
            </a:pPr>
            <a:r>
              <a:rPr lang="en-US" altLang="en-US" dirty="0">
                <a:solidFill>
                  <a:schemeClr val="bg1"/>
                </a:solidFill>
                <a:latin typeface="Arial" panose="020B0604020202020204" pitchFamily="34" charset="0"/>
                <a:cs typeface="Arial" panose="020B0604020202020204" pitchFamily="34" charset="0"/>
              </a:rPr>
              <a:t>Using the standard notation, we find that a present amount, </a:t>
            </a:r>
            <a:r>
              <a:rPr lang="en-US" altLang="en-US" i="1" dirty="0">
                <a:solidFill>
                  <a:schemeClr val="bg1"/>
                </a:solidFill>
                <a:latin typeface="Arial" panose="020B0604020202020204" pitchFamily="34" charset="0"/>
                <a:cs typeface="Arial" panose="020B0604020202020204" pitchFamily="34" charset="0"/>
              </a:rPr>
              <a:t>P</a:t>
            </a:r>
            <a:r>
              <a:rPr lang="en-US" altLang="en-US" dirty="0">
                <a:solidFill>
                  <a:schemeClr val="bg1"/>
                </a:solidFill>
                <a:latin typeface="Arial" panose="020B0604020202020204" pitchFamily="34" charset="0"/>
                <a:cs typeface="Arial" panose="020B0604020202020204" pitchFamily="34" charset="0"/>
              </a:rPr>
              <a:t>, can grow into a future amount, </a:t>
            </a:r>
            <a:r>
              <a:rPr lang="en-US" altLang="en-US" i="1" dirty="0">
                <a:solidFill>
                  <a:schemeClr val="bg1"/>
                </a:solidFill>
                <a:latin typeface="Arial" panose="020B0604020202020204" pitchFamily="34" charset="0"/>
                <a:cs typeface="Arial" panose="020B0604020202020204" pitchFamily="34" charset="0"/>
              </a:rPr>
              <a:t>F</a:t>
            </a:r>
            <a:r>
              <a:rPr lang="en-US" altLang="en-US" dirty="0">
                <a:solidFill>
                  <a:schemeClr val="bg1"/>
                </a:solidFill>
                <a:latin typeface="Arial" panose="020B0604020202020204" pitchFamily="34" charset="0"/>
                <a:cs typeface="Arial" panose="020B0604020202020204" pitchFamily="34" charset="0"/>
              </a:rPr>
              <a:t>, in </a:t>
            </a:r>
            <a:r>
              <a:rPr lang="en-US" altLang="en-US" i="1" dirty="0">
                <a:solidFill>
                  <a:schemeClr val="bg1"/>
                </a:solidFill>
                <a:latin typeface="Arial" panose="020B0604020202020204" pitchFamily="34" charset="0"/>
                <a:cs typeface="Arial" panose="020B0604020202020204" pitchFamily="34" charset="0"/>
              </a:rPr>
              <a:t>N</a:t>
            </a:r>
            <a:r>
              <a:rPr lang="en-US" altLang="en-US" dirty="0">
                <a:solidFill>
                  <a:schemeClr val="bg1"/>
                </a:solidFill>
                <a:latin typeface="Arial" panose="020B0604020202020204" pitchFamily="34" charset="0"/>
                <a:cs typeface="Arial" panose="020B0604020202020204" pitchFamily="34" charset="0"/>
              </a:rPr>
              <a:t> time periods at interest rate </a:t>
            </a:r>
            <a:r>
              <a:rPr lang="en-US" altLang="en-US" i="1" dirty="0" err="1">
                <a:solidFill>
                  <a:schemeClr val="bg1"/>
                </a:solidFill>
                <a:latin typeface="Arial" panose="020B0604020202020204" pitchFamily="34" charset="0"/>
                <a:cs typeface="Arial" panose="020B0604020202020204" pitchFamily="34" charset="0"/>
              </a:rPr>
              <a:t>i</a:t>
            </a:r>
            <a:r>
              <a:rPr lang="en-US" altLang="en-US" dirty="0">
                <a:solidFill>
                  <a:schemeClr val="bg1"/>
                </a:solidFill>
                <a:latin typeface="Arial" panose="020B0604020202020204" pitchFamily="34" charset="0"/>
                <a:cs typeface="Arial" panose="020B0604020202020204" pitchFamily="34" charset="0"/>
              </a:rPr>
              <a:t> according to the formula below.</a:t>
            </a:r>
          </a:p>
          <a:p>
            <a:pPr marL="0" indent="0">
              <a:buNone/>
            </a:pPr>
            <a:endParaRPr lang="en-US" dirty="0">
              <a:solidFill>
                <a:schemeClr val="bg1"/>
              </a:solidFill>
            </a:endParaRPr>
          </a:p>
          <a:p>
            <a:pPr marL="0" indent="0">
              <a:buNone/>
            </a:pPr>
            <a:endParaRPr lang="en-US" dirty="0">
              <a:solidFill>
                <a:schemeClr val="bg1"/>
              </a:solidFill>
            </a:endParaRPr>
          </a:p>
          <a:p>
            <a:pPr marL="0" indent="0">
              <a:buNone/>
            </a:pPr>
            <a:r>
              <a:rPr lang="en-US" altLang="en-US" dirty="0">
                <a:solidFill>
                  <a:schemeClr val="bg1"/>
                </a:solidFill>
                <a:latin typeface="Arial" panose="020B0604020202020204" pitchFamily="34" charset="0"/>
                <a:cs typeface="Arial" panose="020B0604020202020204" pitchFamily="34" charset="0"/>
              </a:rPr>
              <a:t>In a similar way we can find </a:t>
            </a:r>
            <a:r>
              <a:rPr lang="en-US" altLang="en-US" b="1" i="1" dirty="0">
                <a:solidFill>
                  <a:srgbClr val="0070C0"/>
                </a:solidFill>
                <a:latin typeface="Arial" panose="020B0604020202020204" pitchFamily="34" charset="0"/>
                <a:cs typeface="Arial" panose="020B0604020202020204" pitchFamily="34" charset="0"/>
              </a:rPr>
              <a:t>P</a:t>
            </a:r>
            <a:r>
              <a:rPr lang="en-US" altLang="en-US" b="1" dirty="0">
                <a:solidFill>
                  <a:srgbClr val="0070C0"/>
                </a:solidFill>
                <a:latin typeface="Arial" panose="020B0604020202020204" pitchFamily="34" charset="0"/>
                <a:cs typeface="Arial" panose="020B0604020202020204" pitchFamily="34" charset="0"/>
              </a:rPr>
              <a:t> given </a:t>
            </a:r>
            <a:r>
              <a:rPr lang="en-US" altLang="en-US" b="1" i="1" dirty="0">
                <a:solidFill>
                  <a:srgbClr val="0070C0"/>
                </a:solidFill>
                <a:latin typeface="Arial" panose="020B0604020202020204" pitchFamily="34" charset="0"/>
                <a:cs typeface="Arial" panose="020B0604020202020204" pitchFamily="34" charset="0"/>
              </a:rPr>
              <a:t>F</a:t>
            </a:r>
            <a:r>
              <a:rPr lang="en-US" altLang="en-US" b="1" dirty="0">
                <a:solidFill>
                  <a:srgbClr val="0070C0"/>
                </a:solidFill>
                <a:latin typeface="Arial" panose="020B0604020202020204" pitchFamily="34" charset="0"/>
                <a:cs typeface="Arial" panose="020B0604020202020204" pitchFamily="34" charset="0"/>
              </a:rPr>
              <a:t> </a:t>
            </a:r>
            <a:r>
              <a:rPr lang="en-US" altLang="en-US" dirty="0">
                <a:solidFill>
                  <a:schemeClr val="bg1"/>
                </a:solidFill>
                <a:latin typeface="Arial" panose="020B0604020202020204" pitchFamily="34" charset="0"/>
                <a:cs typeface="Arial" panose="020B0604020202020204" pitchFamily="34" charset="0"/>
              </a:rPr>
              <a:t>by</a:t>
            </a:r>
          </a:p>
          <a:p>
            <a:pPr marL="0" indent="0">
              <a:buNone/>
            </a:pPr>
            <a:endParaRPr lang="en-US" altLang="en-US" dirty="0">
              <a:solidFill>
                <a:schemeClr val="bg1"/>
              </a:solidFill>
              <a:latin typeface="Arial" panose="020B0604020202020204" pitchFamily="34" charset="0"/>
              <a:cs typeface="Arial" panose="020B0604020202020204" pitchFamily="34" charset="0"/>
            </a:endParaRPr>
          </a:p>
          <a:p>
            <a:pPr marL="0" indent="0">
              <a:buNone/>
            </a:pPr>
            <a:endParaRPr lang="en-US" altLang="en-US" dirty="0">
              <a:solidFill>
                <a:schemeClr val="bg1"/>
              </a:solidFill>
              <a:latin typeface="Arial" panose="020B0604020202020204" pitchFamily="34" charset="0"/>
              <a:cs typeface="Arial" panose="020B0604020202020204" pitchFamily="34" charset="0"/>
            </a:endParaRPr>
          </a:p>
          <a:p>
            <a:pPr>
              <a:buFont typeface="Wingdings" panose="05000000000000000000" pitchFamily="2" charset="2"/>
              <a:buChar char="Ø"/>
            </a:pPr>
            <a:r>
              <a:rPr lang="en-US" altLang="en-US" dirty="0">
                <a:solidFill>
                  <a:schemeClr val="bg1"/>
                </a:solidFill>
                <a:latin typeface="Arial" panose="020B0604020202020204" pitchFamily="34" charset="0"/>
                <a:cs typeface="Arial" panose="020B0604020202020204" pitchFamily="34" charset="0"/>
              </a:rPr>
              <a:t> P given F </a:t>
            </a:r>
            <a:r>
              <a:rPr lang="en-US" altLang="en-US" i="1" dirty="0">
                <a:solidFill>
                  <a:srgbClr val="0070C0"/>
                </a:solidFill>
                <a:latin typeface="Arial" panose="020B0604020202020204" pitchFamily="34" charset="0"/>
                <a:cs typeface="Arial" panose="020B0604020202020204" pitchFamily="34" charset="0"/>
              </a:rPr>
              <a:t>“brings” </a:t>
            </a:r>
            <a:r>
              <a:rPr lang="en-US" altLang="en-US" dirty="0">
                <a:solidFill>
                  <a:schemeClr val="bg1"/>
                </a:solidFill>
                <a:latin typeface="Arial" panose="020B0604020202020204" pitchFamily="34" charset="0"/>
                <a:cs typeface="Arial" panose="020B0604020202020204" pitchFamily="34" charset="0"/>
              </a:rPr>
              <a:t>future expense/revenue F to the present and allows us to do an NPV calculation (for example) </a:t>
            </a:r>
          </a:p>
          <a:p>
            <a:pPr marL="0" indent="0">
              <a:buNone/>
            </a:pPr>
            <a:endParaRPr lang="en-US" dirty="0">
              <a:solidFill>
                <a:schemeClr val="bg1"/>
              </a:solidFill>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651977296"/>
              </p:ext>
            </p:extLst>
          </p:nvPr>
        </p:nvGraphicFramePr>
        <p:xfrm>
          <a:off x="3615265" y="3149600"/>
          <a:ext cx="1981200" cy="558800"/>
        </p:xfrm>
        <a:graphic>
          <a:graphicData uri="http://schemas.openxmlformats.org/presentationml/2006/ole">
            <mc:AlternateContent xmlns:mc="http://schemas.openxmlformats.org/markup-compatibility/2006">
              <mc:Choice xmlns:v="urn:schemas-microsoft-com:vml" Requires="v">
                <p:oleObj name="Equation" r:id="rId3" imgW="1981080" imgH="558720" progId="Equation.DSMT4">
                  <p:embed/>
                </p:oleObj>
              </mc:Choice>
              <mc:Fallback>
                <p:oleObj name="Equation" r:id="rId3" imgW="1981080" imgH="558720" progId="Equation.DSMT4">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5265" y="3149600"/>
                        <a:ext cx="19812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7507856"/>
              </p:ext>
            </p:extLst>
          </p:nvPr>
        </p:nvGraphicFramePr>
        <p:xfrm>
          <a:off x="3615265" y="4238096"/>
          <a:ext cx="2120900" cy="558800"/>
        </p:xfrm>
        <a:graphic>
          <a:graphicData uri="http://schemas.openxmlformats.org/presentationml/2006/ole">
            <mc:AlternateContent xmlns:mc="http://schemas.openxmlformats.org/markup-compatibility/2006">
              <mc:Choice xmlns:v="urn:schemas-microsoft-com:vml" Requires="v">
                <p:oleObj name="Equation" r:id="rId5" imgW="2120760" imgH="558720" progId="Equation.DSMT4">
                  <p:embed/>
                </p:oleObj>
              </mc:Choice>
              <mc:Fallback>
                <p:oleObj name="Equation" r:id="rId5" imgW="2120760" imgH="558720" progId="Equation.DSMT4">
                  <p:embed/>
                  <p:pic>
                    <p:nvPicPr>
                      <p:cNvPr id="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5265" y="4238096"/>
                        <a:ext cx="21209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56254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55882" y="1024492"/>
            <a:ext cx="8212138" cy="1085801"/>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It is Common to Use Standard Notation for Interest Factors</a:t>
            </a:r>
            <a:endParaRPr lang="en-US" b="1" dirty="0">
              <a:solidFill>
                <a:schemeClr val="accent2"/>
              </a:solidFill>
              <a:latin typeface="Arial" panose="020B0604020202020204" pitchFamily="34" charset="0"/>
              <a:cs typeface="Arial" panose="020B0604020202020204"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709424164"/>
              </p:ext>
            </p:extLst>
          </p:nvPr>
        </p:nvGraphicFramePr>
        <p:xfrm>
          <a:off x="2819400" y="2811337"/>
          <a:ext cx="2997200" cy="558800"/>
        </p:xfrm>
        <a:graphic>
          <a:graphicData uri="http://schemas.openxmlformats.org/presentationml/2006/ole">
            <mc:AlternateContent xmlns:mc="http://schemas.openxmlformats.org/markup-compatibility/2006">
              <mc:Choice xmlns:v="urn:schemas-microsoft-com:vml" Requires="v">
                <p:oleObj name="Equation" r:id="rId3" imgW="2997000" imgH="558720" progId="Equation.DSMT4">
                  <p:embed/>
                </p:oleObj>
              </mc:Choice>
              <mc:Fallback>
                <p:oleObj name="Equation" r:id="rId3" imgW="2997000" imgH="558720" progId="Equation.DSMT4">
                  <p:embed/>
                  <p:pic>
                    <p:nvPicPr>
                      <p:cNvPr id="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811337"/>
                        <a:ext cx="29972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descr="Alt text" title="Need to Change"/>
          <p:cNvSpPr>
            <a:spLocks noGrp="1"/>
          </p:cNvSpPr>
          <p:nvPr>
            <p:ph idx="1"/>
          </p:nvPr>
        </p:nvSpPr>
        <p:spPr>
          <a:xfrm>
            <a:off x="455882" y="3730225"/>
            <a:ext cx="8212138" cy="2990128"/>
          </a:xfrm>
        </p:spPr>
        <p:txBody>
          <a:bodyPr vert="horz" lIns="0" tIns="0" rIns="0" bIns="0" rtlCol="0">
            <a:noAutofit/>
          </a:bodyPr>
          <a:lstStyle/>
          <a:p>
            <a:pPr marL="0" indent="0">
              <a:buNone/>
            </a:pPr>
            <a:r>
              <a:rPr lang="en-US" altLang="en-US" dirty="0">
                <a:latin typeface="Arial" panose="020B0604020202020204" pitchFamily="34" charset="0"/>
                <a:cs typeface="Arial" panose="020B0604020202020204" pitchFamily="34" charset="0"/>
              </a:rPr>
              <a:t>This is also known as the </a:t>
            </a:r>
            <a:r>
              <a:rPr lang="en-US" altLang="en-US" i="1" dirty="0">
                <a:latin typeface="Arial" panose="020B0604020202020204" pitchFamily="34" charset="0"/>
                <a:cs typeface="Arial" panose="020B0604020202020204" pitchFamily="34" charset="0"/>
              </a:rPr>
              <a:t>single payment compound amount</a:t>
            </a:r>
            <a:r>
              <a:rPr lang="en-US" altLang="en-US" dirty="0">
                <a:latin typeface="Arial" panose="020B0604020202020204" pitchFamily="34" charset="0"/>
                <a:cs typeface="Arial" panose="020B0604020202020204" pitchFamily="34" charset="0"/>
              </a:rPr>
              <a:t> factor. The term on the right is read </a:t>
            </a:r>
            <a:r>
              <a:rPr lang="ja-JP" altLang="en-US" dirty="0">
                <a:latin typeface="Arial" panose="020B0604020202020204" pitchFamily="34" charset="0"/>
                <a:cs typeface="Arial" panose="020B0604020202020204" pitchFamily="34" charset="0"/>
              </a:rPr>
              <a:t>“</a:t>
            </a:r>
            <a:r>
              <a:rPr lang="en-US" altLang="ja-JP" i="1" dirty="0">
                <a:latin typeface="Arial" panose="020B0604020202020204" pitchFamily="34" charset="0"/>
                <a:cs typeface="Arial" panose="020B0604020202020204" pitchFamily="34" charset="0"/>
              </a:rPr>
              <a:t>F</a:t>
            </a:r>
            <a:r>
              <a:rPr lang="en-US" altLang="ja-JP" dirty="0">
                <a:latin typeface="Arial" panose="020B0604020202020204" pitchFamily="34" charset="0"/>
                <a:cs typeface="Arial" panose="020B0604020202020204" pitchFamily="34" charset="0"/>
              </a:rPr>
              <a:t> given </a:t>
            </a:r>
            <a:r>
              <a:rPr lang="en-US" altLang="ja-JP" i="1" dirty="0">
                <a:latin typeface="Arial" panose="020B0604020202020204" pitchFamily="34" charset="0"/>
                <a:cs typeface="Arial" panose="020B0604020202020204" pitchFamily="34" charset="0"/>
              </a:rPr>
              <a:t>P</a:t>
            </a:r>
            <a:r>
              <a:rPr lang="en-US" altLang="ja-JP" dirty="0">
                <a:latin typeface="Arial" panose="020B0604020202020204" pitchFamily="34" charset="0"/>
                <a:cs typeface="Arial" panose="020B0604020202020204" pitchFamily="34" charset="0"/>
              </a:rPr>
              <a:t> at </a:t>
            </a:r>
            <a:r>
              <a:rPr lang="en-US" altLang="ja-JP" i="1" dirty="0" err="1">
                <a:latin typeface="Arial" panose="020B0604020202020204" pitchFamily="34" charset="0"/>
                <a:cs typeface="Arial" panose="020B0604020202020204" pitchFamily="34" charset="0"/>
              </a:rPr>
              <a:t>i</a:t>
            </a:r>
            <a:r>
              <a:rPr lang="en-US" altLang="ja-JP" dirty="0">
                <a:latin typeface="Arial" panose="020B0604020202020204" pitchFamily="34" charset="0"/>
                <a:cs typeface="Arial" panose="020B0604020202020204" pitchFamily="34" charset="0"/>
              </a:rPr>
              <a:t>% interest per period for </a:t>
            </a:r>
            <a:r>
              <a:rPr lang="en-US" altLang="ja-JP" i="1" dirty="0">
                <a:latin typeface="Arial" panose="020B0604020202020204" pitchFamily="34" charset="0"/>
                <a:cs typeface="Arial" panose="020B0604020202020204" pitchFamily="34" charset="0"/>
              </a:rPr>
              <a:t>N</a:t>
            </a:r>
            <a:r>
              <a:rPr lang="en-US" altLang="ja-JP" dirty="0">
                <a:latin typeface="Arial" panose="020B0604020202020204" pitchFamily="34" charset="0"/>
                <a:cs typeface="Arial" panose="020B0604020202020204" pitchFamily="34" charset="0"/>
              </a:rPr>
              <a:t> interest periods.</a:t>
            </a:r>
            <a:r>
              <a:rPr lang="ja-JP" altLang="en-US" dirty="0">
                <a:latin typeface="Arial" panose="020B0604020202020204" pitchFamily="34" charset="0"/>
                <a:cs typeface="Arial" panose="020B0604020202020204" pitchFamily="34" charset="0"/>
              </a:rPr>
              <a:t>”</a:t>
            </a:r>
            <a:endParaRPr lang="en-US" altLang="en-US" dirty="0">
              <a:latin typeface="Arial" panose="020B0604020202020204" pitchFamily="34" charset="0"/>
              <a:cs typeface="Arial" panose="020B0604020202020204" pitchFamily="34" charset="0"/>
            </a:endParaRPr>
          </a:p>
          <a:p>
            <a:pPr marL="0" indent="0">
              <a:buNone/>
            </a:pPr>
            <a:endParaRPr lang="en-US" dirty="0"/>
          </a:p>
          <a:p>
            <a:pPr marL="0" indent="0">
              <a:buNone/>
            </a:pPr>
            <a:endParaRPr lang="en-US" altLang="en-US" dirty="0"/>
          </a:p>
          <a:p>
            <a:pPr marL="0" indent="0">
              <a:buNone/>
            </a:pPr>
            <a:r>
              <a:rPr lang="en-US" altLang="en-US" dirty="0">
                <a:latin typeface="Arial" panose="020B0604020202020204" pitchFamily="34" charset="0"/>
                <a:cs typeface="Arial" panose="020B0604020202020204" pitchFamily="34" charset="0"/>
              </a:rPr>
              <a:t>is called the </a:t>
            </a:r>
            <a:r>
              <a:rPr lang="en-US" altLang="en-US" i="1" dirty="0">
                <a:latin typeface="Arial" panose="020B0604020202020204" pitchFamily="34" charset="0"/>
                <a:cs typeface="Arial" panose="020B0604020202020204" pitchFamily="34" charset="0"/>
              </a:rPr>
              <a:t>single payment present worth</a:t>
            </a:r>
            <a:r>
              <a:rPr lang="en-US" altLang="en-US" dirty="0">
                <a:latin typeface="Arial" panose="020B0604020202020204" pitchFamily="34" charset="0"/>
                <a:cs typeface="Arial" panose="020B0604020202020204" pitchFamily="34" charset="0"/>
              </a:rPr>
              <a:t> factor.</a:t>
            </a:r>
          </a:p>
          <a:p>
            <a:pPr marL="0" indent="0">
              <a:buNone/>
            </a:pP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016969447"/>
              </p:ext>
            </p:extLst>
          </p:nvPr>
        </p:nvGraphicFramePr>
        <p:xfrm>
          <a:off x="2936351" y="5229161"/>
          <a:ext cx="3124200" cy="558800"/>
        </p:xfrm>
        <a:graphic>
          <a:graphicData uri="http://schemas.openxmlformats.org/presentationml/2006/ole">
            <mc:AlternateContent xmlns:mc="http://schemas.openxmlformats.org/markup-compatibility/2006">
              <mc:Choice xmlns:v="urn:schemas-microsoft-com:vml" Requires="v">
                <p:oleObj name="Equation" r:id="rId5" imgW="3124080" imgH="558720" progId="Equation.DSMT4">
                  <p:embed/>
                </p:oleObj>
              </mc:Choice>
              <mc:Fallback>
                <p:oleObj name="Equation" r:id="rId5" imgW="3124080" imgH="558720" progId="Equation.DSMT4">
                  <p:embed/>
                  <p:pic>
                    <p:nvPicPr>
                      <p:cNvPr id="4"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36351" y="5229161"/>
                        <a:ext cx="31242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00706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40530" y="883876"/>
            <a:ext cx="8212138" cy="1589721"/>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We Can Use These to Find Economically Equivalent Values at Different Points in Time</a:t>
            </a:r>
            <a:endParaRPr lang="en-US" b="1" dirty="0">
              <a:solidFill>
                <a:schemeClr val="accent2"/>
              </a:solidFill>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457200" y="2667000"/>
            <a:ext cx="8458200" cy="2846286"/>
          </a:xfrm>
        </p:spPr>
        <p:txBody>
          <a:bodyPr vert="horz" lIns="0" tIns="0" rIns="0" bIns="0" rtlCol="0">
            <a:noAutofit/>
          </a:bodyPr>
          <a:lstStyle/>
          <a:p>
            <a:pPr marL="0" indent="0">
              <a:buNone/>
            </a:pPr>
            <a:r>
              <a:rPr lang="en-US" altLang="en-US" sz="2400" dirty="0">
                <a:latin typeface="Arial" panose="020B0604020202020204" pitchFamily="34" charset="0"/>
                <a:cs typeface="Arial" panose="020B0604020202020204" pitchFamily="34" charset="0"/>
              </a:rPr>
              <a:t>$2,500 at time zero (i.e., present) is equivalent to how much after six years if the interest rate is 8% per year?</a:t>
            </a:r>
          </a:p>
          <a:p>
            <a:pPr marL="0" indent="0">
              <a:buNone/>
            </a:pPr>
            <a:endParaRPr lang="en-US" sz="2400" dirty="0"/>
          </a:p>
          <a:p>
            <a:pPr marL="0" indent="0">
              <a:buNone/>
            </a:pPr>
            <a:endParaRPr lang="en-US" altLang="en-US" sz="2400" dirty="0">
              <a:latin typeface="Arial" panose="020B0604020202020204" pitchFamily="34" charset="0"/>
              <a:cs typeface="Arial" panose="020B0604020202020204" pitchFamily="34" charset="0"/>
            </a:endParaRPr>
          </a:p>
          <a:p>
            <a:pPr marL="0" indent="0">
              <a:buNone/>
            </a:pPr>
            <a:r>
              <a:rPr lang="en-US" altLang="en-US" sz="2400" dirty="0">
                <a:latin typeface="Arial" panose="020B0604020202020204" pitchFamily="34" charset="0"/>
                <a:cs typeface="Arial" panose="020B0604020202020204" pitchFamily="34" charset="0"/>
              </a:rPr>
              <a:t>$3,000 at the end of year seven is equivalent to how much today (time zero) if the inflation rate is 6% per year?</a:t>
            </a:r>
            <a:endParaRPr lang="en-US" sz="2400" dirty="0"/>
          </a:p>
        </p:txBody>
      </p:sp>
      <p:graphicFrame>
        <p:nvGraphicFramePr>
          <p:cNvPr id="3" name="Object 2"/>
          <p:cNvGraphicFramePr>
            <a:graphicFrameLocks noChangeAspect="1"/>
          </p:cNvGraphicFramePr>
          <p:nvPr>
            <p:extLst>
              <p:ext uri="{D42A27DB-BD31-4B8C-83A1-F6EECF244321}">
                <p14:modId xmlns:p14="http://schemas.microsoft.com/office/powerpoint/2010/main" val="758214460"/>
              </p:ext>
            </p:extLst>
          </p:nvPr>
        </p:nvGraphicFramePr>
        <p:xfrm>
          <a:off x="1600200" y="3874243"/>
          <a:ext cx="6362700" cy="431800"/>
        </p:xfrm>
        <a:graphic>
          <a:graphicData uri="http://schemas.openxmlformats.org/presentationml/2006/ole">
            <mc:AlternateContent xmlns:mc="http://schemas.openxmlformats.org/markup-compatibility/2006">
              <mc:Choice xmlns:v="urn:schemas-microsoft-com:vml" Requires="v">
                <p:oleObj name="Equation" r:id="rId4" imgW="6362640" imgH="431640" progId="Equation.DSMT4">
                  <p:embed/>
                </p:oleObj>
              </mc:Choice>
              <mc:Fallback>
                <p:oleObj name="Equation" r:id="rId4" imgW="6362640" imgH="43164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3874243"/>
                        <a:ext cx="6362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3349628828"/>
              </p:ext>
            </p:extLst>
          </p:nvPr>
        </p:nvGraphicFramePr>
        <p:xfrm>
          <a:off x="1543050" y="5274889"/>
          <a:ext cx="6286500" cy="431800"/>
        </p:xfrm>
        <a:graphic>
          <a:graphicData uri="http://schemas.openxmlformats.org/presentationml/2006/ole">
            <mc:AlternateContent xmlns:mc="http://schemas.openxmlformats.org/markup-compatibility/2006">
              <mc:Choice xmlns:v="urn:schemas-microsoft-com:vml" Requires="v">
                <p:oleObj name="Equation" r:id="rId6" imgW="6286320" imgH="431640" progId="Equation.DSMT4">
                  <p:embed/>
                </p:oleObj>
              </mc:Choice>
              <mc:Fallback>
                <p:oleObj name="Equation" r:id="rId6" imgW="6286320" imgH="431640" progId="Equation.DSMT4">
                  <p:embed/>
                  <p:pic>
                    <p:nvPicPr>
                      <p:cNvPr id="4"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3050" y="5274889"/>
                        <a:ext cx="62865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5">
            <a:extLst>
              <a:ext uri="{FF2B5EF4-FFF2-40B4-BE49-F238E27FC236}">
                <a16:creationId xmlns:a16="http://schemas.microsoft.com/office/drawing/2014/main" id="{BFDD2CE8-5B9D-DC09-B91B-41182D4CE9C1}"/>
              </a:ext>
            </a:extLst>
          </p:cNvPr>
          <p:cNvSpPr txBox="1">
            <a:spLocks/>
          </p:cNvSpPr>
          <p:nvPr/>
        </p:nvSpPr>
        <p:spPr>
          <a:xfrm>
            <a:off x="355335" y="5942211"/>
            <a:ext cx="8305800" cy="693035"/>
          </a:xfrm>
        </p:spPr>
        <p:txBody>
          <a:bodyPr vert="horz" lIns="0" tIns="0" rIns="0" bIns="0" rtlCol="0">
            <a:noAutofit/>
          </a:bodyPr>
          <a:lstStyle>
            <a:lvl1pPr marL="274320" indent="-274320" algn="l" rtl="0" eaLnBrk="1" latinLnBrk="0" hangingPunct="1">
              <a:spcBef>
                <a:spcPct val="20000"/>
              </a:spcBef>
              <a:buClr>
                <a:srgbClr val="007FA3"/>
              </a:buClr>
              <a:buSzPct val="100000"/>
              <a:buFont typeface="Wingdings 2"/>
              <a:buChar char=""/>
              <a:defRPr kumimoji="0" sz="2600" kern="1200">
                <a:solidFill>
                  <a:srgbClr val="002060"/>
                </a:solidFill>
                <a:latin typeface="Verdana" panose="020B0604030504040204" pitchFamily="34" charset="0"/>
                <a:ea typeface="Verdana" panose="020B0604030504040204" pitchFamily="34" charset="0"/>
                <a:cs typeface="Verdana" panose="020B0604030504040204" pitchFamily="34" charset="0"/>
              </a:defRPr>
            </a:lvl1pPr>
            <a:lvl2pPr marL="640080" indent="-246888" algn="l" rtl="0" eaLnBrk="1" latinLnBrk="0" hangingPunct="1">
              <a:spcBef>
                <a:spcPct val="20000"/>
              </a:spcBef>
              <a:buClr>
                <a:srgbClr val="007FA3"/>
              </a:buClr>
              <a:buSzPct val="85000"/>
              <a:buFont typeface="Wingdings 2"/>
              <a:buChar char=""/>
              <a:defRPr kumimoji="0" sz="2400" kern="1200">
                <a:solidFill>
                  <a:srgbClr val="002060"/>
                </a:solidFill>
                <a:latin typeface="Verdana" panose="020B0604030504040204" pitchFamily="34" charset="0"/>
                <a:ea typeface="Verdana" panose="020B0604030504040204" pitchFamily="34" charset="0"/>
                <a:cs typeface="Verdana" panose="020B0604030504040204" pitchFamily="34" charset="0"/>
              </a:defRPr>
            </a:lvl2pPr>
            <a:lvl3pPr marL="914400" indent="-246888" algn="l" rtl="0" eaLnBrk="1" latinLnBrk="0" hangingPunct="1">
              <a:spcBef>
                <a:spcPct val="20000"/>
              </a:spcBef>
              <a:buClr>
                <a:srgbClr val="007FA3"/>
              </a:buClr>
              <a:buSzPct val="70000"/>
              <a:buFont typeface="Wingdings 2"/>
              <a:buChar char=""/>
              <a:defRPr kumimoji="0" sz="2100" kern="1200">
                <a:solidFill>
                  <a:srgbClr val="002060"/>
                </a:solidFill>
                <a:latin typeface="Verdana" panose="020B0604030504040204" pitchFamily="34" charset="0"/>
                <a:ea typeface="Verdana" panose="020B0604030504040204" pitchFamily="34" charset="0"/>
                <a:cs typeface="Verdana" panose="020B0604030504040204" pitchFamily="34" charset="0"/>
              </a:defRPr>
            </a:lvl3pPr>
            <a:lvl4pPr marL="1188720" indent="-210312" algn="l" rtl="0" eaLnBrk="1" latinLnBrk="0" hangingPunct="1">
              <a:spcBef>
                <a:spcPct val="20000"/>
              </a:spcBef>
              <a:buClr>
                <a:srgbClr val="007FA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4pPr>
            <a:lvl5pPr marL="1463040" indent="-210312" algn="l" rtl="0" eaLnBrk="1" latinLnBrk="0" hangingPunct="1">
              <a:spcBef>
                <a:spcPct val="20000"/>
              </a:spcBef>
              <a:buClr>
                <a:srgbClr val="007FA3"/>
              </a:buClr>
              <a:buSzPct val="65000"/>
              <a:buFont typeface="Wingdings 2"/>
              <a:buChar char=""/>
              <a:defRPr kumimoji="0" sz="2000" kern="1200">
                <a:solidFill>
                  <a:srgbClr val="002060"/>
                </a:solidFill>
                <a:latin typeface="Verdana" panose="020B0604030504040204" pitchFamily="34" charset="0"/>
                <a:ea typeface="Verdana" panose="020B0604030504040204" pitchFamily="34" charset="0"/>
                <a:cs typeface="Verdana" panose="020B0604030504040204" pitchFamily="34" charset="0"/>
              </a:defRPr>
            </a:lvl5pPr>
            <a:lvl6pPr marL="1737360" indent="-210312" algn="l" rtl="0" eaLnBrk="1" latinLnBrk="0" hangingPunct="1">
              <a:spcBef>
                <a:spcPct val="20000"/>
              </a:spcBef>
              <a:buClr>
                <a:srgbClr val="007FA3"/>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rgbClr val="007FA3"/>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rgbClr val="007FA3"/>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rgbClr val="007FA3"/>
              </a:buClr>
              <a:buFontTx/>
              <a:buChar char="•"/>
              <a:defRPr kumimoji="0" sz="1400" kern="1200" baseline="0">
                <a:solidFill>
                  <a:schemeClr val="tx1"/>
                </a:solidFill>
                <a:latin typeface="+mn-lt"/>
                <a:ea typeface="+mn-ea"/>
                <a:cs typeface="+mn-cs"/>
              </a:defRPr>
            </a:lvl9pPr>
          </a:lstStyle>
          <a:p>
            <a:pPr>
              <a:buFont typeface="Wingdings" panose="05000000000000000000" pitchFamily="2" charset="2"/>
              <a:buChar char="Ø"/>
            </a:pPr>
            <a:r>
              <a:rPr lang="en-US" altLang="en-US" sz="2000" dirty="0">
                <a:latin typeface="Arial" panose="020B0604020202020204" pitchFamily="34" charset="0"/>
                <a:cs typeface="Arial" panose="020B0604020202020204" pitchFamily="34" charset="0"/>
              </a:rPr>
              <a:t>Note that inflation rate, interest rate, and MARR are all treated similarly. We will add inflation and interest rate if both are known. </a:t>
            </a:r>
            <a:endParaRPr lang="en-US" sz="2000" dirty="0"/>
          </a:p>
        </p:txBody>
      </p:sp>
    </p:spTree>
    <p:extLst>
      <p:ext uri="{BB962C8B-B14F-4D97-AF65-F5344CB8AC3E}">
        <p14:creationId xmlns:p14="http://schemas.microsoft.com/office/powerpoint/2010/main" val="3222526047"/>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57200" y="1120849"/>
            <a:ext cx="8212138" cy="1085801"/>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There are Interest Factors for a Series of End-of-Period Cash Flows</a:t>
            </a:r>
            <a:endParaRPr lang="en-US" b="1" dirty="0">
              <a:solidFill>
                <a:schemeClr val="accent2"/>
              </a:solidFill>
              <a:latin typeface="Arial" panose="020B0604020202020204" pitchFamily="34" charset="0"/>
              <a:cs typeface="Arial" panose="020B0604020202020204" pitchFamily="34" charset="0"/>
            </a:endParaRPr>
          </a:p>
        </p:txBody>
      </p:sp>
      <p:graphicFrame>
        <p:nvGraphicFramePr>
          <p:cNvPr id="3" name="Object 2" descr="Capital F equals capital A open bracket open parens 1 plus i close parens to the capital N power minus 1 divided by i close bracket equals capital A open parens capital F by capital A, I percent, capital N"/>
          <p:cNvGraphicFramePr>
            <a:graphicFrameLocks noChangeAspect="1"/>
          </p:cNvGraphicFramePr>
          <p:nvPr>
            <p:extLst>
              <p:ext uri="{D42A27DB-BD31-4B8C-83A1-F6EECF244321}">
                <p14:modId xmlns:p14="http://schemas.microsoft.com/office/powerpoint/2010/main" val="1884460591"/>
              </p:ext>
            </p:extLst>
          </p:nvPr>
        </p:nvGraphicFramePr>
        <p:xfrm>
          <a:off x="1860550" y="2514600"/>
          <a:ext cx="5422900" cy="1193800"/>
        </p:xfrm>
        <a:graphic>
          <a:graphicData uri="http://schemas.openxmlformats.org/presentationml/2006/ole">
            <mc:AlternateContent xmlns:mc="http://schemas.openxmlformats.org/markup-compatibility/2006">
              <mc:Choice xmlns:v="urn:schemas-microsoft-com:vml" Requires="v">
                <p:oleObj name="Equation" r:id="rId3" imgW="5422680" imgH="1193760" progId="Equation.DSMT4">
                  <p:embed/>
                </p:oleObj>
              </mc:Choice>
              <mc:Fallback>
                <p:oleObj name="Equation" r:id="rId3" imgW="5422680" imgH="1193760" progId="Equation.DSMT4">
                  <p:embed/>
                  <p:pic>
                    <p:nvPicPr>
                      <p:cNvPr id="3" name="Object 2" descr="Capital F equals capital A open bracket open parens 1 plus i close parens to the capital N power minus 1 divided by i close bracket equals capital A open parens capital F by capital A, I percent, capital 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0550" y="2514600"/>
                        <a:ext cx="542290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p:cNvSpPr>
            <a:spLocks noGrp="1"/>
          </p:cNvSpPr>
          <p:nvPr>
            <p:ph idx="1"/>
          </p:nvPr>
        </p:nvSpPr>
        <p:spPr>
          <a:xfrm>
            <a:off x="457200" y="3865948"/>
            <a:ext cx="8212138" cy="769551"/>
          </a:xfrm>
        </p:spPr>
        <p:txBody>
          <a:bodyPr vert="horz" lIns="0" tIns="0" rIns="0" bIns="0" rtlCol="0">
            <a:noAutofit/>
          </a:bodyPr>
          <a:lstStyle/>
          <a:p>
            <a:pPr marL="0" indent="0">
              <a:buNone/>
            </a:pPr>
            <a:r>
              <a:rPr lang="en-US" altLang="en-US" dirty="0">
                <a:latin typeface="Arial" panose="020B0604020202020204" pitchFamily="34" charset="0"/>
                <a:cs typeface="Arial" panose="020B0604020202020204" pitchFamily="34" charset="0"/>
              </a:rPr>
              <a:t>How much will you have in 40 years if you save $3,000 each year and your account earns 8% interest each year?</a:t>
            </a:r>
          </a:p>
          <a:p>
            <a:pPr marL="0" indent="0">
              <a:buNone/>
            </a:pPr>
            <a:endParaRPr lang="en-US" dirty="0"/>
          </a:p>
        </p:txBody>
      </p:sp>
      <p:graphicFrame>
        <p:nvGraphicFramePr>
          <p:cNvPr id="7" name="Object 6" descr="Capital F equals $3,000 open parens capital F by capital A, 8 percent, 40 close parens equals $3,000 open parens 259.0565 close parens equals  $777,170"/>
          <p:cNvGraphicFramePr>
            <a:graphicFrameLocks noChangeAspect="1"/>
          </p:cNvGraphicFramePr>
          <p:nvPr>
            <p:extLst>
              <p:ext uri="{D42A27DB-BD31-4B8C-83A1-F6EECF244321}">
                <p14:modId xmlns:p14="http://schemas.microsoft.com/office/powerpoint/2010/main" val="1091558747"/>
              </p:ext>
            </p:extLst>
          </p:nvPr>
        </p:nvGraphicFramePr>
        <p:xfrm>
          <a:off x="796131" y="5297414"/>
          <a:ext cx="7551738" cy="439737"/>
        </p:xfrm>
        <a:graphic>
          <a:graphicData uri="http://schemas.openxmlformats.org/presentationml/2006/ole">
            <mc:AlternateContent xmlns:mc="http://schemas.openxmlformats.org/markup-compatibility/2006">
              <mc:Choice xmlns:v="urn:schemas-microsoft-com:vml" Requires="v">
                <p:oleObj name="Equation" r:id="rId5" imgW="8305560" imgH="482400" progId="Equation.DSMT4">
                  <p:embed/>
                </p:oleObj>
              </mc:Choice>
              <mc:Fallback>
                <p:oleObj name="Equation" r:id="rId5" imgW="8305560" imgH="482400" progId="Equation.DSMT4">
                  <p:embed/>
                  <p:pic>
                    <p:nvPicPr>
                      <p:cNvPr id="7" name="Object 6" descr="Capital F equals $3,000 open parens capital F by capital A, 8 percent, 40 close parens equals $3,000 open parens 259.0565 close parens equals  $777,1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6131" y="5297414"/>
                        <a:ext cx="755173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82750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57200" y="770469"/>
            <a:ext cx="5427133" cy="512248"/>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Finding A When Given F</a:t>
            </a:r>
            <a:endParaRPr lang="en-US" b="1" dirty="0">
              <a:solidFill>
                <a:schemeClr val="accent2"/>
              </a:solidFill>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457200" y="3320065"/>
            <a:ext cx="8212138" cy="1239370"/>
          </a:xfrm>
        </p:spPr>
        <p:txBody>
          <a:bodyPr vert="horz" lIns="0" tIns="0" rIns="0" bIns="0" rtlCol="0">
            <a:noAutofit/>
          </a:bodyPr>
          <a:lstStyle/>
          <a:p>
            <a:pPr marL="0" indent="0">
              <a:buNone/>
            </a:pPr>
            <a:r>
              <a:rPr lang="en-US" altLang="en-US" dirty="0">
                <a:latin typeface="Arial" panose="020B0604020202020204" pitchFamily="34" charset="0"/>
                <a:cs typeface="Arial" panose="020B0604020202020204" pitchFamily="34" charset="0"/>
              </a:rPr>
              <a:t>How much would you need to set aside each year for 25 years, at 10% interest, to have accumulated $1,000,000 at the end of the 25 years?</a:t>
            </a:r>
          </a:p>
          <a:p>
            <a:pPr marL="0" indent="0">
              <a:buNone/>
            </a:pPr>
            <a:endParaRPr lang="en-US" dirty="0"/>
          </a:p>
        </p:txBody>
      </p:sp>
      <p:graphicFrame>
        <p:nvGraphicFramePr>
          <p:cNvPr id="3" name="Object 2" descr="Capital A equals capital F open bracket the fraction i by 1 plus i power capital N minus 1 close bracket equals capital F open parens capital A by capital F, i percent, capital N close parens"/>
          <p:cNvGraphicFramePr>
            <a:graphicFrameLocks noChangeAspect="1"/>
          </p:cNvGraphicFramePr>
          <p:nvPr/>
        </p:nvGraphicFramePr>
        <p:xfrm>
          <a:off x="2468563" y="1918238"/>
          <a:ext cx="4648200" cy="1016000"/>
        </p:xfrm>
        <a:graphic>
          <a:graphicData uri="http://schemas.openxmlformats.org/presentationml/2006/ole">
            <mc:AlternateContent xmlns:mc="http://schemas.openxmlformats.org/markup-compatibility/2006">
              <mc:Choice xmlns:v="urn:schemas-microsoft-com:vml" Requires="v">
                <p:oleObj name="Equation" r:id="rId4" imgW="4647960" imgH="1015920" progId="Equation.DSMT4">
                  <p:embed/>
                </p:oleObj>
              </mc:Choice>
              <mc:Fallback>
                <p:oleObj name="Equation" r:id="rId4" imgW="4647960" imgH="1015920" progId="Equation.DSMT4">
                  <p:embed/>
                  <p:pic>
                    <p:nvPicPr>
                      <p:cNvPr id="3" name="Object 2" descr="Capital A equals capital F open bracket the fraction i by 1 plus i power capital N minus 1 close bracket equals capital F open parens capital A by capital F, i percent, capital N close pare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8563" y="1918238"/>
                        <a:ext cx="4648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descr="capital A equals $1,000,000 open parens capital A by capital F, 10 percent, 25 close parens equals $1,000,000 open parens 0.0102 close parens equals $10,200"/>
          <p:cNvGraphicFramePr>
            <a:graphicFrameLocks noChangeAspect="1"/>
          </p:cNvGraphicFramePr>
          <p:nvPr/>
        </p:nvGraphicFramePr>
        <p:xfrm>
          <a:off x="699024" y="4851391"/>
          <a:ext cx="7899400" cy="431800"/>
        </p:xfrm>
        <a:graphic>
          <a:graphicData uri="http://schemas.openxmlformats.org/presentationml/2006/ole">
            <mc:AlternateContent xmlns:mc="http://schemas.openxmlformats.org/markup-compatibility/2006">
              <mc:Choice xmlns:v="urn:schemas-microsoft-com:vml" Requires="v">
                <p:oleObj name="Equation" r:id="rId6" imgW="7899120" imgH="431640" progId="Equation.DSMT4">
                  <p:embed/>
                </p:oleObj>
              </mc:Choice>
              <mc:Fallback>
                <p:oleObj name="Equation" r:id="rId6" imgW="7899120" imgH="431640" progId="Equation.DSMT4">
                  <p:embed/>
                  <p:pic>
                    <p:nvPicPr>
                      <p:cNvPr id="7" name="Object 6" descr="capital A equals $1,000,000 open parens capital A by capital F, 10 percent, 25 close parens equals $1,000,000 open parens 0.0102 close parens equals $10,20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9024" y="4851391"/>
                        <a:ext cx="7899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28670592"/>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57200" y="1127199"/>
            <a:ext cx="8212138" cy="1085801"/>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Finding the Present Amount From a </a:t>
            </a:r>
            <a:r>
              <a:rPr lang="en-US" altLang="en-US" b="1" u="sng" dirty="0">
                <a:solidFill>
                  <a:schemeClr val="accent2"/>
                </a:solidFill>
                <a:latin typeface="Arial" panose="020B0604020202020204" pitchFamily="34" charset="0"/>
                <a:cs typeface="Arial" panose="020B0604020202020204" pitchFamily="34" charset="0"/>
              </a:rPr>
              <a:t>Uniform</a:t>
            </a:r>
            <a:r>
              <a:rPr lang="en-US" altLang="en-US" b="1" dirty="0">
                <a:solidFill>
                  <a:schemeClr val="accent2"/>
                </a:solidFill>
                <a:latin typeface="Arial" panose="020B0604020202020204" pitchFamily="34" charset="0"/>
                <a:cs typeface="Arial" panose="020B0604020202020204" pitchFamily="34" charset="0"/>
              </a:rPr>
              <a:t> Series of End-of-Period Cash Flows</a:t>
            </a:r>
            <a:endParaRPr lang="en-US" b="1" dirty="0">
              <a:solidFill>
                <a:schemeClr val="accent2"/>
              </a:solidFill>
              <a:latin typeface="Arial" panose="020B0604020202020204" pitchFamily="34" charset="0"/>
              <a:cs typeface="Arial" panose="020B0604020202020204" pitchFamily="34" charset="0"/>
            </a:endParaRPr>
          </a:p>
        </p:txBody>
      </p:sp>
      <p:graphicFrame>
        <p:nvGraphicFramePr>
          <p:cNvPr id="4" name="Object 3" descr="Capital P equals capital A open bracket open parens 1 plus i close parens power capital N minus 1 divided by i open parens 1 plus i close parens power capital N close bracket equals capital A open parens capital P by capital A, i percent, capital N close parens"/>
          <p:cNvGraphicFramePr>
            <a:graphicFrameLocks noChangeAspect="1"/>
          </p:cNvGraphicFramePr>
          <p:nvPr>
            <p:extLst>
              <p:ext uri="{D42A27DB-BD31-4B8C-83A1-F6EECF244321}">
                <p14:modId xmlns:p14="http://schemas.microsoft.com/office/powerpoint/2010/main" val="112084423"/>
              </p:ext>
            </p:extLst>
          </p:nvPr>
        </p:nvGraphicFramePr>
        <p:xfrm>
          <a:off x="2533650" y="2921000"/>
          <a:ext cx="4559300" cy="1016000"/>
        </p:xfrm>
        <a:graphic>
          <a:graphicData uri="http://schemas.openxmlformats.org/presentationml/2006/ole">
            <mc:AlternateContent xmlns:mc="http://schemas.openxmlformats.org/markup-compatibility/2006">
              <mc:Choice xmlns:v="urn:schemas-microsoft-com:vml" Requires="v">
                <p:oleObj name="Equation" r:id="rId3" imgW="4559040" imgH="1015920" progId="Equation.DSMT4">
                  <p:embed/>
                </p:oleObj>
              </mc:Choice>
              <mc:Fallback>
                <p:oleObj name="Equation" r:id="rId3" imgW="4559040" imgH="1015920" progId="Equation.DSMT4">
                  <p:embed/>
                  <p:pic>
                    <p:nvPicPr>
                      <p:cNvPr id="4" name="Object 3" descr="Capital P equals capital A open bracket open parens 1 plus i close parens power capital N minus 1 divided by i open parens 1 plus i close parens power capital N close bracket equals capital A open parens capital P by capital A, i percent, capital N close pare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3650" y="2921000"/>
                        <a:ext cx="45593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p:cNvSpPr>
            <a:spLocks noGrp="1"/>
          </p:cNvSpPr>
          <p:nvPr>
            <p:ph idx="1"/>
          </p:nvPr>
        </p:nvSpPr>
        <p:spPr>
          <a:xfrm>
            <a:off x="457200" y="4267200"/>
            <a:ext cx="8212138" cy="1126700"/>
          </a:xfrm>
        </p:spPr>
        <p:txBody>
          <a:bodyPr vert="horz" lIns="0" tIns="0" rIns="0" bIns="0" rtlCol="0">
            <a:noAutofit/>
          </a:bodyPr>
          <a:lstStyle/>
          <a:p>
            <a:pPr marL="0" indent="0">
              <a:buNone/>
            </a:pPr>
            <a:r>
              <a:rPr lang="en-US" altLang="en-US" dirty="0">
                <a:latin typeface="Arial" panose="020B0604020202020204" pitchFamily="34" charset="0"/>
                <a:cs typeface="Arial" panose="020B0604020202020204" pitchFamily="34" charset="0"/>
              </a:rPr>
              <a:t>How much would is needed today to provide an annual amount of $50,000 each year for 20 years, at 9% interest each year?</a:t>
            </a:r>
            <a:endParaRPr lang="en-US" dirty="0"/>
          </a:p>
        </p:txBody>
      </p:sp>
      <p:graphicFrame>
        <p:nvGraphicFramePr>
          <p:cNvPr id="5" name="Object 4" descr="Capital P equals $50,000 open parens capital P by capital A, 9 percent, capital N equals close parens equals $50,000 open parens 9.1285 close parens equals  $456,427"/>
          <p:cNvGraphicFramePr>
            <a:graphicFrameLocks noChangeAspect="1"/>
          </p:cNvGraphicFramePr>
          <p:nvPr>
            <p:extLst>
              <p:ext uri="{D42A27DB-BD31-4B8C-83A1-F6EECF244321}">
                <p14:modId xmlns:p14="http://schemas.microsoft.com/office/powerpoint/2010/main" val="1623995992"/>
              </p:ext>
            </p:extLst>
          </p:nvPr>
        </p:nvGraphicFramePr>
        <p:xfrm>
          <a:off x="1276350" y="5638800"/>
          <a:ext cx="7073900" cy="431800"/>
        </p:xfrm>
        <a:graphic>
          <a:graphicData uri="http://schemas.openxmlformats.org/presentationml/2006/ole">
            <mc:AlternateContent xmlns:mc="http://schemas.openxmlformats.org/markup-compatibility/2006">
              <mc:Choice xmlns:v="urn:schemas-microsoft-com:vml" Requires="v">
                <p:oleObj name="Equation" r:id="rId5" imgW="7073640" imgH="431640" progId="Equation.DSMT4">
                  <p:embed/>
                </p:oleObj>
              </mc:Choice>
              <mc:Fallback>
                <p:oleObj name="Equation" r:id="rId5" imgW="7073640" imgH="431640" progId="Equation.DSMT4">
                  <p:embed/>
                  <p:pic>
                    <p:nvPicPr>
                      <p:cNvPr id="5" name="Object 4" descr="Capital P equals $50,000 open parens capital P by capital A, 9 percent, capital N equals close parens equals $50,000 open parens 9.1285 close parens equals  $456,4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6350" y="5638800"/>
                        <a:ext cx="70739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58332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57200" y="770469"/>
            <a:ext cx="5427133" cy="512248"/>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Finding A when given P</a:t>
            </a:r>
            <a:endParaRPr lang="en-US" b="1" dirty="0">
              <a:solidFill>
                <a:schemeClr val="accent2"/>
              </a:solidFill>
              <a:latin typeface="Arial" panose="020B0604020202020204" pitchFamily="34" charset="0"/>
              <a:cs typeface="Arial" panose="020B0604020202020204" pitchFamily="34" charset="0"/>
            </a:endParaRPr>
          </a:p>
        </p:txBody>
      </p:sp>
      <p:graphicFrame>
        <p:nvGraphicFramePr>
          <p:cNvPr id="4" name="Object 3" descr="Capital A equals capital P open bracket open parens 1 plus i close parens power capital N divided by i open parens 1 plus i close parens power capital N minus 1 close bracket equals capital P open parens capital A by capital P, i percent, capital N close parens"/>
          <p:cNvGraphicFramePr>
            <a:graphicFrameLocks noChangeAspect="1"/>
          </p:cNvGraphicFramePr>
          <p:nvPr/>
        </p:nvGraphicFramePr>
        <p:xfrm>
          <a:off x="1938868" y="1985442"/>
          <a:ext cx="5029200" cy="1117600"/>
        </p:xfrm>
        <a:graphic>
          <a:graphicData uri="http://schemas.openxmlformats.org/presentationml/2006/ole">
            <mc:AlternateContent xmlns:mc="http://schemas.openxmlformats.org/markup-compatibility/2006">
              <mc:Choice xmlns:v="urn:schemas-microsoft-com:vml" Requires="v">
                <p:oleObj name="Equation" r:id="rId3" imgW="4572000" imgH="1015920" progId="Equation.DSMT4">
                  <p:embed/>
                </p:oleObj>
              </mc:Choice>
              <mc:Fallback>
                <p:oleObj name="Equation" r:id="rId3" imgW="4572000" imgH="1015920" progId="Equation.DSMT4">
                  <p:embed/>
                  <p:pic>
                    <p:nvPicPr>
                      <p:cNvPr id="4" name="Object 3" descr="Capital A equals capital P open bracket open parens 1 plus i close parens power capital N divided by i open parens 1 plus i close parens power capital N minus 1 close bracket equals capital P open parens capital A by capital P, i percent, capital N close pare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8868" y="1985442"/>
                        <a:ext cx="5029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p:cNvSpPr>
            <a:spLocks noGrp="1"/>
          </p:cNvSpPr>
          <p:nvPr>
            <p:ph idx="1"/>
          </p:nvPr>
        </p:nvSpPr>
        <p:spPr>
          <a:xfrm>
            <a:off x="457200" y="3427970"/>
            <a:ext cx="8212138" cy="769551"/>
          </a:xfrm>
        </p:spPr>
        <p:txBody>
          <a:bodyPr vert="horz" lIns="0" tIns="0" rIns="0" bIns="0" rtlCol="0">
            <a:noAutofit/>
          </a:bodyPr>
          <a:lstStyle/>
          <a:p>
            <a:pPr marL="0" indent="0">
              <a:buNone/>
            </a:pPr>
            <a:r>
              <a:rPr lang="en-US" altLang="en-US" dirty="0">
                <a:latin typeface="Arial" panose="020B0604020202020204" pitchFamily="34" charset="0"/>
                <a:cs typeface="Arial" panose="020B0604020202020204" pitchFamily="34" charset="0"/>
              </a:rPr>
              <a:t>If you had $500,000 today in an investment account earning 10% each year, how much could you collect as interest each year for 25 years?</a:t>
            </a:r>
          </a:p>
        </p:txBody>
      </p:sp>
      <p:graphicFrame>
        <p:nvGraphicFramePr>
          <p:cNvPr id="5" name="Object 4" descr="Capital A equals $500,000 open parens capital A by capital P, 10 percent, 25 close parens equals $500,000 open parens 0.1102 close parens equals  $55,100"/>
          <p:cNvGraphicFramePr>
            <a:graphicFrameLocks noChangeAspect="1"/>
          </p:cNvGraphicFramePr>
          <p:nvPr>
            <p:extLst>
              <p:ext uri="{D42A27DB-BD31-4B8C-83A1-F6EECF244321}">
                <p14:modId xmlns:p14="http://schemas.microsoft.com/office/powerpoint/2010/main" val="2920749450"/>
              </p:ext>
            </p:extLst>
          </p:nvPr>
        </p:nvGraphicFramePr>
        <p:xfrm>
          <a:off x="873919" y="4816495"/>
          <a:ext cx="7378700" cy="431800"/>
        </p:xfrm>
        <a:graphic>
          <a:graphicData uri="http://schemas.openxmlformats.org/presentationml/2006/ole">
            <mc:AlternateContent xmlns:mc="http://schemas.openxmlformats.org/markup-compatibility/2006">
              <mc:Choice xmlns:v="urn:schemas-microsoft-com:vml" Requires="v">
                <p:oleObj name="Equation" r:id="rId5" imgW="7378560" imgH="431640" progId="Equation.DSMT4">
                  <p:embed/>
                </p:oleObj>
              </mc:Choice>
              <mc:Fallback>
                <p:oleObj name="Equation" r:id="rId5" imgW="7378560" imgH="431640" progId="Equation.DSMT4">
                  <p:embed/>
                  <p:pic>
                    <p:nvPicPr>
                      <p:cNvPr id="5" name="Object 4" descr="Capital A equals $500,000 open parens capital A by capital P, 10 percent, 25 close parens equals $500,000 open parens 0.1102 close parens equals  $55,1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3919" y="4816495"/>
                        <a:ext cx="7378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38208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57200" y="1127199"/>
            <a:ext cx="8212138" cy="1085801"/>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Finding the Present Amount From a </a:t>
            </a:r>
            <a:r>
              <a:rPr lang="en-US" altLang="en-US" b="1" u="sng" dirty="0">
                <a:solidFill>
                  <a:schemeClr val="accent2"/>
                </a:solidFill>
                <a:latin typeface="Arial" panose="020B0604020202020204" pitchFamily="34" charset="0"/>
                <a:cs typeface="Arial" panose="020B0604020202020204" pitchFamily="34" charset="0"/>
              </a:rPr>
              <a:t>Non-uniform</a:t>
            </a:r>
            <a:r>
              <a:rPr lang="en-US" altLang="en-US" b="1" dirty="0">
                <a:solidFill>
                  <a:schemeClr val="accent2"/>
                </a:solidFill>
                <a:latin typeface="Arial" panose="020B0604020202020204" pitchFamily="34" charset="0"/>
                <a:cs typeface="Arial" panose="020B0604020202020204" pitchFamily="34" charset="0"/>
              </a:rPr>
              <a:t> Series of End-of-Period Cash Flows</a:t>
            </a:r>
            <a:endParaRPr lang="en-US" b="1" dirty="0">
              <a:solidFill>
                <a:schemeClr val="accent2"/>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Object 3" descr="Capital P equals capital A open bracket open parens 1 plus i close parens power capital N minus 1 divided by i open parens 1 plus i close parens power capital N close bracket equals capital A open parens capital P by capital A, i percent, capital N close parens"/>
              <p:cNvSpPr txBox="1"/>
              <p:nvPr/>
            </p:nvSpPr>
            <p:spPr bwMode="auto">
              <a:xfrm>
                <a:off x="3048000" y="3200400"/>
                <a:ext cx="3886200" cy="12954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en-CA" sz="2400" i="1" smtClean="0">
                          <a:solidFill>
                            <a:srgbClr val="000000"/>
                          </a:solidFill>
                          <a:latin typeface="Cambria Math" panose="02040503050406030204" pitchFamily="18" charset="0"/>
                        </a:rPr>
                        <m:t>𝑃</m:t>
                      </m:r>
                      <m:r>
                        <a:rPr lang="en-CA" sz="2400" i="1" smtClean="0">
                          <a:solidFill>
                            <a:srgbClr val="000000"/>
                          </a:solidFill>
                          <a:latin typeface="Cambria Math" panose="02040503050406030204" pitchFamily="18" charset="0"/>
                        </a:rPr>
                        <m:t> =  </m:t>
                      </m:r>
                      <m:nary>
                        <m:naryPr>
                          <m:chr m:val="∑"/>
                          <m:ctrlPr>
                            <a:rPr lang="en-CA" sz="2400" i="1">
                              <a:solidFill>
                                <a:srgbClr val="000000"/>
                              </a:solidFill>
                              <a:latin typeface="Cambria Math" panose="02040503050406030204" pitchFamily="18" charset="0"/>
                            </a:rPr>
                          </m:ctrlPr>
                        </m:naryPr>
                        <m:sub>
                          <m:r>
                            <m:rPr>
                              <m:brk m:alnAt="23"/>
                            </m:rPr>
                            <a:rPr lang="en-CA" sz="2400" i="1">
                              <a:solidFill>
                                <a:srgbClr val="000000"/>
                              </a:solidFill>
                              <a:latin typeface="Cambria Math" panose="02040503050406030204" pitchFamily="18" charset="0"/>
                            </a:rPr>
                            <m:t>𝑛</m:t>
                          </m:r>
                          <m:r>
                            <a:rPr lang="en-CA" sz="2400" i="1">
                              <a:solidFill>
                                <a:srgbClr val="000000"/>
                              </a:solidFill>
                              <a:latin typeface="Cambria Math" panose="02040503050406030204" pitchFamily="18" charset="0"/>
                            </a:rPr>
                            <m:t>=1</m:t>
                          </m:r>
                        </m:sub>
                        <m:sup>
                          <m:r>
                            <a:rPr lang="en-CA" sz="2400" i="1">
                              <a:solidFill>
                                <a:srgbClr val="000000"/>
                              </a:solidFill>
                              <a:latin typeface="Cambria Math" panose="02040503050406030204" pitchFamily="18" charset="0"/>
                            </a:rPr>
                            <m:t>𝑁</m:t>
                          </m:r>
                        </m:sup>
                        <m:e>
                          <m:f>
                            <m:fPr>
                              <m:ctrlPr>
                                <a:rPr lang="en-CA" sz="2400" i="1">
                                  <a:solidFill>
                                    <a:srgbClr val="000000"/>
                                  </a:solidFill>
                                  <a:latin typeface="Cambria Math" panose="02040503050406030204" pitchFamily="18" charset="0"/>
                                </a:rPr>
                              </m:ctrlPr>
                            </m:fPr>
                            <m:num>
                              <m:sSub>
                                <m:sSubPr>
                                  <m:ctrlPr>
                                    <a:rPr lang="en-CA" sz="2400" i="1">
                                      <a:solidFill>
                                        <a:srgbClr val="000000"/>
                                      </a:solidFill>
                                      <a:latin typeface="Cambria Math" panose="02040503050406030204" pitchFamily="18" charset="0"/>
                                    </a:rPr>
                                  </m:ctrlPr>
                                </m:sSubPr>
                                <m:e>
                                  <m:r>
                                    <a:rPr lang="en-CA" sz="2400" i="1">
                                      <a:solidFill>
                                        <a:srgbClr val="000000"/>
                                      </a:solidFill>
                                      <a:latin typeface="Cambria Math" panose="02040503050406030204" pitchFamily="18" charset="0"/>
                                    </a:rPr>
                                    <m:t>𝐴</m:t>
                                  </m:r>
                                </m:e>
                                <m:sub>
                                  <m:r>
                                    <a:rPr lang="en-CA" sz="2400" i="1">
                                      <a:solidFill>
                                        <a:srgbClr val="000000"/>
                                      </a:solidFill>
                                      <a:latin typeface="Cambria Math" panose="02040503050406030204" pitchFamily="18" charset="0"/>
                                    </a:rPr>
                                    <m:t>𝑛</m:t>
                                  </m:r>
                                </m:sub>
                              </m:sSub>
                            </m:num>
                            <m:den>
                              <m:sSup>
                                <m:sSupPr>
                                  <m:ctrlPr>
                                    <a:rPr lang="en-CA" sz="2400" i="1">
                                      <a:solidFill>
                                        <a:srgbClr val="000000"/>
                                      </a:solidFill>
                                      <a:latin typeface="Cambria Math" panose="02040503050406030204" pitchFamily="18" charset="0"/>
                                    </a:rPr>
                                  </m:ctrlPr>
                                </m:sSupPr>
                                <m:e>
                                  <m:d>
                                    <m:dPr>
                                      <m:ctrlPr>
                                        <a:rPr lang="en-CA" sz="2400" i="1">
                                          <a:solidFill>
                                            <a:srgbClr val="000000"/>
                                          </a:solidFill>
                                          <a:latin typeface="Cambria Math" panose="02040503050406030204" pitchFamily="18" charset="0"/>
                                        </a:rPr>
                                      </m:ctrlPr>
                                    </m:dPr>
                                    <m:e>
                                      <m:r>
                                        <a:rPr lang="en-CA" sz="2400" i="1">
                                          <a:solidFill>
                                            <a:srgbClr val="000000"/>
                                          </a:solidFill>
                                          <a:latin typeface="Cambria Math" panose="02040503050406030204" pitchFamily="18" charset="0"/>
                                        </a:rPr>
                                        <m:t>1 + </m:t>
                                      </m:r>
                                      <m:r>
                                        <a:rPr lang="en-CA" sz="2400" i="1">
                                          <a:solidFill>
                                            <a:srgbClr val="000000"/>
                                          </a:solidFill>
                                          <a:latin typeface="Cambria Math" panose="02040503050406030204" pitchFamily="18" charset="0"/>
                                        </a:rPr>
                                        <m:t>𝑖</m:t>
                                      </m:r>
                                    </m:e>
                                  </m:d>
                                </m:e>
                                <m:sup>
                                  <m:r>
                                    <a:rPr lang="en-CA" sz="2400" i="1">
                                      <a:solidFill>
                                        <a:srgbClr val="000000"/>
                                      </a:solidFill>
                                      <a:latin typeface="Cambria Math" panose="02040503050406030204" pitchFamily="18" charset="0"/>
                                    </a:rPr>
                                    <m:t>𝑛</m:t>
                                  </m:r>
                                </m:sup>
                              </m:sSup>
                            </m:den>
                          </m:f>
                        </m:e>
                      </m:nary>
                      <m:r>
                        <a:rPr lang="en-CA" sz="2400" i="1">
                          <a:solidFill>
                            <a:srgbClr val="000000"/>
                          </a:solidFill>
                          <a:latin typeface="Cambria Math" panose="02040503050406030204" pitchFamily="18" charset="0"/>
                        </a:rPr>
                        <m:t> </m:t>
                      </m:r>
                      <m:r>
                        <a:rPr lang="en-CA" sz="2400" b="0" i="1" smtClean="0">
                          <a:solidFill>
                            <a:srgbClr val="000000"/>
                          </a:solidFill>
                          <a:latin typeface="Cambria Math" panose="02040503050406030204" pitchFamily="18" charset="0"/>
                        </a:rPr>
                        <m:t> </m:t>
                      </m:r>
                    </m:oMath>
                  </m:oMathPara>
                </a14:m>
                <a:endParaRPr lang="en-CA" sz="2400" dirty="0"/>
              </a:p>
            </p:txBody>
          </p:sp>
        </mc:Choice>
        <mc:Fallback xmlns="">
          <p:sp>
            <p:nvSpPr>
              <p:cNvPr id="4" name="Object 3" descr="Capital P equals capital A open bracket open parens 1 plus i close parens power capital N minus 1 divided by i open parens 1 plus i close parens power capital N close bracket equals capital A open parens capital P by capital A, i percent, capital N close parens"/>
              <p:cNvSpPr txBox="1">
                <a:spLocks noRot="1" noChangeAspect="1" noMove="1" noResize="1" noEditPoints="1" noAdjustHandles="1" noChangeArrowheads="1" noChangeShapeType="1" noTextEdit="1"/>
              </p:cNvSpPr>
              <p:nvPr/>
            </p:nvSpPr>
            <p:spPr bwMode="auto">
              <a:xfrm>
                <a:off x="3048000" y="3200400"/>
                <a:ext cx="3886200" cy="1295400"/>
              </a:xfrm>
              <a:prstGeom prst="rect">
                <a:avLst/>
              </a:prstGeom>
              <a:blipFill>
                <a:blip r:embed="rId3"/>
                <a:stretch>
                  <a:fillRect/>
                </a:stretch>
              </a:blipFill>
              <a:ln>
                <a:no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CA70E3-478F-4B5C-8B05-30017CFAFAF9}"/>
                  </a:ext>
                </a:extLst>
              </p:cNvPr>
              <p:cNvSpPr txBox="1"/>
              <p:nvPr/>
            </p:nvSpPr>
            <p:spPr>
              <a:xfrm>
                <a:off x="990600" y="5068759"/>
                <a:ext cx="7543800" cy="369332"/>
              </a:xfrm>
              <a:prstGeom prst="rect">
                <a:avLst/>
              </a:prstGeom>
              <a:noFill/>
            </p:spPr>
            <p:txBody>
              <a:bodyPr wrap="square">
                <a:spAutoFit/>
              </a:bodyPr>
              <a:lstStyle/>
              <a:p>
                <a:r>
                  <a:rPr lang="en-CA" dirty="0">
                    <a:solidFill>
                      <a:schemeClr val="bg1"/>
                    </a:solidFill>
                  </a:rPr>
                  <a:t>Here </a:t>
                </a:r>
                <a14:m>
                  <m:oMath xmlns:m="http://schemas.openxmlformats.org/officeDocument/2006/math">
                    <m:sSub>
                      <m:sSubPr>
                        <m:ctrlPr>
                          <a:rPr lang="en-CA" sz="1800" i="1" smtClean="0">
                            <a:solidFill>
                              <a:srgbClr val="000000"/>
                            </a:solidFill>
                            <a:latin typeface="Cambria Math" panose="02040503050406030204" pitchFamily="18" charset="0"/>
                          </a:rPr>
                        </m:ctrlPr>
                      </m:sSubPr>
                      <m:e>
                        <m:r>
                          <a:rPr lang="en-CA" sz="1800" i="1">
                            <a:solidFill>
                              <a:srgbClr val="000000"/>
                            </a:solidFill>
                            <a:latin typeface="Cambria Math" panose="02040503050406030204" pitchFamily="18" charset="0"/>
                          </a:rPr>
                          <m:t>𝐴</m:t>
                        </m:r>
                      </m:e>
                      <m:sub>
                        <m:r>
                          <a:rPr lang="en-CA" sz="1800" i="1">
                            <a:solidFill>
                              <a:srgbClr val="000000"/>
                            </a:solidFill>
                            <a:latin typeface="Cambria Math" panose="02040503050406030204" pitchFamily="18" charset="0"/>
                          </a:rPr>
                          <m:t>𝑛</m:t>
                        </m:r>
                      </m:sub>
                    </m:sSub>
                  </m:oMath>
                </a14:m>
                <a:r>
                  <a:rPr lang="en-CA" dirty="0">
                    <a:solidFill>
                      <a:schemeClr val="bg1"/>
                    </a:solidFill>
                  </a:rPr>
                  <a:t>  is the value of the annuity predicted in each year n from 1 to N</a:t>
                </a:r>
              </a:p>
            </p:txBody>
          </p:sp>
        </mc:Choice>
        <mc:Fallback xmlns="">
          <p:sp>
            <p:nvSpPr>
              <p:cNvPr id="9" name="TextBox 8">
                <a:extLst>
                  <a:ext uri="{FF2B5EF4-FFF2-40B4-BE49-F238E27FC236}">
                    <a16:creationId xmlns:a16="http://schemas.microsoft.com/office/drawing/2014/main" id="{F0CA70E3-478F-4B5C-8B05-30017CFAFAF9}"/>
                  </a:ext>
                </a:extLst>
              </p:cNvPr>
              <p:cNvSpPr txBox="1">
                <a:spLocks noRot="1" noChangeAspect="1" noMove="1" noResize="1" noEditPoints="1" noAdjustHandles="1" noChangeArrowheads="1" noChangeShapeType="1" noTextEdit="1"/>
              </p:cNvSpPr>
              <p:nvPr/>
            </p:nvSpPr>
            <p:spPr>
              <a:xfrm>
                <a:off x="990600" y="5068759"/>
                <a:ext cx="7543800" cy="369332"/>
              </a:xfrm>
              <a:prstGeom prst="rect">
                <a:avLst/>
              </a:prstGeom>
              <a:blipFill>
                <a:blip r:embed="rId4"/>
                <a:stretch>
                  <a:fillRect l="-728" t="-8197" b="-24590"/>
                </a:stretch>
              </a:blipFill>
            </p:spPr>
            <p:txBody>
              <a:bodyPr/>
              <a:lstStyle/>
              <a:p>
                <a:r>
                  <a:rPr lang="en-CA">
                    <a:noFill/>
                  </a:rPr>
                  <a:t> </a:t>
                </a:r>
              </a:p>
            </p:txBody>
          </p:sp>
        </mc:Fallback>
      </mc:AlternateContent>
    </p:spTree>
    <p:extLst>
      <p:ext uri="{BB962C8B-B14F-4D97-AF65-F5344CB8AC3E}">
        <p14:creationId xmlns:p14="http://schemas.microsoft.com/office/powerpoint/2010/main" val="2330010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6D71-641E-4305-8831-7139C2070AA6}"/>
              </a:ext>
            </a:extLst>
          </p:cNvPr>
          <p:cNvSpPr>
            <a:spLocks noGrp="1"/>
          </p:cNvSpPr>
          <p:nvPr>
            <p:ph type="title"/>
          </p:nvPr>
        </p:nvSpPr>
        <p:spPr>
          <a:xfrm>
            <a:off x="114300" y="778774"/>
            <a:ext cx="8915400" cy="728452"/>
          </a:xfrm>
        </p:spPr>
        <p:txBody>
          <a:bodyPr/>
          <a:lstStyle/>
          <a:p>
            <a:r>
              <a:rPr lang="en-CA" sz="2000" b="1" dirty="0">
                <a:solidFill>
                  <a:schemeClr val="accent2"/>
                </a:solidFill>
                <a:latin typeface="Arial" panose="020B0604020202020204" pitchFamily="34" charset="0"/>
                <a:cs typeface="Arial" panose="020B0604020202020204" pitchFamily="34" charset="0"/>
              </a:rPr>
              <a:t>Example – Simple Cash Flow vs. Discounted Cash Flow Analysis</a:t>
            </a:r>
          </a:p>
        </p:txBody>
      </p:sp>
      <p:pic>
        <p:nvPicPr>
          <p:cNvPr id="5" name="Content Placeholder 4">
            <a:extLst>
              <a:ext uri="{FF2B5EF4-FFF2-40B4-BE49-F238E27FC236}">
                <a16:creationId xmlns:a16="http://schemas.microsoft.com/office/drawing/2014/main" id="{8812342B-2EBC-4297-B729-5953D548F02F}"/>
              </a:ext>
            </a:extLst>
          </p:cNvPr>
          <p:cNvPicPr>
            <a:picLocks noGrp="1" noChangeAspect="1"/>
          </p:cNvPicPr>
          <p:nvPr>
            <p:ph idx="1"/>
          </p:nvPr>
        </p:nvPicPr>
        <p:blipFill>
          <a:blip r:embed="rId2"/>
          <a:stretch>
            <a:fillRect/>
          </a:stretch>
        </p:blipFill>
        <p:spPr>
          <a:xfrm>
            <a:off x="1000125" y="2845594"/>
            <a:ext cx="7143750" cy="2152650"/>
          </a:xfrm>
        </p:spPr>
      </p:pic>
      <p:pic>
        <p:nvPicPr>
          <p:cNvPr id="9" name="Picture 8">
            <a:extLst>
              <a:ext uri="{FF2B5EF4-FFF2-40B4-BE49-F238E27FC236}">
                <a16:creationId xmlns:a16="http://schemas.microsoft.com/office/drawing/2014/main" id="{69574554-A817-4EE4-AA31-44E56A49BB00}"/>
              </a:ext>
            </a:extLst>
          </p:cNvPr>
          <p:cNvPicPr>
            <a:picLocks noChangeAspect="1"/>
          </p:cNvPicPr>
          <p:nvPr/>
        </p:nvPicPr>
        <p:blipFill>
          <a:blip r:embed="rId3"/>
          <a:stretch>
            <a:fillRect/>
          </a:stretch>
        </p:blipFill>
        <p:spPr>
          <a:xfrm>
            <a:off x="457200" y="1143000"/>
            <a:ext cx="8413118" cy="5715000"/>
          </a:xfrm>
          <a:prstGeom prst="rect">
            <a:avLst/>
          </a:prstGeom>
        </p:spPr>
      </p:pic>
      <p:cxnSp>
        <p:nvCxnSpPr>
          <p:cNvPr id="11" name="Straight Connector 10">
            <a:extLst>
              <a:ext uri="{FF2B5EF4-FFF2-40B4-BE49-F238E27FC236}">
                <a16:creationId xmlns:a16="http://schemas.microsoft.com/office/drawing/2014/main" id="{1D9413D4-BCBD-43B1-ACF7-19D5658B405E}"/>
              </a:ext>
            </a:extLst>
          </p:cNvPr>
          <p:cNvCxnSpPr/>
          <p:nvPr/>
        </p:nvCxnSpPr>
        <p:spPr>
          <a:xfrm>
            <a:off x="8382000" y="6019800"/>
            <a:ext cx="3048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905DEA8-07EA-4E4F-9D87-E5682DA56480}"/>
              </a:ext>
            </a:extLst>
          </p:cNvPr>
          <p:cNvCxnSpPr>
            <a:cxnSpLocks/>
          </p:cNvCxnSpPr>
          <p:nvPr/>
        </p:nvCxnSpPr>
        <p:spPr>
          <a:xfrm>
            <a:off x="609600" y="6248400"/>
            <a:ext cx="80772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126FBF2-9324-4E51-A160-DE40CF2E2461}"/>
              </a:ext>
            </a:extLst>
          </p:cNvPr>
          <p:cNvCxnSpPr>
            <a:cxnSpLocks/>
          </p:cNvCxnSpPr>
          <p:nvPr/>
        </p:nvCxnSpPr>
        <p:spPr>
          <a:xfrm>
            <a:off x="609600" y="6477000"/>
            <a:ext cx="80772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73A5C8E-C2A4-4E62-847F-F776A8E75060}"/>
              </a:ext>
            </a:extLst>
          </p:cNvPr>
          <p:cNvCxnSpPr>
            <a:cxnSpLocks/>
          </p:cNvCxnSpPr>
          <p:nvPr/>
        </p:nvCxnSpPr>
        <p:spPr>
          <a:xfrm>
            <a:off x="609600" y="6781800"/>
            <a:ext cx="12954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1409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 name="Title 1">
            <a:extLst>
              <a:ext uri="{FF2B5EF4-FFF2-40B4-BE49-F238E27FC236}">
                <a16:creationId xmlns:a16="http://schemas.microsoft.com/office/drawing/2014/main" id="{CBC1C6E7-9C26-4437-998E-E435A6F71DDE}"/>
              </a:ext>
            </a:extLst>
          </p:cNvPr>
          <p:cNvSpPr>
            <a:spLocks noGrp="1"/>
          </p:cNvSpPr>
          <p:nvPr>
            <p:ph type="title"/>
          </p:nvPr>
        </p:nvSpPr>
        <p:spPr>
          <a:xfrm>
            <a:off x="457200" y="774428"/>
            <a:ext cx="8212138" cy="506533"/>
          </a:xfrm>
        </p:spPr>
        <p:txBody>
          <a:bodyPr lIns="0" tIns="0" rIns="0" bIns="0"/>
          <a:lstStyle/>
          <a:p>
            <a:r>
              <a:rPr lang="en-US" altLang="en-US" b="1" dirty="0">
                <a:solidFill>
                  <a:schemeClr val="accent2"/>
                </a:solidFill>
                <a:latin typeface="Arial" panose="020B0604020202020204" pitchFamily="34" charset="0"/>
                <a:cs typeface="Arial" panose="020B0604020202020204" pitchFamily="34" charset="0"/>
              </a:rPr>
              <a:t>Levelized Cost of Energy (LCOE)</a:t>
            </a:r>
            <a:endParaRPr lang="en-US" b="1" dirty="0">
              <a:solidFill>
                <a:schemeClr val="accent2"/>
              </a:solidFill>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DFACD57-5AB9-471A-8446-E79D8AE18E91}"/>
              </a:ext>
            </a:extLst>
          </p:cNvPr>
          <p:cNvSpPr>
            <a:spLocks noGrp="1"/>
          </p:cNvSpPr>
          <p:nvPr>
            <p:ph idx="1"/>
          </p:nvPr>
        </p:nvSpPr>
        <p:spPr>
          <a:xfrm>
            <a:off x="457200" y="1658923"/>
            <a:ext cx="8229600" cy="1770077"/>
          </a:xfrm>
        </p:spPr>
        <p:txBody>
          <a:bodyPr/>
          <a:lstStyle/>
          <a:p>
            <a:r>
              <a:rPr lang="en-CA" dirty="0"/>
              <a:t>A measure used to compare various </a:t>
            </a:r>
            <a:r>
              <a:rPr lang="en-CA" b="1" dirty="0">
                <a:solidFill>
                  <a:srgbClr val="0070C0"/>
                </a:solidFill>
              </a:rPr>
              <a:t>electricity production</a:t>
            </a:r>
            <a:r>
              <a:rPr lang="en-CA" dirty="0"/>
              <a:t> technologies is LCOE</a:t>
            </a:r>
          </a:p>
          <a:p>
            <a:r>
              <a:rPr lang="en-CA" dirty="0"/>
              <a:t>LCOE is often used for benchmarking of various technologies, particularly renewable technologies</a:t>
            </a:r>
          </a:p>
        </p:txBody>
      </p:sp>
      <p:pic>
        <p:nvPicPr>
          <p:cNvPr id="8" name="Picture 7">
            <a:extLst>
              <a:ext uri="{FF2B5EF4-FFF2-40B4-BE49-F238E27FC236}">
                <a16:creationId xmlns:a16="http://schemas.microsoft.com/office/drawing/2014/main" id="{9CE4EF95-D4F6-4F8D-86C2-DECE44290683}"/>
              </a:ext>
            </a:extLst>
          </p:cNvPr>
          <p:cNvPicPr>
            <a:picLocks noChangeAspect="1"/>
          </p:cNvPicPr>
          <p:nvPr/>
        </p:nvPicPr>
        <p:blipFill>
          <a:blip r:embed="rId3"/>
          <a:stretch>
            <a:fillRect/>
          </a:stretch>
        </p:blipFill>
        <p:spPr>
          <a:xfrm>
            <a:off x="40341" y="4267200"/>
            <a:ext cx="9063318" cy="1600200"/>
          </a:xfrm>
          <a:prstGeom prst="rect">
            <a:avLst/>
          </a:prstGeom>
        </p:spPr>
      </p:pic>
    </p:spTree>
    <p:extLst>
      <p:ext uri="{BB962C8B-B14F-4D97-AF65-F5344CB8AC3E}">
        <p14:creationId xmlns:p14="http://schemas.microsoft.com/office/powerpoint/2010/main" val="1522856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969E64-22A8-48B4-9982-37D0E50022A7}"/>
              </a:ext>
            </a:extLst>
          </p:cNvPr>
          <p:cNvSpPr>
            <a:spLocks noGrp="1"/>
          </p:cNvSpPr>
          <p:nvPr>
            <p:ph idx="1"/>
          </p:nvPr>
        </p:nvSpPr>
        <p:spPr/>
        <p:txBody>
          <a:bodyPr/>
          <a:lstStyle/>
          <a:p>
            <a:endParaRPr lang="en-CA" dirty="0"/>
          </a:p>
        </p:txBody>
      </p:sp>
      <p:pic>
        <p:nvPicPr>
          <p:cNvPr id="5" name="Picture 4">
            <a:extLst>
              <a:ext uri="{FF2B5EF4-FFF2-40B4-BE49-F238E27FC236}">
                <a16:creationId xmlns:a16="http://schemas.microsoft.com/office/drawing/2014/main" id="{15026088-7826-4654-AE2A-95EB174BF02D}"/>
              </a:ext>
            </a:extLst>
          </p:cNvPr>
          <p:cNvPicPr>
            <a:picLocks noChangeAspect="1"/>
          </p:cNvPicPr>
          <p:nvPr/>
        </p:nvPicPr>
        <p:blipFill>
          <a:blip r:embed="rId2"/>
          <a:stretch>
            <a:fillRect/>
          </a:stretch>
        </p:blipFill>
        <p:spPr>
          <a:xfrm>
            <a:off x="304800" y="1447800"/>
            <a:ext cx="8710534" cy="1447800"/>
          </a:xfrm>
          <a:prstGeom prst="rect">
            <a:avLst/>
          </a:prstGeom>
        </p:spPr>
      </p:pic>
      <p:pic>
        <p:nvPicPr>
          <p:cNvPr id="7" name="Picture 6">
            <a:extLst>
              <a:ext uri="{FF2B5EF4-FFF2-40B4-BE49-F238E27FC236}">
                <a16:creationId xmlns:a16="http://schemas.microsoft.com/office/drawing/2014/main" id="{F384E4B9-2BC9-44EA-A869-4C3523598FCB}"/>
              </a:ext>
            </a:extLst>
          </p:cNvPr>
          <p:cNvPicPr>
            <a:picLocks noChangeAspect="1"/>
          </p:cNvPicPr>
          <p:nvPr/>
        </p:nvPicPr>
        <p:blipFill>
          <a:blip r:embed="rId3"/>
          <a:stretch>
            <a:fillRect/>
          </a:stretch>
        </p:blipFill>
        <p:spPr>
          <a:xfrm>
            <a:off x="400415" y="3131801"/>
            <a:ext cx="8287350" cy="2123490"/>
          </a:xfrm>
          <a:prstGeom prst="rect">
            <a:avLst/>
          </a:prstGeom>
        </p:spPr>
      </p:pic>
      <p:sp>
        <p:nvSpPr>
          <p:cNvPr id="8" name="Title 1">
            <a:extLst>
              <a:ext uri="{FF2B5EF4-FFF2-40B4-BE49-F238E27FC236}">
                <a16:creationId xmlns:a16="http://schemas.microsoft.com/office/drawing/2014/main" id="{731726A5-0F9C-4DF8-A440-42275D55240C}"/>
              </a:ext>
            </a:extLst>
          </p:cNvPr>
          <p:cNvSpPr txBox="1">
            <a:spLocks/>
          </p:cNvSpPr>
          <p:nvPr/>
        </p:nvSpPr>
        <p:spPr>
          <a:xfrm>
            <a:off x="609600" y="635932"/>
            <a:ext cx="8229600" cy="728452"/>
          </a:xfrm>
        </p:spPr>
        <p:txBody>
          <a:bodyPr/>
          <a:lstStyle>
            <a:lvl1pPr algn="ctr" rtl="0" eaLnBrk="1" latinLnBrk="0" hangingPunct="1">
              <a:spcBef>
                <a:spcPct val="0"/>
              </a:spcBef>
              <a:buNone/>
              <a:defRPr kumimoji="0" sz="3600" b="0" kern="1200">
                <a:ln>
                  <a:noFill/>
                </a:ln>
                <a:solidFill>
                  <a:srgbClr val="002060"/>
                </a:solidFill>
                <a:effectLst/>
                <a:latin typeface="Verdana" panose="020B0604030504040204" pitchFamily="34" charset="0"/>
                <a:ea typeface="Verdana" panose="020B0604030504040204" pitchFamily="34" charset="0"/>
                <a:cs typeface="Verdana" panose="020B0604030504040204" pitchFamily="34" charset="0"/>
              </a:defRPr>
            </a:lvl1pPr>
          </a:lstStyle>
          <a:p>
            <a:r>
              <a:rPr lang="en-CA" b="1" dirty="0">
                <a:solidFill>
                  <a:schemeClr val="accent2"/>
                </a:solidFill>
                <a:latin typeface="Arial" panose="020B0604020202020204" pitchFamily="34" charset="0"/>
                <a:cs typeface="Arial" panose="020B0604020202020204" pitchFamily="34" charset="0"/>
              </a:rPr>
              <a:t>Example – Energy Project and LCOE</a:t>
            </a:r>
          </a:p>
        </p:txBody>
      </p:sp>
    </p:spTree>
    <p:extLst>
      <p:ext uri="{BB962C8B-B14F-4D97-AF65-F5344CB8AC3E}">
        <p14:creationId xmlns:p14="http://schemas.microsoft.com/office/powerpoint/2010/main" val="6672259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E7D154-0FA1-4374-B805-0062B1D45CF4}"/>
              </a:ext>
            </a:extLst>
          </p:cNvPr>
          <p:cNvSpPr>
            <a:spLocks noGrp="1"/>
          </p:cNvSpPr>
          <p:nvPr>
            <p:ph type="sldNum" sz="quarter" idx="12"/>
          </p:nvPr>
        </p:nvSpPr>
        <p:spPr/>
        <p:txBody>
          <a:bodyPr/>
          <a:lstStyle/>
          <a:p>
            <a:fld id="{122D24B2-5D52-46F7-B915-67CABB3AD0CF}" type="slidenum">
              <a:rPr lang="en-US" smtClean="0"/>
              <a:pPr/>
              <a:t>25</a:t>
            </a:fld>
            <a:endParaRPr lang="en-US" dirty="0"/>
          </a:p>
        </p:txBody>
      </p:sp>
      <p:sp>
        <p:nvSpPr>
          <p:cNvPr id="3" name="Text Placeholder 2">
            <a:extLst>
              <a:ext uri="{FF2B5EF4-FFF2-40B4-BE49-F238E27FC236}">
                <a16:creationId xmlns:a16="http://schemas.microsoft.com/office/drawing/2014/main" id="{D5644098-1959-483F-B62E-ED1D1403CF6C}"/>
              </a:ext>
            </a:extLst>
          </p:cNvPr>
          <p:cNvSpPr>
            <a:spLocks noGrp="1"/>
          </p:cNvSpPr>
          <p:nvPr>
            <p:ph type="body" sz="quarter" idx="13"/>
          </p:nvPr>
        </p:nvSpPr>
        <p:spPr/>
        <p:txBody>
          <a:bodyPr/>
          <a:lstStyle/>
          <a:p>
            <a:r>
              <a:rPr lang="en-US" sz="1600" dirty="0"/>
              <a:t>A municipality is considering an investment in a small-scale energy system that will cost $6.5 million to install, and then generate a net annuity of $400,000/year for 25 years, with a salvage value at the end of $1 million. Suppose they set the MARR at 5%, what is the net present worth of the project by this approach?</a:t>
            </a:r>
          </a:p>
          <a:p>
            <a:endParaRPr lang="en-US" sz="1600" dirty="0"/>
          </a:p>
          <a:p>
            <a:r>
              <a:rPr lang="en-US" sz="1600" dirty="0"/>
              <a:t>Recalculate NPV using the following adjustments to reflect government support programs for the project:</a:t>
            </a:r>
          </a:p>
          <a:p>
            <a:endParaRPr lang="en-US" sz="1600" dirty="0"/>
          </a:p>
          <a:p>
            <a:pPr marL="0" indent="0">
              <a:buNone/>
            </a:pPr>
            <a:r>
              <a:rPr lang="en-US" sz="1600" dirty="0"/>
              <a:t>a. A rebate of $200/rated kW, if the system is rated at 5000 kW.</a:t>
            </a:r>
          </a:p>
          <a:p>
            <a:pPr marL="0" indent="0">
              <a:buNone/>
            </a:pPr>
            <a:r>
              <a:rPr lang="en-US" sz="1600" dirty="0"/>
              <a:t>b. An operating credit of $0.025/kWh, if the system produces on average 1.8 million kWh/year.</a:t>
            </a:r>
          </a:p>
          <a:p>
            <a:pPr marL="0" indent="0">
              <a:buNone/>
            </a:pPr>
            <a:r>
              <a:rPr lang="en-US" sz="1600" dirty="0"/>
              <a:t>c. An interest rate buydown such that the MARR for the project is reduced to 3%.</a:t>
            </a:r>
            <a:endParaRPr lang="en-CA" sz="1600" dirty="0"/>
          </a:p>
        </p:txBody>
      </p:sp>
      <p:sp>
        <p:nvSpPr>
          <p:cNvPr id="4" name="Title 3">
            <a:extLst>
              <a:ext uri="{FF2B5EF4-FFF2-40B4-BE49-F238E27FC236}">
                <a16:creationId xmlns:a16="http://schemas.microsoft.com/office/drawing/2014/main" id="{EF7672D2-7483-433E-AE88-160422FD5134}"/>
              </a:ext>
            </a:extLst>
          </p:cNvPr>
          <p:cNvSpPr>
            <a:spLocks noGrp="1"/>
          </p:cNvSpPr>
          <p:nvPr>
            <p:ph type="title"/>
          </p:nvPr>
        </p:nvSpPr>
        <p:spPr>
          <a:xfrm>
            <a:off x="171450" y="990600"/>
            <a:ext cx="8686800" cy="979250"/>
          </a:xfrm>
        </p:spPr>
        <p:txBody>
          <a:bodyPr/>
          <a:lstStyle/>
          <a:p>
            <a:r>
              <a:rPr lang="en-CA" dirty="0"/>
              <a:t>Example - Incentives for Renewables</a:t>
            </a:r>
          </a:p>
        </p:txBody>
      </p:sp>
    </p:spTree>
    <p:extLst>
      <p:ext uri="{BB962C8B-B14F-4D97-AF65-F5344CB8AC3E}">
        <p14:creationId xmlns:p14="http://schemas.microsoft.com/office/powerpoint/2010/main" val="8389087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2.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3.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docProps/app.xml><?xml version="1.0" encoding="utf-8"?>
<Properties xmlns="http://schemas.openxmlformats.org/officeDocument/2006/extended-properties" xmlns:vt="http://schemas.openxmlformats.org/officeDocument/2006/docPropsVTypes">
  <Template/>
  <TotalTime>43707</TotalTime>
  <Words>1706</Words>
  <Application>Microsoft Office PowerPoint</Application>
  <PresentationFormat>On-screen Show (4:3)</PresentationFormat>
  <Paragraphs>165</Paragraphs>
  <Slides>25</Slides>
  <Notes>12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4" baseType="lpstr">
      <vt:lpstr>Arial</vt:lpstr>
      <vt:lpstr>Calibri</vt:lpstr>
      <vt:lpstr>Cambria Math</vt:lpstr>
      <vt:lpstr>Constantia</vt:lpstr>
      <vt:lpstr>Verdana</vt:lpstr>
      <vt:lpstr>Wingdings</vt:lpstr>
      <vt:lpstr>Wingdings 2</vt:lpstr>
      <vt:lpstr>Flow</vt:lpstr>
      <vt:lpstr>Equation</vt:lpstr>
      <vt:lpstr>PowerPoint Presentation</vt:lpstr>
      <vt:lpstr>References</vt:lpstr>
      <vt:lpstr>Outline</vt:lpstr>
      <vt:lpstr>Energy Consumption Growth Models - Exponential</vt:lpstr>
      <vt:lpstr>Energy Consumption Growth Models – Logistics </vt:lpstr>
      <vt:lpstr>Example – Adoption of EVs</vt:lpstr>
      <vt:lpstr>Part 2  Economic Analysis</vt:lpstr>
      <vt:lpstr>Economic Analysis</vt:lpstr>
      <vt:lpstr>Economic Equivalence Allows us to Compare Alternatives on a Common Basis</vt:lpstr>
      <vt:lpstr>Value of Money and Types of Economic Analysis</vt:lpstr>
      <vt:lpstr>Simple Payback  </vt:lpstr>
      <vt:lpstr>Discounted Cash Flow Analysis</vt:lpstr>
      <vt:lpstr>Minimum Attractive Rate of Return</vt:lpstr>
      <vt:lpstr>Compound Interest Formulas</vt:lpstr>
      <vt:lpstr>It is Common to Use Standard Notation for Interest Factors</vt:lpstr>
      <vt:lpstr>We Can Use These to Find Economically Equivalent Values at Different Points in Time</vt:lpstr>
      <vt:lpstr>There are Interest Factors for a Series of End-of-Period Cash Flows</vt:lpstr>
      <vt:lpstr>Finding A When Given F</vt:lpstr>
      <vt:lpstr>Finding the Present Amount From a Uniform Series of End-of-Period Cash Flows</vt:lpstr>
      <vt:lpstr>Finding A when given P</vt:lpstr>
      <vt:lpstr>Finding the Present Amount From a Non-uniform Series of End-of-Period Cash Flows</vt:lpstr>
      <vt:lpstr>Example – Simple Cash Flow vs. Discounted Cash Flow Analysis</vt:lpstr>
      <vt:lpstr>Levelized Cost of Energy (LCOE)</vt:lpstr>
      <vt:lpstr>PowerPoint Presentation</vt:lpstr>
      <vt:lpstr>Example - Incentives for Renewables</vt:lpstr>
    </vt:vector>
  </TitlesOfParts>
  <Company>NTL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altit</dc:creator>
  <cp:lastModifiedBy>Amin Ghobeity</cp:lastModifiedBy>
  <cp:revision>2259</cp:revision>
  <dcterms:created xsi:type="dcterms:W3CDTF">2013-10-11T17:23:38Z</dcterms:created>
  <dcterms:modified xsi:type="dcterms:W3CDTF">2026-09-15T13:02:20Z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