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  <p:sldMasterId id="2147483778" r:id="rId2"/>
    <p:sldMasterId id="2147483793" r:id="rId3"/>
  </p:sldMasterIdLst>
  <p:notesMasterIdLst>
    <p:notesMasterId r:id="rId59"/>
  </p:notesMasterIdLst>
  <p:handoutMasterIdLst>
    <p:handoutMasterId r:id="rId60"/>
  </p:handoutMasterIdLst>
  <p:sldIdLst>
    <p:sldId id="256" r:id="rId4"/>
    <p:sldId id="360" r:id="rId5"/>
    <p:sldId id="317" r:id="rId6"/>
    <p:sldId id="829" r:id="rId7"/>
    <p:sldId id="832" r:id="rId8"/>
    <p:sldId id="830" r:id="rId9"/>
    <p:sldId id="833" r:id="rId10"/>
    <p:sldId id="823" r:id="rId11"/>
    <p:sldId id="824" r:id="rId12"/>
    <p:sldId id="828" r:id="rId13"/>
    <p:sldId id="825" r:id="rId14"/>
    <p:sldId id="822" r:id="rId15"/>
    <p:sldId id="375" r:id="rId16"/>
    <p:sldId id="376" r:id="rId17"/>
    <p:sldId id="819" r:id="rId18"/>
    <p:sldId id="397" r:id="rId19"/>
    <p:sldId id="398" r:id="rId20"/>
    <p:sldId id="399" r:id="rId21"/>
    <p:sldId id="400" r:id="rId22"/>
    <p:sldId id="401" r:id="rId23"/>
    <p:sldId id="402" r:id="rId24"/>
    <p:sldId id="403" r:id="rId25"/>
    <p:sldId id="404" r:id="rId26"/>
    <p:sldId id="405" r:id="rId27"/>
    <p:sldId id="406" r:id="rId28"/>
    <p:sldId id="407" r:id="rId29"/>
    <p:sldId id="362" r:id="rId30"/>
    <p:sldId id="326" r:id="rId31"/>
    <p:sldId id="369" r:id="rId32"/>
    <p:sldId id="370" r:id="rId33"/>
    <p:sldId id="274" r:id="rId34"/>
    <p:sldId id="276" r:id="rId35"/>
    <p:sldId id="285" r:id="rId36"/>
    <p:sldId id="371" r:id="rId37"/>
    <p:sldId id="816" r:id="rId38"/>
    <p:sldId id="613" r:id="rId39"/>
    <p:sldId id="821" r:id="rId40"/>
    <p:sldId id="817" r:id="rId41"/>
    <p:sldId id="358" r:id="rId42"/>
    <p:sldId id="818" r:id="rId43"/>
    <p:sldId id="827" r:id="rId44"/>
    <p:sldId id="820" r:id="rId45"/>
    <p:sldId id="334" r:id="rId46"/>
    <p:sldId id="359" r:id="rId47"/>
    <p:sldId id="340" r:id="rId48"/>
    <p:sldId id="342" r:id="rId49"/>
    <p:sldId id="346" r:id="rId50"/>
    <p:sldId id="349" r:id="rId51"/>
    <p:sldId id="352" r:id="rId52"/>
    <p:sldId id="353" r:id="rId53"/>
    <p:sldId id="803" r:id="rId54"/>
    <p:sldId id="807" r:id="rId55"/>
    <p:sldId id="834" r:id="rId56"/>
    <p:sldId id="355" r:id="rId57"/>
    <p:sldId id="356" r:id="rId5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eftel, Mona D" initials="ZMD" lastIdx="8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0" d="100"/>
          <a:sy n="70" d="100"/>
        </p:scale>
        <p:origin x="-3246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5" Type="http://schemas.openxmlformats.org/officeDocument/2006/relationships/slide" Target="slides/slide2.xml"/><Relationship Id="rId61" Type="http://schemas.openxmlformats.org/officeDocument/2006/relationships/commentAuthors" Target="commentAuthors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theme" Target="theme/theme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handoutMaster" Target="handoutMasters/handoutMaster1.xml"/><Relationship Id="rId65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5D4A66-4E06-4F80-804F-A964EB6C0D0A}" type="datetimeFigureOut">
              <a:rPr lang="en-US" smtClean="0"/>
              <a:pPr/>
              <a:t>9/11/2025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340500-23C6-45C7-9626-EF17B47CA0A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4727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646D3D-12D9-42A1-A359-88470FD6EB52}" type="datetimeFigureOut">
              <a:rPr lang="en-US" smtClean="0"/>
              <a:pPr/>
              <a:t>9/11/2025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58331F-8B33-4884-9995-3C14B2EEB3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587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8331F-8B33-4884-9995-3C14B2EEB352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2110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073E54-D085-4E2E-B9A5-A53D7E51940E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36706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073E54-D085-4E2E-B9A5-A53D7E51940E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96818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073E54-D085-4E2E-B9A5-A53D7E51940E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1430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45D10816-407B-1811-BA62-6E474ECBAE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tabLst>
                <a:tab pos="0" algn="l"/>
                <a:tab pos="965200" algn="l"/>
                <a:tab pos="1931988" algn="l"/>
                <a:tab pos="2898775" algn="l"/>
                <a:tab pos="3865563" algn="l"/>
                <a:tab pos="4832350" algn="l"/>
                <a:tab pos="5799138" algn="l"/>
                <a:tab pos="6765925" algn="l"/>
                <a:tab pos="7732713" algn="l"/>
                <a:tab pos="8699500" algn="l"/>
                <a:tab pos="9664700" algn="l"/>
                <a:tab pos="106314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tabLst>
                <a:tab pos="0" algn="l"/>
                <a:tab pos="965200" algn="l"/>
                <a:tab pos="1931988" algn="l"/>
                <a:tab pos="2898775" algn="l"/>
                <a:tab pos="3865563" algn="l"/>
                <a:tab pos="4832350" algn="l"/>
                <a:tab pos="5799138" algn="l"/>
                <a:tab pos="6765925" algn="l"/>
                <a:tab pos="7732713" algn="l"/>
                <a:tab pos="8699500" algn="l"/>
                <a:tab pos="9664700" algn="l"/>
                <a:tab pos="106314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tabLst>
                <a:tab pos="0" algn="l"/>
                <a:tab pos="965200" algn="l"/>
                <a:tab pos="1931988" algn="l"/>
                <a:tab pos="2898775" algn="l"/>
                <a:tab pos="3865563" algn="l"/>
                <a:tab pos="4832350" algn="l"/>
                <a:tab pos="5799138" algn="l"/>
                <a:tab pos="6765925" algn="l"/>
                <a:tab pos="7732713" algn="l"/>
                <a:tab pos="8699500" algn="l"/>
                <a:tab pos="9664700" algn="l"/>
                <a:tab pos="106314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tabLst>
                <a:tab pos="0" algn="l"/>
                <a:tab pos="965200" algn="l"/>
                <a:tab pos="1931988" algn="l"/>
                <a:tab pos="2898775" algn="l"/>
                <a:tab pos="3865563" algn="l"/>
                <a:tab pos="4832350" algn="l"/>
                <a:tab pos="5799138" algn="l"/>
                <a:tab pos="6765925" algn="l"/>
                <a:tab pos="7732713" algn="l"/>
                <a:tab pos="8699500" algn="l"/>
                <a:tab pos="9664700" algn="l"/>
                <a:tab pos="106314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tabLst>
                <a:tab pos="0" algn="l"/>
                <a:tab pos="965200" algn="l"/>
                <a:tab pos="1931988" algn="l"/>
                <a:tab pos="2898775" algn="l"/>
                <a:tab pos="3865563" algn="l"/>
                <a:tab pos="4832350" algn="l"/>
                <a:tab pos="5799138" algn="l"/>
                <a:tab pos="6765925" algn="l"/>
                <a:tab pos="7732713" algn="l"/>
                <a:tab pos="8699500" algn="l"/>
                <a:tab pos="9664700" algn="l"/>
                <a:tab pos="106314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65200" algn="l"/>
                <a:tab pos="1931988" algn="l"/>
                <a:tab pos="2898775" algn="l"/>
                <a:tab pos="3865563" algn="l"/>
                <a:tab pos="4832350" algn="l"/>
                <a:tab pos="5799138" algn="l"/>
                <a:tab pos="6765925" algn="l"/>
                <a:tab pos="7732713" algn="l"/>
                <a:tab pos="8699500" algn="l"/>
                <a:tab pos="9664700" algn="l"/>
                <a:tab pos="106314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65200" algn="l"/>
                <a:tab pos="1931988" algn="l"/>
                <a:tab pos="2898775" algn="l"/>
                <a:tab pos="3865563" algn="l"/>
                <a:tab pos="4832350" algn="l"/>
                <a:tab pos="5799138" algn="l"/>
                <a:tab pos="6765925" algn="l"/>
                <a:tab pos="7732713" algn="l"/>
                <a:tab pos="8699500" algn="l"/>
                <a:tab pos="9664700" algn="l"/>
                <a:tab pos="106314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65200" algn="l"/>
                <a:tab pos="1931988" algn="l"/>
                <a:tab pos="2898775" algn="l"/>
                <a:tab pos="3865563" algn="l"/>
                <a:tab pos="4832350" algn="l"/>
                <a:tab pos="5799138" algn="l"/>
                <a:tab pos="6765925" algn="l"/>
                <a:tab pos="7732713" algn="l"/>
                <a:tab pos="8699500" algn="l"/>
                <a:tab pos="9664700" algn="l"/>
                <a:tab pos="106314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65200" algn="l"/>
                <a:tab pos="1931988" algn="l"/>
                <a:tab pos="2898775" algn="l"/>
                <a:tab pos="3865563" algn="l"/>
                <a:tab pos="4832350" algn="l"/>
                <a:tab pos="5799138" algn="l"/>
                <a:tab pos="6765925" algn="l"/>
                <a:tab pos="7732713" algn="l"/>
                <a:tab pos="8699500" algn="l"/>
                <a:tab pos="9664700" algn="l"/>
                <a:tab pos="106314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New Roman" panose="02020603050405020304" pitchFamily="18" charset="0"/>
              <a:buNone/>
              <a:tabLst>
                <a:tab pos="0" algn="l"/>
                <a:tab pos="965200" algn="l"/>
                <a:tab pos="1931988" algn="l"/>
                <a:tab pos="2898775" algn="l"/>
                <a:tab pos="3865563" algn="l"/>
                <a:tab pos="4832350" algn="l"/>
                <a:tab pos="5799138" algn="l"/>
                <a:tab pos="6765925" algn="l"/>
                <a:tab pos="7732713" algn="l"/>
                <a:tab pos="8699500" algn="l"/>
                <a:tab pos="9664700" algn="l"/>
                <a:tab pos="10631488" algn="l"/>
              </a:tabLst>
              <a:defRPr/>
            </a:pPr>
            <a:fld id="{5995F696-3B05-40E5-ADA0-372BD9AFAA34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Lucida Sans Unicode" panose="020B0602030504020204" pitchFamily="34" charset="0"/>
              </a:rPr>
              <a:pPr marL="0" marR="0" lvl="0" indent="0" algn="r" defTabSz="9667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Times New Roman" panose="02020603050405020304" pitchFamily="18" charset="0"/>
                <a:buNone/>
                <a:tabLst>
                  <a:tab pos="0" algn="l"/>
                  <a:tab pos="965200" algn="l"/>
                  <a:tab pos="1931988" algn="l"/>
                  <a:tab pos="2898775" algn="l"/>
                  <a:tab pos="3865563" algn="l"/>
                  <a:tab pos="4832350" algn="l"/>
                  <a:tab pos="5799138" algn="l"/>
                  <a:tab pos="6765925" algn="l"/>
                  <a:tab pos="7732713" algn="l"/>
                  <a:tab pos="8699500" algn="l"/>
                  <a:tab pos="9664700" algn="l"/>
                  <a:tab pos="10631488" algn="l"/>
                </a:tabLst>
                <a:defRPr/>
              </a:pPr>
              <a:t>28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Lucida Sans Unicode" panose="020B0602030504020204" pitchFamily="34" charset="0"/>
            </a:endParaRPr>
          </a:p>
        </p:txBody>
      </p:sp>
      <p:sp>
        <p:nvSpPr>
          <p:cNvPr id="8195" name="Rectangle 1">
            <a:extLst>
              <a:ext uri="{FF2B5EF4-FFF2-40B4-BE49-F238E27FC236}">
                <a16:creationId xmlns:a16="http://schemas.microsoft.com/office/drawing/2014/main" id="{B0EF7B72-2E4A-F957-047E-5FFB3EA199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6" name="Rectangle 2">
            <a:extLst>
              <a:ext uri="{FF2B5EF4-FFF2-40B4-BE49-F238E27FC236}">
                <a16:creationId xmlns:a16="http://schemas.microsoft.com/office/drawing/2014/main" id="{2DD77BD8-F481-0083-B006-7F8349EBB9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31838" y="4560888"/>
            <a:ext cx="5851525" cy="43211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24B2-5D52-46F7-B915-67CABB3AD0C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609600" y="2133600"/>
            <a:ext cx="7810500" cy="4157662"/>
          </a:xfrm>
          <a:prstGeom prst="rect">
            <a:avLst/>
          </a:prstGeom>
        </p:spPr>
        <p:txBody>
          <a:bodyPr/>
          <a:lstStyle>
            <a:lvl1pPr marL="463550" indent="-463550">
              <a:buFont typeface="Wingdings" panose="05000000000000000000" pitchFamily="2" charset="2"/>
              <a:buChar char="q"/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09600" y="1001951"/>
            <a:ext cx="7810500" cy="979250"/>
          </a:xfrm>
          <a:prstGeom prst="rect">
            <a:avLst/>
          </a:prstGeom>
        </p:spPr>
        <p:txBody>
          <a:bodyPr/>
          <a:lstStyle>
            <a:lvl1pPr algn="l">
              <a:defRPr kumimoji="0" lang="en-US" sz="3600" b="1" kern="120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Footer Placeholder 8"/>
          <p:cNvSpPr txBox="1">
            <a:spLocks/>
          </p:cNvSpPr>
          <p:nvPr userDrawn="1"/>
        </p:nvSpPr>
        <p:spPr>
          <a:xfrm>
            <a:off x="1333500" y="6364275"/>
            <a:ext cx="6972300" cy="3778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0" lang="en-US" sz="1100" kern="1200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4279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24B2-5D52-46F7-B915-67CABB3AD0C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609600" y="2133600"/>
            <a:ext cx="7810500" cy="4157662"/>
          </a:xfrm>
          <a:prstGeom prst="rect">
            <a:avLst/>
          </a:prstGeom>
        </p:spPr>
        <p:txBody>
          <a:bodyPr/>
          <a:lstStyle>
            <a:lvl1pPr marL="463550" indent="-463550">
              <a:buFont typeface="Wingdings" panose="05000000000000000000" pitchFamily="2" charset="2"/>
              <a:buChar char="q"/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09600" y="1001951"/>
            <a:ext cx="7810500" cy="979250"/>
          </a:xfrm>
          <a:prstGeom prst="rect">
            <a:avLst/>
          </a:prstGeom>
        </p:spPr>
        <p:txBody>
          <a:bodyPr/>
          <a:lstStyle>
            <a:lvl1pPr algn="l">
              <a:defRPr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9405C7-3333-4EAF-9BC0-558CD40BAB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890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3ECFEF-2345-4BD3-AC68-3F47480B38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310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igure plus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078" y="457200"/>
            <a:ext cx="8543926" cy="97536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0" i="0">
                <a:solidFill>
                  <a:srgbClr val="007787"/>
                </a:solidFill>
                <a:latin typeface="+mn-lt"/>
                <a:ea typeface="Calibri" charset="0"/>
                <a:cs typeface="Calibri" charset="0"/>
              </a:defRPr>
            </a:lvl1pPr>
          </a:lstStyle>
          <a:p>
            <a:endParaRPr lang="en-US" dirty="0"/>
          </a:p>
        </p:txBody>
      </p:sp>
      <p:sp>
        <p:nvSpPr>
          <p:cNvPr id="13" name="Contents"/>
          <p:cNvSpPr>
            <a:spLocks noGrp="1"/>
          </p:cNvSpPr>
          <p:nvPr>
            <p:ph sz="quarter" idx="10" hasCustomPrompt="1"/>
          </p:nvPr>
        </p:nvSpPr>
        <p:spPr>
          <a:xfrm>
            <a:off x="304800" y="1752600"/>
            <a:ext cx="8534400" cy="594360"/>
          </a:xfrm>
          <a:prstGeom prst="rect">
            <a:avLst/>
          </a:prstGeom>
        </p:spPr>
        <p:txBody>
          <a:bodyPr/>
          <a:lstStyle>
            <a:lvl1pPr marL="406405" indent="-406405" algn="l">
              <a:lnSpc>
                <a:spcPct val="100000"/>
              </a:lnSpc>
              <a:spcBef>
                <a:spcPts val="555"/>
              </a:spcBef>
              <a:buClr>
                <a:srgbClr val="B11116"/>
              </a:buClr>
              <a:buFont typeface="Arial" panose="020B0604020202020204" pitchFamily="34" charset="0"/>
              <a:buChar char="•"/>
              <a:tabLst/>
              <a:defRPr sz="2489" b="0" i="0" baseline="0">
                <a:latin typeface="+mn-lt"/>
                <a:ea typeface="Calibri" charset="0"/>
                <a:cs typeface="Calibri" charset="0"/>
              </a:defRPr>
            </a:lvl1pPr>
            <a:lvl2pPr marL="812810" indent="-406405">
              <a:lnSpc>
                <a:spcPct val="100000"/>
              </a:lnSpc>
              <a:spcBef>
                <a:spcPts val="555"/>
              </a:spcBef>
              <a:buClr>
                <a:srgbClr val="C00000"/>
              </a:buClr>
              <a:buSzPct val="80000"/>
              <a:buFont typeface="Courier New" panose="02070309020205020404" pitchFamily="49" charset="0"/>
              <a:buChar char="o"/>
              <a:defRPr sz="2311" b="0" i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2489" b="0" i="0">
                <a:latin typeface="Source Sans Pro" charset="0"/>
                <a:ea typeface="Source Sans Pro" charset="0"/>
                <a:cs typeface="Source Sans Pro" charset="0"/>
              </a:defRPr>
            </a:lvl3pPr>
            <a:lvl4pPr>
              <a:defRPr sz="2489" b="0" i="0">
                <a:latin typeface="Source Sans Pro" charset="0"/>
                <a:ea typeface="Source Sans Pro" charset="0"/>
                <a:cs typeface="Source Sans Pro" charset="0"/>
              </a:defRPr>
            </a:lvl4pPr>
            <a:lvl5pPr>
              <a:defRPr sz="2489" b="0" i="0">
                <a:latin typeface="Source Sans Pro" charset="0"/>
                <a:ea typeface="Source Sans Pro" charset="0"/>
                <a:cs typeface="Source Sans Pro" charset="0"/>
              </a:defRPr>
            </a:lvl5pPr>
          </a:lstStyle>
          <a:p>
            <a:pPr lvl="0"/>
            <a:r>
              <a:rPr lang="en-US" dirty="0"/>
              <a:t>Click to add text or image</a:t>
            </a:r>
          </a:p>
          <a:p>
            <a:pPr lvl="1"/>
            <a:endParaRPr lang="en-US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2941320" y="6419851"/>
            <a:ext cx="32782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 defTabSz="914400" rtl="0" eaLnBrk="1" latinLnBrk="0" hangingPunct="1">
              <a:buNone/>
            </a:pPr>
            <a:r>
              <a:rPr lang="en-US" sz="1200" b="0" i="0" kern="1200" dirty="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Copyright ©2020 John Wiley &amp; Sons, Inc.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381000" y="3276600"/>
            <a:ext cx="1752600" cy="838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2438400" y="3276600"/>
            <a:ext cx="2141538" cy="838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Table Placeholder 14"/>
          <p:cNvSpPr>
            <a:spLocks noGrp="1"/>
          </p:cNvSpPr>
          <p:nvPr>
            <p:ph type="tbl" sz="quarter" idx="15"/>
          </p:nvPr>
        </p:nvSpPr>
        <p:spPr>
          <a:xfrm>
            <a:off x="4953000" y="3352800"/>
            <a:ext cx="2209800" cy="838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Contents"/>
          <p:cNvSpPr>
            <a:spLocks noGrp="1"/>
          </p:cNvSpPr>
          <p:nvPr>
            <p:ph sz="quarter" idx="11" hasCustomPrompt="1"/>
          </p:nvPr>
        </p:nvSpPr>
        <p:spPr>
          <a:xfrm>
            <a:off x="281841" y="2430780"/>
            <a:ext cx="8534400" cy="457200"/>
          </a:xfrm>
          <a:prstGeom prst="rect">
            <a:avLst/>
          </a:prstGeom>
        </p:spPr>
        <p:txBody>
          <a:bodyPr/>
          <a:lstStyle>
            <a:lvl1pPr marL="406405" indent="-406405" algn="l">
              <a:lnSpc>
                <a:spcPct val="100000"/>
              </a:lnSpc>
              <a:spcBef>
                <a:spcPts val="555"/>
              </a:spcBef>
              <a:buClr>
                <a:srgbClr val="B11116"/>
              </a:buClr>
              <a:buFont typeface="Arial" panose="020B0604020202020204" pitchFamily="34" charset="0"/>
              <a:buChar char="•"/>
              <a:tabLst/>
              <a:defRPr sz="2489" b="0" i="0" baseline="0">
                <a:latin typeface="+mn-lt"/>
                <a:ea typeface="Calibri" charset="0"/>
                <a:cs typeface="Calibri" charset="0"/>
              </a:defRPr>
            </a:lvl1pPr>
            <a:lvl2pPr marL="812810" indent="-406405">
              <a:lnSpc>
                <a:spcPct val="100000"/>
              </a:lnSpc>
              <a:spcBef>
                <a:spcPts val="555"/>
              </a:spcBef>
              <a:buClr>
                <a:srgbClr val="C00000"/>
              </a:buClr>
              <a:buSzPct val="80000"/>
              <a:buFont typeface="Courier New" panose="02070309020205020404" pitchFamily="49" charset="0"/>
              <a:buChar char="o"/>
              <a:defRPr sz="2311" b="0" i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2489" b="0" i="0">
                <a:latin typeface="Source Sans Pro" charset="0"/>
                <a:ea typeface="Source Sans Pro" charset="0"/>
                <a:cs typeface="Source Sans Pro" charset="0"/>
              </a:defRPr>
            </a:lvl3pPr>
            <a:lvl4pPr>
              <a:defRPr sz="2489" b="0" i="0">
                <a:latin typeface="Source Sans Pro" charset="0"/>
                <a:ea typeface="Source Sans Pro" charset="0"/>
                <a:cs typeface="Source Sans Pro" charset="0"/>
              </a:defRPr>
            </a:lvl4pPr>
            <a:lvl5pPr>
              <a:defRPr sz="2489" b="0" i="0">
                <a:latin typeface="Source Sans Pro" charset="0"/>
                <a:ea typeface="Source Sans Pro" charset="0"/>
                <a:cs typeface="Source Sans Pro" charset="0"/>
              </a:defRPr>
            </a:lvl5pPr>
          </a:lstStyle>
          <a:p>
            <a:pPr lvl="0"/>
            <a:r>
              <a:rPr lang="en-US" dirty="0"/>
              <a:t>Click to add text or image</a:t>
            </a:r>
          </a:p>
          <a:p>
            <a:pPr lvl="1"/>
            <a:endParaRPr lang="en-US" dirty="0"/>
          </a:p>
        </p:txBody>
      </p:sp>
      <p:sp>
        <p:nvSpPr>
          <p:cNvPr id="9" name="Contents"/>
          <p:cNvSpPr>
            <a:spLocks noGrp="1"/>
          </p:cNvSpPr>
          <p:nvPr>
            <p:ph sz="quarter" idx="12" hasCustomPrompt="1"/>
          </p:nvPr>
        </p:nvSpPr>
        <p:spPr>
          <a:xfrm>
            <a:off x="299272" y="2991830"/>
            <a:ext cx="8534400" cy="990600"/>
          </a:xfrm>
          <a:prstGeom prst="rect">
            <a:avLst/>
          </a:prstGeom>
        </p:spPr>
        <p:txBody>
          <a:bodyPr/>
          <a:lstStyle>
            <a:lvl1pPr>
              <a:defRPr lang="en-US" sz="2489" b="0" i="0" baseline="0" dirty="0" smtClean="0">
                <a:ea typeface="Calibri" charset="0"/>
                <a:cs typeface="Calibri" charset="0"/>
              </a:defRPr>
            </a:lvl1pPr>
            <a:lvl2pPr>
              <a:defRPr lang="en-US" sz="2311" b="0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</a:lstStyle>
          <a:p>
            <a:pPr marL="406405" lvl="0" indent="-406405">
              <a:lnSpc>
                <a:spcPct val="100000"/>
              </a:lnSpc>
              <a:spcBef>
                <a:spcPts val="555"/>
              </a:spcBef>
              <a:buClr>
                <a:srgbClr val="B11116"/>
              </a:buClr>
              <a:buFont typeface="Arial" panose="020B0604020202020204" pitchFamily="34" charset="0"/>
              <a:tabLst/>
            </a:pPr>
            <a:r>
              <a:rPr lang="en-US" dirty="0"/>
              <a:t>Click to add text or image</a:t>
            </a:r>
          </a:p>
          <a:p>
            <a:pPr marL="812810" lvl="1" indent="-406405">
              <a:lnSpc>
                <a:spcPct val="100000"/>
              </a:lnSpc>
              <a:spcBef>
                <a:spcPts val="555"/>
              </a:spcBef>
              <a:buClr>
                <a:srgbClr val="C00000"/>
              </a:buClr>
              <a:buSzPct val="80000"/>
              <a:buFont typeface="Courier New" panose="02070309020205020404" pitchFamily="49" charset="0"/>
              <a:buChar char="o"/>
            </a:pPr>
            <a:endParaRPr lang="en-US" dirty="0"/>
          </a:p>
        </p:txBody>
      </p:sp>
      <p:sp>
        <p:nvSpPr>
          <p:cNvPr id="12" name="Slide Number Placeholder 5"/>
          <p:cNvSpPr txBox="1">
            <a:spLocks/>
          </p:cNvSpPr>
          <p:nvPr userDrawn="1"/>
        </p:nvSpPr>
        <p:spPr>
          <a:xfrm>
            <a:off x="8275657" y="6438773"/>
            <a:ext cx="559780" cy="258077"/>
          </a:xfrm>
          <a:prstGeom prst="rect">
            <a:avLst/>
          </a:prstGeom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marL="0" algn="ctr" defTabSz="914400" rtl="0" eaLnBrk="1" latinLnBrk="0" hangingPunct="1">
              <a:defRPr/>
            </a:pPr>
            <a:fld id="{6F94BB01-2447-4377-8194-F82F4D072C18}" type="slidenum">
              <a:rPr lang="en-US" sz="1200" b="0" i="0" kern="1200" smtClean="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pPr marL="0" algn="ctr" defTabSz="914400" rtl="0" eaLnBrk="1" latinLnBrk="0" hangingPunct="1">
                <a:defRPr/>
              </a:pPr>
              <a:t>‹#›</a:t>
            </a:fld>
            <a:endParaRPr lang="en-US" sz="1200" b="0" i="0" kern="1200" dirty="0">
              <a:solidFill>
                <a:schemeClr val="tx1">
                  <a:tint val="7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7391400" y="3429000"/>
            <a:ext cx="1524000" cy="838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7"/>
          </p:nvPr>
        </p:nvSpPr>
        <p:spPr>
          <a:xfrm>
            <a:off x="5105400" y="2593975"/>
            <a:ext cx="2286000" cy="5334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8"/>
          </p:nvPr>
        </p:nvSpPr>
        <p:spPr>
          <a:xfrm>
            <a:off x="277813" y="4191000"/>
            <a:ext cx="8637587" cy="533400"/>
          </a:xfrm>
          <a:prstGeom prst="rect">
            <a:avLst/>
          </a:prstGeom>
        </p:spPr>
        <p:txBody>
          <a:bodyPr/>
          <a:lstStyle>
            <a:lvl1pPr>
              <a:defRPr lang="en-US" sz="2489" b="0" i="0" baseline="0" smtClean="0">
                <a:ea typeface="Calibri" charset="0"/>
                <a:cs typeface="Calibri" charset="0"/>
              </a:defRPr>
            </a:lvl1pPr>
            <a:lvl2pPr>
              <a:defRPr lang="en-US" sz="2311" b="0" i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lang="en-US" sz="2489" b="0" i="0" smtClean="0">
                <a:latin typeface="Source Sans Pro" charset="0"/>
                <a:ea typeface="Source Sans Pro" charset="0"/>
                <a:cs typeface="Source Sans Pro" charset="0"/>
              </a:defRPr>
            </a:lvl3pPr>
            <a:lvl4pPr>
              <a:defRPr lang="en-US" sz="2489" b="0" i="0" smtClean="0">
                <a:latin typeface="Source Sans Pro" charset="0"/>
                <a:ea typeface="Source Sans Pro" charset="0"/>
                <a:cs typeface="Source Sans Pro" charset="0"/>
              </a:defRPr>
            </a:lvl4pPr>
            <a:lvl5pPr>
              <a:defRPr lang="en-US" sz="2489" b="0" i="0">
                <a:latin typeface="Source Sans Pro" charset="0"/>
                <a:ea typeface="Source Sans Pro" charset="0"/>
                <a:cs typeface="Source Sans Pro" charset="0"/>
              </a:defRPr>
            </a:lvl5pPr>
          </a:lstStyle>
          <a:p>
            <a:pPr marL="406405" lvl="0" indent="-406405">
              <a:lnSpc>
                <a:spcPct val="100000"/>
              </a:lnSpc>
              <a:spcBef>
                <a:spcPts val="555"/>
              </a:spcBef>
              <a:buClr>
                <a:srgbClr val="B11116"/>
              </a:buClr>
              <a:buFont typeface="Arial" panose="020B0604020202020204" pitchFamily="34" charset="0"/>
              <a:tabLst/>
            </a:pPr>
            <a:r>
              <a:rPr lang="en-US"/>
              <a:t>Edit Master text styles</a:t>
            </a:r>
          </a:p>
          <a:p>
            <a:pPr marL="812810" lvl="1" indent="-406405">
              <a:lnSpc>
                <a:spcPct val="100000"/>
              </a:lnSpc>
              <a:spcBef>
                <a:spcPts val="555"/>
              </a:spcBef>
              <a:buClr>
                <a:srgbClr val="C00000"/>
              </a:buClr>
              <a:buSzPct val="80000"/>
              <a:buFont typeface="Courier New" panose="02070309020205020404" pitchFamily="49" charset="0"/>
              <a:buChar char="o"/>
            </a:pPr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9"/>
          </p:nvPr>
        </p:nvSpPr>
        <p:spPr>
          <a:xfrm>
            <a:off x="277813" y="4800600"/>
            <a:ext cx="8556625" cy="762000"/>
          </a:xfrm>
          <a:prstGeom prst="rect">
            <a:avLst/>
          </a:prstGeom>
        </p:spPr>
        <p:txBody>
          <a:bodyPr/>
          <a:lstStyle>
            <a:lvl1pPr>
              <a:defRPr lang="en-US" sz="2489" b="0" i="0" baseline="0" smtClean="0">
                <a:ea typeface="Calibri" charset="0"/>
                <a:cs typeface="Calibri" charset="0"/>
              </a:defRPr>
            </a:lvl1pPr>
            <a:lvl2pPr>
              <a:defRPr lang="en-US" sz="2311" b="0" i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lang="en-US" sz="2489" b="0" i="0" smtClean="0">
                <a:latin typeface="Source Sans Pro" charset="0"/>
                <a:ea typeface="Source Sans Pro" charset="0"/>
                <a:cs typeface="Source Sans Pro" charset="0"/>
              </a:defRPr>
            </a:lvl3pPr>
            <a:lvl4pPr>
              <a:defRPr lang="en-US" sz="2489" b="0" i="0" smtClean="0">
                <a:latin typeface="Source Sans Pro" charset="0"/>
                <a:ea typeface="Source Sans Pro" charset="0"/>
                <a:cs typeface="Source Sans Pro" charset="0"/>
              </a:defRPr>
            </a:lvl4pPr>
            <a:lvl5pPr>
              <a:defRPr lang="en-US" sz="2489" b="0" i="0">
                <a:latin typeface="Source Sans Pro" charset="0"/>
                <a:ea typeface="Source Sans Pro" charset="0"/>
                <a:cs typeface="Source Sans Pro" charset="0"/>
              </a:defRPr>
            </a:lvl5pPr>
          </a:lstStyle>
          <a:p>
            <a:pPr marL="406405" lvl="0" indent="-406405">
              <a:lnSpc>
                <a:spcPct val="100000"/>
              </a:lnSpc>
              <a:spcBef>
                <a:spcPts val="555"/>
              </a:spcBef>
              <a:buClr>
                <a:srgbClr val="B11116"/>
              </a:buClr>
              <a:buFont typeface="Arial" panose="020B0604020202020204" pitchFamily="34" charset="0"/>
              <a:tabLst/>
            </a:pPr>
            <a:r>
              <a:rPr lang="en-US"/>
              <a:t>Edit Master text styles</a:t>
            </a:r>
          </a:p>
          <a:p>
            <a:pPr marL="812810" lvl="1" indent="-406405">
              <a:lnSpc>
                <a:spcPct val="100000"/>
              </a:lnSpc>
              <a:spcBef>
                <a:spcPts val="555"/>
              </a:spcBef>
              <a:buClr>
                <a:srgbClr val="C00000"/>
              </a:buClr>
              <a:buSzPct val="80000"/>
              <a:buFont typeface="Courier New" panose="02070309020205020404" pitchFamily="49" charset="0"/>
              <a:buChar char="o"/>
            </a:pPr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ontent Placeholder 20"/>
          <p:cNvSpPr>
            <a:spLocks noGrp="1"/>
          </p:cNvSpPr>
          <p:nvPr>
            <p:ph sz="quarter" idx="20"/>
          </p:nvPr>
        </p:nvSpPr>
        <p:spPr>
          <a:xfrm>
            <a:off x="300038" y="5715000"/>
            <a:ext cx="8516937" cy="533400"/>
          </a:xfrm>
          <a:prstGeom prst="rect">
            <a:avLst/>
          </a:prstGeom>
        </p:spPr>
        <p:txBody>
          <a:bodyPr/>
          <a:lstStyle>
            <a:lvl1pPr>
              <a:defRPr lang="en-US" sz="2489" b="0" i="0" baseline="0" smtClean="0">
                <a:ea typeface="Calibri" charset="0"/>
                <a:cs typeface="Calibri" charset="0"/>
              </a:defRPr>
            </a:lvl1pPr>
            <a:lvl2pPr>
              <a:defRPr lang="en-US" sz="2311" b="0" i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lang="en-US" sz="2489" b="0" i="0" smtClean="0">
                <a:latin typeface="Source Sans Pro" charset="0"/>
                <a:ea typeface="Source Sans Pro" charset="0"/>
                <a:cs typeface="Source Sans Pro" charset="0"/>
              </a:defRPr>
            </a:lvl3pPr>
            <a:lvl4pPr>
              <a:defRPr lang="en-US" sz="2489" b="0" i="0" smtClean="0">
                <a:latin typeface="Source Sans Pro" charset="0"/>
                <a:ea typeface="Source Sans Pro" charset="0"/>
                <a:cs typeface="Source Sans Pro" charset="0"/>
              </a:defRPr>
            </a:lvl4pPr>
            <a:lvl5pPr>
              <a:defRPr lang="en-US" sz="2489" b="0" i="0">
                <a:latin typeface="Source Sans Pro" charset="0"/>
                <a:ea typeface="Source Sans Pro" charset="0"/>
                <a:cs typeface="Source Sans Pro" charset="0"/>
              </a:defRPr>
            </a:lvl5pPr>
          </a:lstStyle>
          <a:p>
            <a:pPr marL="406405" lvl="0" indent="-406405">
              <a:lnSpc>
                <a:spcPct val="100000"/>
              </a:lnSpc>
              <a:spcBef>
                <a:spcPts val="555"/>
              </a:spcBef>
              <a:buClr>
                <a:srgbClr val="B11116"/>
              </a:buClr>
              <a:buFont typeface="Arial" panose="020B0604020202020204" pitchFamily="34" charset="0"/>
              <a:tabLst/>
            </a:pPr>
            <a:r>
              <a:rPr lang="en-US"/>
              <a:t>Edit Master text styles</a:t>
            </a:r>
          </a:p>
          <a:p>
            <a:pPr marL="812810" lvl="1" indent="-406405">
              <a:lnSpc>
                <a:spcPct val="100000"/>
              </a:lnSpc>
              <a:spcBef>
                <a:spcPts val="555"/>
              </a:spcBef>
              <a:buClr>
                <a:srgbClr val="C00000"/>
              </a:buClr>
              <a:buSzPct val="80000"/>
              <a:buFont typeface="Courier New" panose="02070309020205020404" pitchFamily="49" charset="0"/>
              <a:buChar char="o"/>
            </a:pPr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ontent Placeholder 22"/>
          <p:cNvSpPr>
            <a:spLocks noGrp="1"/>
          </p:cNvSpPr>
          <p:nvPr>
            <p:ph sz="quarter" idx="21"/>
          </p:nvPr>
        </p:nvSpPr>
        <p:spPr>
          <a:xfrm>
            <a:off x="5257800" y="1981200"/>
            <a:ext cx="3429000" cy="1011238"/>
          </a:xfrm>
          <a:prstGeom prst="rect">
            <a:avLst/>
          </a:prstGeom>
        </p:spPr>
        <p:txBody>
          <a:bodyPr/>
          <a:lstStyle>
            <a:lvl1pPr>
              <a:defRPr lang="en-US" sz="2489" b="0" i="0" baseline="0" smtClean="0">
                <a:ea typeface="Calibri" charset="0"/>
                <a:cs typeface="Calibri" charset="0"/>
              </a:defRPr>
            </a:lvl1pPr>
            <a:lvl2pPr>
              <a:defRPr lang="en-US" sz="2311" b="0" i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lang="en-US" sz="2489" b="0" i="0" smtClean="0">
                <a:latin typeface="Source Sans Pro" charset="0"/>
                <a:ea typeface="Source Sans Pro" charset="0"/>
                <a:cs typeface="Source Sans Pro" charset="0"/>
              </a:defRPr>
            </a:lvl3pPr>
            <a:lvl4pPr>
              <a:defRPr lang="en-US" sz="2489" b="0" i="0" smtClean="0">
                <a:latin typeface="Source Sans Pro" charset="0"/>
                <a:ea typeface="Source Sans Pro" charset="0"/>
                <a:cs typeface="Source Sans Pro" charset="0"/>
              </a:defRPr>
            </a:lvl4pPr>
            <a:lvl5pPr>
              <a:defRPr lang="en-US" sz="2489" b="0" i="0">
                <a:latin typeface="Source Sans Pro" charset="0"/>
                <a:ea typeface="Source Sans Pro" charset="0"/>
                <a:cs typeface="Source Sans Pro" charset="0"/>
              </a:defRPr>
            </a:lvl5pPr>
          </a:lstStyle>
          <a:p>
            <a:pPr marL="406405" lvl="0" indent="-406405">
              <a:lnSpc>
                <a:spcPct val="100000"/>
              </a:lnSpc>
              <a:spcBef>
                <a:spcPts val="555"/>
              </a:spcBef>
              <a:buClr>
                <a:srgbClr val="B11116"/>
              </a:buClr>
              <a:buFont typeface="Arial" panose="020B0604020202020204" pitchFamily="34" charset="0"/>
              <a:tabLst/>
            </a:pPr>
            <a:r>
              <a:rPr lang="en-US"/>
              <a:t>Edit Master text styles</a:t>
            </a:r>
          </a:p>
          <a:p>
            <a:pPr marL="812810" lvl="1" indent="-406405">
              <a:lnSpc>
                <a:spcPct val="100000"/>
              </a:lnSpc>
              <a:spcBef>
                <a:spcPts val="555"/>
              </a:spcBef>
              <a:buClr>
                <a:srgbClr val="C00000"/>
              </a:buClr>
              <a:buSzPct val="80000"/>
              <a:buFont typeface="Courier New" panose="02070309020205020404" pitchFamily="49" charset="0"/>
              <a:buChar char="o"/>
            </a:pPr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Content Placeholder 24"/>
          <p:cNvSpPr>
            <a:spLocks noGrp="1"/>
          </p:cNvSpPr>
          <p:nvPr>
            <p:ph sz="quarter" idx="22"/>
          </p:nvPr>
        </p:nvSpPr>
        <p:spPr>
          <a:xfrm>
            <a:off x="5257800" y="3352800"/>
            <a:ext cx="3657600" cy="1447800"/>
          </a:xfrm>
          <a:prstGeom prst="rect">
            <a:avLst/>
          </a:prstGeom>
        </p:spPr>
        <p:txBody>
          <a:bodyPr/>
          <a:lstStyle>
            <a:lvl1pPr>
              <a:defRPr lang="en-US" sz="2489" b="0" i="0" baseline="0" smtClean="0">
                <a:ea typeface="Calibri" charset="0"/>
                <a:cs typeface="Calibri" charset="0"/>
              </a:defRPr>
            </a:lvl1pPr>
            <a:lvl2pPr>
              <a:defRPr lang="en-US" sz="2311" b="0" i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lang="en-US" sz="2489" b="0" i="0" smtClean="0">
                <a:latin typeface="Source Sans Pro" charset="0"/>
                <a:ea typeface="Source Sans Pro" charset="0"/>
                <a:cs typeface="Source Sans Pro" charset="0"/>
              </a:defRPr>
            </a:lvl3pPr>
            <a:lvl4pPr>
              <a:defRPr lang="en-US" sz="2489" b="0" i="0" smtClean="0">
                <a:latin typeface="Source Sans Pro" charset="0"/>
                <a:ea typeface="Source Sans Pro" charset="0"/>
                <a:cs typeface="Source Sans Pro" charset="0"/>
              </a:defRPr>
            </a:lvl4pPr>
            <a:lvl5pPr>
              <a:defRPr lang="en-US" sz="2489" b="0" i="0">
                <a:latin typeface="Source Sans Pro" charset="0"/>
                <a:ea typeface="Source Sans Pro" charset="0"/>
                <a:cs typeface="Source Sans Pro" charset="0"/>
              </a:defRPr>
            </a:lvl5pPr>
          </a:lstStyle>
          <a:p>
            <a:pPr marL="406405" lvl="0" indent="-406405">
              <a:lnSpc>
                <a:spcPct val="100000"/>
              </a:lnSpc>
              <a:spcBef>
                <a:spcPts val="555"/>
              </a:spcBef>
              <a:buClr>
                <a:srgbClr val="B11116"/>
              </a:buClr>
              <a:buFont typeface="Arial" panose="020B0604020202020204" pitchFamily="34" charset="0"/>
              <a:tabLst/>
            </a:pPr>
            <a:r>
              <a:rPr lang="en-US"/>
              <a:t>Edit Master text styles</a:t>
            </a:r>
          </a:p>
          <a:p>
            <a:pPr marL="812810" lvl="1" indent="-406405">
              <a:lnSpc>
                <a:spcPct val="100000"/>
              </a:lnSpc>
              <a:spcBef>
                <a:spcPts val="555"/>
              </a:spcBef>
              <a:buClr>
                <a:srgbClr val="C00000"/>
              </a:buClr>
              <a:buSzPct val="80000"/>
              <a:buFont typeface="Courier New" panose="02070309020205020404" pitchFamily="49" charset="0"/>
              <a:buChar char="o"/>
            </a:pPr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Content Placeholder 26"/>
          <p:cNvSpPr>
            <a:spLocks noGrp="1"/>
          </p:cNvSpPr>
          <p:nvPr>
            <p:ph sz="quarter" idx="23"/>
          </p:nvPr>
        </p:nvSpPr>
        <p:spPr>
          <a:xfrm>
            <a:off x="5181600" y="4953000"/>
            <a:ext cx="3962400" cy="533400"/>
          </a:xfrm>
          <a:prstGeom prst="rect">
            <a:avLst/>
          </a:prstGeom>
        </p:spPr>
        <p:txBody>
          <a:bodyPr/>
          <a:lstStyle>
            <a:lvl1pPr>
              <a:defRPr lang="en-US" sz="2489" b="0" i="0" baseline="0" smtClean="0">
                <a:ea typeface="Calibri" charset="0"/>
                <a:cs typeface="Calibri" charset="0"/>
              </a:defRPr>
            </a:lvl1pPr>
            <a:lvl2pPr>
              <a:defRPr lang="en-US" sz="2311" b="0" i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lang="en-US" sz="2489" b="0" i="0" smtClean="0">
                <a:latin typeface="Source Sans Pro" charset="0"/>
                <a:ea typeface="Source Sans Pro" charset="0"/>
                <a:cs typeface="Source Sans Pro" charset="0"/>
              </a:defRPr>
            </a:lvl3pPr>
            <a:lvl4pPr>
              <a:defRPr lang="en-US" sz="2489" b="0" i="0" smtClean="0">
                <a:latin typeface="Source Sans Pro" charset="0"/>
                <a:ea typeface="Source Sans Pro" charset="0"/>
                <a:cs typeface="Source Sans Pro" charset="0"/>
              </a:defRPr>
            </a:lvl4pPr>
            <a:lvl5pPr>
              <a:defRPr lang="en-US" sz="2489" b="0" i="0">
                <a:latin typeface="Source Sans Pro" charset="0"/>
                <a:ea typeface="Source Sans Pro" charset="0"/>
                <a:cs typeface="Source Sans Pro" charset="0"/>
              </a:defRPr>
            </a:lvl5pPr>
          </a:lstStyle>
          <a:p>
            <a:pPr marL="406405" lvl="0" indent="-406405">
              <a:lnSpc>
                <a:spcPct val="100000"/>
              </a:lnSpc>
              <a:spcBef>
                <a:spcPts val="555"/>
              </a:spcBef>
              <a:buClr>
                <a:srgbClr val="B11116"/>
              </a:buClr>
              <a:buFont typeface="Arial" panose="020B0604020202020204" pitchFamily="34" charset="0"/>
              <a:tabLst/>
            </a:pPr>
            <a:r>
              <a:rPr lang="en-US"/>
              <a:t>Edit Master text styles</a:t>
            </a:r>
          </a:p>
          <a:p>
            <a:pPr marL="812810" lvl="1" indent="-406405">
              <a:lnSpc>
                <a:spcPct val="100000"/>
              </a:lnSpc>
              <a:spcBef>
                <a:spcPts val="555"/>
              </a:spcBef>
              <a:buClr>
                <a:srgbClr val="C00000"/>
              </a:buClr>
              <a:buSzPct val="80000"/>
              <a:buFont typeface="Courier New" panose="02070309020205020404" pitchFamily="49" charset="0"/>
              <a:buChar char="o"/>
            </a:pPr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Content Placeholder 28"/>
          <p:cNvSpPr>
            <a:spLocks noGrp="1"/>
          </p:cNvSpPr>
          <p:nvPr>
            <p:ph sz="quarter" idx="24"/>
          </p:nvPr>
        </p:nvSpPr>
        <p:spPr>
          <a:xfrm>
            <a:off x="5105400" y="5562600"/>
            <a:ext cx="4038600" cy="857250"/>
          </a:xfrm>
          <a:prstGeom prst="rect">
            <a:avLst/>
          </a:prstGeom>
        </p:spPr>
        <p:txBody>
          <a:bodyPr/>
          <a:lstStyle>
            <a:lvl1pPr>
              <a:defRPr lang="en-US" sz="2489" b="0" i="0" baseline="0" smtClean="0">
                <a:ea typeface="Calibri" charset="0"/>
                <a:cs typeface="Calibri" charset="0"/>
              </a:defRPr>
            </a:lvl1pPr>
            <a:lvl2pPr>
              <a:defRPr lang="en-US" sz="2311" b="0" i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lang="en-US" sz="2489" b="0" i="0" smtClean="0">
                <a:latin typeface="Source Sans Pro" charset="0"/>
                <a:ea typeface="Source Sans Pro" charset="0"/>
                <a:cs typeface="Source Sans Pro" charset="0"/>
              </a:defRPr>
            </a:lvl3pPr>
            <a:lvl4pPr>
              <a:defRPr lang="en-US" sz="2489" b="0" i="0" smtClean="0">
                <a:latin typeface="Source Sans Pro" charset="0"/>
                <a:ea typeface="Source Sans Pro" charset="0"/>
                <a:cs typeface="Source Sans Pro" charset="0"/>
              </a:defRPr>
            </a:lvl4pPr>
            <a:lvl5pPr>
              <a:defRPr lang="en-US" sz="2489" b="0" i="0">
                <a:latin typeface="Source Sans Pro" charset="0"/>
                <a:ea typeface="Source Sans Pro" charset="0"/>
                <a:cs typeface="Source Sans Pro" charset="0"/>
              </a:defRPr>
            </a:lvl5pPr>
          </a:lstStyle>
          <a:p>
            <a:pPr marL="406405" lvl="0" indent="-406405">
              <a:lnSpc>
                <a:spcPct val="100000"/>
              </a:lnSpc>
              <a:spcBef>
                <a:spcPts val="555"/>
              </a:spcBef>
              <a:buClr>
                <a:srgbClr val="B11116"/>
              </a:buClr>
              <a:buFont typeface="Arial" panose="020B0604020202020204" pitchFamily="34" charset="0"/>
              <a:tabLst/>
            </a:pPr>
            <a:r>
              <a:rPr lang="en-US"/>
              <a:t>Edit Master text styles</a:t>
            </a:r>
          </a:p>
          <a:p>
            <a:pPr marL="812810" lvl="1" indent="-406405">
              <a:lnSpc>
                <a:spcPct val="100000"/>
              </a:lnSpc>
              <a:spcBef>
                <a:spcPts val="555"/>
              </a:spcBef>
              <a:buClr>
                <a:srgbClr val="C00000"/>
              </a:buClr>
              <a:buSzPct val="80000"/>
              <a:buFont typeface="Courier New" panose="02070309020205020404" pitchFamily="49" charset="0"/>
              <a:buChar char="o"/>
            </a:pPr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Content Placeholder 30"/>
          <p:cNvSpPr>
            <a:spLocks noGrp="1"/>
          </p:cNvSpPr>
          <p:nvPr>
            <p:ph sz="quarter" idx="25"/>
          </p:nvPr>
        </p:nvSpPr>
        <p:spPr>
          <a:xfrm>
            <a:off x="5181600" y="6553200"/>
            <a:ext cx="3810000" cy="762000"/>
          </a:xfrm>
          <a:prstGeom prst="rect">
            <a:avLst/>
          </a:prstGeom>
        </p:spPr>
        <p:txBody>
          <a:bodyPr/>
          <a:lstStyle>
            <a:lvl1pPr>
              <a:defRPr lang="en-US" sz="2489" b="0" i="0" baseline="0" smtClean="0">
                <a:ea typeface="Calibri" charset="0"/>
                <a:cs typeface="Calibri" charset="0"/>
              </a:defRPr>
            </a:lvl1pPr>
            <a:lvl2pPr>
              <a:defRPr lang="en-US" sz="2311" b="0" i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lang="en-US" sz="2489" b="0" i="0" smtClean="0">
                <a:latin typeface="Source Sans Pro" charset="0"/>
                <a:ea typeface="Source Sans Pro" charset="0"/>
                <a:cs typeface="Source Sans Pro" charset="0"/>
              </a:defRPr>
            </a:lvl3pPr>
            <a:lvl4pPr>
              <a:defRPr lang="en-US" sz="2489" b="0" i="0" smtClean="0">
                <a:latin typeface="Source Sans Pro" charset="0"/>
                <a:ea typeface="Source Sans Pro" charset="0"/>
                <a:cs typeface="Source Sans Pro" charset="0"/>
              </a:defRPr>
            </a:lvl4pPr>
            <a:lvl5pPr>
              <a:defRPr lang="en-US" sz="2489" b="0" i="0">
                <a:latin typeface="Source Sans Pro" charset="0"/>
                <a:ea typeface="Source Sans Pro" charset="0"/>
                <a:cs typeface="Source Sans Pro" charset="0"/>
              </a:defRPr>
            </a:lvl5pPr>
          </a:lstStyle>
          <a:p>
            <a:pPr marL="406405" lvl="0" indent="-406405">
              <a:lnSpc>
                <a:spcPct val="100000"/>
              </a:lnSpc>
              <a:spcBef>
                <a:spcPts val="555"/>
              </a:spcBef>
              <a:buClr>
                <a:srgbClr val="B11116"/>
              </a:buClr>
              <a:buFont typeface="Arial" panose="020B0604020202020204" pitchFamily="34" charset="0"/>
              <a:tabLst/>
            </a:pPr>
            <a:r>
              <a:rPr lang="en-US"/>
              <a:t>Edit Master text styles</a:t>
            </a:r>
          </a:p>
          <a:p>
            <a:pPr marL="812810" lvl="1" indent="-406405">
              <a:lnSpc>
                <a:spcPct val="100000"/>
              </a:lnSpc>
              <a:spcBef>
                <a:spcPts val="555"/>
              </a:spcBef>
              <a:buClr>
                <a:srgbClr val="C00000"/>
              </a:buClr>
              <a:buSzPct val="80000"/>
              <a:buFont typeface="Courier New" panose="02070309020205020404" pitchFamily="49" charset="0"/>
              <a:buChar char="o"/>
            </a:pPr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81349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plus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078" y="457200"/>
            <a:ext cx="8543926" cy="97536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0" i="0">
                <a:solidFill>
                  <a:srgbClr val="007787"/>
                </a:solidFill>
                <a:latin typeface="+mn-lt"/>
                <a:ea typeface="Calibri" charset="0"/>
                <a:cs typeface="Calibri" charset="0"/>
              </a:defRPr>
            </a:lvl1pPr>
          </a:lstStyle>
          <a:p>
            <a:endParaRPr lang="en-US" dirty="0"/>
          </a:p>
        </p:txBody>
      </p:sp>
      <p:sp>
        <p:nvSpPr>
          <p:cNvPr id="13" name="Contents"/>
          <p:cNvSpPr>
            <a:spLocks noGrp="1"/>
          </p:cNvSpPr>
          <p:nvPr>
            <p:ph sz="quarter" idx="10" hasCustomPrompt="1"/>
          </p:nvPr>
        </p:nvSpPr>
        <p:spPr>
          <a:xfrm>
            <a:off x="304800" y="1752600"/>
            <a:ext cx="8534400" cy="4495800"/>
          </a:xfrm>
          <a:prstGeom prst="rect">
            <a:avLst/>
          </a:prstGeom>
        </p:spPr>
        <p:txBody>
          <a:bodyPr/>
          <a:lstStyle>
            <a:lvl1pPr marL="406405" indent="-406405" algn="l">
              <a:lnSpc>
                <a:spcPct val="100000"/>
              </a:lnSpc>
              <a:spcBef>
                <a:spcPts val="555"/>
              </a:spcBef>
              <a:buClr>
                <a:srgbClr val="B11116"/>
              </a:buClr>
              <a:buFont typeface="Arial" panose="020B0604020202020204" pitchFamily="34" charset="0"/>
              <a:buChar char="•"/>
              <a:tabLst/>
              <a:defRPr sz="2489" b="0" i="0" baseline="0">
                <a:latin typeface="+mn-lt"/>
                <a:ea typeface="Calibri" charset="0"/>
                <a:cs typeface="Calibri" charset="0"/>
              </a:defRPr>
            </a:lvl1pPr>
            <a:lvl2pPr marL="812810" indent="-406405">
              <a:lnSpc>
                <a:spcPct val="100000"/>
              </a:lnSpc>
              <a:spcBef>
                <a:spcPts val="555"/>
              </a:spcBef>
              <a:buClr>
                <a:srgbClr val="C00000"/>
              </a:buClr>
              <a:buSzPct val="80000"/>
              <a:buFont typeface="Courier New" panose="02070309020205020404" pitchFamily="49" charset="0"/>
              <a:buChar char="o"/>
              <a:defRPr sz="2311" b="0" i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2489" b="0" i="0">
                <a:latin typeface="Source Sans Pro" charset="0"/>
                <a:ea typeface="Source Sans Pro" charset="0"/>
                <a:cs typeface="Source Sans Pro" charset="0"/>
              </a:defRPr>
            </a:lvl3pPr>
            <a:lvl4pPr>
              <a:defRPr sz="2489" b="0" i="0">
                <a:latin typeface="Source Sans Pro" charset="0"/>
                <a:ea typeface="Source Sans Pro" charset="0"/>
                <a:cs typeface="Source Sans Pro" charset="0"/>
              </a:defRPr>
            </a:lvl4pPr>
            <a:lvl5pPr>
              <a:defRPr sz="2489" b="0" i="0">
                <a:latin typeface="Source Sans Pro" charset="0"/>
                <a:ea typeface="Source Sans Pro" charset="0"/>
                <a:cs typeface="Source Sans Pro" charset="0"/>
              </a:defRPr>
            </a:lvl5pPr>
          </a:lstStyle>
          <a:p>
            <a:pPr lvl="0"/>
            <a:r>
              <a:rPr lang="en-US" dirty="0"/>
              <a:t>Click to add text or image</a:t>
            </a:r>
          </a:p>
          <a:p>
            <a:pPr lvl="1"/>
            <a:endParaRPr lang="en-US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2941320" y="6419851"/>
            <a:ext cx="32782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 defTabSz="914400" rtl="0" eaLnBrk="1" latinLnBrk="0" hangingPunct="1">
              <a:buNone/>
            </a:pPr>
            <a:r>
              <a:rPr lang="en-US" sz="1200" b="0" i="0" kern="1200" dirty="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Copyright ©2020 John Wiley &amp; Sons, Inc.</a:t>
            </a:r>
          </a:p>
        </p:txBody>
      </p:sp>
      <p:sp>
        <p:nvSpPr>
          <p:cNvPr id="12" name="Slide Number Placeholder 5"/>
          <p:cNvSpPr txBox="1">
            <a:spLocks/>
          </p:cNvSpPr>
          <p:nvPr userDrawn="1"/>
        </p:nvSpPr>
        <p:spPr>
          <a:xfrm>
            <a:off x="8275657" y="6438773"/>
            <a:ext cx="559780" cy="258077"/>
          </a:xfrm>
          <a:prstGeom prst="rect">
            <a:avLst/>
          </a:prstGeom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marL="0" algn="ctr" defTabSz="914400" rtl="0" eaLnBrk="1" latinLnBrk="0" hangingPunct="1">
              <a:defRPr/>
            </a:pPr>
            <a:fld id="{6F94BB01-2447-4377-8194-F82F4D072C18}" type="slidenum">
              <a:rPr lang="en-US" sz="1200" b="0" i="0" kern="1200" smtClean="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pPr marL="0" algn="ctr" defTabSz="914400" rtl="0" eaLnBrk="1" latinLnBrk="0" hangingPunct="1">
                <a:defRPr/>
              </a:pPr>
              <a:t>‹#›</a:t>
            </a:fld>
            <a:endParaRPr lang="en-US" sz="1200" b="0" i="0" kern="1200" dirty="0">
              <a:solidFill>
                <a:schemeClr val="tx1">
                  <a:tint val="7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304800" y="4648200"/>
            <a:ext cx="8531225" cy="1371600"/>
          </a:xfrm>
          <a:prstGeom prst="rect">
            <a:avLst/>
          </a:prstGeom>
        </p:spPr>
        <p:txBody>
          <a:bodyPr/>
          <a:lstStyle>
            <a:lvl1pPr>
              <a:buClr>
                <a:srgbClr val="B11116"/>
              </a:buCl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56684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37F42E-897E-4544-B23E-7705E3FB7A18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4042268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F282AE-31DE-466E-92AD-17679DB66388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4155597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8E2CA9-CD6D-464F-B4EE-2F47B876A05B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051686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EFC16B-C7E6-47A2-A721-71EAC18B461B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3990149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7B1E05-BD4E-4C21-B51F-D79828995A98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9739352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35952F-8D54-4932-AAAA-3A880EE0D6B3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35201595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C9F611-DCCA-4A55-937F-51ABB0E172B3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2952052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9014B9-EEAE-464D-A5BC-571DC4E7D0AA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3524356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0FF31A-0EBF-431D-B184-1699D4ADAFE7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38118592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054102-B018-4E80-BD01-2A191576FCFF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4357395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C29EBD-A1B2-4C4F-8D0C-09DAE71E0FF3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8909184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7EC4AB-0AD7-4AC0-A8B8-5162AF3C9541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34831788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7B1650-36A4-4A41-9ED7-061B9850F13F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35175100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4E5CE7-6812-4FFE-8386-C5A56CD7D884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0976899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427534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917749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5780436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914400"/>
            <a:ext cx="4305300" cy="5943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57700" y="914400"/>
            <a:ext cx="4305300" cy="5943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743063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450250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982917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052716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492076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9225130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3495160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6000" cy="685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6858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016590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1F11564-5A41-71FE-F57F-76ABAD4ADD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4B20A4B-169D-D941-BFA6-78D2A1EA39D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68C8F811-083F-199C-A6CC-F2EAD1099F7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5B068B-8A6F-4623-80A6-3C9BEEBA037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7517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9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8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7409" y="632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122D24B2-5D52-46F7-B915-67CABB3AD0C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dirty="0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dirty="0"/>
            </a:p>
          </p:txBody>
        </p:sp>
      </p:grpSp>
      <p:sp>
        <p:nvSpPr>
          <p:cNvPr id="9" name="TextBox 8"/>
          <p:cNvSpPr txBox="1"/>
          <p:nvPr userDrawn="1"/>
        </p:nvSpPr>
        <p:spPr>
          <a:xfrm>
            <a:off x="0" y="0"/>
            <a:ext cx="9144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			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58" r:id="rId1"/>
    <p:sldLayoutId id="2147483757" r:id="rId2"/>
    <p:sldLayoutId id="2147483760" r:id="rId3"/>
    <p:sldLayoutId id="2147483761" r:id="rId4"/>
    <p:sldLayoutId id="2147483776" r:id="rId5"/>
    <p:sldLayoutId id="2147483777" r:id="rId6"/>
  </p:sldLayoutIdLst>
  <p:hf hdr="0" ftr="0" dt="0"/>
  <p:txStyles>
    <p:titleStyle>
      <a:lvl1pPr algn="ctr" rtl="0" eaLnBrk="1" latinLnBrk="0" hangingPunct="1">
        <a:spcBef>
          <a:spcPct val="0"/>
        </a:spcBef>
        <a:buNone/>
        <a:defRPr kumimoji="0" sz="3600" b="0" kern="1200">
          <a:ln>
            <a:noFill/>
          </a:ln>
          <a:solidFill>
            <a:srgbClr val="002060"/>
          </a:solidFill>
          <a:effectLst/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rgbClr val="002060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rgbClr val="002060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rgbClr val="002060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rgbClr val="002060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rgbClr val="002060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fld id="{77676F98-E254-4DCF-9E6E-6358F5C27FD2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4031486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90" r:id="rId12"/>
    <p:sldLayoutId id="2147483791" r:id="rId13"/>
    <p:sldLayoutId id="2147483792" r:id="rId14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368C15D-6E45-B341-1414-9375E75C85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F025A17-EC0C-2655-6000-C437735FC5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914400"/>
            <a:ext cx="8763000" cy="594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88399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  <p:sldLayoutId id="2147483805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Lucida Sans Unicode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Lucida Sans Unicode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Lucida Sans Unicode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Lucida Sans Unicode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Lucida Sans Unicode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Lucida Sans Unicode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Lucida Sans Unicode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Lucida Sans Unicode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3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ve.sltrib.com/article.php?id=27763273&amp;itype=storyID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ommons.wikimedia.org/wiki/File:Athabasca_Tar_Sand_(near_Fort_McMurray,_Alberta,_Canada).jpg" TargetMode="Externa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21.png"/><Relationship Id="rId4" Type="http://schemas.openxmlformats.org/officeDocument/2006/relationships/image" Target="../media/image20.w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2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7" Type="http://schemas.openxmlformats.org/officeDocument/2006/relationships/image" Target="../media/image27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2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26.wmf"/><Relationship Id="rId4" Type="http://schemas.openxmlformats.org/officeDocument/2006/relationships/oleObject" Target="../embeddings/oleObject3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28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image" Target="../media/image35.wmf"/><Relationship Id="rId3" Type="http://schemas.openxmlformats.org/officeDocument/2006/relationships/image" Target="../media/image30.wmf"/><Relationship Id="rId7" Type="http://schemas.openxmlformats.org/officeDocument/2006/relationships/image" Target="../media/image32.wmf"/><Relationship Id="rId12" Type="http://schemas.openxmlformats.org/officeDocument/2006/relationships/oleObject" Target="../embeddings/oleObject12.bin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32.x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34.wmf"/><Relationship Id="rId5" Type="http://schemas.openxmlformats.org/officeDocument/2006/relationships/image" Target="../media/image31.wmf"/><Relationship Id="rId15" Type="http://schemas.openxmlformats.org/officeDocument/2006/relationships/oleObject" Target="../embeddings/oleObject14.bin"/><Relationship Id="rId10" Type="http://schemas.openxmlformats.org/officeDocument/2006/relationships/oleObject" Target="../embeddings/oleObject11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33.wmf"/><Relationship Id="rId14" Type="http://schemas.openxmlformats.org/officeDocument/2006/relationships/oleObject" Target="../embeddings/oleObject13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3" Type="http://schemas.openxmlformats.org/officeDocument/2006/relationships/image" Target="../media/image30.wmf"/><Relationship Id="rId7" Type="http://schemas.openxmlformats.org/officeDocument/2006/relationships/image" Target="../media/image34.wmf"/><Relationship Id="rId12" Type="http://schemas.openxmlformats.org/officeDocument/2006/relationships/image" Target="../media/image36.png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32.xml"/><Relationship Id="rId6" Type="http://schemas.openxmlformats.org/officeDocument/2006/relationships/oleObject" Target="../embeddings/oleObject11.bin"/><Relationship Id="rId11" Type="http://schemas.openxmlformats.org/officeDocument/2006/relationships/oleObject" Target="../embeddings/oleObject14.bin"/><Relationship Id="rId5" Type="http://schemas.openxmlformats.org/officeDocument/2006/relationships/image" Target="../media/image32.wmf"/><Relationship Id="rId10" Type="http://schemas.openxmlformats.org/officeDocument/2006/relationships/oleObject" Target="../embeddings/oleObject13.bin"/><Relationship Id="rId4" Type="http://schemas.openxmlformats.org/officeDocument/2006/relationships/oleObject" Target="../embeddings/oleObject9.bin"/><Relationship Id="rId9" Type="http://schemas.openxmlformats.org/officeDocument/2006/relationships/image" Target="../media/image35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7.wmf"/><Relationship Id="rId4" Type="http://schemas.openxmlformats.org/officeDocument/2006/relationships/image" Target="../media/image4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image" Target="../media/image48.wmf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3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8.w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2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 txBox="1">
            <a:spLocks/>
          </p:cNvSpPr>
          <p:nvPr/>
        </p:nvSpPr>
        <p:spPr>
          <a:xfrm>
            <a:off x="4953000" y="1739900"/>
            <a:ext cx="3432048" cy="914400"/>
          </a:xfrm>
          <a:prstGeom prst="rect">
            <a:avLst/>
          </a:prstGeom>
        </p:spPr>
        <p:txBody>
          <a:bodyPr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600" b="1" kern="120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sz="4800" b="0" dirty="0">
                <a:solidFill>
                  <a:schemeClr val="accent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  <p:sp>
        <p:nvSpPr>
          <p:cNvPr id="14" name="Subtitle 2"/>
          <p:cNvSpPr txBox="1">
            <a:spLocks/>
          </p:cNvSpPr>
          <p:nvPr/>
        </p:nvSpPr>
        <p:spPr>
          <a:xfrm>
            <a:off x="533400" y="1447800"/>
            <a:ext cx="8458200" cy="4800600"/>
          </a:xfrm>
          <a:prstGeom prst="rect">
            <a:avLst/>
          </a:prstGeom>
        </p:spPr>
        <p:txBody>
          <a:bodyPr>
            <a:no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/>
              <a:buNone/>
            </a:pPr>
            <a:r>
              <a:rPr lang="en-US" sz="3200" b="1" dirty="0">
                <a:solidFill>
                  <a:schemeClr val="accent2"/>
                </a:solidFill>
              </a:rPr>
              <a:t>Introduction to Energy Systems </a:t>
            </a:r>
          </a:p>
          <a:p>
            <a:pPr marL="0" indent="0">
              <a:buFont typeface="Wingdings 2"/>
              <a:buNone/>
            </a:pPr>
            <a:endParaRPr lang="en-US" sz="3200" dirty="0">
              <a:solidFill>
                <a:schemeClr val="accent2"/>
              </a:solidFill>
            </a:endParaRPr>
          </a:p>
          <a:p>
            <a:pPr marL="0" indent="0">
              <a:buFont typeface="Wingdings 2"/>
              <a:buNone/>
            </a:pPr>
            <a:r>
              <a:rPr lang="en-US" sz="3200" dirty="0">
                <a:solidFill>
                  <a:schemeClr val="accent2"/>
                </a:solidFill>
              </a:rPr>
              <a:t>Module 2 &amp; 3</a:t>
            </a:r>
          </a:p>
          <a:p>
            <a:pPr marL="0" indent="0">
              <a:buFont typeface="Wingdings 2"/>
              <a:buNone/>
            </a:pPr>
            <a:endParaRPr lang="en-US" sz="3200" dirty="0">
              <a:solidFill>
                <a:schemeClr val="accent2"/>
              </a:solidFill>
            </a:endParaRPr>
          </a:p>
          <a:p>
            <a:pPr marL="0" indent="0">
              <a:buFont typeface="Wingdings 2"/>
              <a:buNone/>
            </a:pPr>
            <a:r>
              <a:rPr lang="en-US" sz="3200" dirty="0">
                <a:solidFill>
                  <a:schemeClr val="accent2"/>
                </a:solidFill>
              </a:rPr>
              <a:t>Fossil Fuels and Combustion Cycle of Fossil Fuel Power Plants</a:t>
            </a:r>
          </a:p>
          <a:p>
            <a:pPr marL="0" indent="0">
              <a:buFont typeface="Wingdings 2"/>
              <a:buNone/>
            </a:pPr>
            <a:endParaRPr lang="en-US" sz="3200" dirty="0">
              <a:solidFill>
                <a:schemeClr val="accent2"/>
              </a:solidFill>
            </a:endParaRPr>
          </a:p>
          <a:p>
            <a:pPr marL="0" indent="0">
              <a:buFont typeface="Wingdings 2"/>
              <a:buNone/>
            </a:pPr>
            <a:r>
              <a:rPr lang="en-US" sz="2400" dirty="0">
                <a:solidFill>
                  <a:schemeClr val="accent2"/>
                </a:solidFill>
              </a:rPr>
              <a:t>Prepared by: Prof. Amin Ghobeity</a:t>
            </a:r>
          </a:p>
          <a:p>
            <a:pPr marL="0" indent="0">
              <a:buFont typeface="Wingdings 2"/>
              <a:buNone/>
            </a:pPr>
            <a:r>
              <a:rPr lang="en-US" sz="2400" dirty="0">
                <a:solidFill>
                  <a:schemeClr val="accent2"/>
                </a:solidFill>
              </a:rPr>
              <a:t>Please do not distribute without permission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24B2-5D52-46F7-B915-67CABB3AD0CF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24B2-5D52-46F7-B915-67CABB3AD0CF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References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783EAFD-99C6-4333-90DD-969BAAE58E1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828801"/>
            <a:ext cx="2514600" cy="289018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73E3DD2-3644-4493-BA66-AB1C5F53CBBE}"/>
              </a:ext>
            </a:extLst>
          </p:cNvPr>
          <p:cNvSpPr txBox="1"/>
          <p:nvPr/>
        </p:nvSpPr>
        <p:spPr>
          <a:xfrm>
            <a:off x="4103410" y="5002133"/>
            <a:ext cx="3733800" cy="135421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1" i="1">
                <a:solidFill>
                  <a:schemeClr val="bg1"/>
                </a:solidFill>
              </a:defRPr>
            </a:lvl1pPr>
          </a:lstStyle>
          <a:p>
            <a:r>
              <a:rPr lang="en-CA" sz="1600" dirty="0"/>
              <a:t>Thermodynamics: An Engineering Approach</a:t>
            </a:r>
          </a:p>
          <a:p>
            <a:r>
              <a:rPr lang="en-CA" sz="1600" dirty="0"/>
              <a:t>Ninth Edition (2019), </a:t>
            </a:r>
          </a:p>
          <a:p>
            <a:r>
              <a:rPr lang="en-CA" sz="1600" dirty="0" err="1"/>
              <a:t>Yunus</a:t>
            </a:r>
            <a:r>
              <a:rPr lang="en-CA" sz="1600" dirty="0"/>
              <a:t> </a:t>
            </a:r>
            <a:r>
              <a:rPr lang="en-CA" sz="1600" dirty="0" err="1"/>
              <a:t>Cengel</a:t>
            </a:r>
            <a:r>
              <a:rPr lang="en-CA" sz="1600" dirty="0"/>
              <a:t> and Michael Boles </a:t>
            </a:r>
          </a:p>
          <a:p>
            <a:r>
              <a:rPr lang="en-CA" sz="1600" i="0" dirty="0"/>
              <a:t>McGraw-Hill, 2019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B3CC0A-3C29-4A1E-856C-3DB053DD31A0}"/>
              </a:ext>
            </a:extLst>
          </p:cNvPr>
          <p:cNvSpPr txBox="1"/>
          <p:nvPr/>
        </p:nvSpPr>
        <p:spPr>
          <a:xfrm>
            <a:off x="6894120" y="1872766"/>
            <a:ext cx="2021280" cy="6463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1" i="1">
                <a:solidFill>
                  <a:schemeClr val="bg1"/>
                </a:solidFill>
              </a:defRPr>
            </a:lvl1pPr>
          </a:lstStyle>
          <a:p>
            <a:r>
              <a:rPr lang="en-CA" dirty="0"/>
              <a:t>+ Instructor notes</a:t>
            </a:r>
            <a:endParaRPr lang="en-CA" i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883C27-FB17-4F80-93CF-3C40FE105B4C}"/>
              </a:ext>
            </a:extLst>
          </p:cNvPr>
          <p:cNvSpPr/>
          <p:nvPr/>
        </p:nvSpPr>
        <p:spPr>
          <a:xfrm>
            <a:off x="492840" y="4912027"/>
            <a:ext cx="352298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i="1" dirty="0">
                <a:solidFill>
                  <a:schemeClr val="bg1"/>
                </a:solidFill>
              </a:rPr>
              <a:t>Energy Systems Engineering: Evaluation and Implementation, 4</a:t>
            </a:r>
            <a:r>
              <a:rPr lang="en-US" sz="1600" b="1" i="1" baseline="30000" dirty="0">
                <a:solidFill>
                  <a:schemeClr val="bg1"/>
                </a:solidFill>
              </a:rPr>
              <a:t>th</a:t>
            </a:r>
            <a:r>
              <a:rPr lang="en-US" sz="1600" b="1" i="1" dirty="0">
                <a:solidFill>
                  <a:schemeClr val="bg1"/>
                </a:solidFill>
              </a:rPr>
              <a:t>  Ed.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McGraw-Hill, New York, 2016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Chapter 4 (Fossil Fuels) &amp; 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Chapter 5 (Stationary Combustion Cycles)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C1408EE-95E2-4C7F-849E-C2D504070E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900" y="1828801"/>
            <a:ext cx="2224647" cy="295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25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24B2-5D52-46F7-B915-67CABB3AD0C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76200" y="1752599"/>
            <a:ext cx="8915400" cy="4968875"/>
          </a:xfrm>
        </p:spPr>
        <p:txBody>
          <a:bodyPr/>
          <a:lstStyle/>
          <a:p>
            <a:pPr lvl="0"/>
            <a:r>
              <a:rPr lang="en-US" sz="1800" dirty="0"/>
              <a:t>Introduction to fossil fuels, their applications, emissions and their characteristics</a:t>
            </a:r>
          </a:p>
          <a:p>
            <a:pPr lvl="0"/>
            <a:r>
              <a:rPr lang="en-US" sz="1800" dirty="0"/>
              <a:t>Describe the operating principles of conventional power plants.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Rankine Cycle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Brayton Cycle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Combined Cycles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Combined Heat and Power (CHP)</a:t>
            </a:r>
            <a:endParaRPr lang="en-CA" sz="1800" dirty="0">
              <a:solidFill>
                <a:schemeClr val="bg1"/>
              </a:solidFill>
            </a:endParaRPr>
          </a:p>
          <a:p>
            <a:pPr lvl="0"/>
            <a:r>
              <a:rPr lang="en-US" sz="1800" dirty="0"/>
              <a:t>Demonstrate a working knowledge of the basic principles of combustion cycles.</a:t>
            </a:r>
            <a:endParaRPr lang="en-CA" sz="1800" dirty="0"/>
          </a:p>
          <a:p>
            <a:pPr lvl="0"/>
            <a:r>
              <a:rPr lang="en-US" sz="1800" dirty="0"/>
              <a:t>Review basic thermodynamics principles and definitions required for analysis of stationary combustion cycles </a:t>
            </a:r>
          </a:p>
          <a:p>
            <a:pPr lvl="0"/>
            <a:r>
              <a:rPr lang="en-US" sz="1800" dirty="0"/>
              <a:t>Analyze conventional power plant thermodynamic cycles at system-level</a:t>
            </a:r>
          </a:p>
          <a:p>
            <a:pPr lvl="0"/>
            <a:endParaRPr lang="en-CA" sz="18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Learning Outcome</a:t>
            </a:r>
          </a:p>
        </p:txBody>
      </p:sp>
    </p:spTree>
    <p:extLst>
      <p:ext uri="{BB962C8B-B14F-4D97-AF65-F5344CB8AC3E}">
        <p14:creationId xmlns:p14="http://schemas.microsoft.com/office/powerpoint/2010/main" val="2987327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053354-A3E8-4D16-BB0E-12B80D67C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24B2-5D52-46F7-B915-67CABB3AD0C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18A4C5-A39F-4219-9B3A-AEF42B6083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742" y="1866899"/>
            <a:ext cx="7810500" cy="4157662"/>
          </a:xfrm>
        </p:spPr>
        <p:txBody>
          <a:bodyPr/>
          <a:lstStyle/>
          <a:p>
            <a:r>
              <a:rPr lang="en-CA" dirty="0"/>
              <a:t>Conventional Fossil Fuels:</a:t>
            </a:r>
          </a:p>
          <a:p>
            <a:pPr lvl="1"/>
            <a:r>
              <a:rPr lang="en-CA" dirty="0"/>
              <a:t>Coal</a:t>
            </a:r>
          </a:p>
          <a:p>
            <a:pPr lvl="1"/>
            <a:r>
              <a:rPr lang="en-CA" dirty="0"/>
              <a:t>Natural Gas</a:t>
            </a:r>
          </a:p>
          <a:p>
            <a:pPr lvl="1"/>
            <a:r>
              <a:rPr lang="en-CA" dirty="0"/>
              <a:t>Oil</a:t>
            </a:r>
          </a:p>
          <a:p>
            <a:r>
              <a:rPr lang="en-US" dirty="0"/>
              <a:t>Oil comes in the form of </a:t>
            </a:r>
            <a:r>
              <a:rPr lang="en-US" b="1" dirty="0"/>
              <a:t>crude petroleum </a:t>
            </a:r>
            <a:r>
              <a:rPr lang="en-US" dirty="0"/>
              <a:t>that must be refined into a range of end products. </a:t>
            </a:r>
            <a:endParaRPr lang="en-CA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07FA442-341F-45FD-BE2C-B039B20C6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Conventional Fossil Fuels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720934-BF9D-4756-BC92-130EA69EB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4495654"/>
            <a:ext cx="7011648" cy="18606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09069E-940F-44B9-8D4C-C3F37E2FA8AC}"/>
              </a:ext>
            </a:extLst>
          </p:cNvPr>
          <p:cNvSpPr txBox="1"/>
          <p:nvPr/>
        </p:nvSpPr>
        <p:spPr>
          <a:xfrm>
            <a:off x="609600" y="5286349"/>
            <a:ext cx="8001000" cy="1571651"/>
          </a:xfrm>
          <a:prstGeom prst="rect">
            <a:avLst/>
          </a:prstGeom>
        </p:spPr>
        <p:txBody>
          <a:bodyPr/>
          <a:lstStyle>
            <a:lvl1pPr marL="463550" indent="-463550">
              <a:spcBef>
                <a:spcPct val="20000"/>
              </a:spcBef>
              <a:buClr>
                <a:schemeClr val="accent3"/>
              </a:buClr>
              <a:buSzPct val="95000"/>
              <a:buFont typeface="Wingdings" panose="05000000000000000000" pitchFamily="2" charset="2"/>
              <a:buChar char="q"/>
              <a:defRPr kumimoji="0" sz="200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640080" lvl="1" indent="-246888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000">
                <a:solidFill>
                  <a:srgbClr val="00206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2pPr>
            <a:lvl3pPr indent="-246888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>
                <a:solidFill>
                  <a:srgbClr val="00206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3pPr>
            <a:lvl4pPr marL="1188720" indent="-210312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>
                <a:solidFill>
                  <a:srgbClr val="00206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4pPr>
            <a:lvl5pPr marL="1463040" indent="-210312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>
                <a:solidFill>
                  <a:srgbClr val="00206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5pPr>
            <a:lvl6pPr marL="1737360" indent="-210312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/>
            </a:lvl6pPr>
            <a:lvl7pPr marL="1920240" indent="-182880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baseline="0"/>
            </a:lvl7pPr>
            <a:lvl8pPr marL="2194560" indent="-182880">
              <a:spcBef>
                <a:spcPct val="20000"/>
              </a:spcBef>
              <a:buClr>
                <a:schemeClr val="tx2"/>
              </a:buClr>
              <a:buChar char="•"/>
              <a:defRPr kumimoji="0" sz="1600"/>
            </a:lvl8pPr>
            <a:lvl9pPr marL="2468880" indent="-182880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baseline="0"/>
            </a:lvl9pPr>
          </a:lstStyle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96222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053354-A3E8-4D16-BB0E-12B80D67C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24B2-5D52-46F7-B915-67CABB3AD0C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07FA442-341F-45FD-BE2C-B039B20C6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878786"/>
            <a:ext cx="7810500" cy="979250"/>
          </a:xfrm>
        </p:spPr>
        <p:txBody>
          <a:bodyPr/>
          <a:lstStyle/>
          <a:p>
            <a:r>
              <a:rPr lang="en-CA" dirty="0"/>
              <a:t>Nonconventional Fossil Fuels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09069E-940F-44B9-8D4C-C3F37E2FA8AC}"/>
              </a:ext>
            </a:extLst>
          </p:cNvPr>
          <p:cNvSpPr txBox="1"/>
          <p:nvPr/>
        </p:nvSpPr>
        <p:spPr>
          <a:xfrm>
            <a:off x="228600" y="1672310"/>
            <a:ext cx="5410200" cy="1571651"/>
          </a:xfrm>
          <a:prstGeom prst="rect">
            <a:avLst/>
          </a:prstGeom>
        </p:spPr>
        <p:txBody>
          <a:bodyPr/>
          <a:lstStyle>
            <a:lvl1pPr marL="463550" indent="-463550">
              <a:spcBef>
                <a:spcPct val="20000"/>
              </a:spcBef>
              <a:buClr>
                <a:schemeClr val="accent3"/>
              </a:buClr>
              <a:buSzPct val="95000"/>
              <a:buFont typeface="Wingdings" panose="05000000000000000000" pitchFamily="2" charset="2"/>
              <a:buChar char="q"/>
              <a:defRPr kumimoji="0" sz="200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640080" lvl="1" indent="-246888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000">
                <a:solidFill>
                  <a:srgbClr val="00206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2pPr>
            <a:lvl3pPr indent="-246888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>
                <a:solidFill>
                  <a:srgbClr val="00206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3pPr>
            <a:lvl4pPr marL="1188720" indent="-210312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>
                <a:solidFill>
                  <a:srgbClr val="00206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4pPr>
            <a:lvl5pPr marL="1463040" indent="-210312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>
                <a:solidFill>
                  <a:srgbClr val="00206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5pPr>
            <a:lvl6pPr marL="1737360" indent="-210312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/>
            </a:lvl6pPr>
            <a:lvl7pPr marL="1920240" indent="-182880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baseline="0"/>
            </a:lvl7pPr>
            <a:lvl8pPr marL="2194560" indent="-182880">
              <a:spcBef>
                <a:spcPct val="20000"/>
              </a:spcBef>
              <a:buClr>
                <a:schemeClr val="tx2"/>
              </a:buClr>
              <a:buChar char="•"/>
              <a:defRPr kumimoji="0" sz="1600"/>
            </a:lvl8pPr>
            <a:lvl9pPr marL="2468880" indent="-182880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baseline="0"/>
            </a:lvl9pPr>
          </a:lstStyle>
          <a:p>
            <a:r>
              <a:rPr lang="en-CA" sz="1600" dirty="0"/>
              <a:t>Nonconventional Fossil Fuels: </a:t>
            </a:r>
          </a:p>
          <a:p>
            <a:pPr lvl="1"/>
            <a:r>
              <a:rPr lang="en-CA" sz="1600" b="1" dirty="0"/>
              <a:t>Shale Oil</a:t>
            </a:r>
          </a:p>
          <a:p>
            <a:pPr lvl="2"/>
            <a:r>
              <a:rPr lang="en-CA" sz="1800" dirty="0"/>
              <a:t>Oil trapped in sedimentary rocks </a:t>
            </a:r>
          </a:p>
          <a:p>
            <a:pPr lvl="2"/>
            <a:r>
              <a:rPr lang="en-CA" sz="1800" dirty="0"/>
              <a:t>Large resources: U.S. and Brazil</a:t>
            </a:r>
          </a:p>
          <a:p>
            <a:pPr lvl="1"/>
            <a:r>
              <a:rPr lang="en-CA" sz="1600" b="1" dirty="0"/>
              <a:t>Shale Gas </a:t>
            </a:r>
          </a:p>
          <a:p>
            <a:pPr lvl="2"/>
            <a:r>
              <a:rPr lang="en-CA" sz="1800" dirty="0"/>
              <a:t>Gas trapped between shale layers and previously inaccessible </a:t>
            </a:r>
          </a:p>
          <a:p>
            <a:pPr lvl="2"/>
            <a:r>
              <a:rPr lang="en-CA" sz="1800" dirty="0"/>
              <a:t>Accessed through hydro-fracturing (i.e. “fracking”)</a:t>
            </a:r>
          </a:p>
          <a:p>
            <a:pPr lvl="1"/>
            <a:r>
              <a:rPr lang="en-CA" sz="1600" b="1" dirty="0"/>
              <a:t>Tar Sands</a:t>
            </a:r>
          </a:p>
          <a:p>
            <a:pPr lvl="2"/>
            <a:r>
              <a:rPr lang="en-CA" sz="1800" dirty="0"/>
              <a:t>Mixture of sand with highly viscous hydrocarbon tar</a:t>
            </a:r>
          </a:p>
          <a:p>
            <a:pPr lvl="2"/>
            <a:r>
              <a:rPr lang="en-CA" sz="1800" dirty="0"/>
              <a:t>Large resources: Canada and Venezuela</a:t>
            </a:r>
          </a:p>
          <a:p>
            <a:pPr lvl="1"/>
            <a:r>
              <a:rPr lang="en-CA" sz="1600" b="1" dirty="0"/>
              <a:t>Synthetic Gas from Coal </a:t>
            </a:r>
            <a:r>
              <a:rPr lang="en-CA" sz="1600" dirty="0"/>
              <a:t>(i.e. “syngas”)</a:t>
            </a:r>
          </a:p>
          <a:p>
            <a:pPr lvl="2"/>
            <a:r>
              <a:rPr lang="en-CA" sz="1700" dirty="0"/>
              <a:t>Coal processed to produce </a:t>
            </a:r>
            <a:r>
              <a:rPr lang="en-US" sz="1700" dirty="0"/>
              <a:t>a fuel gas mixture consisting primarily of hydrogen, carbon monoxide</a:t>
            </a:r>
            <a:endParaRPr lang="en-CA" sz="1700" dirty="0"/>
          </a:p>
          <a:p>
            <a:pPr lvl="2"/>
            <a:endParaRPr lang="en-CA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5FDEEF-2794-445F-90A9-FE6CEF155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803635"/>
            <a:ext cx="2967024" cy="190942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A9546F1-67EF-410A-97CA-42BA53DB17F3}"/>
              </a:ext>
            </a:extLst>
          </p:cNvPr>
          <p:cNvSpPr txBox="1"/>
          <p:nvPr/>
        </p:nvSpPr>
        <p:spPr>
          <a:xfrm>
            <a:off x="5630944" y="3713058"/>
            <a:ext cx="3200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</a:rPr>
              <a:t>The rock that burns: Is Utah about to see oil shale bonanza?</a:t>
            </a:r>
          </a:p>
          <a:p>
            <a:r>
              <a:rPr lang="en-CA" sz="8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https://archive.sltrib.com/article.php?id=27763273&amp;itype=storyID</a:t>
            </a:r>
            <a:r>
              <a:rPr lang="en-CA" sz="800" dirty="0">
                <a:solidFill>
                  <a:schemeClr val="bg1"/>
                </a:solidFill>
              </a:rPr>
              <a:t> </a:t>
            </a:r>
          </a:p>
          <a:p>
            <a:r>
              <a:rPr lang="en-US" sz="800" b="1" dirty="0">
                <a:solidFill>
                  <a:schemeClr val="bg1"/>
                </a:solidFill>
              </a:rPr>
              <a:t> </a:t>
            </a:r>
          </a:p>
          <a:p>
            <a:r>
              <a:rPr lang="en-CA" sz="800" dirty="0"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0F297F8-51F7-4A4B-BA93-6B6D32376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800" y="4227277"/>
            <a:ext cx="2967024" cy="204088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6BB9CE9-DE31-447A-9EA2-6B5A5C620EB7}"/>
              </a:ext>
            </a:extLst>
          </p:cNvPr>
          <p:cNvSpPr txBox="1"/>
          <p:nvPr/>
        </p:nvSpPr>
        <p:spPr>
          <a:xfrm>
            <a:off x="5638800" y="6268164"/>
            <a:ext cx="289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800" b="1">
                <a:solidFill>
                  <a:schemeClr val="bg1"/>
                </a:solidFill>
              </a:defRPr>
            </a:lvl1pPr>
          </a:lstStyle>
          <a:p>
            <a:r>
              <a:rPr lang="en-CA" dirty="0"/>
              <a:t>Tar sand from Alberta, Canada.</a:t>
            </a:r>
          </a:p>
          <a:p>
            <a:r>
              <a:rPr lang="en-CA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https://commons.wikimedia.org/wiki/File:Athabasca_Tar_Sand_(near_Fort_McMurray,_Alberta,_Canada).jpg</a:t>
            </a:r>
            <a:r>
              <a:rPr lang="en-CA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60763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FCC182-B7E0-437A-B159-97037D7BF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24B2-5D52-46F7-B915-67CABB3AD0C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62886-133B-442D-A15F-85686EC230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1701529"/>
            <a:ext cx="7810500" cy="4157662"/>
          </a:xfrm>
        </p:spPr>
        <p:txBody>
          <a:bodyPr/>
          <a:lstStyle/>
          <a:p>
            <a:r>
              <a:rPr lang="en-CA" b="1" dirty="0"/>
              <a:t>Coal is significantly cheaper</a:t>
            </a:r>
            <a:r>
              <a:rPr lang="en-CA" dirty="0"/>
              <a:t>, but much more difficult to transport and efficiently utilize. Actual</a:t>
            </a:r>
            <a:r>
              <a:rPr lang="en-US" dirty="0"/>
              <a:t> price paid by the end user well above the values shown</a:t>
            </a:r>
          </a:p>
          <a:p>
            <a:r>
              <a:rPr lang="en-US" b="1" dirty="0"/>
              <a:t>Oil prices are very volatile </a:t>
            </a:r>
          </a:p>
          <a:p>
            <a:r>
              <a:rPr lang="en-US" dirty="0"/>
              <a:t>Coal </a:t>
            </a:r>
            <a:r>
              <a:rPr lang="en-US" b="1" dirty="0"/>
              <a:t>varies the most in energy density</a:t>
            </a:r>
            <a:r>
              <a:rPr lang="en-US" dirty="0"/>
              <a:t>. Relative moisture has significant effect on energy density</a:t>
            </a:r>
          </a:p>
          <a:p>
            <a:r>
              <a:rPr lang="en-US" dirty="0"/>
              <a:t>Observed trend: </a:t>
            </a:r>
            <a:r>
              <a:rPr lang="en-US" b="1" dirty="0"/>
              <a:t>coal </a:t>
            </a:r>
            <a:r>
              <a:rPr lang="en-US" dirty="0"/>
              <a:t>is being </a:t>
            </a:r>
            <a:r>
              <a:rPr lang="en-US" b="1" dirty="0"/>
              <a:t>replaced with natural gas </a:t>
            </a:r>
            <a:r>
              <a:rPr lang="en-US" dirty="0"/>
              <a:t>where natural gas reserves are available (“decarbonization”), e.g., Canada</a:t>
            </a:r>
            <a:endParaRPr lang="en-CA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8985A9-10BA-458D-88E9-4AC615C41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Fossil Fuel Cost &amp; Energy Density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5BE411-D10D-469C-A955-8F9A10B922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782" y="5312691"/>
            <a:ext cx="7981950" cy="153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513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B7D692-04C7-417C-B1C9-2D4E6A553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24B2-5D52-46F7-B915-67CABB3AD0C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6C10F2-7976-4120-92A6-D5029F2E20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1752600"/>
            <a:ext cx="7810500" cy="4157662"/>
          </a:xfrm>
        </p:spPr>
        <p:txBody>
          <a:bodyPr/>
          <a:lstStyle/>
          <a:p>
            <a:r>
              <a:rPr lang="en-US" sz="2200" dirty="0"/>
              <a:t>The CO</a:t>
            </a:r>
            <a:r>
              <a:rPr lang="en-US" sz="2200" baseline="-25000" dirty="0"/>
              <a:t>2</a:t>
            </a:r>
            <a:r>
              <a:rPr lang="en-US" sz="2200" dirty="0"/>
              <a:t> emissions per unit of fossil fuel combusted are a function of the </a:t>
            </a:r>
            <a:r>
              <a:rPr lang="en-US" sz="2200" b="1" dirty="0"/>
              <a:t>chemical reaction of the fuel with oxygen</a:t>
            </a:r>
          </a:p>
          <a:p>
            <a:r>
              <a:rPr lang="en-US" sz="2200" dirty="0"/>
              <a:t>Fossil fuels that have a </a:t>
            </a:r>
            <a:r>
              <a:rPr lang="en-US" sz="2200" b="1" dirty="0"/>
              <a:t>high ratio of hydrogen to carbon</a:t>
            </a:r>
            <a:r>
              <a:rPr lang="en-US" sz="2200" dirty="0"/>
              <a:t> have a higher net energy value thanks to the nature of bonds formed and bonds broken, and so will release </a:t>
            </a:r>
            <a:r>
              <a:rPr lang="en-US" sz="2200" b="1" dirty="0"/>
              <a:t>less CO</a:t>
            </a:r>
            <a:r>
              <a:rPr lang="en-US" sz="2200" b="1" baseline="-25000" dirty="0"/>
              <a:t>2</a:t>
            </a:r>
            <a:r>
              <a:rPr lang="en-US" sz="2200" b="1" dirty="0"/>
              <a:t> </a:t>
            </a:r>
            <a:r>
              <a:rPr lang="en-US" sz="2200" dirty="0"/>
              <a:t>per unit of energy released. </a:t>
            </a:r>
          </a:p>
          <a:p>
            <a:r>
              <a:rPr lang="en-US" sz="2200" dirty="0"/>
              <a:t>Coal does not have any such bonds, so it has the </a:t>
            </a:r>
            <a:r>
              <a:rPr lang="en-US" sz="2200" b="1" dirty="0"/>
              <a:t>lowest amount of energy released per unit of CO</a:t>
            </a:r>
            <a:r>
              <a:rPr lang="en-US" sz="2200" b="1" baseline="-25000" dirty="0"/>
              <a:t>2</a:t>
            </a:r>
            <a:r>
              <a:rPr lang="en-US" sz="2200" dirty="0"/>
              <a:t> emitted to the atmosphere.  </a:t>
            </a:r>
            <a:endParaRPr lang="en-CA" sz="22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AF987CF-484D-44A2-949A-EC6301038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</a:t>
            </a:r>
            <a:r>
              <a:rPr lang="en-CA" baseline="-25000" dirty="0"/>
              <a:t>2</a:t>
            </a:r>
            <a:r>
              <a:rPr lang="en-CA" dirty="0"/>
              <a:t> Emission of Fossil Fuels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99412D-DD94-418C-B579-76BC0C772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5406722"/>
            <a:ext cx="6136940" cy="1414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9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BD004E-F974-4663-9E81-9333A4807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24B2-5D52-46F7-B915-67CABB3AD0C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43A90EA-8027-4014-8D75-56C3277D0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45216"/>
            <a:ext cx="7810500" cy="979250"/>
          </a:xfrm>
        </p:spPr>
        <p:txBody>
          <a:bodyPr/>
          <a:lstStyle/>
          <a:p>
            <a:r>
              <a:rPr lang="en-CA" dirty="0"/>
              <a:t>Motivation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4717D6A-5F08-4EBF-9924-CCD3B11B64EA}"/>
              </a:ext>
            </a:extLst>
          </p:cNvPr>
          <p:cNvSpPr txBox="1">
            <a:spLocks/>
          </p:cNvSpPr>
          <p:nvPr/>
        </p:nvSpPr>
        <p:spPr>
          <a:xfrm>
            <a:off x="648225" y="1724466"/>
            <a:ext cx="8229600" cy="1143000"/>
          </a:xfrm>
          <a:prstGeom prst="rect">
            <a:avLst/>
          </a:prstGeom>
        </p:spPr>
        <p:txBody>
          <a:bodyPr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600" b="1" kern="120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en-US" sz="3200" dirty="0">
                <a:solidFill>
                  <a:schemeClr val="bg1"/>
                </a:solidFill>
              </a:rPr>
              <a:t>Fossil fuel component of world energy production, 2000 and 2012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C229D678-A902-4DE3-9E12-0603F396E6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562" y="3048065"/>
            <a:ext cx="7000875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C715238F-1D8C-4F22-950C-AD3EB3509F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488" y="5940490"/>
            <a:ext cx="6315075" cy="4095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8744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BD004E-F974-4663-9E81-9333A4807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24B2-5D52-46F7-B915-67CABB3AD0C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43A90EA-8027-4014-8D75-56C3277D0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45216"/>
            <a:ext cx="7810500" cy="979250"/>
          </a:xfrm>
        </p:spPr>
        <p:txBody>
          <a:bodyPr/>
          <a:lstStyle/>
          <a:p>
            <a:r>
              <a:rPr lang="en-CA" dirty="0"/>
              <a:t>Motivation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4717D6A-5F08-4EBF-9924-CCD3B11B64EA}"/>
              </a:ext>
            </a:extLst>
          </p:cNvPr>
          <p:cNvSpPr txBox="1">
            <a:spLocks/>
          </p:cNvSpPr>
          <p:nvPr/>
        </p:nvSpPr>
        <p:spPr>
          <a:xfrm>
            <a:off x="648225" y="1724466"/>
            <a:ext cx="8229600" cy="1143000"/>
          </a:xfrm>
          <a:prstGeom prst="rect">
            <a:avLst/>
          </a:prstGeom>
        </p:spPr>
        <p:txBody>
          <a:bodyPr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600" b="1" kern="120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en-US" sz="3200" dirty="0">
                <a:solidFill>
                  <a:schemeClr val="bg1"/>
                </a:solidFill>
              </a:rPr>
              <a:t>U.S. Electricity Generation Mix, 2004 and 2014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8" name="Picture 5" descr="C:\Users\Francis\Dropbox\ESE book files\ESE3E files\Chap06\Figure0611.png">
            <a:extLst>
              <a:ext uri="{FF2B5EF4-FFF2-40B4-BE49-F238E27FC236}">
                <a16:creationId xmlns:a16="http://schemas.microsoft.com/office/drawing/2014/main" id="{33B7AAFB-580D-4EA6-ACDB-CFCD7E4DAF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485" y="2930254"/>
            <a:ext cx="7239000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459027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33BD9E-0C4D-4B2A-9C81-FB67AB14B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24B2-5D52-46F7-B915-67CABB3AD0C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5E26A5-1377-4C72-ACCE-229321A319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2001270-653C-4B4B-B893-AE3188978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Fossil Fuel Use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47BA7B-EB61-4B2E-9A3D-720036FB6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981201"/>
            <a:ext cx="8077200" cy="4511005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E60928B5-B2BF-4745-8F1F-DD49853D3BC1}"/>
              </a:ext>
            </a:extLst>
          </p:cNvPr>
          <p:cNvSpPr/>
          <p:nvPr/>
        </p:nvSpPr>
        <p:spPr>
          <a:xfrm>
            <a:off x="76200" y="5638800"/>
            <a:ext cx="2057400" cy="100580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A7CBEA4-1D6C-4C30-870A-B7F9F972E3A1}"/>
              </a:ext>
            </a:extLst>
          </p:cNvPr>
          <p:cNvSpPr/>
          <p:nvPr/>
        </p:nvSpPr>
        <p:spPr>
          <a:xfrm>
            <a:off x="0" y="4876800"/>
            <a:ext cx="2057400" cy="53273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0E731BD-A76B-40AE-9633-A272AC06D447}"/>
              </a:ext>
            </a:extLst>
          </p:cNvPr>
          <p:cNvSpPr/>
          <p:nvPr/>
        </p:nvSpPr>
        <p:spPr>
          <a:xfrm>
            <a:off x="0" y="4191001"/>
            <a:ext cx="2057400" cy="62071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A781D34-97A4-4932-BE84-68817355817F}"/>
              </a:ext>
            </a:extLst>
          </p:cNvPr>
          <p:cNvSpPr/>
          <p:nvPr/>
        </p:nvSpPr>
        <p:spPr>
          <a:xfrm>
            <a:off x="2743200" y="2650094"/>
            <a:ext cx="2057400" cy="93130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37897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FA12A1-C22C-40E2-9EAE-C3C599691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24B2-5D52-46F7-B915-67CABB3AD0C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2E724C-5549-4D94-A6F6-81F4AB3CF9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7664" y="1698387"/>
            <a:ext cx="6185536" cy="4157662"/>
          </a:xfrm>
        </p:spPr>
        <p:txBody>
          <a:bodyPr/>
          <a:lstStyle/>
          <a:p>
            <a:r>
              <a:rPr lang="en-CA" sz="2000" dirty="0"/>
              <a:t>System-level analysis (</a:t>
            </a:r>
            <a:r>
              <a:rPr lang="en-CA" sz="2000" b="1" dirty="0"/>
              <a:t>energy balance</a:t>
            </a:r>
            <a:r>
              <a:rPr lang="en-CA" sz="2000" dirty="0"/>
              <a:t>, </a:t>
            </a:r>
            <a:r>
              <a:rPr lang="en-CA" sz="2000" b="1" dirty="0"/>
              <a:t>economic analysis</a:t>
            </a:r>
            <a:r>
              <a:rPr lang="en-CA" sz="2000" dirty="0"/>
              <a:t>, and </a:t>
            </a:r>
            <a:r>
              <a:rPr lang="en-CA" sz="2000" b="1" dirty="0"/>
              <a:t>emission calculations</a:t>
            </a:r>
            <a:r>
              <a:rPr lang="en-CA" sz="2000" dirty="0"/>
              <a:t>) of stationary combustion systems, namely Rankine (</a:t>
            </a:r>
            <a:r>
              <a:rPr lang="en-CA" sz="2000" b="1" dirty="0"/>
              <a:t>steam turbines</a:t>
            </a:r>
            <a:r>
              <a:rPr lang="en-CA" sz="2000" dirty="0"/>
              <a:t>), Brayton (</a:t>
            </a:r>
            <a:r>
              <a:rPr lang="en-CA" sz="2000" b="1" dirty="0"/>
              <a:t>gas turbines</a:t>
            </a:r>
            <a:r>
              <a:rPr lang="en-CA" sz="2000" dirty="0"/>
              <a:t>), and combined cycles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8275695-9470-4ECA-B6ED-D9150BB8B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001951"/>
            <a:ext cx="7810500" cy="663813"/>
          </a:xfrm>
        </p:spPr>
        <p:txBody>
          <a:bodyPr/>
          <a:lstStyle/>
          <a:p>
            <a:r>
              <a:rPr lang="en-CA" dirty="0"/>
              <a:t>Goal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222897CF-B150-4495-AEC8-F62BA67378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461208"/>
            <a:ext cx="3124200" cy="1983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C5F2D2FC-DB59-46AB-B968-41942036CF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9950" y="3333539"/>
            <a:ext cx="2743200" cy="19839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F667EF-5251-41EC-8CF7-AB56E746DC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0563" y="1937782"/>
            <a:ext cx="2713437" cy="35052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BC6EBDD-436A-4C25-8493-E1F829BFB803}"/>
              </a:ext>
            </a:extLst>
          </p:cNvPr>
          <p:cNvSpPr txBox="1"/>
          <p:nvPr/>
        </p:nvSpPr>
        <p:spPr>
          <a:xfrm>
            <a:off x="685800" y="5715000"/>
            <a:ext cx="845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Rankine cycle		       Brayton cycle			Combined Cycle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5D401D-E6BF-4152-95B4-7F72198D8F73}"/>
              </a:ext>
            </a:extLst>
          </p:cNvPr>
          <p:cNvSpPr txBox="1"/>
          <p:nvPr/>
        </p:nvSpPr>
        <p:spPr>
          <a:xfrm>
            <a:off x="762000" y="6172200"/>
            <a:ext cx="144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>
                <a:solidFill>
                  <a:schemeClr val="bg1"/>
                </a:solidFill>
              </a:rPr>
              <a:t>Analysis limited to simple cycles</a:t>
            </a:r>
          </a:p>
        </p:txBody>
      </p:sp>
    </p:spTree>
    <p:extLst>
      <p:ext uri="{BB962C8B-B14F-4D97-AF65-F5344CB8AC3E}">
        <p14:creationId xmlns:p14="http://schemas.microsoft.com/office/powerpoint/2010/main" val="9552854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24B2-5D52-46F7-B915-67CABB3AD0C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66750" y="1066800"/>
            <a:ext cx="7810500" cy="4157662"/>
          </a:xfrm>
        </p:spPr>
        <p:txBody>
          <a:bodyPr/>
          <a:lstStyle/>
          <a:p>
            <a:pPr marL="0" indent="0" algn="ctr">
              <a:buNone/>
            </a:pPr>
            <a:endParaRPr lang="en-CA" b="1" dirty="0"/>
          </a:p>
          <a:p>
            <a:pPr marL="0" indent="0" algn="ctr">
              <a:buNone/>
            </a:pPr>
            <a:endParaRPr lang="en-CA" sz="3200" b="1" dirty="0"/>
          </a:p>
          <a:p>
            <a:pPr marL="0" indent="0" algn="ctr">
              <a:buNone/>
            </a:pPr>
            <a:r>
              <a:rPr lang="en-CA" sz="3200" b="1" dirty="0"/>
              <a:t>PART 1</a:t>
            </a:r>
          </a:p>
          <a:p>
            <a:pPr marL="0" indent="0" algn="ctr">
              <a:buNone/>
            </a:pPr>
            <a:endParaRPr lang="en-CA" sz="3200" b="1" dirty="0"/>
          </a:p>
          <a:p>
            <a:pPr marL="0" indent="0" algn="ctr">
              <a:buNone/>
            </a:pPr>
            <a:r>
              <a:rPr lang="en-CA" sz="3200" b="1" dirty="0"/>
              <a:t> Introduction to Power Generation Cycles</a:t>
            </a:r>
          </a:p>
          <a:p>
            <a:pPr marL="0" indent="0" algn="ctr">
              <a:buNone/>
            </a:pPr>
            <a:r>
              <a:rPr lang="en-US" dirty="0">
                <a:latin typeface="Calibri" pitchFamily="34" charset="0"/>
              </a:rPr>
              <a:t> </a:t>
            </a:r>
            <a:endParaRPr lang="en-CA" sz="3200" b="1" dirty="0"/>
          </a:p>
        </p:txBody>
      </p:sp>
    </p:spTree>
    <p:extLst>
      <p:ext uri="{BB962C8B-B14F-4D97-AF65-F5344CB8AC3E}">
        <p14:creationId xmlns:p14="http://schemas.microsoft.com/office/powerpoint/2010/main" val="564159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Introducing Power Generation (1 of 3)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0"/>
          </p:nvPr>
        </p:nvSpPr>
        <p:spPr>
          <a:xfrm>
            <a:off x="76200" y="1752600"/>
            <a:ext cx="5257800" cy="4419601"/>
          </a:xfrm>
        </p:spPr>
        <p:txBody>
          <a:bodyPr/>
          <a:lstStyle/>
          <a:p>
            <a:r>
              <a:rPr lang="en-US" altLang="en-US" sz="2000" dirty="0"/>
              <a:t>Power generation is primarily based on </a:t>
            </a:r>
            <a:r>
              <a:rPr lang="en-US" altLang="en-US" sz="2000" b="1" dirty="0"/>
              <a:t>Rankine Cycles </a:t>
            </a:r>
            <a:r>
              <a:rPr lang="en-US" altLang="en-US" sz="2000" dirty="0"/>
              <a:t>(simple Rankine, Renergerative Rankine, Reheat Rankine, etc.), </a:t>
            </a:r>
            <a:r>
              <a:rPr lang="en-US" altLang="en-US" sz="2000" b="1" dirty="0"/>
              <a:t>Brayton Cycle</a:t>
            </a:r>
            <a:r>
              <a:rPr lang="en-US" altLang="en-US" sz="2000" dirty="0"/>
              <a:t>, and </a:t>
            </a:r>
            <a:r>
              <a:rPr lang="en-US" altLang="en-US" sz="2000" b="1" dirty="0"/>
              <a:t>Combined Cycles</a:t>
            </a:r>
          </a:p>
          <a:p>
            <a:r>
              <a:rPr lang="en-US" altLang="en-US" sz="2000" dirty="0"/>
              <a:t>Rankine: Steam Cycle; </a:t>
            </a:r>
          </a:p>
          <a:p>
            <a:r>
              <a:rPr lang="en-US" altLang="en-US" sz="2000" dirty="0"/>
              <a:t>Brayton: Gas Cycle; </a:t>
            </a:r>
          </a:p>
          <a:p>
            <a:r>
              <a:rPr lang="en-US" altLang="en-US" sz="2000" dirty="0"/>
              <a:t>Combined: Top Gas, Bottom Steam Cycle</a:t>
            </a:r>
          </a:p>
          <a:p>
            <a:r>
              <a:rPr lang="en-US" altLang="en-US" sz="2000" dirty="0"/>
              <a:t>Today we are heavily dependent on </a:t>
            </a:r>
            <a:r>
              <a:rPr lang="en-US" altLang="en-US" sz="2000" b="1" dirty="0"/>
              <a:t>coal, natural gas, and nuclear, all of which are nonrenewable</a:t>
            </a:r>
            <a:r>
              <a:rPr lang="en-US" altLang="en-US" sz="2000" dirty="0"/>
              <a:t>.</a:t>
            </a:r>
          </a:p>
          <a:p>
            <a:r>
              <a:rPr lang="en-US" altLang="en-US" sz="2000" dirty="0"/>
              <a:t>Nuclear power plant run on steam cycle too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>
          <a:xfrm>
            <a:off x="5404008" y="1747232"/>
            <a:ext cx="3482308" cy="719211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/>
              <a:t>Current U.S. Electricity Generation by Source</a:t>
            </a:r>
          </a:p>
        </p:txBody>
      </p:sp>
      <p:graphicFrame>
        <p:nvGraphicFramePr>
          <p:cNvPr id="20" name="Table Placeholder 5" descr="Table is accessible to screen readers"/>
          <p:cNvGraphicFramePr>
            <a:graphicFrameLocks noGrp="1"/>
          </p:cNvGraphicFramePr>
          <p:nvPr>
            <p:ph type="tbl" sz="quarter" idx="15"/>
            <p:extLst>
              <p:ext uri="{D42A27DB-BD31-4B8C-83A1-F6EECF244321}">
                <p14:modId xmlns:p14="http://schemas.microsoft.com/office/powerpoint/2010/main" val="1211105335"/>
              </p:ext>
            </p:extLst>
          </p:nvPr>
        </p:nvGraphicFramePr>
        <p:xfrm>
          <a:off x="5404008" y="2466443"/>
          <a:ext cx="2972118" cy="2417892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286318">
                  <a:extLst>
                    <a:ext uri="{9D8B030D-6E8A-4147-A177-3AD203B41FA5}">
                      <a16:colId xmlns:a16="http://schemas.microsoft.com/office/drawing/2014/main" val="4093810279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218887044"/>
                    </a:ext>
                  </a:extLst>
                </a:gridCol>
              </a:tblGrid>
              <a:tr h="316622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Natural</a:t>
                      </a:r>
                      <a:r>
                        <a:rPr lang="en-US" sz="1400" b="1" baseline="0" dirty="0">
                          <a:solidFill>
                            <a:schemeClr val="bg1"/>
                          </a:solidFill>
                        </a:rPr>
                        <a:t> gas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33.8%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7624858"/>
                  </a:ext>
                </a:extLst>
              </a:tr>
              <a:tr h="316622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Coal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30.4%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4289120"/>
                  </a:ext>
                </a:extLst>
              </a:tr>
              <a:tr h="316622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Nuclear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19.5%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5706541"/>
                  </a:ext>
                </a:extLst>
              </a:tr>
              <a:tr h="316622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Hydroelectric</a:t>
                      </a:r>
                      <a:r>
                        <a:rPr lang="en-US" sz="1400" baseline="0" dirty="0">
                          <a:solidFill>
                            <a:schemeClr val="bg1"/>
                          </a:solidFill>
                        </a:rPr>
                        <a:t> (conventional)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6.5%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1609582"/>
                  </a:ext>
                </a:extLst>
              </a:tr>
              <a:tr h="316622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Other renewables </a:t>
                      </a:r>
                      <a:r>
                        <a:rPr lang="en-US" sz="1400" baseline="30000" dirty="0">
                          <a:solidFill>
                            <a:schemeClr val="bg1"/>
                          </a:solidFill>
                        </a:rPr>
                        <a:t>a</a:t>
                      </a:r>
                      <a:endParaRPr lang="en-US" sz="1400" b="0" baseline="3000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aseline="0" dirty="0">
                          <a:solidFill>
                            <a:schemeClr val="bg1"/>
                          </a:solidFill>
                        </a:rPr>
                        <a:t>8.4%</a:t>
                      </a:r>
                      <a:endParaRPr lang="en-US" sz="1400" b="0" baseline="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3927261"/>
                  </a:ext>
                </a:extLst>
              </a:tr>
              <a:tr h="316622">
                <a:tc>
                  <a:txBody>
                    <a:bodyPr/>
                    <a:lstStyle/>
                    <a:p>
                      <a:pPr algn="l"/>
                      <a:r>
                        <a:rPr lang="en-US" sz="1400" baseline="0" dirty="0">
                          <a:solidFill>
                            <a:schemeClr val="bg1"/>
                          </a:solidFill>
                        </a:rPr>
                        <a:t>Petroleum (total)</a:t>
                      </a:r>
                      <a:endParaRPr lang="en-US" sz="1400" b="0" baseline="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aseline="0" dirty="0">
                          <a:solidFill>
                            <a:schemeClr val="bg1"/>
                          </a:solidFill>
                        </a:rPr>
                        <a:t>0.6%</a:t>
                      </a:r>
                      <a:endParaRPr lang="en-US" sz="1400" b="0" baseline="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8581997"/>
                  </a:ext>
                </a:extLst>
              </a:tr>
              <a:tr h="316622">
                <a:tc>
                  <a:txBody>
                    <a:bodyPr/>
                    <a:lstStyle/>
                    <a:p>
                      <a:pPr algn="l"/>
                      <a:r>
                        <a:rPr lang="en-US" sz="1400" baseline="0" dirty="0">
                          <a:solidFill>
                            <a:schemeClr val="bg1"/>
                          </a:solidFill>
                        </a:rPr>
                        <a:t>Others</a:t>
                      </a:r>
                      <a:endParaRPr lang="en-US" sz="1400" b="0" baseline="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aseline="0" dirty="0">
                          <a:solidFill>
                            <a:schemeClr val="bg1"/>
                          </a:solidFill>
                        </a:rPr>
                        <a:t>0.5%</a:t>
                      </a:r>
                      <a:endParaRPr lang="en-US" sz="1400" b="0" baseline="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8452551"/>
                  </a:ext>
                </a:extLst>
              </a:tr>
            </a:tbl>
          </a:graphicData>
        </a:graphic>
      </p:graphicFrame>
      <p:sp>
        <p:nvSpPr>
          <p:cNvPr id="8" name="Content Placeholder 7"/>
          <p:cNvSpPr>
            <a:spLocks noGrp="1"/>
          </p:cNvSpPr>
          <p:nvPr>
            <p:ph sz="quarter" idx="12"/>
          </p:nvPr>
        </p:nvSpPr>
        <p:spPr>
          <a:xfrm>
            <a:off x="5404794" y="4945230"/>
            <a:ext cx="3304898" cy="1226971"/>
          </a:xfrm>
        </p:spPr>
        <p:txBody>
          <a:bodyPr/>
          <a:lstStyle/>
          <a:p>
            <a:pPr marL="0" indent="0">
              <a:spcBef>
                <a:spcPct val="0"/>
              </a:spcBef>
              <a:buNone/>
            </a:pPr>
            <a:r>
              <a:rPr lang="en-US" altLang="en-US" sz="1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Renewable sources including solar, excluding hydroelectric</a:t>
            </a:r>
          </a:p>
          <a:p>
            <a:pPr marL="0" indent="0">
              <a:spcBef>
                <a:spcPct val="0"/>
              </a:spcBef>
              <a:buNone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United States Energy Information Administration, 2016, Net Generation by Energy Source: Total (All Sectors) http://www.eia.gov/electricity/monthly/pdf/epm.pdf</a:t>
            </a:r>
          </a:p>
        </p:txBody>
      </p:sp>
    </p:spTree>
    <p:extLst>
      <p:ext uri="{BB962C8B-B14F-4D97-AF65-F5344CB8AC3E}">
        <p14:creationId xmlns:p14="http://schemas.microsoft.com/office/powerpoint/2010/main" val="12480863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078" y="457200"/>
            <a:ext cx="8543926" cy="928018"/>
          </a:xfrm>
        </p:spPr>
        <p:txBody>
          <a:bodyPr>
            <a:noAutofit/>
          </a:bodyPr>
          <a:lstStyle/>
          <a:p>
            <a:r>
              <a:rPr lang="en-US" dirty="0"/>
              <a:t>Introducing Power Generation (2 of 3)</a:t>
            </a:r>
          </a:p>
        </p:txBody>
      </p:sp>
      <p:graphicFrame>
        <p:nvGraphicFramePr>
          <p:cNvPr id="18" name="Table Placeholder 5" descr="Table is accessible to screen readers"/>
          <p:cNvGraphicFramePr>
            <a:graphicFrameLocks noGrp="1"/>
          </p:cNvGraphicFramePr>
          <p:nvPr>
            <p:ph type="tbl" sz="quarter" idx="15"/>
            <p:extLst>
              <p:ext uri="{D42A27DB-BD31-4B8C-83A1-F6EECF244321}">
                <p14:modId xmlns:p14="http://schemas.microsoft.com/office/powerpoint/2010/main" val="3689122520"/>
              </p:ext>
            </p:extLst>
          </p:nvPr>
        </p:nvGraphicFramePr>
        <p:xfrm>
          <a:off x="457200" y="1691641"/>
          <a:ext cx="7800122" cy="5020993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133367">
                  <a:extLst>
                    <a:ext uri="{9D8B030D-6E8A-4147-A177-3AD203B41FA5}">
                      <a16:colId xmlns:a16="http://schemas.microsoft.com/office/drawing/2014/main" val="4093810279"/>
                    </a:ext>
                  </a:extLst>
                </a:gridCol>
                <a:gridCol w="1933364">
                  <a:extLst>
                    <a:ext uri="{9D8B030D-6E8A-4147-A177-3AD203B41FA5}">
                      <a16:colId xmlns:a16="http://schemas.microsoft.com/office/drawing/2014/main" val="2218887044"/>
                    </a:ext>
                  </a:extLst>
                </a:gridCol>
                <a:gridCol w="1706693">
                  <a:extLst>
                    <a:ext uri="{9D8B030D-6E8A-4147-A177-3AD203B41FA5}">
                      <a16:colId xmlns:a16="http://schemas.microsoft.com/office/drawing/2014/main" val="3599375306"/>
                    </a:ext>
                  </a:extLst>
                </a:gridCol>
                <a:gridCol w="2026698">
                  <a:extLst>
                    <a:ext uri="{9D8B030D-6E8A-4147-A177-3AD203B41FA5}">
                      <a16:colId xmlns:a16="http://schemas.microsoft.com/office/drawing/2014/main" val="4091524031"/>
                    </a:ext>
                  </a:extLst>
                </a:gridCol>
              </a:tblGrid>
              <a:tr h="36224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Power Plant Type</a:t>
                      </a: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Nonrenewable Source</a:t>
                      </a: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Renewable Source</a:t>
                      </a:r>
                      <a:endParaRPr lang="en-US" sz="140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Thermodynamic Cycle</a:t>
                      </a: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057624858"/>
                  </a:ext>
                </a:extLst>
              </a:tr>
              <a:tr h="36224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Coal-fueled 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Yes</a:t>
                      </a: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Rankine 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525285145"/>
                  </a:ext>
                </a:extLst>
              </a:tr>
              <a:tr h="36224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Natural gas–fueled 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Yes </a:t>
                      </a: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Brayton 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584289120"/>
                  </a:ext>
                </a:extLst>
              </a:tr>
              <a:tr h="36224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Nuclear-fueled 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Yes 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Rankine 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4125706541"/>
                  </a:ext>
                </a:extLst>
              </a:tr>
              <a:tr h="36224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Oil-fueled 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Yes </a:t>
                      </a: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Rankine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131609582"/>
                  </a:ext>
                </a:extLst>
              </a:tr>
              <a:tr h="36224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Biomass-fueled 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Yes </a:t>
                      </a: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Rankine 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513927261"/>
                  </a:ext>
                </a:extLst>
              </a:tr>
              <a:tr h="36224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Geothermal 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Yes </a:t>
                      </a: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Rankine 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488581997"/>
                  </a:ext>
                </a:extLst>
              </a:tr>
              <a:tr h="36224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Solar-concentrating 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Yes </a:t>
                      </a: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Rankine 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828452551"/>
                  </a:ext>
                </a:extLst>
              </a:tr>
              <a:tr h="36224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Hydroelectric</a:t>
                      </a: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Yes </a:t>
                      </a: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None </a:t>
                      </a: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935601506"/>
                  </a:ext>
                </a:extLst>
              </a:tr>
              <a:tr h="36224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Wind 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Yes </a:t>
                      </a: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None </a:t>
                      </a: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267596730"/>
                  </a:ext>
                </a:extLst>
              </a:tr>
              <a:tr h="36224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Solar-photovoltaic 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Yes </a:t>
                      </a: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None </a:t>
                      </a: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383002720"/>
                  </a:ext>
                </a:extLst>
              </a:tr>
              <a:tr h="36224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Fuel cells 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solidFill>
                            <a:schemeClr val="bg1"/>
                          </a:solidFill>
                          <a:effectLst/>
                        </a:rPr>
                        <a:t>Yes </a:t>
                      </a: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None </a:t>
                      </a: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980168816"/>
                  </a:ext>
                </a:extLst>
              </a:tr>
              <a:tr h="36224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Currents, tides, and waves </a:t>
                      </a: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Yes </a:t>
                      </a: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None </a:t>
                      </a: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329123125"/>
                  </a:ext>
                </a:extLst>
              </a:tr>
            </a:tbl>
          </a:graphicData>
        </a:graphic>
      </p:graphicFrame>
      <p:sp>
        <p:nvSpPr>
          <p:cNvPr id="7" name="Oval 6">
            <a:extLst>
              <a:ext uri="{FF2B5EF4-FFF2-40B4-BE49-F238E27FC236}">
                <a16:creationId xmlns:a16="http://schemas.microsoft.com/office/drawing/2014/main" id="{A9E0658C-1EB0-4E42-B6C8-9535DEF21B7F}"/>
              </a:ext>
            </a:extLst>
          </p:cNvPr>
          <p:cNvSpPr/>
          <p:nvPr/>
        </p:nvSpPr>
        <p:spPr>
          <a:xfrm>
            <a:off x="5562600" y="1219200"/>
            <a:ext cx="3048000" cy="3733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431119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77078" y="606772"/>
            <a:ext cx="8543926" cy="975360"/>
          </a:xfrm>
        </p:spPr>
        <p:txBody>
          <a:bodyPr>
            <a:normAutofit/>
          </a:bodyPr>
          <a:lstStyle/>
          <a:p>
            <a:r>
              <a:rPr lang="en-US" dirty="0"/>
              <a:t>Introducing Power Generation (3 of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286604" y="1450628"/>
            <a:ext cx="8534400" cy="4800600"/>
          </a:xfrm>
        </p:spPr>
        <p:txBody>
          <a:bodyPr/>
          <a:lstStyle/>
          <a:p>
            <a:pPr>
              <a:defRPr/>
            </a:pPr>
            <a:r>
              <a:rPr lang="en-US" altLang="en-US" sz="2000" dirty="0"/>
              <a:t>Thermodynamic cycles are a fundamental aspect of several power plant types that employ </a:t>
            </a:r>
            <a:r>
              <a:rPr lang="en-US" altLang="en-US" sz="2000" b="1" dirty="0"/>
              <a:t>renewable </a:t>
            </a:r>
            <a:r>
              <a:rPr lang="en-US" altLang="en-US" sz="2000" dirty="0"/>
              <a:t>or </a:t>
            </a:r>
            <a:r>
              <a:rPr lang="en-US" altLang="en-US" sz="2000" b="1" dirty="0"/>
              <a:t>nonrenewable </a:t>
            </a:r>
            <a:r>
              <a:rPr lang="en-US" altLang="en-US" sz="2000" dirty="0"/>
              <a:t>sources.</a:t>
            </a:r>
          </a:p>
          <a:p>
            <a:pPr>
              <a:defRPr/>
            </a:pPr>
            <a:r>
              <a:rPr lang="en-US" altLang="en-US" sz="2000" dirty="0"/>
              <a:t>Vapor power systems and gas turbine power systems are studied as </a:t>
            </a:r>
            <a:r>
              <a:rPr lang="en-US" altLang="en-US" sz="2000" b="1" dirty="0"/>
              <a:t>thermodynamic cycles</a:t>
            </a:r>
            <a:r>
              <a:rPr lang="en-US" altLang="en-US" sz="2000" dirty="0"/>
              <a:t>.  </a:t>
            </a:r>
          </a:p>
          <a:p>
            <a:pPr>
              <a:defRPr/>
            </a:pPr>
            <a:r>
              <a:rPr lang="en-US" altLang="en-US" sz="2000" dirty="0"/>
              <a:t>In vapor power systems (i.e., steam cycles) water is </a:t>
            </a:r>
            <a:r>
              <a:rPr lang="en-US" altLang="en-US" sz="2000" b="1" dirty="0"/>
              <a:t>alternately vaporized and condensed</a:t>
            </a:r>
            <a:r>
              <a:rPr lang="en-US" altLang="en-US" sz="2000" dirty="0"/>
              <a:t>.  The basic building block of vapor power systems is the </a:t>
            </a:r>
            <a:r>
              <a:rPr lang="en-US" altLang="en-US" sz="2000" b="1" i="1" dirty="0"/>
              <a:t>Rankine cycle</a:t>
            </a:r>
            <a:r>
              <a:rPr lang="en-US" altLang="en-US" sz="2000" dirty="0"/>
              <a:t>.</a:t>
            </a:r>
          </a:p>
          <a:p>
            <a:pPr>
              <a:defRPr/>
            </a:pPr>
            <a:r>
              <a:rPr lang="en-US" altLang="en-US" sz="2000" dirty="0"/>
              <a:t>In gas power cycles, air is compressed, a combustion process adds heat to the compressed air, and combustion gases run a gas turbine. The basic building block of gas power systems is the </a:t>
            </a:r>
            <a:r>
              <a:rPr lang="en-US" altLang="en-US" sz="2000" b="1" i="1" dirty="0"/>
              <a:t>Brayton cycle</a:t>
            </a:r>
            <a:r>
              <a:rPr lang="en-US" altLang="en-US" sz="2000" dirty="0"/>
              <a:t>.</a:t>
            </a:r>
          </a:p>
          <a:p>
            <a:pPr>
              <a:defRPr/>
            </a:pPr>
            <a:r>
              <a:rPr lang="en-US" altLang="en-US" sz="2000" dirty="0"/>
              <a:t>System-level analysis of steam and gas cycles employed for power generation through combustion of fossil fuels requires basic understanding of </a:t>
            </a:r>
            <a:r>
              <a:rPr lang="en-US" altLang="en-US" sz="2000" b="1" dirty="0"/>
              <a:t>thermodynamic properties </a:t>
            </a:r>
            <a:r>
              <a:rPr lang="en-US" altLang="en-US" sz="2000" dirty="0"/>
              <a:t>and </a:t>
            </a:r>
            <a:r>
              <a:rPr lang="en-US" altLang="en-US" sz="2000" b="1" dirty="0"/>
              <a:t>thermodynamic cycles (Part 2 of this module)</a:t>
            </a:r>
          </a:p>
        </p:txBody>
      </p:sp>
    </p:spTree>
    <p:extLst>
      <p:ext uri="{BB962C8B-B14F-4D97-AF65-F5344CB8AC3E}">
        <p14:creationId xmlns:p14="http://schemas.microsoft.com/office/powerpoint/2010/main" val="34196478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76200"/>
            <a:ext cx="8763000" cy="1143000"/>
          </a:xfrm>
        </p:spPr>
        <p:txBody>
          <a:bodyPr/>
          <a:lstStyle/>
          <a:p>
            <a:pPr eaLnBrk="1" hangingPunct="1"/>
            <a:r>
              <a:rPr lang="en-US" altLang="en-US" sz="3400" b="1" u="sng" dirty="0"/>
              <a:t>Introducing Vapor Power Plants (1 of 11)</a:t>
            </a:r>
          </a:p>
        </p:txBody>
      </p:sp>
      <p:sp>
        <p:nvSpPr>
          <p:cNvPr id="51203" name="Text Box 3"/>
          <p:cNvSpPr txBox="1">
            <a:spLocks noChangeArrowheads="1"/>
          </p:cNvSpPr>
          <p:nvPr/>
        </p:nvSpPr>
        <p:spPr bwMode="auto">
          <a:xfrm>
            <a:off x="304800" y="1066800"/>
            <a:ext cx="8534400" cy="5492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Arial" charset="0"/>
              <a:buChar char="►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In the following slides the components of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four alternative vapor power plant configurations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are shown schematically.  They are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FF"/>
              </a:buClr>
              <a:buSzTx/>
              <a:buFont typeface="Arial" charset="0"/>
              <a:buChar char="►"/>
              <a:tabLst/>
              <a:defRPr/>
            </a:pP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Fossil-fueled vapor power plants.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FF"/>
              </a:buClr>
              <a:buSzTx/>
              <a:buFont typeface="Arial" charset="0"/>
              <a:buChar char="►"/>
              <a:tabLst/>
              <a:defRPr/>
            </a:pP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Pressurized-water reactor nuclear vapor power plants.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FF"/>
              </a:buClr>
              <a:buSzTx/>
              <a:buFont typeface="Arial" charset="0"/>
              <a:buChar char="►"/>
              <a:tabLst/>
              <a:defRPr/>
            </a:pP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Concentrating solar thermal vapor power plants.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FF"/>
              </a:buClr>
              <a:buSzTx/>
              <a:buFont typeface="Arial" charset="0"/>
              <a:buChar char="►"/>
              <a:tabLst/>
              <a:defRPr/>
            </a:pP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Geothermal vapor power plants.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Arial" charset="0"/>
              <a:buChar char="►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In each of the four types of vapor power plant, a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working fluid is alternately vaporized and condensed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.  A key difference among the plants is the origin of the energy required to vaporize the working fluid.</a:t>
            </a:r>
          </a:p>
        </p:txBody>
      </p:sp>
    </p:spTree>
    <p:extLst>
      <p:ext uri="{BB962C8B-B14F-4D97-AF65-F5344CB8AC3E}">
        <p14:creationId xmlns:p14="http://schemas.microsoft.com/office/powerpoint/2010/main" val="2476825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3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4" dur="indefinite"/>
                                        <p:tgtEl>
                                          <p:spTgt spid="5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3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6" dur="indefinite"/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3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8" dur="indefinite"/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3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0" dur="indefinite"/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3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2" dur="indefinite"/>
                                        <p:tgtEl>
                                          <p:spTgt spid="5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1524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 sz="3200" b="1" u="sng" dirty="0"/>
              <a:t>Introducing Vapor Power Plants (2 of 11)</a:t>
            </a:r>
          </a:p>
        </p:txBody>
      </p:sp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762000" y="914400"/>
            <a:ext cx="79248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Arial" charset="0"/>
              <a:buChar char="►"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In fossil-fueled plants, the energy required for vaporization originates in 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combustion of the fuel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.</a:t>
            </a:r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981200"/>
            <a:ext cx="6664325" cy="4708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853292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1524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 sz="3200" b="1" u="sng" dirty="0"/>
              <a:t>Introducing Vapor Power Plants (3 of 11)</a:t>
            </a:r>
          </a:p>
        </p:txBody>
      </p:sp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838200" y="914400"/>
            <a:ext cx="80010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Arial" charset="0"/>
              <a:buChar char="►"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In nuclear plants, the energy required for vaporization originates in a 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controlled nuclear reaction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.</a:t>
            </a:r>
          </a:p>
        </p:txBody>
      </p:sp>
      <p:pic>
        <p:nvPicPr>
          <p:cNvPr id="9220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438400"/>
            <a:ext cx="8007350" cy="4106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952449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1524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 sz="3200" b="1" u="sng" dirty="0"/>
              <a:t>Introducing Vapor Power Plants (4 of 11)</a:t>
            </a:r>
          </a:p>
        </p:txBody>
      </p:sp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1295400" y="990600"/>
            <a:ext cx="70866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Arial" charset="0"/>
              <a:buChar char="►"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In solar plants, the energy required for vaporization originates in 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collected and concentrated solar radiation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.</a:t>
            </a:r>
          </a:p>
        </p:txBody>
      </p:sp>
      <p:pic>
        <p:nvPicPr>
          <p:cNvPr id="10244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743200"/>
            <a:ext cx="8026400" cy="3275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623177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1524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 sz="3200" b="1" u="sng" dirty="0"/>
              <a:t>Introducing Vapor Power Plants (5 of 11)</a:t>
            </a:r>
          </a:p>
        </p:txBody>
      </p:sp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609600" y="990600"/>
            <a:ext cx="83058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Arial" charset="0"/>
              <a:buChar char="►"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In geothermal plants, the energy required for vaporization originates in 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hot water and/or steam drawn from below the earth’s surface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.</a:t>
            </a:r>
          </a:p>
        </p:txBody>
      </p:sp>
      <p:pic>
        <p:nvPicPr>
          <p:cNvPr id="11268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362200"/>
            <a:ext cx="6664325" cy="432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26861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1524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 sz="3200" b="1" u="sng" dirty="0"/>
              <a:t>Introducing Vapor Power Plants (6 of 11)</a:t>
            </a:r>
          </a:p>
        </p:txBody>
      </p:sp>
      <p:pic>
        <p:nvPicPr>
          <p:cNvPr id="12291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2514600"/>
            <a:ext cx="6005513" cy="4243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2292" name="Text Box 3"/>
          <p:cNvSpPr txBox="1">
            <a:spLocks noChangeArrowheads="1"/>
          </p:cNvSpPr>
          <p:nvPr/>
        </p:nvSpPr>
        <p:spPr bwMode="auto">
          <a:xfrm>
            <a:off x="304800" y="914400"/>
            <a:ext cx="86106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Arial" charset="0"/>
              <a:buChar char="►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The fossil-fueled vapor power plant will be considered as representative.  The overall plant is broken into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four major subsystems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identified by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A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,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B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,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C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, and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D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.  Water is the working fluid.</a:t>
            </a:r>
          </a:p>
        </p:txBody>
      </p:sp>
    </p:spTree>
    <p:extLst>
      <p:ext uri="{BB962C8B-B14F-4D97-AF65-F5344CB8AC3E}">
        <p14:creationId xmlns:p14="http://schemas.microsoft.com/office/powerpoint/2010/main" val="7825088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1524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 sz="3200" b="1" u="sng" dirty="0"/>
              <a:t>Introducing Vapor Power Plants (7 of 11)</a:t>
            </a:r>
          </a:p>
        </p:txBody>
      </p:sp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057400"/>
            <a:ext cx="6672263" cy="4714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3316" name="Text Box 4"/>
          <p:cNvSpPr txBox="1">
            <a:spLocks noChangeArrowheads="1"/>
          </p:cNvSpPr>
          <p:nvPr/>
        </p:nvSpPr>
        <p:spPr bwMode="auto">
          <a:xfrm>
            <a:off x="304800" y="914400"/>
            <a:ext cx="86106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Arial" charset="0"/>
              <a:buChar char="►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Subsystem A provides the thermal energy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needed to vaporize water circulating in subsystem B.  In fossil-fueled plants this heat transfer has its origin in the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combustion of the fuel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.</a:t>
            </a:r>
          </a:p>
        </p:txBody>
      </p:sp>
      <p:sp>
        <p:nvSpPr>
          <p:cNvPr id="13317" name="Line 6"/>
          <p:cNvSpPr>
            <a:spLocks noChangeShapeType="1"/>
          </p:cNvSpPr>
          <p:nvPr/>
        </p:nvSpPr>
        <p:spPr bwMode="auto">
          <a:xfrm flipH="1">
            <a:off x="2286000" y="5791200"/>
            <a:ext cx="6858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3318" name="Line 7"/>
          <p:cNvSpPr>
            <a:spLocks noChangeShapeType="1"/>
          </p:cNvSpPr>
          <p:nvPr/>
        </p:nvSpPr>
        <p:spPr bwMode="auto">
          <a:xfrm flipV="1">
            <a:off x="2971800" y="4114800"/>
            <a:ext cx="0" cy="1676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3319" name="Line 8"/>
          <p:cNvSpPr>
            <a:spLocks noChangeShapeType="1"/>
          </p:cNvSpPr>
          <p:nvPr/>
        </p:nvSpPr>
        <p:spPr bwMode="auto">
          <a:xfrm flipV="1">
            <a:off x="2286000" y="4572000"/>
            <a:ext cx="0" cy="1219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3320" name="Line 9"/>
          <p:cNvSpPr>
            <a:spLocks noChangeShapeType="1"/>
          </p:cNvSpPr>
          <p:nvPr/>
        </p:nvSpPr>
        <p:spPr bwMode="auto">
          <a:xfrm flipV="1">
            <a:off x="1676400" y="2590800"/>
            <a:ext cx="0" cy="1981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3321" name="Line 10"/>
          <p:cNvSpPr>
            <a:spLocks noChangeShapeType="1"/>
          </p:cNvSpPr>
          <p:nvPr/>
        </p:nvSpPr>
        <p:spPr bwMode="auto">
          <a:xfrm flipV="1">
            <a:off x="2133600" y="2590800"/>
            <a:ext cx="0" cy="15240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3322" name="Line 11"/>
          <p:cNvSpPr>
            <a:spLocks noChangeShapeType="1"/>
          </p:cNvSpPr>
          <p:nvPr/>
        </p:nvSpPr>
        <p:spPr bwMode="auto">
          <a:xfrm>
            <a:off x="1676400" y="4572000"/>
            <a:ext cx="609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3323" name="Line 12"/>
          <p:cNvSpPr>
            <a:spLocks noChangeShapeType="1"/>
          </p:cNvSpPr>
          <p:nvPr/>
        </p:nvSpPr>
        <p:spPr bwMode="auto">
          <a:xfrm>
            <a:off x="2133600" y="4114800"/>
            <a:ext cx="838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3324" name="Line 13"/>
          <p:cNvSpPr>
            <a:spLocks noChangeShapeType="1"/>
          </p:cNvSpPr>
          <p:nvPr/>
        </p:nvSpPr>
        <p:spPr bwMode="auto">
          <a:xfrm>
            <a:off x="1676400" y="2590800"/>
            <a:ext cx="45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45397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1524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 sz="3200" b="1" u="sng" dirty="0"/>
              <a:t>Introducing Vapor Power Plants (8 of 11)</a:t>
            </a:r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057400"/>
            <a:ext cx="6672263" cy="4714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304800" y="914400"/>
            <a:ext cx="86106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Arial" charset="0"/>
              <a:buChar char="►"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In subsystem B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,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the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water vapor expands through the turbine, 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developing power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.  The water then condenses and returns to the boiler.</a:t>
            </a:r>
          </a:p>
        </p:txBody>
      </p:sp>
      <p:sp>
        <p:nvSpPr>
          <p:cNvPr id="14341" name="Line 5"/>
          <p:cNvSpPr>
            <a:spLocks noChangeShapeType="1"/>
          </p:cNvSpPr>
          <p:nvPr/>
        </p:nvSpPr>
        <p:spPr bwMode="auto">
          <a:xfrm flipH="1">
            <a:off x="2971800" y="6553200"/>
            <a:ext cx="1371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4342" name="Line 6"/>
          <p:cNvSpPr>
            <a:spLocks noChangeShapeType="1"/>
          </p:cNvSpPr>
          <p:nvPr/>
        </p:nvSpPr>
        <p:spPr bwMode="auto">
          <a:xfrm flipV="1">
            <a:off x="2971800" y="4114800"/>
            <a:ext cx="0" cy="2438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4343" name="Line 7"/>
          <p:cNvSpPr>
            <a:spLocks noChangeShapeType="1"/>
          </p:cNvSpPr>
          <p:nvPr/>
        </p:nvSpPr>
        <p:spPr bwMode="auto">
          <a:xfrm flipV="1">
            <a:off x="4343400" y="4114800"/>
            <a:ext cx="0" cy="2438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4344" name="Line 11"/>
          <p:cNvSpPr>
            <a:spLocks noChangeShapeType="1"/>
          </p:cNvSpPr>
          <p:nvPr/>
        </p:nvSpPr>
        <p:spPr bwMode="auto">
          <a:xfrm>
            <a:off x="2971800" y="4114800"/>
            <a:ext cx="1371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28709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1524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 sz="3200" b="1" u="sng" dirty="0"/>
              <a:t>Introducing Vapor Power Plants (9 of 11)</a:t>
            </a:r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057400"/>
            <a:ext cx="6672263" cy="4714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304800" y="914400"/>
            <a:ext cx="8610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Arial" charset="0"/>
              <a:buChar char="►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In subsystem C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,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</a:t>
            </a:r>
            <a:r>
              <a:rPr lang="en-US" altLang="en-US" sz="2400" dirty="0">
                <a:solidFill>
                  <a:srgbClr val="000000"/>
                </a:solidFill>
              </a:rPr>
              <a:t>mechanical power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developed by the turbine drives an electric generator.</a:t>
            </a:r>
          </a:p>
        </p:txBody>
      </p:sp>
      <p:sp>
        <p:nvSpPr>
          <p:cNvPr id="15365" name="Line 5"/>
          <p:cNvSpPr>
            <a:spLocks noChangeShapeType="1"/>
          </p:cNvSpPr>
          <p:nvPr/>
        </p:nvSpPr>
        <p:spPr bwMode="auto">
          <a:xfrm flipH="1">
            <a:off x="4343400" y="5029200"/>
            <a:ext cx="1143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5366" name="Line 6"/>
          <p:cNvSpPr>
            <a:spLocks noChangeShapeType="1"/>
          </p:cNvSpPr>
          <p:nvPr/>
        </p:nvSpPr>
        <p:spPr bwMode="auto">
          <a:xfrm flipV="1">
            <a:off x="5486400" y="4114800"/>
            <a:ext cx="0" cy="914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5367" name="Line 7"/>
          <p:cNvSpPr>
            <a:spLocks noChangeShapeType="1"/>
          </p:cNvSpPr>
          <p:nvPr/>
        </p:nvSpPr>
        <p:spPr bwMode="auto">
          <a:xfrm flipV="1">
            <a:off x="4343400" y="4114800"/>
            <a:ext cx="0" cy="914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5368" name="Line 8"/>
          <p:cNvSpPr>
            <a:spLocks noChangeShapeType="1"/>
          </p:cNvSpPr>
          <p:nvPr/>
        </p:nvSpPr>
        <p:spPr bwMode="auto">
          <a:xfrm>
            <a:off x="4343400" y="4114800"/>
            <a:ext cx="1143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94977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" y="152400"/>
            <a:ext cx="8763000" cy="914400"/>
          </a:xfrm>
        </p:spPr>
        <p:txBody>
          <a:bodyPr/>
          <a:lstStyle/>
          <a:p>
            <a:pPr eaLnBrk="1" hangingPunct="1"/>
            <a:r>
              <a:rPr lang="en-US" altLang="en-US" sz="3200" b="1" u="sng" dirty="0"/>
              <a:t>Introducing Vapor Power Plants (10 of 11)</a:t>
            </a:r>
          </a:p>
        </p:txBody>
      </p:sp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057400"/>
            <a:ext cx="6672263" cy="4714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304800" y="914400"/>
            <a:ext cx="8610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Arial" charset="0"/>
              <a:buChar char="►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Subsystem D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removes thermal energy from the steam cycle by condensing steam in subsystem B.</a:t>
            </a:r>
          </a:p>
        </p:txBody>
      </p:sp>
      <p:sp>
        <p:nvSpPr>
          <p:cNvPr id="16389" name="Line 5"/>
          <p:cNvSpPr>
            <a:spLocks noChangeShapeType="1"/>
          </p:cNvSpPr>
          <p:nvPr/>
        </p:nvSpPr>
        <p:spPr bwMode="auto">
          <a:xfrm flipH="1">
            <a:off x="4267200" y="5029200"/>
            <a:ext cx="2362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6390" name="Line 6"/>
          <p:cNvSpPr>
            <a:spLocks noChangeShapeType="1"/>
          </p:cNvSpPr>
          <p:nvPr/>
        </p:nvSpPr>
        <p:spPr bwMode="auto">
          <a:xfrm flipV="1">
            <a:off x="8077200" y="4114800"/>
            <a:ext cx="0" cy="19050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6391" name="Line 7"/>
          <p:cNvSpPr>
            <a:spLocks noChangeShapeType="1"/>
          </p:cNvSpPr>
          <p:nvPr/>
        </p:nvSpPr>
        <p:spPr bwMode="auto">
          <a:xfrm flipV="1">
            <a:off x="6629400" y="4114800"/>
            <a:ext cx="0" cy="914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6392" name="Line 8"/>
          <p:cNvSpPr>
            <a:spLocks noChangeShapeType="1"/>
          </p:cNvSpPr>
          <p:nvPr/>
        </p:nvSpPr>
        <p:spPr bwMode="auto">
          <a:xfrm>
            <a:off x="6629400" y="4114800"/>
            <a:ext cx="14478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6393" name="Line 9"/>
          <p:cNvSpPr>
            <a:spLocks noChangeShapeType="1"/>
          </p:cNvSpPr>
          <p:nvPr/>
        </p:nvSpPr>
        <p:spPr bwMode="auto">
          <a:xfrm flipV="1">
            <a:off x="4267200" y="5029200"/>
            <a:ext cx="0" cy="990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6394" name="Line 10"/>
          <p:cNvSpPr>
            <a:spLocks noChangeShapeType="1"/>
          </p:cNvSpPr>
          <p:nvPr/>
        </p:nvSpPr>
        <p:spPr bwMode="auto">
          <a:xfrm flipH="1">
            <a:off x="4267200" y="6019800"/>
            <a:ext cx="3810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10399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152400"/>
            <a:ext cx="8686800" cy="914400"/>
          </a:xfrm>
        </p:spPr>
        <p:txBody>
          <a:bodyPr/>
          <a:lstStyle/>
          <a:p>
            <a:pPr eaLnBrk="1" hangingPunct="1"/>
            <a:r>
              <a:rPr lang="en-US" altLang="en-US" sz="3200" b="1" u="sng" dirty="0"/>
              <a:t>Introducing Vapor Power Plants (11 of 11)</a:t>
            </a:r>
          </a:p>
        </p:txBody>
      </p:sp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057400"/>
            <a:ext cx="6672263" cy="4714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304800" y="914400"/>
            <a:ext cx="86106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Arial" charset="0"/>
              <a:buChar char="►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Each unit of mass of water periodically undergoes a thermodynamic cycle as it circulates through the components of subsystem B.  This cycle is the </a:t>
            </a:r>
            <a:r>
              <a:rPr kumimoji="0" lang="en-US" alt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Rankine cycle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.</a:t>
            </a:r>
          </a:p>
        </p:txBody>
      </p:sp>
      <p:sp>
        <p:nvSpPr>
          <p:cNvPr id="17413" name="Line 5"/>
          <p:cNvSpPr>
            <a:spLocks noChangeShapeType="1"/>
          </p:cNvSpPr>
          <p:nvPr/>
        </p:nvSpPr>
        <p:spPr bwMode="auto">
          <a:xfrm flipH="1">
            <a:off x="2971800" y="6553200"/>
            <a:ext cx="1371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7414" name="Line 6"/>
          <p:cNvSpPr>
            <a:spLocks noChangeShapeType="1"/>
          </p:cNvSpPr>
          <p:nvPr/>
        </p:nvSpPr>
        <p:spPr bwMode="auto">
          <a:xfrm flipV="1">
            <a:off x="2971800" y="4114800"/>
            <a:ext cx="0" cy="2438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7415" name="Line 7"/>
          <p:cNvSpPr>
            <a:spLocks noChangeShapeType="1"/>
          </p:cNvSpPr>
          <p:nvPr/>
        </p:nvSpPr>
        <p:spPr bwMode="auto">
          <a:xfrm flipV="1">
            <a:off x="4343400" y="4114800"/>
            <a:ext cx="0" cy="2438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7416" name="Line 8"/>
          <p:cNvSpPr>
            <a:spLocks noChangeShapeType="1"/>
          </p:cNvSpPr>
          <p:nvPr/>
        </p:nvSpPr>
        <p:spPr bwMode="auto">
          <a:xfrm>
            <a:off x="2971800" y="4114800"/>
            <a:ext cx="1371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1449" name="Oval 9"/>
          <p:cNvSpPr>
            <a:spLocks noChangeArrowheads="1"/>
          </p:cNvSpPr>
          <p:nvPr/>
        </p:nvSpPr>
        <p:spPr bwMode="auto">
          <a:xfrm>
            <a:off x="3124200" y="5638800"/>
            <a:ext cx="76200" cy="76200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x-none" altLang="x-non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1159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1.85185E-6 L 0.0125 -0.01389 L -0.01319 -0.0213 L 0.0132 -0.03149 L -0.0118 -0.03982 L 0.0125 -0.05093 L -0.0125 -0.05926 L 0.01111 -0.06574 L -0.01319 -0.07686 L 0.01181 -0.08426 L -0.0125 -0.09352 L 0.01111 -0.10278 L -0.01319 -0.10834 L 0.01181 -0.12037 L -0.01111 -0.12778 L 0.0125 -0.13612 L -0.0125 -0.1463 L 0.10834 -0.15278 L 0.10764 0.09351 L -0.00139 0.09351 L -0.00139 0.00648 " pathEditMode="relative" ptsTypes="AAAAAAAAAAAAAAAAAAAAA">
                                      <p:cBhvr>
                                        <p:cTn id="9" dur="5000" fill="hold"/>
                                        <p:tgtEl>
                                          <p:spTgt spid="614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1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2.22222E-6 L 0.01389 -0.01945 L -0.01111 -0.02778 L 0.0125 -0.03519 L -0.01041 -0.04445 L 0.01389 -0.05371 L -0.01111 -0.06204 L 0.0125 -0.07223 L -0.0118 -0.07871 L 0.01389 -0.08982 L -0.01041 -0.09723 L 0.01389 -0.10649 L -0.0125 -0.11575 L 0.0125 -0.125 L -0.0125 -0.13149 L 0.0132 -0.14167 L -0.0125 -0.15371 L 0.10903 -0.15556 L 0.10903 0.08888 L -1.11111E-6 0.08888 L -1.11111E-6 2.22222E-6 Z " pathEditMode="relative" ptsTypes="AAAAAAAAAAAAAAAAAAAAA">
                                      <p:cBhvr>
                                        <p:cTn id="12" dur="5000" fill="hold"/>
                                        <p:tgtEl>
                                          <p:spTgt spid="614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14" presetID="1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9" grpId="0" animBg="1"/>
      <p:bldP spid="61449" grpId="1" animBg="1"/>
      <p:bldP spid="61449" grpId="2" animBg="1"/>
      <p:bldP spid="61449" grpId="3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24B2-5D52-46F7-B915-67CABB3AD0CF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66750" y="1066800"/>
            <a:ext cx="7810500" cy="4157662"/>
          </a:xfrm>
        </p:spPr>
        <p:txBody>
          <a:bodyPr/>
          <a:lstStyle/>
          <a:p>
            <a:pPr marL="0" indent="0" algn="ctr">
              <a:buNone/>
            </a:pPr>
            <a:endParaRPr lang="en-CA" b="1" dirty="0"/>
          </a:p>
          <a:p>
            <a:pPr marL="0" indent="0" algn="ctr">
              <a:buNone/>
            </a:pPr>
            <a:endParaRPr lang="en-CA" sz="3200" b="1" dirty="0"/>
          </a:p>
          <a:p>
            <a:pPr marL="0" indent="0" algn="ctr">
              <a:buNone/>
            </a:pPr>
            <a:r>
              <a:rPr lang="en-CA" sz="3200" b="1" dirty="0"/>
              <a:t>PART 2</a:t>
            </a:r>
          </a:p>
          <a:p>
            <a:pPr marL="0" indent="0" algn="ctr">
              <a:buNone/>
            </a:pPr>
            <a:endParaRPr lang="en-CA" sz="3200" b="1" dirty="0"/>
          </a:p>
          <a:p>
            <a:pPr marL="0" indent="0" algn="ctr">
              <a:buNone/>
            </a:pPr>
            <a:r>
              <a:rPr lang="en-CA" sz="3200" b="1" dirty="0"/>
              <a:t> Thermal Sciences</a:t>
            </a:r>
          </a:p>
          <a:p>
            <a:pPr marL="0" indent="0" algn="ctr">
              <a:buNone/>
            </a:pPr>
            <a:r>
              <a:rPr lang="en-US" dirty="0">
                <a:latin typeface="Calibri" pitchFamily="34" charset="0"/>
              </a:rPr>
              <a:t>The science that deal with energy and the transfer, transport, and conversion of energy</a:t>
            </a:r>
            <a:endParaRPr lang="en-CA" sz="3200" b="1" dirty="0"/>
          </a:p>
        </p:txBody>
      </p:sp>
    </p:spTree>
    <p:extLst>
      <p:ext uri="{BB962C8B-B14F-4D97-AF65-F5344CB8AC3E}">
        <p14:creationId xmlns:p14="http://schemas.microsoft.com/office/powerpoint/2010/main" val="38328869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Text Box 1">
            <a:extLst>
              <a:ext uri="{FF2B5EF4-FFF2-40B4-BE49-F238E27FC236}">
                <a16:creationId xmlns:a16="http://schemas.microsoft.com/office/drawing/2014/main" id="{ECE095DE-8763-0700-63BF-28B35DEAA5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425" y="914400"/>
            <a:ext cx="7505700" cy="1069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3399"/>
              </a:buClr>
              <a:buSzTx/>
              <a:buFont typeface="Times New Roman" pitchFamily="1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3200" b="1" i="0" u="sng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uLnTx/>
                <a:uFillTx/>
                <a:latin typeface="Times New Roman" pitchFamily="16" charset="0"/>
                <a:ea typeface="+mn-ea"/>
                <a:cs typeface="DejaVu Sans"/>
              </a:rPr>
              <a:t>Closed systems</a:t>
            </a:r>
            <a:r>
              <a:rPr kumimoji="0" lang="en-GB" sz="3200" b="0" i="0" u="sng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uLnTx/>
                <a:uFillTx/>
                <a:latin typeface="Times New Roman" pitchFamily="16" charset="0"/>
                <a:ea typeface="+mn-ea"/>
                <a:cs typeface="DejaVu Sans"/>
              </a:rPr>
              <a:t>: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itchFamily="16" charset="0"/>
                <a:ea typeface="+mn-ea"/>
                <a:cs typeface="DejaVu Sans"/>
              </a:rPr>
              <a:t> </a:t>
            </a:r>
            <a:b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itchFamily="16" charset="0"/>
                <a:ea typeface="+mn-ea"/>
                <a:cs typeface="DejaVu Sans"/>
              </a:rPr>
            </a:b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itchFamily="16" charset="0"/>
                <a:ea typeface="+mn-ea"/>
                <a:cs typeface="DejaVu Sans"/>
              </a:rPr>
              <a:t>	No mass crosses the system boundaries</a:t>
            </a: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7AB39266-B864-3240-0284-12DD208703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7163"/>
            <a:ext cx="9144000" cy="6080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3240" tIns="46440" rIns="93240" bIns="4644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Garamond" pitchFamily="1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4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itchFamily="16" charset="0"/>
                <a:ea typeface="+mn-ea"/>
                <a:cs typeface="DejaVu Sans"/>
              </a:rPr>
              <a:t>Energy Balances</a:t>
            </a:r>
          </a:p>
        </p:txBody>
      </p:sp>
      <p:sp>
        <p:nvSpPr>
          <p:cNvPr id="5124" name="Text Box 4">
            <a:extLst>
              <a:ext uri="{FF2B5EF4-FFF2-40B4-BE49-F238E27FC236}">
                <a16:creationId xmlns:a16="http://schemas.microsoft.com/office/drawing/2014/main" id="{7D6C8652-9AF0-A34F-3996-AE8A3D11B3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425" y="3276600"/>
            <a:ext cx="7505700" cy="1069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66"/>
              </a:buClr>
              <a:buSzTx/>
              <a:buFont typeface="Times New Roman" pitchFamily="1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3200" b="1" i="0" u="sng" strike="noStrike" kern="1200" cap="none" spc="0" normalizeH="0" baseline="0" noProof="0" dirty="0">
                <a:ln>
                  <a:noFill/>
                </a:ln>
                <a:solidFill>
                  <a:srgbClr val="FF0066"/>
                </a:solidFill>
                <a:uLnTx/>
                <a:uFillTx/>
                <a:latin typeface="Times New Roman" pitchFamily="16" charset="0"/>
                <a:ea typeface="+mn-ea"/>
                <a:cs typeface="DejaVu Sans"/>
              </a:rPr>
              <a:t>Open systems</a:t>
            </a:r>
            <a:r>
              <a:rPr kumimoji="0" lang="en-GB" sz="3200" b="0" i="0" u="sng" strike="noStrike" kern="1200" cap="none" spc="0" normalizeH="0" baseline="0" noProof="0" dirty="0">
                <a:ln>
                  <a:noFill/>
                </a:ln>
                <a:solidFill>
                  <a:srgbClr val="FF0066"/>
                </a:solidFill>
                <a:uLnTx/>
                <a:uFillTx/>
                <a:latin typeface="Times New Roman" pitchFamily="16" charset="0"/>
                <a:ea typeface="+mn-ea"/>
                <a:cs typeface="DejaVu Sans"/>
              </a:rPr>
              <a:t>: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itchFamily="16" charset="0"/>
                <a:ea typeface="+mn-ea"/>
                <a:cs typeface="DejaVu Sans"/>
              </a:rPr>
              <a:t> </a:t>
            </a:r>
            <a:b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itchFamily="16" charset="0"/>
                <a:ea typeface="+mn-ea"/>
                <a:cs typeface="DejaVu Sans"/>
              </a:rPr>
            </a:b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itchFamily="16" charset="0"/>
                <a:ea typeface="+mn-ea"/>
                <a:cs typeface="DejaVu Sans"/>
              </a:rPr>
              <a:t>	Mass crosses the system boundaries</a:t>
            </a:r>
          </a:p>
        </p:txBody>
      </p:sp>
      <p:sp>
        <p:nvSpPr>
          <p:cNvPr id="7173" name="Text Box 6">
            <a:extLst>
              <a:ext uri="{FF2B5EF4-FFF2-40B4-BE49-F238E27FC236}">
                <a16:creationId xmlns:a16="http://schemas.microsoft.com/office/drawing/2014/main" id="{C1ED6A12-0F21-ABAC-478C-FFAA3E2CD1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5" y="6208713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graphicFrame>
        <p:nvGraphicFramePr>
          <p:cNvPr id="7174" name="Object 9">
            <a:extLst>
              <a:ext uri="{FF2B5EF4-FFF2-40B4-BE49-F238E27FC236}">
                <a16:creationId xmlns:a16="http://schemas.microsoft.com/office/drawing/2014/main" id="{27838D20-3ACD-8440-FCCE-FCCBBDC18A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28813" y="2357438"/>
          <a:ext cx="5226050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Εξίσωση" r:id="rId3" imgW="1612900" imgH="215900" progId="Equation.3">
                  <p:embed/>
                </p:oleObj>
              </mc:Choice>
              <mc:Fallback>
                <p:oleObj name="Εξίσωση" r:id="rId3" imgW="1612900" imgH="215900" progId="Equation.3">
                  <p:embed/>
                  <p:pic>
                    <p:nvPicPr>
                      <p:cNvPr id="7174" name="Object 9">
                        <a:extLst>
                          <a:ext uri="{FF2B5EF4-FFF2-40B4-BE49-F238E27FC236}">
                            <a16:creationId xmlns:a16="http://schemas.microsoft.com/office/drawing/2014/main" id="{27838D20-3ACD-8440-FCCE-FCCBBDC18A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8813" y="2357438"/>
                        <a:ext cx="5226050" cy="695325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5" name="TextBox 8">
            <a:extLst>
              <a:ext uri="{FF2B5EF4-FFF2-40B4-BE49-F238E27FC236}">
                <a16:creationId xmlns:a16="http://schemas.microsoft.com/office/drawing/2014/main" id="{1B4945BD-AD22-DEEB-B6CA-55E2B18E72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943600"/>
            <a:ext cx="7924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H : Enthalpy		H = U + PV, measured in kJ</a:t>
            </a: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16CED4-7C32-4528-E2BA-4C3D00741CDB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874333" y="4857540"/>
            <a:ext cx="5300169" cy="575094"/>
          </a:xfrm>
          <a:prstGeom prst="rect">
            <a:avLst/>
          </a:prstGeom>
          <a:blipFill rotWithShape="0">
            <a:blip r:embed="rId5"/>
            <a:stretch>
              <a:fillRect/>
            </a:stretch>
          </a:blipFill>
          <a:ln w="38100">
            <a:solidFill>
              <a:srgbClr val="FF0000"/>
            </a:solidFill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 </a:t>
            </a:r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BCA8B-3171-D1DC-8ADB-B86AA282F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CA" dirty="0"/>
              <a:t>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84D4F-BE95-EEDF-BD4C-89456D2422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CA" sz="2800" b="0" dirty="0">
                <a:effectLst/>
              </a:rPr>
              <a:t>For </a:t>
            </a:r>
            <a:r>
              <a:rPr lang="en-CA" sz="2800" dirty="0">
                <a:solidFill>
                  <a:srgbClr val="FF0000"/>
                </a:solidFill>
                <a:effectLst/>
              </a:rPr>
              <a:t>water/steam  </a:t>
            </a:r>
            <a:r>
              <a:rPr lang="en-CA" sz="2800" b="0" dirty="0">
                <a:effectLst/>
              </a:rPr>
              <a:t>∆u and ∆h are found using </a:t>
            </a:r>
            <a:r>
              <a:rPr lang="en-CA" sz="2800" b="0" dirty="0">
                <a:solidFill>
                  <a:srgbClr val="FF0000"/>
                </a:solidFill>
                <a:effectLst/>
              </a:rPr>
              <a:t>thermodynamic property tables </a:t>
            </a:r>
          </a:p>
          <a:p>
            <a:pPr>
              <a:defRPr/>
            </a:pPr>
            <a:r>
              <a:rPr lang="en-CA" sz="2800" b="0" dirty="0">
                <a:effectLst/>
              </a:rPr>
              <a:t>For </a:t>
            </a:r>
            <a:r>
              <a:rPr lang="en-CA" sz="2800" dirty="0">
                <a:solidFill>
                  <a:srgbClr val="FF0000"/>
                </a:solidFill>
                <a:effectLst/>
              </a:rPr>
              <a:t>ideal gases </a:t>
            </a:r>
            <a:r>
              <a:rPr lang="en-CA" sz="2800" b="0" dirty="0">
                <a:effectLst/>
              </a:rPr>
              <a:t>(Air, Oxygen, Nitrogen, etc.) </a:t>
            </a:r>
            <a:r>
              <a:rPr lang="en-CA" sz="2800" b="0" i="1" dirty="0">
                <a:effectLst/>
              </a:rPr>
              <a:t>∆u </a:t>
            </a:r>
            <a:r>
              <a:rPr lang="en-CA" sz="2800" b="0" dirty="0">
                <a:effectLst/>
              </a:rPr>
              <a:t>and ∆h may be </a:t>
            </a:r>
            <a:r>
              <a:rPr lang="en-CA" sz="2800" b="0" i="1" dirty="0">
                <a:effectLst/>
              </a:rPr>
              <a:t>approximated</a:t>
            </a:r>
            <a:r>
              <a:rPr lang="en-CA" sz="2800" b="0" dirty="0">
                <a:effectLst/>
              </a:rPr>
              <a:t> using </a:t>
            </a:r>
            <a:r>
              <a:rPr lang="en-CA" sz="2800" dirty="0">
                <a:solidFill>
                  <a:srgbClr val="FF0000"/>
                </a:solidFill>
                <a:effectLst/>
              </a:rPr>
              <a:t>specific heats </a:t>
            </a:r>
            <a:r>
              <a:rPr lang="en-CA" sz="2800" b="0" dirty="0">
                <a:effectLst/>
              </a:rPr>
              <a:t>(exact properties of some of these gases are provided in tables too).</a:t>
            </a:r>
          </a:p>
          <a:p>
            <a:pPr marL="457200" lvl="1" indent="0">
              <a:buFontTx/>
              <a:buNone/>
              <a:defRPr/>
            </a:pPr>
            <a:r>
              <a:rPr lang="en-CA" sz="2400" i="1" dirty="0">
                <a:solidFill>
                  <a:srgbClr val="FF0000"/>
                </a:solidFill>
                <a:effectLst/>
              </a:rPr>
              <a:t>                </a:t>
            </a:r>
            <a:r>
              <a:rPr lang="en-CA" sz="3600" i="1" dirty="0">
                <a:solidFill>
                  <a:srgbClr val="FF0000"/>
                </a:solidFill>
                <a:effectLst/>
              </a:rPr>
              <a:t>∆u=</a:t>
            </a:r>
            <a:r>
              <a:rPr lang="en-CA" sz="3600" i="1" dirty="0" err="1">
                <a:solidFill>
                  <a:srgbClr val="FF0000"/>
                </a:solidFill>
                <a:effectLst/>
              </a:rPr>
              <a:t>C</a:t>
            </a:r>
            <a:r>
              <a:rPr lang="en-CA" sz="3600" i="1" baseline="-25000" dirty="0" err="1">
                <a:solidFill>
                  <a:srgbClr val="FF0000"/>
                </a:solidFill>
                <a:effectLst/>
              </a:rPr>
              <a:t>v</a:t>
            </a:r>
            <a:r>
              <a:rPr lang="en-CA" sz="3600" i="1" dirty="0">
                <a:solidFill>
                  <a:srgbClr val="FF0000"/>
                </a:solidFill>
                <a:effectLst/>
              </a:rPr>
              <a:t>(T</a:t>
            </a:r>
            <a:r>
              <a:rPr lang="en-CA" sz="3600" i="1" baseline="-25000" dirty="0">
                <a:solidFill>
                  <a:srgbClr val="FF0000"/>
                </a:solidFill>
                <a:effectLst/>
              </a:rPr>
              <a:t>2</a:t>
            </a:r>
            <a:r>
              <a:rPr lang="en-CA" sz="3600" i="1" dirty="0">
                <a:solidFill>
                  <a:srgbClr val="FF0000"/>
                </a:solidFill>
                <a:effectLst/>
              </a:rPr>
              <a:t>-T</a:t>
            </a:r>
            <a:r>
              <a:rPr lang="en-CA" sz="3600" i="1" baseline="-25000" dirty="0">
                <a:solidFill>
                  <a:srgbClr val="FF0000"/>
                </a:solidFill>
                <a:effectLst/>
              </a:rPr>
              <a:t>1</a:t>
            </a:r>
            <a:r>
              <a:rPr lang="en-CA" sz="3600" i="1" dirty="0">
                <a:solidFill>
                  <a:srgbClr val="FF0000"/>
                </a:solidFill>
                <a:effectLst/>
              </a:rPr>
              <a:t>) </a:t>
            </a:r>
          </a:p>
          <a:p>
            <a:pPr marL="457200" lvl="1" indent="0">
              <a:buFontTx/>
              <a:buNone/>
              <a:defRPr/>
            </a:pPr>
            <a:r>
              <a:rPr lang="en-CA" sz="3600" i="1" dirty="0">
                <a:solidFill>
                  <a:srgbClr val="FF0000"/>
                </a:solidFill>
                <a:effectLst/>
              </a:rPr>
              <a:t>         </a:t>
            </a:r>
            <a:r>
              <a:rPr lang="en-CA" sz="3600" i="1" dirty="0">
                <a:effectLst/>
              </a:rPr>
              <a:t> </a:t>
            </a:r>
            <a:r>
              <a:rPr lang="en-CA" sz="3600" i="1" dirty="0">
                <a:solidFill>
                  <a:srgbClr val="FF0000"/>
                </a:solidFill>
                <a:effectLst/>
              </a:rPr>
              <a:t>∆h= C</a:t>
            </a:r>
            <a:r>
              <a:rPr lang="en-CA" sz="3600" i="1" baseline="-25000" dirty="0">
                <a:solidFill>
                  <a:srgbClr val="FF0000"/>
                </a:solidFill>
                <a:effectLst/>
              </a:rPr>
              <a:t>p</a:t>
            </a:r>
            <a:r>
              <a:rPr lang="en-CA" sz="3600" i="1" dirty="0">
                <a:solidFill>
                  <a:srgbClr val="FF0000"/>
                </a:solidFill>
                <a:effectLst/>
              </a:rPr>
              <a:t>(T</a:t>
            </a:r>
            <a:r>
              <a:rPr lang="en-CA" sz="3600" i="1" baseline="-25000" dirty="0">
                <a:solidFill>
                  <a:srgbClr val="FF0000"/>
                </a:solidFill>
                <a:effectLst/>
              </a:rPr>
              <a:t>2</a:t>
            </a:r>
            <a:r>
              <a:rPr lang="en-CA" sz="3600" i="1" dirty="0">
                <a:solidFill>
                  <a:srgbClr val="FF0000"/>
                </a:solidFill>
                <a:effectLst/>
              </a:rPr>
              <a:t>-T</a:t>
            </a:r>
            <a:r>
              <a:rPr lang="en-CA" sz="3600" i="1" baseline="-25000" dirty="0">
                <a:solidFill>
                  <a:srgbClr val="FF0000"/>
                </a:solidFill>
                <a:effectLst/>
              </a:rPr>
              <a:t>1</a:t>
            </a:r>
            <a:r>
              <a:rPr lang="en-CA" sz="3600" i="1" dirty="0">
                <a:solidFill>
                  <a:srgbClr val="FF0000"/>
                </a:solidFill>
                <a:effectLst/>
              </a:rPr>
              <a:t>)</a:t>
            </a:r>
          </a:p>
          <a:p>
            <a:pPr>
              <a:defRPr/>
            </a:pPr>
            <a:r>
              <a:rPr lang="en-CA" sz="2800" b="0" dirty="0">
                <a:effectLst/>
              </a:rPr>
              <a:t>For </a:t>
            </a:r>
            <a:r>
              <a:rPr lang="en-CA" sz="2800" dirty="0">
                <a:effectLst/>
              </a:rPr>
              <a:t>incompressible liquids and solids</a:t>
            </a:r>
            <a:r>
              <a:rPr lang="en-CA" sz="2800" b="0" dirty="0">
                <a:effectLst/>
              </a:rPr>
              <a:t>, ∆u= ∆h and found using specific heats </a:t>
            </a:r>
            <a:r>
              <a:rPr lang="en-CA" sz="1800" i="1" dirty="0">
                <a:solidFill>
                  <a:srgbClr val="FF0000"/>
                </a:solidFill>
                <a:effectLst/>
              </a:rPr>
              <a:t> </a:t>
            </a:r>
            <a:r>
              <a:rPr lang="en-CA" sz="2800" i="1" dirty="0">
                <a:solidFill>
                  <a:srgbClr val="FF0000"/>
                </a:solidFill>
                <a:effectLst/>
              </a:rPr>
              <a:t>∆u= ∆h =C(T</a:t>
            </a:r>
            <a:r>
              <a:rPr lang="en-CA" sz="2800" i="1" baseline="-25000" dirty="0">
                <a:solidFill>
                  <a:srgbClr val="FF0000"/>
                </a:solidFill>
                <a:effectLst/>
              </a:rPr>
              <a:t>2</a:t>
            </a:r>
            <a:r>
              <a:rPr lang="en-CA" sz="2800" i="1" dirty="0">
                <a:solidFill>
                  <a:srgbClr val="FF0000"/>
                </a:solidFill>
                <a:effectLst/>
              </a:rPr>
              <a:t>-T</a:t>
            </a:r>
            <a:r>
              <a:rPr lang="en-CA" sz="2800" i="1" baseline="-25000" dirty="0">
                <a:solidFill>
                  <a:srgbClr val="FF0000"/>
                </a:solidFill>
                <a:effectLst/>
              </a:rPr>
              <a:t>1</a:t>
            </a:r>
            <a:r>
              <a:rPr lang="en-CA" sz="2800" i="1" dirty="0">
                <a:solidFill>
                  <a:srgbClr val="FF0000"/>
                </a:solidFill>
                <a:effectLst/>
              </a:rPr>
              <a:t>) </a:t>
            </a:r>
            <a:endParaRPr lang="en-CA" sz="2800" b="0" dirty="0">
              <a:effectLst/>
            </a:endParaRPr>
          </a:p>
          <a:p>
            <a:pPr>
              <a:defRPr/>
            </a:pPr>
            <a:endParaRPr lang="en-CA" sz="2800" b="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9329E-CE4E-FF7C-CA41-C84285B3B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CA" dirty="0"/>
              <a:t>Open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0EBBA-137B-B02D-82E1-33D59F524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CA" sz="2400" dirty="0"/>
              <a:t>Turbines, Compressors, Heat Exchanger and Flow Mixers </a:t>
            </a:r>
          </a:p>
        </p:txBody>
      </p:sp>
      <p:pic>
        <p:nvPicPr>
          <p:cNvPr id="10244" name="Picture 4">
            <a:extLst>
              <a:ext uri="{FF2B5EF4-FFF2-40B4-BE49-F238E27FC236}">
                <a16:creationId xmlns:a16="http://schemas.microsoft.com/office/drawing/2014/main" id="{B0BA23CC-7676-450B-91C9-965E349F22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50" y="1404938"/>
            <a:ext cx="2444750" cy="170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5" name="Picture 6">
            <a:extLst>
              <a:ext uri="{FF2B5EF4-FFF2-40B4-BE49-F238E27FC236}">
                <a16:creationId xmlns:a16="http://schemas.microsoft.com/office/drawing/2014/main" id="{DAC11ECA-D7B4-152C-A66D-F0279CC62C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382713"/>
            <a:ext cx="2330450" cy="189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6" name="Picture 8">
            <a:extLst>
              <a:ext uri="{FF2B5EF4-FFF2-40B4-BE49-F238E27FC236}">
                <a16:creationId xmlns:a16="http://schemas.microsoft.com/office/drawing/2014/main" id="{CBB3F057-6563-0BC8-5AEA-FE9FD6B930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107"/>
          <a:stretch>
            <a:fillRect/>
          </a:stretch>
        </p:blipFill>
        <p:spPr bwMode="auto">
          <a:xfrm>
            <a:off x="381000" y="3897313"/>
            <a:ext cx="2667000" cy="1627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7" name="TextBox 10">
            <a:extLst>
              <a:ext uri="{FF2B5EF4-FFF2-40B4-BE49-F238E27FC236}">
                <a16:creationId xmlns:a16="http://schemas.microsoft.com/office/drawing/2014/main" id="{F200C5CD-89AE-6F8B-C460-74F2D4A602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25" y="3105150"/>
            <a:ext cx="2740025" cy="1169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 </a:t>
            </a:r>
            <a:r>
              <a:rPr kumimoji="0" lang="en-US" altLang="en-US" sz="1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BoldItalic"/>
                <a:ea typeface="+mn-ea"/>
                <a:cs typeface="+mn-cs"/>
              </a:rPr>
              <a:t>turbine </a:t>
            </a: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is a device in which work is developed as a result of a gas or liquid passing through a set of blades attached to a shaft free to rotate</a:t>
            </a:r>
            <a:endParaRPr kumimoji="0" lang="en-CA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10248" name="Picture 11">
            <a:extLst>
              <a:ext uri="{FF2B5EF4-FFF2-40B4-BE49-F238E27FC236}">
                <a16:creationId xmlns:a16="http://schemas.microsoft.com/office/drawing/2014/main" id="{73984D3D-B0D0-CB57-688C-38DE6D7A5D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484"/>
          <a:stretch>
            <a:fillRect/>
          </a:stretch>
        </p:blipFill>
        <p:spPr bwMode="auto">
          <a:xfrm>
            <a:off x="4852988" y="3886200"/>
            <a:ext cx="3433762" cy="162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9" name="TextBox 13">
            <a:extLst>
              <a:ext uri="{FF2B5EF4-FFF2-40B4-BE49-F238E27FC236}">
                <a16:creationId xmlns:a16="http://schemas.microsoft.com/office/drawing/2014/main" id="{3DDE32B6-F1A7-21E6-6ACD-DD40A25A02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2988" y="3187700"/>
            <a:ext cx="3005137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Compressors </a:t>
            </a: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are devices in which work is done on a gas passing through them in order to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raise the pressure</a:t>
            </a:r>
          </a:p>
        </p:txBody>
      </p:sp>
      <p:sp>
        <p:nvSpPr>
          <p:cNvPr id="10250" name="TextBox 15">
            <a:extLst>
              <a:ext uri="{FF2B5EF4-FFF2-40B4-BE49-F238E27FC236}">
                <a16:creationId xmlns:a16="http://schemas.microsoft.com/office/drawing/2014/main" id="{6CBEA8BE-0107-93EA-FC62-E17C038EC5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381625"/>
            <a:ext cx="8763000" cy="138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Devices that transfer energy between fluids at different temperatures by heat transfer are called </a:t>
            </a:r>
            <a:r>
              <a:rPr kumimoji="0" lang="en-US" altLang="en-US" sz="1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BoldItalic"/>
                <a:ea typeface="+mn-ea"/>
                <a:cs typeface="+mn-cs"/>
              </a:rPr>
              <a:t>heat exchangers.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4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-BoldItalic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One common type of heat exchanger is a vessel in which hot and cold streams are mixed directly (Left)</a:t>
            </a: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. </a:t>
            </a: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An open feedwater heater is an example of this type of device.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Another common type of heat exchanger is one in which a gas or liquid is </a:t>
            </a:r>
            <a:r>
              <a:rPr kumimoji="0" lang="en-US" altLang="en-US" sz="1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Italic"/>
                <a:ea typeface="+mn-ea"/>
                <a:cs typeface="+mn-cs"/>
              </a:rPr>
              <a:t>separated </a:t>
            </a: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from another gas or liquid by a wall through which energy is conducted.  (Right)</a:t>
            </a:r>
            <a:endParaRPr kumimoji="0" lang="en-CA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7">
            <a:extLst>
              <a:ext uri="{FF2B5EF4-FFF2-40B4-BE49-F238E27FC236}">
                <a16:creationId xmlns:a16="http://schemas.microsoft.com/office/drawing/2014/main" id="{62CECAD7-A31C-2251-2670-9FDEA162A7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u="sng" dirty="0"/>
              <a:t>Turbine Modeling (Air and Water)</a:t>
            </a:r>
            <a:endParaRPr lang="en-US" altLang="en-US" sz="3200" dirty="0">
              <a:solidFill>
                <a:srgbClr val="0000FF"/>
              </a:solidFill>
            </a:endParaRPr>
          </a:p>
        </p:txBody>
      </p:sp>
      <p:sp>
        <p:nvSpPr>
          <p:cNvPr id="29704" name="Rectangle 8">
            <a:extLst>
              <a:ext uri="{FF2B5EF4-FFF2-40B4-BE49-F238E27FC236}">
                <a16:creationId xmlns:a16="http://schemas.microsoft.com/office/drawing/2014/main" id="{6CDC4450-3E18-9E93-7BA4-3DB0B4E2B0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895600"/>
            <a:ext cx="8839200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Times New Roman" panose="02020603050405020304" pitchFamily="18" charset="0"/>
              <a:buChar char="►"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If the change in kinetic energy of flowing matter is negligible, 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t>½(V</a:t>
            </a:r>
            <a:r>
              <a:rPr kumimoji="0" lang="en-US" altLang="en-US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altLang="en-US" sz="28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t> – V</a:t>
            </a:r>
            <a:r>
              <a:rPr kumimoji="0" lang="en-US" altLang="en-US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altLang="en-US" sz="28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t>) 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drops out.</a:t>
            </a:r>
            <a:endParaRPr kumimoji="0" lang="en-US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Times New Roman" panose="02020603050405020304" pitchFamily="18" charset="0"/>
              <a:buChar char="►"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If the change in potential energy of flowing matter is negligible, </a:t>
            </a: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g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z</a:t>
            </a:r>
            <a:r>
              <a:rPr kumimoji="0" lang="en-US" altLang="en-US" sz="2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– </a:t>
            </a: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z</a:t>
            </a:r>
            <a:r>
              <a:rPr kumimoji="0" lang="en-US" altLang="en-US" sz="2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2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 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drops out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.</a:t>
            </a:r>
            <a:endParaRPr kumimoji="0" lang="en-US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Times New Roman" panose="02020603050405020304" pitchFamily="18" charset="0"/>
              <a:buChar char="►"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If the heat transfer with surroundings is negligible, 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Times New Roman" panose="02020603050405020304" pitchFamily="18" charset="0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     drops out.</a:t>
            </a:r>
          </a:p>
        </p:txBody>
      </p:sp>
      <p:grpSp>
        <p:nvGrpSpPr>
          <p:cNvPr id="11268" name="Group 1">
            <a:extLst>
              <a:ext uri="{FF2B5EF4-FFF2-40B4-BE49-F238E27FC236}">
                <a16:creationId xmlns:a16="http://schemas.microsoft.com/office/drawing/2014/main" id="{EDB2DF61-CD86-8139-6DBD-69694F49F8DE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1447800"/>
            <a:ext cx="7848600" cy="1371600"/>
            <a:chOff x="152400" y="1447800"/>
            <a:chExt cx="7848600" cy="1371600"/>
          </a:xfrm>
        </p:grpSpPr>
        <p:grpSp>
          <p:nvGrpSpPr>
            <p:cNvPr id="11274" name="Group 2">
              <a:extLst>
                <a:ext uri="{FF2B5EF4-FFF2-40B4-BE49-F238E27FC236}">
                  <a16:creationId xmlns:a16="http://schemas.microsoft.com/office/drawing/2014/main" id="{46BFFC09-54C0-F367-7701-E9FA9466C5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400" y="1447800"/>
              <a:ext cx="7848600" cy="1371600"/>
              <a:chOff x="96" y="2112"/>
              <a:chExt cx="4944" cy="864"/>
            </a:xfrm>
          </p:grpSpPr>
          <p:sp>
            <p:nvSpPr>
              <p:cNvPr id="11278" name="Rectangle 3">
                <a:extLst>
                  <a:ext uri="{FF2B5EF4-FFF2-40B4-BE49-F238E27FC236}">
                    <a16:creationId xmlns:a16="http://schemas.microsoft.com/office/drawing/2014/main" id="{49FA82A0-C01F-745E-40F1-AB86D2224A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" y="2112"/>
                <a:ext cx="4944" cy="864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graphicFrame>
            <p:nvGraphicFramePr>
              <p:cNvPr id="11279" name="Object 4">
                <a:extLst>
                  <a:ext uri="{FF2B5EF4-FFF2-40B4-BE49-F238E27FC236}">
                    <a16:creationId xmlns:a16="http://schemas.microsoft.com/office/drawing/2014/main" id="{BBE963DF-5E62-5502-410C-3AC521CC3C1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" y="2153"/>
              <a:ext cx="4881" cy="7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3886200" imgH="622300" progId="Equation.3">
                      <p:embed/>
                    </p:oleObj>
                  </mc:Choice>
                  <mc:Fallback>
                    <p:oleObj name="Equation" r:id="rId2" imgW="3886200" imgH="622300" progId="Equation.3">
                      <p:embed/>
                      <p:pic>
                        <p:nvPicPr>
                          <p:cNvPr id="11279" name="Object 4">
                            <a:extLst>
                              <a:ext uri="{FF2B5EF4-FFF2-40B4-BE49-F238E27FC236}">
                                <a16:creationId xmlns:a16="http://schemas.microsoft.com/office/drawing/2014/main" id="{BBE963DF-5E62-5502-410C-3AC521CC3C1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7" y="2153"/>
                            <a:ext cx="4881" cy="78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1275" name="Line 10">
              <a:extLst>
                <a:ext uri="{FF2B5EF4-FFF2-40B4-BE49-F238E27FC236}">
                  <a16:creationId xmlns:a16="http://schemas.microsoft.com/office/drawing/2014/main" id="{10031190-779A-6111-F432-D34C778B98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09600" y="1828800"/>
              <a:ext cx="609600" cy="76200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76" name="Line 11">
              <a:extLst>
                <a:ext uri="{FF2B5EF4-FFF2-40B4-BE49-F238E27FC236}">
                  <a16:creationId xmlns:a16="http://schemas.microsoft.com/office/drawing/2014/main" id="{C982ED27-C542-A8D1-3E59-70D75C011B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00600" y="1600200"/>
              <a:ext cx="838200" cy="99060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77" name="Line 12">
              <a:extLst>
                <a:ext uri="{FF2B5EF4-FFF2-40B4-BE49-F238E27FC236}">
                  <a16:creationId xmlns:a16="http://schemas.microsoft.com/office/drawing/2014/main" id="{D1261C28-E131-5788-9878-02A9C89B51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58000" y="1828800"/>
              <a:ext cx="609600" cy="76200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29717" name="Group 21">
            <a:extLst>
              <a:ext uri="{FF2B5EF4-FFF2-40B4-BE49-F238E27FC236}">
                <a16:creationId xmlns:a16="http://schemas.microsoft.com/office/drawing/2014/main" id="{38547C1C-D542-19DF-295C-21FF149C32FC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5638800"/>
            <a:ext cx="3200400" cy="762000"/>
            <a:chOff x="1728" y="3600"/>
            <a:chExt cx="2016" cy="480"/>
          </a:xfrm>
        </p:grpSpPr>
        <p:sp>
          <p:nvSpPr>
            <p:cNvPr id="11272" name="Rectangle 14">
              <a:extLst>
                <a:ext uri="{FF2B5EF4-FFF2-40B4-BE49-F238E27FC236}">
                  <a16:creationId xmlns:a16="http://schemas.microsoft.com/office/drawing/2014/main" id="{09CB5471-B613-3ED5-CA62-E5420CA9C2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3600"/>
              <a:ext cx="2016" cy="48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aphicFrame>
          <p:nvGraphicFramePr>
            <p:cNvPr id="11273" name="Object 15">
              <a:extLst>
                <a:ext uri="{FF2B5EF4-FFF2-40B4-BE49-F238E27FC236}">
                  <a16:creationId xmlns:a16="http://schemas.microsoft.com/office/drawing/2014/main" id="{B8E5C606-8946-4E49-194B-47136231FC0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94" y="3620"/>
            <a:ext cx="1902" cy="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231366" imgH="266584" progId="Equation.3">
                    <p:embed/>
                  </p:oleObj>
                </mc:Choice>
                <mc:Fallback>
                  <p:oleObj name="Equation" r:id="rId4" imgW="1231366" imgH="266584" progId="Equation.3">
                    <p:embed/>
                    <p:pic>
                      <p:nvPicPr>
                        <p:cNvPr id="11273" name="Object 15">
                          <a:extLst>
                            <a:ext uri="{FF2B5EF4-FFF2-40B4-BE49-F238E27FC236}">
                              <a16:creationId xmlns:a16="http://schemas.microsoft.com/office/drawing/2014/main" id="{B8E5C606-8946-4E49-194B-47136231FC0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4" y="3620"/>
                          <a:ext cx="1902" cy="4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9715" name="Object 19">
            <a:extLst>
              <a:ext uri="{FF2B5EF4-FFF2-40B4-BE49-F238E27FC236}">
                <a16:creationId xmlns:a16="http://schemas.microsoft.com/office/drawing/2014/main" id="{683477B1-9185-781D-F306-9B8D070E3002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533400" y="5181600"/>
          <a:ext cx="571500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04536" imgH="266469" progId="Equation.3">
                  <p:embed/>
                </p:oleObj>
              </mc:Choice>
              <mc:Fallback>
                <p:oleObj name="Equation" r:id="rId6" imgW="304536" imgH="266469" progId="Equation.3">
                  <p:embed/>
                  <p:pic>
                    <p:nvPicPr>
                      <p:cNvPr id="29715" name="Object 19">
                        <a:extLst>
                          <a:ext uri="{FF2B5EF4-FFF2-40B4-BE49-F238E27FC236}">
                            <a16:creationId xmlns:a16="http://schemas.microsoft.com/office/drawing/2014/main" id="{683477B1-9185-781D-F306-9B8D070E3002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5181600"/>
                        <a:ext cx="571500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1" name="TextBox 2">
            <a:extLst>
              <a:ext uri="{FF2B5EF4-FFF2-40B4-BE49-F238E27FC236}">
                <a16:creationId xmlns:a16="http://schemas.microsoft.com/office/drawing/2014/main" id="{575C01B6-F941-5695-A353-8C317DFBF2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5535613"/>
            <a:ext cx="25908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Positive work – Turbine produces work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7">
            <a:extLst>
              <a:ext uri="{FF2B5EF4-FFF2-40B4-BE49-F238E27FC236}">
                <a16:creationId xmlns:a16="http://schemas.microsoft.com/office/drawing/2014/main" id="{3C4E7F77-2897-F6DC-9241-E5A12EAF2A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274638"/>
            <a:ext cx="88392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u="sng" dirty="0"/>
              <a:t>Compressor Modeling (Air Only)</a:t>
            </a:r>
            <a:endParaRPr lang="en-US" altLang="en-US" sz="3200" dirty="0">
              <a:solidFill>
                <a:srgbClr val="0000FF"/>
              </a:solidFill>
            </a:endParaRPr>
          </a:p>
        </p:txBody>
      </p:sp>
      <p:grpSp>
        <p:nvGrpSpPr>
          <p:cNvPr id="12291" name="Group 1">
            <a:extLst>
              <a:ext uri="{FF2B5EF4-FFF2-40B4-BE49-F238E27FC236}">
                <a16:creationId xmlns:a16="http://schemas.microsoft.com/office/drawing/2014/main" id="{CF1CB457-5B0A-87D3-2BE3-6B08C335B8BE}"/>
              </a:ext>
            </a:extLst>
          </p:cNvPr>
          <p:cNvGrpSpPr>
            <a:grpSpLocks/>
          </p:cNvGrpSpPr>
          <p:nvPr/>
        </p:nvGrpSpPr>
        <p:grpSpPr bwMode="auto">
          <a:xfrm>
            <a:off x="671513" y="1404938"/>
            <a:ext cx="7848600" cy="1371600"/>
            <a:chOff x="152400" y="1447800"/>
            <a:chExt cx="7848600" cy="1371600"/>
          </a:xfrm>
        </p:grpSpPr>
        <p:grpSp>
          <p:nvGrpSpPr>
            <p:cNvPr id="12298" name="Group 2">
              <a:extLst>
                <a:ext uri="{FF2B5EF4-FFF2-40B4-BE49-F238E27FC236}">
                  <a16:creationId xmlns:a16="http://schemas.microsoft.com/office/drawing/2014/main" id="{9BB518CF-AD1D-869C-4E3A-67B9D1A2CE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400" y="1447800"/>
              <a:ext cx="7848600" cy="1371600"/>
              <a:chOff x="96" y="2112"/>
              <a:chExt cx="4944" cy="864"/>
            </a:xfrm>
          </p:grpSpPr>
          <p:sp>
            <p:nvSpPr>
              <p:cNvPr id="12302" name="Rectangle 3">
                <a:extLst>
                  <a:ext uri="{FF2B5EF4-FFF2-40B4-BE49-F238E27FC236}">
                    <a16:creationId xmlns:a16="http://schemas.microsoft.com/office/drawing/2014/main" id="{52E907BE-66AE-BC81-88C7-892B9A9B0D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" y="2112"/>
                <a:ext cx="4944" cy="864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graphicFrame>
            <p:nvGraphicFramePr>
              <p:cNvPr id="12303" name="Object 4">
                <a:extLst>
                  <a:ext uri="{FF2B5EF4-FFF2-40B4-BE49-F238E27FC236}">
                    <a16:creationId xmlns:a16="http://schemas.microsoft.com/office/drawing/2014/main" id="{9E2583C7-543A-5E84-33AF-3A10BA2F723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" y="2153"/>
              <a:ext cx="4881" cy="7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3886200" imgH="622300" progId="Equation.3">
                      <p:embed/>
                    </p:oleObj>
                  </mc:Choice>
                  <mc:Fallback>
                    <p:oleObj name="Equation" r:id="rId2" imgW="3886200" imgH="622300" progId="Equation.3">
                      <p:embed/>
                      <p:pic>
                        <p:nvPicPr>
                          <p:cNvPr id="12303" name="Object 4">
                            <a:extLst>
                              <a:ext uri="{FF2B5EF4-FFF2-40B4-BE49-F238E27FC236}">
                                <a16:creationId xmlns:a16="http://schemas.microsoft.com/office/drawing/2014/main" id="{9E2583C7-543A-5E84-33AF-3A10BA2F7232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7" y="2153"/>
                            <a:ext cx="4881" cy="78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2299" name="Line 9">
              <a:extLst>
                <a:ext uri="{FF2B5EF4-FFF2-40B4-BE49-F238E27FC236}">
                  <a16:creationId xmlns:a16="http://schemas.microsoft.com/office/drawing/2014/main" id="{9DB2CD14-7481-D882-E98F-DA22C7E234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09600" y="1828800"/>
              <a:ext cx="609600" cy="76200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00" name="Line 10">
              <a:extLst>
                <a:ext uri="{FF2B5EF4-FFF2-40B4-BE49-F238E27FC236}">
                  <a16:creationId xmlns:a16="http://schemas.microsoft.com/office/drawing/2014/main" id="{58297502-B434-CB82-6388-F5F06760DA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00600" y="1600200"/>
              <a:ext cx="838200" cy="99060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01" name="Line 11">
              <a:extLst>
                <a:ext uri="{FF2B5EF4-FFF2-40B4-BE49-F238E27FC236}">
                  <a16:creationId xmlns:a16="http://schemas.microsoft.com/office/drawing/2014/main" id="{FE518AF3-D08F-7CCC-6E5D-C16D78F3B8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58000" y="1828800"/>
              <a:ext cx="609600" cy="76200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31761" name="Group 17">
            <a:extLst>
              <a:ext uri="{FF2B5EF4-FFF2-40B4-BE49-F238E27FC236}">
                <a16:creationId xmlns:a16="http://schemas.microsoft.com/office/drawing/2014/main" id="{1B41472C-472B-D394-ECE8-5BDE96A275E0}"/>
              </a:ext>
            </a:extLst>
          </p:cNvPr>
          <p:cNvGrpSpPr>
            <a:grpSpLocks/>
          </p:cNvGrpSpPr>
          <p:nvPr/>
        </p:nvGrpSpPr>
        <p:grpSpPr bwMode="auto">
          <a:xfrm>
            <a:off x="3048000" y="5562600"/>
            <a:ext cx="3200400" cy="838200"/>
            <a:chOff x="1776" y="3600"/>
            <a:chExt cx="2016" cy="528"/>
          </a:xfrm>
        </p:grpSpPr>
        <p:sp>
          <p:nvSpPr>
            <p:cNvPr id="12296" name="Rectangle 13">
              <a:extLst>
                <a:ext uri="{FF2B5EF4-FFF2-40B4-BE49-F238E27FC236}">
                  <a16:creationId xmlns:a16="http://schemas.microsoft.com/office/drawing/2014/main" id="{D2E5B835-618D-0F55-80B6-5E77CABA9B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3600"/>
              <a:ext cx="2016" cy="52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297" name="Object 14">
                  <a:extLst>
                    <a:ext uri="{FF2B5EF4-FFF2-40B4-BE49-F238E27FC236}">
                      <a16:creationId xmlns:a16="http://schemas.microsoft.com/office/drawing/2014/main" id="{933B0DBA-867E-10A7-1EBB-5295C2993A7F}"/>
                    </a:ext>
                  </a:extLst>
                </p:cNvPr>
                <p:cNvSpPr txBox="1"/>
                <p:nvPr/>
              </p:nvSpPr>
              <p:spPr bwMode="auto">
                <a:xfrm>
                  <a:off x="1872" y="3654"/>
                  <a:ext cx="1854" cy="40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CA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CA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nor/>
                              </m:rPr>
                              <a:rPr lang="en-CA" sz="2400" b="0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in</m:t>
                            </m:r>
                          </m:sub>
                        </m:sSub>
                        <m:r>
                          <a:rPr lang="en-CA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̇"/>
                            <m:ctrlPr>
                              <a:rPr lang="en-CA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CA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  <m:r>
                          <a:rPr lang="en-CA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CA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CA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CA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CA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CA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CA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CA" sz="2400" dirty="0"/>
                </a:p>
              </p:txBody>
            </p:sp>
          </mc:Choice>
          <mc:Fallback>
            <p:sp>
              <p:nvSpPr>
                <p:cNvPr id="12297" name="Object 14">
                  <a:extLst>
                    <a:ext uri="{FF2B5EF4-FFF2-40B4-BE49-F238E27FC236}">
                      <a16:creationId xmlns:a16="http://schemas.microsoft.com/office/drawing/2014/main" id="{933B0DBA-867E-10A7-1EBB-5295C2993A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872" y="3654"/>
                  <a:ext cx="1854" cy="40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1759" name="Rectangle 15">
            <a:extLst>
              <a:ext uri="{FF2B5EF4-FFF2-40B4-BE49-F238E27FC236}">
                <a16:creationId xmlns:a16="http://schemas.microsoft.com/office/drawing/2014/main" id="{41523D36-A8F2-D2A1-726A-48217D02C0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928938"/>
            <a:ext cx="8839200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Times New Roman" panose="02020603050405020304" pitchFamily="18" charset="0"/>
              <a:buChar char="►"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If the change in kinetic energy of flowing matter is negligible, 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t>½(V</a:t>
            </a:r>
            <a:r>
              <a:rPr kumimoji="0" lang="en-US" altLang="en-US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altLang="en-US" sz="28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t> – V</a:t>
            </a:r>
            <a:r>
              <a:rPr kumimoji="0" lang="en-US" altLang="en-US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altLang="en-US" sz="28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t>) 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drops out.</a:t>
            </a:r>
            <a:endParaRPr kumimoji="0" lang="en-US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Times New Roman" panose="02020603050405020304" pitchFamily="18" charset="0"/>
              <a:buChar char="►"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If the change in potential energy of flowing matter is negligible, </a:t>
            </a: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g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z</a:t>
            </a:r>
            <a:r>
              <a:rPr kumimoji="0" lang="en-US" altLang="en-US" sz="2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– </a:t>
            </a: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z</a:t>
            </a:r>
            <a:r>
              <a:rPr kumimoji="0" lang="en-US" altLang="en-US" sz="2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2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 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drops out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.</a:t>
            </a:r>
            <a:endParaRPr kumimoji="0" lang="en-US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Times New Roman" panose="02020603050405020304" pitchFamily="18" charset="0"/>
              <a:buChar char="►"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If the heat transfer with surroundings is negligible,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Times New Roman" panose="02020603050405020304" pitchFamily="18" charset="0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     drops out.</a:t>
            </a:r>
          </a:p>
        </p:txBody>
      </p:sp>
      <p:graphicFrame>
        <p:nvGraphicFramePr>
          <p:cNvPr id="31760" name="Object 16">
            <a:extLst>
              <a:ext uri="{FF2B5EF4-FFF2-40B4-BE49-F238E27FC236}">
                <a16:creationId xmlns:a16="http://schemas.microsoft.com/office/drawing/2014/main" id="{C70BB282-95E6-DCB7-0286-7D20236B276C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609600" y="5214938"/>
          <a:ext cx="571500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04536" imgH="266469" progId="Equation.3">
                  <p:embed/>
                </p:oleObj>
              </mc:Choice>
              <mc:Fallback>
                <p:oleObj name="Equation" r:id="rId5" imgW="304536" imgH="266469" progId="Equation.3">
                  <p:embed/>
                  <p:pic>
                    <p:nvPicPr>
                      <p:cNvPr id="31760" name="Object 16">
                        <a:extLst>
                          <a:ext uri="{FF2B5EF4-FFF2-40B4-BE49-F238E27FC236}">
                            <a16:creationId xmlns:a16="http://schemas.microsoft.com/office/drawing/2014/main" id="{C70BB282-95E6-DCB7-0286-7D20236B276C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5214938"/>
                        <a:ext cx="571500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5" name="TextBox 2">
            <a:extLst>
              <a:ext uri="{FF2B5EF4-FFF2-40B4-BE49-F238E27FC236}">
                <a16:creationId xmlns:a16="http://schemas.microsoft.com/office/drawing/2014/main" id="{7E4280CE-9477-2972-6E48-B152C80538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0650" y="5505450"/>
            <a:ext cx="25908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compressor receives work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26F6D3F5-E4E7-2647-774C-24714ECEB1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743200"/>
            <a:ext cx="8839200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Times New Roman" panose="02020603050405020304" pitchFamily="18" charset="0"/>
              <a:buChar char="►"/>
              <a:tabLst/>
              <a:defRPr/>
            </a:pPr>
            <a:endParaRPr kumimoji="0" lang="en-US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Symbol" panose="05050102010706020507" pitchFamily="18" charset="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Times New Roman" panose="02020603050405020304" pitchFamily="18" charset="0"/>
              <a:buChar char="►"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If the kinetic energies of the flowing streams are negligible,    (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t>V</a:t>
            </a:r>
            <a:r>
              <a:rPr kumimoji="0" lang="en-US" altLang="en-US" sz="2400" b="0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t>i</a:t>
            </a:r>
            <a:r>
              <a:rPr kumimoji="0" lang="en-US" altLang="en-US" sz="28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t>/2) 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and 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t>     (V</a:t>
            </a:r>
            <a:r>
              <a:rPr kumimoji="0" lang="en-US" altLang="en-US" sz="2400" b="0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altLang="en-US" sz="28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t>/2) 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drop out.</a:t>
            </a:r>
            <a:endParaRPr kumimoji="0" lang="en-US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Times New Roman" panose="02020603050405020304" pitchFamily="18" charset="0"/>
              <a:buChar char="►"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If the potential energies of the flowing streams are negligible,    </a:t>
            </a: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gz</a:t>
            </a:r>
            <a:r>
              <a:rPr kumimoji="0" lang="en-US" altLang="en-US" sz="2800" b="0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i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and  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   </a:t>
            </a: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gz</a:t>
            </a:r>
            <a:r>
              <a:rPr kumimoji="0" lang="en-US" altLang="en-US" sz="2800" b="0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e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drop out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.</a:t>
            </a:r>
            <a:endParaRPr kumimoji="0" lang="en-US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Times New Roman" panose="02020603050405020304" pitchFamily="18" charset="0"/>
              <a:buChar char="►"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If the heat transfer with surroundings is negligible,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Times New Roman" panose="02020603050405020304" pitchFamily="18" charset="0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     drops out.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CB4F0933-BA60-37BF-6E88-77AAED24C3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295400"/>
            <a:ext cx="8686800" cy="1219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graphicFrame>
        <p:nvGraphicFramePr>
          <p:cNvPr id="13316" name="Object 4">
            <a:extLst>
              <a:ext uri="{FF2B5EF4-FFF2-40B4-BE49-F238E27FC236}">
                <a16:creationId xmlns:a16="http://schemas.microsoft.com/office/drawing/2014/main" id="{4C938CCE-DE9B-9956-3F14-7DE0A614BD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" y="1333500"/>
          <a:ext cx="8458200" cy="1112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241800" imgH="558800" progId="Equation.3">
                  <p:embed/>
                </p:oleObj>
              </mc:Choice>
              <mc:Fallback>
                <p:oleObj name="Equation" r:id="rId2" imgW="4241800" imgH="558800" progId="Equation.3">
                  <p:embed/>
                  <p:pic>
                    <p:nvPicPr>
                      <p:cNvPr id="13316" name="Object 4">
                        <a:extLst>
                          <a:ext uri="{FF2B5EF4-FFF2-40B4-BE49-F238E27FC236}">
                            <a16:creationId xmlns:a16="http://schemas.microsoft.com/office/drawing/2014/main" id="{4C938CCE-DE9B-9956-3F14-7DE0A614BD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333500"/>
                        <a:ext cx="8458200" cy="1112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7" name="Text Box 5">
            <a:extLst>
              <a:ext uri="{FF2B5EF4-FFF2-40B4-BE49-F238E27FC236}">
                <a16:creationId xmlns:a16="http://schemas.microsoft.com/office/drawing/2014/main" id="{F27C9C9A-916C-C87C-1CB6-85BA0CCA30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8050" y="2514600"/>
            <a:ext cx="1657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(Eq. 4.18)</a:t>
            </a:r>
          </a:p>
        </p:txBody>
      </p:sp>
      <p:sp>
        <p:nvSpPr>
          <p:cNvPr id="22534" name="Rectangle 6">
            <a:extLst>
              <a:ext uri="{FF2B5EF4-FFF2-40B4-BE49-F238E27FC236}">
                <a16:creationId xmlns:a16="http://schemas.microsoft.com/office/drawing/2014/main" id="{DB02028C-3D63-E7C2-29FF-D06DC0360011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u="sng" dirty="0"/>
              <a:t>Heat Exchanger Modeling</a:t>
            </a:r>
            <a:endParaRPr lang="en-US" altLang="en-US" sz="3200" dirty="0">
              <a:solidFill>
                <a:srgbClr val="0000FF"/>
              </a:solidFill>
            </a:endParaRPr>
          </a:p>
        </p:txBody>
      </p:sp>
      <p:graphicFrame>
        <p:nvGraphicFramePr>
          <p:cNvPr id="45063" name="Object 7">
            <a:extLst>
              <a:ext uri="{FF2B5EF4-FFF2-40B4-BE49-F238E27FC236}">
                <a16:creationId xmlns:a16="http://schemas.microsoft.com/office/drawing/2014/main" id="{C0BFDB37-5191-D75A-8C75-AB65A8D2FD09}"/>
              </a:ext>
            </a:extLst>
          </p:cNvPr>
          <p:cNvGraphicFramePr>
            <a:graphicFrameLocks noGrp="1" noChangeAspect="1"/>
          </p:cNvGraphicFramePr>
          <p:nvPr>
            <p:ph sz="quarter" idx="1"/>
          </p:nvPr>
        </p:nvGraphicFramePr>
        <p:xfrm>
          <a:off x="533400" y="5562600"/>
          <a:ext cx="53340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4536" imgH="266469" progId="Equation.3">
                  <p:embed/>
                </p:oleObj>
              </mc:Choice>
              <mc:Fallback>
                <p:oleObj name="Equation" r:id="rId4" imgW="304536" imgH="266469" progId="Equation.3">
                  <p:embed/>
                  <p:pic>
                    <p:nvPicPr>
                      <p:cNvPr id="45063" name="Object 7">
                        <a:extLst>
                          <a:ext uri="{FF2B5EF4-FFF2-40B4-BE49-F238E27FC236}">
                            <a16:creationId xmlns:a16="http://schemas.microsoft.com/office/drawing/2014/main" id="{C0BFDB37-5191-D75A-8C75-AB65A8D2FD09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5562600"/>
                        <a:ext cx="533400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9" name="Object 13">
            <a:extLst>
              <a:ext uri="{FF2B5EF4-FFF2-40B4-BE49-F238E27FC236}">
                <a16:creationId xmlns:a16="http://schemas.microsoft.com/office/drawing/2014/main" id="{6BFB00C8-7AA0-EA9C-1A9A-B3F1C5EBFDC1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609600" y="2743200"/>
          <a:ext cx="1143000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22030" imgH="266584" progId="Equation.3">
                  <p:embed/>
                </p:oleObj>
              </mc:Choice>
              <mc:Fallback>
                <p:oleObj name="Equation" r:id="rId6" imgW="622030" imgH="266584" progId="Equation.3">
                  <p:embed/>
                  <p:pic>
                    <p:nvPicPr>
                      <p:cNvPr id="45069" name="Object 13">
                        <a:extLst>
                          <a:ext uri="{FF2B5EF4-FFF2-40B4-BE49-F238E27FC236}">
                            <a16:creationId xmlns:a16="http://schemas.microsoft.com/office/drawing/2014/main" id="{6BFB00C8-7AA0-EA9C-1A9A-B3F1C5EBFDC1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743200"/>
                        <a:ext cx="1143000" cy="49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4" name="Line 8">
            <a:extLst>
              <a:ext uri="{FF2B5EF4-FFF2-40B4-BE49-F238E27FC236}">
                <a16:creationId xmlns:a16="http://schemas.microsoft.com/office/drawing/2014/main" id="{9A43C748-A614-5931-2B05-C4E1553C4C7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000" y="1524000"/>
            <a:ext cx="609600" cy="7620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5065" name="Line 9">
            <a:extLst>
              <a:ext uri="{FF2B5EF4-FFF2-40B4-BE49-F238E27FC236}">
                <a16:creationId xmlns:a16="http://schemas.microsoft.com/office/drawing/2014/main" id="{5FB777F3-A182-25F5-5FCC-7B288C4923D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86200" y="1371600"/>
            <a:ext cx="762000" cy="9906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5066" name="Line 10">
            <a:extLst>
              <a:ext uri="{FF2B5EF4-FFF2-40B4-BE49-F238E27FC236}">
                <a16:creationId xmlns:a16="http://schemas.microsoft.com/office/drawing/2014/main" id="{512D3151-8FCE-9DD5-32C0-FCB044EA68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77200" y="1524000"/>
            <a:ext cx="609600" cy="7620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5067" name="Line 11">
            <a:extLst>
              <a:ext uri="{FF2B5EF4-FFF2-40B4-BE49-F238E27FC236}">
                <a16:creationId xmlns:a16="http://schemas.microsoft.com/office/drawing/2014/main" id="{C37FB11B-040C-C15D-434D-A573C70F02B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76800" y="1524000"/>
            <a:ext cx="609600" cy="7620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5068" name="Line 12">
            <a:extLst>
              <a:ext uri="{FF2B5EF4-FFF2-40B4-BE49-F238E27FC236}">
                <a16:creationId xmlns:a16="http://schemas.microsoft.com/office/drawing/2014/main" id="{59FCE3FE-F79B-1760-41CA-BFDEE680AEB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86600" y="1371600"/>
            <a:ext cx="762000" cy="9906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5070" name="Line 14">
            <a:extLst>
              <a:ext uri="{FF2B5EF4-FFF2-40B4-BE49-F238E27FC236}">
                <a16:creationId xmlns:a16="http://schemas.microsoft.com/office/drawing/2014/main" id="{2FBE87F5-9C81-58EE-E362-8D68791E2F2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52600" y="1524000"/>
            <a:ext cx="609600" cy="7620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grpSp>
        <p:nvGrpSpPr>
          <p:cNvPr id="45071" name="Group 15">
            <a:extLst>
              <a:ext uri="{FF2B5EF4-FFF2-40B4-BE49-F238E27FC236}">
                <a16:creationId xmlns:a16="http://schemas.microsoft.com/office/drawing/2014/main" id="{21DD1587-6957-5116-F4D2-49810114E778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5715000"/>
            <a:ext cx="3200400" cy="990600"/>
            <a:chOff x="2352" y="3552"/>
            <a:chExt cx="2016" cy="624"/>
          </a:xfrm>
        </p:grpSpPr>
        <p:sp>
          <p:nvSpPr>
            <p:cNvPr id="13333" name="Rectangle 16">
              <a:extLst>
                <a:ext uri="{FF2B5EF4-FFF2-40B4-BE49-F238E27FC236}">
                  <a16:creationId xmlns:a16="http://schemas.microsoft.com/office/drawing/2014/main" id="{C03AE13E-9868-73B9-38A9-91FA6789F7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3552"/>
              <a:ext cx="2016" cy="62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aphicFrame>
          <p:nvGraphicFramePr>
            <p:cNvPr id="13334" name="Object 17">
              <a:extLst>
                <a:ext uri="{FF2B5EF4-FFF2-40B4-BE49-F238E27FC236}">
                  <a16:creationId xmlns:a16="http://schemas.microsoft.com/office/drawing/2014/main" id="{DC98A8F1-C642-73C2-AA5C-C9C42B55C3A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00" y="3638"/>
            <a:ext cx="1895" cy="5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422400" imgH="381000" progId="Equation.3">
                    <p:embed/>
                  </p:oleObj>
                </mc:Choice>
                <mc:Fallback>
                  <p:oleObj name="Equation" r:id="rId8" imgW="1422400" imgH="381000" progId="Equation.3">
                    <p:embed/>
                    <p:pic>
                      <p:nvPicPr>
                        <p:cNvPr id="13334" name="Object 17">
                          <a:extLst>
                            <a:ext uri="{FF2B5EF4-FFF2-40B4-BE49-F238E27FC236}">
                              <a16:creationId xmlns:a16="http://schemas.microsoft.com/office/drawing/2014/main" id="{DC98A8F1-C642-73C2-AA5C-C9C42B55C3A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0" y="3638"/>
                          <a:ext cx="1895" cy="5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5076" name="Object 20">
            <a:extLst>
              <a:ext uri="{FF2B5EF4-FFF2-40B4-BE49-F238E27FC236}">
                <a16:creationId xmlns:a16="http://schemas.microsoft.com/office/drawing/2014/main" id="{78703A77-16C7-E777-241A-C625E7C93BE5}"/>
              </a:ext>
            </a:extLst>
          </p:cNvPr>
          <p:cNvGraphicFramePr>
            <a:graphicFrameLocks noGrp="1" noChangeAspect="1"/>
          </p:cNvGraphicFramePr>
          <p:nvPr>
            <p:ph sz="quarter" idx="4"/>
          </p:nvPr>
        </p:nvGraphicFramePr>
        <p:xfrm>
          <a:off x="2209800" y="3709988"/>
          <a:ext cx="430213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15713" imgH="241091" progId="Equation.3">
                  <p:embed/>
                </p:oleObj>
              </mc:Choice>
              <mc:Fallback>
                <p:oleObj name="Equation" r:id="rId10" imgW="215713" imgH="241091" progId="Equation.3">
                  <p:embed/>
                  <p:pic>
                    <p:nvPicPr>
                      <p:cNvPr id="45076" name="Object 20">
                        <a:extLst>
                          <a:ext uri="{FF2B5EF4-FFF2-40B4-BE49-F238E27FC236}">
                            <a16:creationId xmlns:a16="http://schemas.microsoft.com/office/drawing/2014/main" id="{78703A77-16C7-E777-241A-C625E7C93BE5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3709988"/>
                        <a:ext cx="430213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78" name="Object 22">
            <a:extLst>
              <a:ext uri="{FF2B5EF4-FFF2-40B4-BE49-F238E27FC236}">
                <a16:creationId xmlns:a16="http://schemas.microsoft.com/office/drawing/2014/main" id="{382E874B-6DF6-2BC4-DF31-3D628AE866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19588" y="3733800"/>
          <a:ext cx="481012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41195" imgH="241195" progId="Equation.3">
                  <p:embed/>
                </p:oleObj>
              </mc:Choice>
              <mc:Fallback>
                <p:oleObj name="Equation" r:id="rId12" imgW="241195" imgH="241195" progId="Equation.3">
                  <p:embed/>
                  <p:pic>
                    <p:nvPicPr>
                      <p:cNvPr id="45078" name="Object 22">
                        <a:extLst>
                          <a:ext uri="{FF2B5EF4-FFF2-40B4-BE49-F238E27FC236}">
                            <a16:creationId xmlns:a16="http://schemas.microsoft.com/office/drawing/2014/main" id="{382E874B-6DF6-2BC4-DF31-3D628AE866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9588" y="3733800"/>
                        <a:ext cx="481012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79" name="Object 23">
            <a:extLst>
              <a:ext uri="{FF2B5EF4-FFF2-40B4-BE49-F238E27FC236}">
                <a16:creationId xmlns:a16="http://schemas.microsoft.com/office/drawing/2014/main" id="{61C1AB1C-99B0-F4AB-B170-D0A319CC2E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9800" y="4700588"/>
          <a:ext cx="430213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15713" imgH="241091" progId="Equation.3">
                  <p:embed/>
                </p:oleObj>
              </mc:Choice>
              <mc:Fallback>
                <p:oleObj name="Equation" r:id="rId14" imgW="215713" imgH="241091" progId="Equation.3">
                  <p:embed/>
                  <p:pic>
                    <p:nvPicPr>
                      <p:cNvPr id="45079" name="Object 23">
                        <a:extLst>
                          <a:ext uri="{FF2B5EF4-FFF2-40B4-BE49-F238E27FC236}">
                            <a16:creationId xmlns:a16="http://schemas.microsoft.com/office/drawing/2014/main" id="{61C1AB1C-99B0-F4AB-B170-D0A319CC2E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700588"/>
                        <a:ext cx="430213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80" name="Object 24">
            <a:extLst>
              <a:ext uri="{FF2B5EF4-FFF2-40B4-BE49-F238E27FC236}">
                <a16:creationId xmlns:a16="http://schemas.microsoft.com/office/drawing/2014/main" id="{BE449B6C-443C-0765-A2CF-3BBC67FE5C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3800" y="4700588"/>
          <a:ext cx="481013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41195" imgH="241195" progId="Equation.3">
                  <p:embed/>
                </p:oleObj>
              </mc:Choice>
              <mc:Fallback>
                <p:oleObj name="Equation" r:id="rId15" imgW="241195" imgH="241195" progId="Equation.3">
                  <p:embed/>
                  <p:pic>
                    <p:nvPicPr>
                      <p:cNvPr id="45080" name="Object 24">
                        <a:extLst>
                          <a:ext uri="{FF2B5EF4-FFF2-40B4-BE49-F238E27FC236}">
                            <a16:creationId xmlns:a16="http://schemas.microsoft.com/office/drawing/2014/main" id="{BE449B6C-443C-0765-A2CF-3BBC67FE5C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4700588"/>
                        <a:ext cx="481013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81" name="Text Box 25">
            <a:extLst>
              <a:ext uri="{FF2B5EF4-FFF2-40B4-BE49-F238E27FC236}">
                <a16:creationId xmlns:a16="http://schemas.microsoft.com/office/drawing/2014/main" id="{B66CC884-3815-2CF9-5B6D-1FE4A32E0F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2743200"/>
            <a:ext cx="5365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8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2F9E374A-FD46-88C7-5C0A-5E7FE3A4E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743200"/>
            <a:ext cx="8839200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Times New Roman" panose="02020603050405020304" pitchFamily="18" charset="0"/>
              <a:buChar char="►"/>
              <a:tabLst/>
              <a:defRPr/>
            </a:pPr>
            <a:endParaRPr kumimoji="0" lang="en-US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Symbol" panose="05050102010706020507" pitchFamily="18" charset="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Times New Roman" panose="02020603050405020304" pitchFamily="18" charset="0"/>
              <a:buChar char="►"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If the kinetic energies of the flowing streams are negligible,    (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t>V</a:t>
            </a:r>
            <a:r>
              <a:rPr kumimoji="0" lang="en-US" altLang="en-US" sz="2400" b="0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t>i</a:t>
            </a:r>
            <a:r>
              <a:rPr kumimoji="0" lang="en-US" altLang="en-US" sz="28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t>/2) 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and 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t>     (V</a:t>
            </a:r>
            <a:r>
              <a:rPr kumimoji="0" lang="en-US" altLang="en-US" sz="2400" b="0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altLang="en-US" sz="28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t>/2) 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drop out.</a:t>
            </a:r>
            <a:endParaRPr kumimoji="0" lang="en-US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Times New Roman" panose="02020603050405020304" pitchFamily="18" charset="0"/>
              <a:buChar char="►"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If the potential energies of the flowing streams are negligible,    </a:t>
            </a: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gz</a:t>
            </a:r>
            <a:r>
              <a:rPr kumimoji="0" lang="en-US" altLang="en-US" sz="2800" b="0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i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and  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   </a:t>
            </a: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gz</a:t>
            </a:r>
            <a:r>
              <a:rPr kumimoji="0" lang="en-US" altLang="en-US" sz="2800" b="0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e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drop out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.</a:t>
            </a:r>
            <a:endParaRPr kumimoji="0" lang="en-US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D8D40144-7D0F-C0BC-2F03-E8932CE093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295400"/>
            <a:ext cx="8686800" cy="1219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graphicFrame>
        <p:nvGraphicFramePr>
          <p:cNvPr id="14340" name="Object 4">
            <a:extLst>
              <a:ext uri="{FF2B5EF4-FFF2-40B4-BE49-F238E27FC236}">
                <a16:creationId xmlns:a16="http://schemas.microsoft.com/office/drawing/2014/main" id="{CC96DED6-A0D4-B28C-1847-6A5A7EFBA6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" y="1333500"/>
          <a:ext cx="8458200" cy="1112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241800" imgH="558800" progId="Equation.3">
                  <p:embed/>
                </p:oleObj>
              </mc:Choice>
              <mc:Fallback>
                <p:oleObj name="Equation" r:id="rId2" imgW="4241800" imgH="558800" progId="Equation.3">
                  <p:embed/>
                  <p:pic>
                    <p:nvPicPr>
                      <p:cNvPr id="14340" name="Object 4">
                        <a:extLst>
                          <a:ext uri="{FF2B5EF4-FFF2-40B4-BE49-F238E27FC236}">
                            <a16:creationId xmlns:a16="http://schemas.microsoft.com/office/drawing/2014/main" id="{CC96DED6-A0D4-B28C-1847-6A5A7EFBA6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333500"/>
                        <a:ext cx="8458200" cy="1112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4" name="Rectangle 6">
            <a:extLst>
              <a:ext uri="{FF2B5EF4-FFF2-40B4-BE49-F238E27FC236}">
                <a16:creationId xmlns:a16="http://schemas.microsoft.com/office/drawing/2014/main" id="{83759CD4-F965-C890-F6F9-9984FDC79095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>
          <a:xfrm>
            <a:off x="76200" y="274638"/>
            <a:ext cx="90678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u="sng" dirty="0"/>
              <a:t>Boiler/Condenser Modeling (Water)</a:t>
            </a:r>
            <a:endParaRPr lang="en-US" altLang="en-US" sz="3200" dirty="0">
              <a:solidFill>
                <a:srgbClr val="0000FF"/>
              </a:solidFill>
            </a:endParaRPr>
          </a:p>
        </p:txBody>
      </p:sp>
      <p:graphicFrame>
        <p:nvGraphicFramePr>
          <p:cNvPr id="45069" name="Object 13">
            <a:extLst>
              <a:ext uri="{FF2B5EF4-FFF2-40B4-BE49-F238E27FC236}">
                <a16:creationId xmlns:a16="http://schemas.microsoft.com/office/drawing/2014/main" id="{2FA4CA34-7618-8427-A57C-6A2E35B77339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609600" y="2743200"/>
          <a:ext cx="1143000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22030" imgH="266584" progId="Equation.3">
                  <p:embed/>
                </p:oleObj>
              </mc:Choice>
              <mc:Fallback>
                <p:oleObj name="Equation" r:id="rId4" imgW="622030" imgH="266584" progId="Equation.3">
                  <p:embed/>
                  <p:pic>
                    <p:nvPicPr>
                      <p:cNvPr id="45069" name="Object 13">
                        <a:extLst>
                          <a:ext uri="{FF2B5EF4-FFF2-40B4-BE49-F238E27FC236}">
                            <a16:creationId xmlns:a16="http://schemas.microsoft.com/office/drawing/2014/main" id="{2FA4CA34-7618-8427-A57C-6A2E35B77339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743200"/>
                        <a:ext cx="1143000" cy="49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5" name="Line 9">
            <a:extLst>
              <a:ext uri="{FF2B5EF4-FFF2-40B4-BE49-F238E27FC236}">
                <a16:creationId xmlns:a16="http://schemas.microsoft.com/office/drawing/2014/main" id="{0A0D43A8-4C4A-8F34-7398-89BA4A088F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86200" y="1371600"/>
            <a:ext cx="762000" cy="9906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5066" name="Line 10">
            <a:extLst>
              <a:ext uri="{FF2B5EF4-FFF2-40B4-BE49-F238E27FC236}">
                <a16:creationId xmlns:a16="http://schemas.microsoft.com/office/drawing/2014/main" id="{1FD7C5F3-8BB7-16BF-F480-0CC5BE54EFF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77200" y="1524000"/>
            <a:ext cx="609600" cy="7620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5067" name="Line 11">
            <a:extLst>
              <a:ext uri="{FF2B5EF4-FFF2-40B4-BE49-F238E27FC236}">
                <a16:creationId xmlns:a16="http://schemas.microsoft.com/office/drawing/2014/main" id="{2381AEAC-1FEB-1E88-E2F4-010DB5FB3C7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76800" y="1524000"/>
            <a:ext cx="609600" cy="7620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5068" name="Line 12">
            <a:extLst>
              <a:ext uri="{FF2B5EF4-FFF2-40B4-BE49-F238E27FC236}">
                <a16:creationId xmlns:a16="http://schemas.microsoft.com/office/drawing/2014/main" id="{C05CBBF9-5B31-378F-D1F2-5D6CA17FD3A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86600" y="1371600"/>
            <a:ext cx="762000" cy="9906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5070" name="Line 14">
            <a:extLst>
              <a:ext uri="{FF2B5EF4-FFF2-40B4-BE49-F238E27FC236}">
                <a16:creationId xmlns:a16="http://schemas.microsoft.com/office/drawing/2014/main" id="{574BF3F1-78F8-363A-3619-10B13B0EE91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52600" y="1524000"/>
            <a:ext cx="609600" cy="7620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graphicFrame>
        <p:nvGraphicFramePr>
          <p:cNvPr id="45076" name="Object 20">
            <a:extLst>
              <a:ext uri="{FF2B5EF4-FFF2-40B4-BE49-F238E27FC236}">
                <a16:creationId xmlns:a16="http://schemas.microsoft.com/office/drawing/2014/main" id="{9AF11EB9-15A8-0F89-40B2-CB117135FBD3}"/>
              </a:ext>
            </a:extLst>
          </p:cNvPr>
          <p:cNvGraphicFramePr>
            <a:graphicFrameLocks noGrp="1" noChangeAspect="1"/>
          </p:cNvGraphicFramePr>
          <p:nvPr>
            <p:ph sz="quarter" idx="4"/>
          </p:nvPr>
        </p:nvGraphicFramePr>
        <p:xfrm>
          <a:off x="2209800" y="3709988"/>
          <a:ext cx="430213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5713" imgH="241091" progId="Equation.3">
                  <p:embed/>
                </p:oleObj>
              </mc:Choice>
              <mc:Fallback>
                <p:oleObj name="Equation" r:id="rId6" imgW="215713" imgH="241091" progId="Equation.3">
                  <p:embed/>
                  <p:pic>
                    <p:nvPicPr>
                      <p:cNvPr id="45076" name="Object 20">
                        <a:extLst>
                          <a:ext uri="{FF2B5EF4-FFF2-40B4-BE49-F238E27FC236}">
                            <a16:creationId xmlns:a16="http://schemas.microsoft.com/office/drawing/2014/main" id="{9AF11EB9-15A8-0F89-40B2-CB117135FBD3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3709988"/>
                        <a:ext cx="430213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78" name="Object 22">
            <a:extLst>
              <a:ext uri="{FF2B5EF4-FFF2-40B4-BE49-F238E27FC236}">
                <a16:creationId xmlns:a16="http://schemas.microsoft.com/office/drawing/2014/main" id="{E0AA3B5A-8530-71A1-589C-D1A5165E0C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19588" y="3733800"/>
          <a:ext cx="481012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1195" imgH="241195" progId="Equation.3">
                  <p:embed/>
                </p:oleObj>
              </mc:Choice>
              <mc:Fallback>
                <p:oleObj name="Equation" r:id="rId8" imgW="241195" imgH="241195" progId="Equation.3">
                  <p:embed/>
                  <p:pic>
                    <p:nvPicPr>
                      <p:cNvPr id="45078" name="Object 22">
                        <a:extLst>
                          <a:ext uri="{FF2B5EF4-FFF2-40B4-BE49-F238E27FC236}">
                            <a16:creationId xmlns:a16="http://schemas.microsoft.com/office/drawing/2014/main" id="{E0AA3B5A-8530-71A1-589C-D1A5165E0C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9588" y="3733800"/>
                        <a:ext cx="481012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79" name="Object 23">
            <a:extLst>
              <a:ext uri="{FF2B5EF4-FFF2-40B4-BE49-F238E27FC236}">
                <a16:creationId xmlns:a16="http://schemas.microsoft.com/office/drawing/2014/main" id="{7E721AE1-0DE7-01BB-2F45-83272F17E1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9800" y="4700588"/>
          <a:ext cx="430213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15713" imgH="241091" progId="Equation.3">
                  <p:embed/>
                </p:oleObj>
              </mc:Choice>
              <mc:Fallback>
                <p:oleObj name="Equation" r:id="rId10" imgW="215713" imgH="241091" progId="Equation.3">
                  <p:embed/>
                  <p:pic>
                    <p:nvPicPr>
                      <p:cNvPr id="45079" name="Object 23">
                        <a:extLst>
                          <a:ext uri="{FF2B5EF4-FFF2-40B4-BE49-F238E27FC236}">
                            <a16:creationId xmlns:a16="http://schemas.microsoft.com/office/drawing/2014/main" id="{7E721AE1-0DE7-01BB-2F45-83272F17E1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700588"/>
                        <a:ext cx="430213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80" name="Object 24">
            <a:extLst>
              <a:ext uri="{FF2B5EF4-FFF2-40B4-BE49-F238E27FC236}">
                <a16:creationId xmlns:a16="http://schemas.microsoft.com/office/drawing/2014/main" id="{90FFBC81-DC16-13B7-8CF4-5875C9DA8F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3800" y="4700588"/>
          <a:ext cx="481013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41195" imgH="241195" progId="Equation.3">
                  <p:embed/>
                </p:oleObj>
              </mc:Choice>
              <mc:Fallback>
                <p:oleObj name="Equation" r:id="rId11" imgW="241195" imgH="241195" progId="Equation.3">
                  <p:embed/>
                  <p:pic>
                    <p:nvPicPr>
                      <p:cNvPr id="45080" name="Object 24">
                        <a:extLst>
                          <a:ext uri="{FF2B5EF4-FFF2-40B4-BE49-F238E27FC236}">
                            <a16:creationId xmlns:a16="http://schemas.microsoft.com/office/drawing/2014/main" id="{90FFBC81-DC16-13B7-8CF4-5875C9DA8F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4700588"/>
                        <a:ext cx="481013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81" name="Text Box 25">
            <a:extLst>
              <a:ext uri="{FF2B5EF4-FFF2-40B4-BE49-F238E27FC236}">
                <a16:creationId xmlns:a16="http://schemas.microsoft.com/office/drawing/2014/main" id="{BFDE918E-F54C-3DEB-C1BE-F53636E988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2743200"/>
            <a:ext cx="5365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►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Object 14">
                <a:extLst>
                  <a:ext uri="{FF2B5EF4-FFF2-40B4-BE49-F238E27FC236}">
                    <a16:creationId xmlns:a16="http://schemas.microsoft.com/office/drawing/2014/main" id="{C2AC7DBA-F520-F7A2-EF2D-BED2192258E4}"/>
                  </a:ext>
                </a:extLst>
              </p:cNvPr>
              <p:cNvSpPr txBox="1"/>
              <p:nvPr/>
            </p:nvSpPr>
            <p:spPr bwMode="auto">
              <a:xfrm>
                <a:off x="2623080" y="5524500"/>
                <a:ext cx="3396720" cy="876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CA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</m:acc>
                        </m:e>
                        <m:sub>
                          <m:r>
                            <m:rPr>
                              <m:nor/>
                            </m:rPr>
                            <a:rPr lang="en-CA" sz="28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in</m:t>
                          </m:r>
                        </m:sub>
                      </m:sSub>
                      <m:r>
                        <a:rPr lang="en-CA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en-CA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A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  <m:r>
                        <a:rPr lang="en-CA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CA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CA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A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CA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CA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sz="2800" dirty="0"/>
              </a:p>
            </p:txBody>
          </p:sp>
        </mc:Choice>
        <mc:Fallback>
          <p:sp>
            <p:nvSpPr>
              <p:cNvPr id="2" name="Object 14">
                <a:extLst>
                  <a:ext uri="{FF2B5EF4-FFF2-40B4-BE49-F238E27FC236}">
                    <a16:creationId xmlns:a16="http://schemas.microsoft.com/office/drawing/2014/main" id="{C2AC7DBA-F520-F7A2-EF2D-BED2192258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23080" y="5524500"/>
                <a:ext cx="3396720" cy="8763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8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5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6BE2410-F577-44A3-A9D9-16061C7BCAAD}" type="slidenum">
              <a:rPr lang="en-US" smtClean="0"/>
              <a:pPr/>
              <a:t>35</a:t>
            </a:fld>
            <a:endParaRPr lang="en-US"/>
          </a:p>
        </p:txBody>
      </p:sp>
      <p:pic>
        <p:nvPicPr>
          <p:cNvPr id="7178" name="Picture 1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62495" y="3349585"/>
            <a:ext cx="6143541" cy="6377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9" name="Picture 1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90293" y="5105400"/>
            <a:ext cx="4898492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87" name="Text Box 21"/>
          <p:cNvSpPr txBox="1">
            <a:spLocks noChangeArrowheads="1"/>
          </p:cNvSpPr>
          <p:nvPr/>
        </p:nvSpPr>
        <p:spPr bwMode="auto">
          <a:xfrm>
            <a:off x="1272380" y="2468261"/>
            <a:ext cx="32996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solidFill>
                  <a:srgbClr val="3333FF"/>
                </a:solidFill>
              </a:rPr>
              <a:t>Mass flow rate</a:t>
            </a:r>
          </a:p>
        </p:txBody>
      </p:sp>
      <p:sp>
        <p:nvSpPr>
          <p:cNvPr id="7188" name="Text Box 22"/>
          <p:cNvSpPr txBox="1">
            <a:spLocks noChangeArrowheads="1"/>
          </p:cNvSpPr>
          <p:nvPr/>
        </p:nvSpPr>
        <p:spPr bwMode="auto">
          <a:xfrm>
            <a:off x="1262495" y="4469706"/>
            <a:ext cx="2895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solidFill>
                  <a:srgbClr val="3333FF"/>
                </a:solidFill>
              </a:rPr>
              <a:t>Energy flow rate</a:t>
            </a:r>
          </a:p>
        </p:txBody>
      </p:sp>
      <p:pic>
        <p:nvPicPr>
          <p:cNvPr id="7189" name="Picture 2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00601" y="1598155"/>
            <a:ext cx="3299621" cy="147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" name="Rectangle 2">
            <a:extLst>
              <a:ext uri="{FF2B5EF4-FFF2-40B4-BE49-F238E27FC236}">
                <a16:creationId xmlns:a16="http://schemas.microsoft.com/office/drawing/2014/main" id="{9CA78653-EAF1-499E-8C8A-821B162110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457200" y="988555"/>
            <a:ext cx="6019800" cy="609600"/>
          </a:xfrm>
          <a:solidFill>
            <a:srgbClr val="92D050"/>
          </a:solidFill>
        </p:spPr>
        <p:txBody>
          <a:bodyPr/>
          <a:lstStyle/>
          <a:p>
            <a:pPr eaLnBrk="1" hangingPunct="1"/>
            <a:r>
              <a:rPr lang="en-US" sz="3200" dirty="0">
                <a:solidFill>
                  <a:srgbClr val="C00000"/>
                </a:solidFill>
              </a:rPr>
              <a:t>ENERGY FLOW RATE</a:t>
            </a:r>
            <a:endParaRPr lang="en-US" sz="3200" b="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24711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5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DD92E69-1D9C-45B1-89EE-03A454896077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228600" y="961935"/>
            <a:ext cx="523795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A steam power plant (Rankine cycle)</a:t>
            </a:r>
          </a:p>
        </p:txBody>
      </p:sp>
      <p:pic>
        <p:nvPicPr>
          <p:cNvPr id="8198" name="Picture 1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" y="5105400"/>
            <a:ext cx="6981825" cy="163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9" name="Picture 1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24400" y="800100"/>
            <a:ext cx="4081315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33400" y="2609850"/>
            <a:ext cx="29432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61680" y="3124200"/>
            <a:ext cx="3028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5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DD92E69-1D9C-45B1-89EE-03A454896077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152400" y="900122"/>
            <a:ext cx="529550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A gas power plant (Brayton cycle)</a:t>
            </a:r>
          </a:p>
        </p:txBody>
      </p:sp>
      <p:pic>
        <p:nvPicPr>
          <p:cNvPr id="8198" name="Picture 1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5105400"/>
            <a:ext cx="6981825" cy="163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4438650"/>
            <a:ext cx="29432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81400" y="4438650"/>
            <a:ext cx="3028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9">
            <a:extLst>
              <a:ext uri="{FF2B5EF4-FFF2-40B4-BE49-F238E27FC236}">
                <a16:creationId xmlns:a16="http://schemas.microsoft.com/office/drawing/2014/main" id="{C1482E1D-0532-4579-A0FB-0D464F4B15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219200" y="1403577"/>
            <a:ext cx="2769887" cy="2792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10">
            <a:extLst>
              <a:ext uri="{FF2B5EF4-FFF2-40B4-BE49-F238E27FC236}">
                <a16:creationId xmlns:a16="http://schemas.microsoft.com/office/drawing/2014/main" id="{36BC2C42-CD26-4E9B-BE8B-30B75623A0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532138" y="836663"/>
            <a:ext cx="3028950" cy="3468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967447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Dikdörtgen"/>
          <p:cNvSpPr/>
          <p:nvPr/>
        </p:nvSpPr>
        <p:spPr>
          <a:xfrm>
            <a:off x="609600" y="838200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1" i="0" u="none" strike="noStrike" kern="1200" cap="none" spc="0" normalizeH="0" baseline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Overall Plant Efficiency</a:t>
            </a:r>
            <a:endParaRPr kumimoji="0" lang="en-CA" sz="2400" b="0" i="0" u="none" strike="noStrike" kern="1200" cap="none" spc="0" normalizeH="0" baseline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1676400"/>
            <a:ext cx="6467475" cy="87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5 Dikdörtgen"/>
          <p:cNvSpPr/>
          <p:nvPr/>
        </p:nvSpPr>
        <p:spPr>
          <a:xfrm>
            <a:off x="609600" y="2980035"/>
            <a:ext cx="7696200" cy="2769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The overall plant efficiency can be used to express the performance of all power plants which burn a fuel such as steam power plants, gas-turbine power plants, and automobile engines. </a:t>
            </a:r>
            <a:endParaRPr kumimoji="0" lang="tr-TR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CA" sz="2200" dirty="0">
                <a:solidFill>
                  <a:srgbClr val="000000"/>
                </a:solidFill>
                <a:latin typeface="Calibri" pitchFamily="34" charset="0"/>
              </a:rPr>
              <a:t>Thermal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efficiency and overall plant efficiency are sometimes used interchangeably.</a:t>
            </a:r>
            <a:endParaRPr kumimoji="0" lang="tr-TR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This number is as high as 40</a:t>
            </a:r>
            <a:r>
              <a:rPr kumimoji="0" lang="tr-TR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%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 for large gas-turbine plants and as high as 60</a:t>
            </a:r>
            <a:r>
              <a:rPr kumimoji="0" lang="tr-TR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%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 for large combined gas-steam power plants. </a:t>
            </a:r>
            <a:endParaRPr kumimoji="0" lang="tr-TR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24B2-5D52-46F7-B915-67CABB3AD0CF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66750" y="1350169"/>
            <a:ext cx="7810500" cy="4157662"/>
          </a:xfrm>
        </p:spPr>
        <p:txBody>
          <a:bodyPr/>
          <a:lstStyle/>
          <a:p>
            <a:pPr marL="0" indent="0" algn="ctr">
              <a:buNone/>
            </a:pPr>
            <a:endParaRPr lang="en-CA" b="1" dirty="0"/>
          </a:p>
          <a:p>
            <a:pPr marL="0" indent="0" algn="ctr">
              <a:buNone/>
            </a:pPr>
            <a:endParaRPr lang="en-CA" sz="3200" b="1" dirty="0"/>
          </a:p>
          <a:p>
            <a:pPr marL="0" indent="0" algn="ctr">
              <a:buNone/>
            </a:pPr>
            <a:r>
              <a:rPr lang="en-CA" sz="3200" b="1" dirty="0"/>
              <a:t>PART 3</a:t>
            </a:r>
          </a:p>
          <a:p>
            <a:pPr marL="0" indent="0" algn="ctr">
              <a:buNone/>
            </a:pPr>
            <a:endParaRPr lang="en-CA" sz="3200" b="1" dirty="0"/>
          </a:p>
          <a:p>
            <a:pPr marL="0" indent="0" algn="ctr">
              <a:buNone/>
            </a:pPr>
            <a:r>
              <a:rPr lang="en-CA" sz="3200" b="1" dirty="0"/>
              <a:t>GAS POWER CYCLES</a:t>
            </a:r>
          </a:p>
          <a:p>
            <a:pPr marL="0" indent="0" algn="ctr">
              <a:buNone/>
            </a:pPr>
            <a:r>
              <a:rPr lang="en-CA" sz="3200" b="1" dirty="0"/>
              <a:t>BRAYTON CYCLE</a:t>
            </a:r>
          </a:p>
        </p:txBody>
      </p:sp>
    </p:spTree>
    <p:extLst>
      <p:ext uri="{BB962C8B-B14F-4D97-AF65-F5344CB8AC3E}">
        <p14:creationId xmlns:p14="http://schemas.microsoft.com/office/powerpoint/2010/main" val="29033528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3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11B8783-98B7-46CF-BF6B-A055733B652F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23555" name="Rectangle 2"/>
          <p:cNvSpPr>
            <a:spLocks noChangeArrowheads="1"/>
          </p:cNvSpPr>
          <p:nvPr/>
        </p:nvSpPr>
        <p:spPr bwMode="auto">
          <a:xfrm>
            <a:off x="381000" y="112713"/>
            <a:ext cx="7543800" cy="954087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BRAYTON CYCLE: THE IDEAL CYCLE FOR GAS-TURBINE ENGINES</a:t>
            </a:r>
          </a:p>
        </p:txBody>
      </p:sp>
      <p:sp>
        <p:nvSpPr>
          <p:cNvPr id="23556" name="Rectangle 7"/>
          <p:cNvSpPr>
            <a:spLocks noChangeArrowheads="1"/>
          </p:cNvSpPr>
          <p:nvPr/>
        </p:nvSpPr>
        <p:spPr bwMode="auto">
          <a:xfrm>
            <a:off x="304800" y="1109663"/>
            <a:ext cx="8077200" cy="2014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combustion process is replaced by a constant-pressure heat-addition process from an external source, and the exhaust process is replaced by a constant-pressure heat-rejection process to the ambient air. </a:t>
            </a:r>
          </a:p>
          <a:p>
            <a:r>
              <a:rPr lang="en-US" dirty="0">
                <a:solidFill>
                  <a:schemeClr val="bg1"/>
                </a:solidFill>
              </a:rPr>
              <a:t>1-2 Isentropic compression (in a compressor)</a:t>
            </a:r>
          </a:p>
          <a:p>
            <a:r>
              <a:rPr lang="en-US" dirty="0">
                <a:solidFill>
                  <a:schemeClr val="bg1"/>
                </a:solidFill>
              </a:rPr>
              <a:t>2-3 Constant-pressure heat addition</a:t>
            </a:r>
          </a:p>
          <a:p>
            <a:r>
              <a:rPr lang="en-US" dirty="0">
                <a:solidFill>
                  <a:schemeClr val="bg1"/>
                </a:solidFill>
              </a:rPr>
              <a:t>3-4 Isentropic expansion (in a turbine)</a:t>
            </a:r>
          </a:p>
          <a:p>
            <a:r>
              <a:rPr lang="en-US" dirty="0">
                <a:solidFill>
                  <a:schemeClr val="bg1"/>
                </a:solidFill>
              </a:rPr>
              <a:t>4-1 Constant-pressure heat rejection</a:t>
            </a:r>
          </a:p>
        </p:txBody>
      </p:sp>
      <p:pic>
        <p:nvPicPr>
          <p:cNvPr id="23557" name="Picture 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3181350"/>
            <a:ext cx="3495675" cy="3524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8" name="Picture 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05400" y="2647950"/>
            <a:ext cx="3543300" cy="405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6EE75B-9F68-42E8-99D4-79865466E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29405C7-3333-4EAF-9BC0-558CD40BABA0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9876F0-66A7-4A45-8802-DCCAC29B1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43000"/>
            <a:ext cx="7543800" cy="523220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Brayton Cycle Calculations</a:t>
            </a:r>
          </a:p>
        </p:txBody>
      </p:sp>
      <p:pic>
        <p:nvPicPr>
          <p:cNvPr id="7" name="Picture 10">
            <a:extLst>
              <a:ext uri="{FF2B5EF4-FFF2-40B4-BE49-F238E27FC236}">
                <a16:creationId xmlns:a16="http://schemas.microsoft.com/office/drawing/2014/main" id="{8D82D19B-FD3C-4B6F-A69E-1AA9A04A96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00070" y="1892042"/>
            <a:ext cx="3543300" cy="405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303CCD3-844A-4EC9-A89E-812EB687D831}"/>
                  </a:ext>
                </a:extLst>
              </p:cNvPr>
              <p:cNvSpPr txBox="1"/>
              <p:nvPr/>
            </p:nvSpPr>
            <p:spPr>
              <a:xfrm>
                <a:off x="359789" y="2298949"/>
                <a:ext cx="4205139" cy="232050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CA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CA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CA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</m:e>
                      </m:acc>
                      <m:r>
                        <a:rPr lang="en-CA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en-CA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A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  <m:sSub>
                        <m:sSubPr>
                          <m:ctrlPr>
                            <a:rPr lang="en-CA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CA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CA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A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CA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  <m:r>
                            <a:rPr lang="en-CA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CA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CA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CA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CA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CA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CA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A" sz="2000" b="0" dirty="0">
                  <a:solidFill>
                    <a:schemeClr val="bg1"/>
                  </a:solidFill>
                </a:endParaRPr>
              </a:p>
              <a:p>
                <a:endParaRPr lang="en-CA" sz="2000" b="0" dirty="0">
                  <a:solidFill>
                    <a:schemeClr val="bg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CA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CA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CA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</m:e>
                      </m:acc>
                      <m:r>
                        <a:rPr lang="en-CA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en-CA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A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  <m:sSub>
                        <m:sSubPr>
                          <m:ctrlPr>
                            <a:rPr lang="en-CA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CA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CA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A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CA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  <m:r>
                            <a:rPr lang="en-CA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CA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CA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CA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CA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CA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CA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A" sz="2000" b="0" dirty="0">
                  <a:solidFill>
                    <a:schemeClr val="bg1"/>
                  </a:solidFill>
                </a:endParaRPr>
              </a:p>
              <a:p>
                <a:endParaRPr lang="en-CA" sz="2000" b="0" dirty="0">
                  <a:solidFill>
                    <a:schemeClr val="bg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CA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CA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CA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acc>
                      <m:r>
                        <a:rPr lang="en-CA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en-CA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A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  <m:sSub>
                        <m:sSubPr>
                          <m:ctrlPr>
                            <a:rPr lang="en-CA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CA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CA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A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CA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  <m:r>
                            <a:rPr lang="en-CA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CA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CA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CA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CA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A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CA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CA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sz="2000" dirty="0">
                  <a:solidFill>
                    <a:schemeClr val="bg1"/>
                  </a:solidFill>
                </a:endParaRPr>
              </a:p>
              <a:p>
                <a:endParaRPr lang="en-CA" sz="2000" dirty="0">
                  <a:solidFill>
                    <a:schemeClr val="bg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CA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CA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CA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</m:acc>
                      <m:r>
                        <a:rPr lang="en-CA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en-CA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A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  <m:sSub>
                        <m:sSubPr>
                          <m:ctrlPr>
                            <a:rPr lang="en-CA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CA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CA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A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CA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  <m:r>
                            <a:rPr lang="en-CA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CA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CA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CA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CA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CA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CA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A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303CCD3-844A-4EC9-A89E-812EB687D8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789" y="2298949"/>
                <a:ext cx="4205139" cy="2320507"/>
              </a:xfrm>
              <a:prstGeom prst="rect">
                <a:avLst/>
              </a:prstGeom>
              <a:blipFill>
                <a:blip r:embed="rId3"/>
                <a:stretch>
                  <a:fillRect t="-1312" b="-210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F901A64-6AE0-4F98-A1DC-E72D27D75A6A}"/>
                  </a:ext>
                </a:extLst>
              </p:cNvPr>
              <p:cNvSpPr txBox="1"/>
              <p:nvPr/>
            </p:nvSpPr>
            <p:spPr>
              <a:xfrm>
                <a:off x="685800" y="4842457"/>
                <a:ext cx="2171170" cy="8194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CA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A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  <m:r>
                        <a:rPr lang="en-CA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acc>
                        <m:accPr>
                          <m:chr m:val="̇"/>
                          <m:ctrlPr>
                            <a:rPr lang="en-CA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A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</m:acc>
                      <m:r>
                        <a:rPr lang="en-CA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CA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num>
                        <m:den>
                          <m:r>
                            <a:rPr lang="en-CA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𝑅𝑇</m:t>
                          </m:r>
                        </m:den>
                      </m:f>
                      <m:acc>
                        <m:accPr>
                          <m:chr m:val="̇"/>
                          <m:ctrlPr>
                            <a:rPr lang="en-CA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A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</m:acc>
                    </m:oMath>
                  </m:oMathPara>
                </a14:m>
                <a:endParaRPr lang="en-CA" dirty="0">
                  <a:solidFill>
                    <a:schemeClr val="bg1"/>
                  </a:solidFill>
                </a:endParaRPr>
              </a:p>
              <a:p>
                <a:endParaRPr lang="en-CA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F901A64-6AE0-4F98-A1DC-E72D27D75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4842457"/>
                <a:ext cx="2171170" cy="81945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7">
            <a:extLst>
              <a:ext uri="{FF2B5EF4-FFF2-40B4-BE49-F238E27FC236}">
                <a16:creationId xmlns:a16="http://schemas.microsoft.com/office/drawing/2014/main" id="{9D7FCEA8-D643-61C6-5CB9-5CFCE8920E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/>
          <a:srcRect r="31545"/>
          <a:stretch/>
        </p:blipFill>
        <p:spPr bwMode="auto">
          <a:xfrm>
            <a:off x="76200" y="5661912"/>
            <a:ext cx="4970283" cy="7648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374284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CA31A1-D861-4DA3-84F6-49567F65C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29405C7-3333-4EAF-9BC0-558CD40BABA0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79D1D03-5F74-4512-B7D4-A89D4990EB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053" y="542931"/>
            <a:ext cx="8683892" cy="523220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ISENTROPIC RELATIONS (Turbine / Compressor)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7B09C1-EFF1-4B2E-94E5-57D711DBF439}"/>
              </a:ext>
            </a:extLst>
          </p:cNvPr>
          <p:cNvSpPr txBox="1"/>
          <p:nvPr/>
        </p:nvSpPr>
        <p:spPr>
          <a:xfrm>
            <a:off x="293127" y="1428731"/>
            <a:ext cx="86838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400" dirty="0">
                <a:solidFill>
                  <a:schemeClr val="bg1"/>
                </a:solidFill>
              </a:rPr>
              <a:t>k is the specific heat ratio and can be assumed 1.4 for air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400" dirty="0">
                <a:solidFill>
                  <a:schemeClr val="bg1"/>
                </a:solidFill>
              </a:rPr>
              <a:t>p</a:t>
            </a:r>
            <a:r>
              <a:rPr lang="en-CA" sz="2400" baseline="-25000" dirty="0">
                <a:solidFill>
                  <a:schemeClr val="bg1"/>
                </a:solidFill>
              </a:rPr>
              <a:t>2</a:t>
            </a:r>
            <a:r>
              <a:rPr lang="en-CA" sz="2400" dirty="0">
                <a:solidFill>
                  <a:schemeClr val="bg1"/>
                </a:solidFill>
              </a:rPr>
              <a:t>/p</a:t>
            </a:r>
            <a:r>
              <a:rPr lang="en-CA" sz="2400" baseline="-25000" dirty="0">
                <a:solidFill>
                  <a:schemeClr val="bg1"/>
                </a:solidFill>
              </a:rPr>
              <a:t>1</a:t>
            </a:r>
            <a:r>
              <a:rPr lang="en-CA" sz="2400" dirty="0">
                <a:solidFill>
                  <a:schemeClr val="bg1"/>
                </a:solidFill>
              </a:rPr>
              <a:t> is the pressure ratio (turbine/compressor)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400" dirty="0">
                <a:solidFill>
                  <a:schemeClr val="bg1"/>
                </a:solidFill>
              </a:rPr>
              <a:t>Absolute temperature (K or R) must be used in these rations</a:t>
            </a: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4A6E8015-5B27-46BA-A04C-BA2E72DA8A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3493" y="3001727"/>
            <a:ext cx="4094039" cy="70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C5EE8AD-DEE7-41DB-901A-C19BDFDF0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7706" y="4089800"/>
            <a:ext cx="8528587" cy="898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 Box 11">
            <a:extLst>
              <a:ext uri="{FF2B5EF4-FFF2-40B4-BE49-F238E27FC236}">
                <a16:creationId xmlns:a16="http://schemas.microsoft.com/office/drawing/2014/main" id="{26BB51E5-4459-4F14-B2EF-1938136A57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3040698"/>
            <a:ext cx="12954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FF3300"/>
                </a:solidFill>
              </a:rPr>
              <a:t>Pressure ratio</a:t>
            </a:r>
          </a:p>
        </p:txBody>
      </p:sp>
      <p:pic>
        <p:nvPicPr>
          <p:cNvPr id="11" name="Picture 18">
            <a:extLst>
              <a:ext uri="{FF2B5EF4-FFF2-40B4-BE49-F238E27FC236}">
                <a16:creationId xmlns:a16="http://schemas.microsoft.com/office/drawing/2014/main" id="{46D6D330-32FC-45E2-AED2-5504B4ACAA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59173" y="3008948"/>
            <a:ext cx="923925" cy="70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9">
            <a:extLst>
              <a:ext uri="{FF2B5EF4-FFF2-40B4-BE49-F238E27FC236}">
                <a16:creationId xmlns:a16="http://schemas.microsoft.com/office/drawing/2014/main" id="{8709D66B-6DC0-4946-B5F8-5BCD765060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13493" y="5129377"/>
            <a:ext cx="3397027" cy="1015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5866156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3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A816F6C-A8E6-4131-A97C-73268DD020C3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26628" name="Rectangle 4"/>
          <p:cNvSpPr>
            <a:spLocks noChangeArrowheads="1"/>
          </p:cNvSpPr>
          <p:nvPr/>
        </p:nvSpPr>
        <p:spPr bwMode="auto">
          <a:xfrm>
            <a:off x="533400" y="577850"/>
            <a:ext cx="8382000" cy="163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Clr>
                <a:srgbClr val="FF3300"/>
              </a:buClr>
              <a:buFontTx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Increasing the turbine inlet (or firing) temperatures</a:t>
            </a:r>
          </a:p>
          <a:p>
            <a:pPr marL="342900" indent="-342900">
              <a:spcAft>
                <a:spcPts val="600"/>
              </a:spcAft>
              <a:buClr>
                <a:srgbClr val="FF3300"/>
              </a:buClr>
              <a:buFontTx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Increasing the efficiencies of </a:t>
            </a:r>
            <a:r>
              <a:rPr lang="en-US" dirty="0" err="1">
                <a:solidFill>
                  <a:schemeClr val="bg1"/>
                </a:solidFill>
              </a:rPr>
              <a:t>turbomachinery</a:t>
            </a:r>
            <a:r>
              <a:rPr lang="en-US" dirty="0">
                <a:solidFill>
                  <a:schemeClr val="bg1"/>
                </a:solidFill>
              </a:rPr>
              <a:t> components (turbines, compressors):</a:t>
            </a:r>
          </a:p>
          <a:p>
            <a:pPr marL="342900" indent="-342900">
              <a:spcAft>
                <a:spcPts val="600"/>
              </a:spcAft>
              <a:buClr>
                <a:srgbClr val="FF3300"/>
              </a:buClr>
              <a:buFontTx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Adding modifications to the basic cycle (intercooling, </a:t>
            </a:r>
            <a:r>
              <a:rPr lang="en-US" b="1" dirty="0">
                <a:solidFill>
                  <a:schemeClr val="bg1"/>
                </a:solidFill>
              </a:rPr>
              <a:t>regeneration</a:t>
            </a:r>
            <a:r>
              <a:rPr lang="en-US" dirty="0">
                <a:solidFill>
                  <a:schemeClr val="bg1"/>
                </a:solidFill>
              </a:rPr>
              <a:t> or recuperation, and reheating).</a:t>
            </a:r>
          </a:p>
        </p:txBody>
      </p:sp>
      <p:sp>
        <p:nvSpPr>
          <p:cNvPr id="26629" name="Rectangle 5"/>
          <p:cNvSpPr>
            <a:spLocks noChangeArrowheads="1"/>
          </p:cNvSpPr>
          <p:nvPr/>
        </p:nvSpPr>
        <p:spPr bwMode="auto">
          <a:xfrm>
            <a:off x="533400" y="2659063"/>
            <a:ext cx="4495800" cy="769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200" b="1">
                <a:solidFill>
                  <a:srgbClr val="FF3300"/>
                </a:solidFill>
              </a:rPr>
              <a:t>Deviation of Actual Gas-Turbine Cycles from Idealized Ones</a:t>
            </a:r>
          </a:p>
        </p:txBody>
      </p:sp>
      <p:pic>
        <p:nvPicPr>
          <p:cNvPr id="26630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5029200"/>
            <a:ext cx="2589019" cy="755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31" name="Picture 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7063" y="5873864"/>
            <a:ext cx="2416982" cy="755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632" name="Text Box 10"/>
          <p:cNvSpPr txBox="1">
            <a:spLocks noChangeArrowheads="1"/>
          </p:cNvSpPr>
          <p:nvPr/>
        </p:nvSpPr>
        <p:spPr bwMode="auto">
          <a:xfrm>
            <a:off x="533400" y="3505200"/>
            <a:ext cx="4572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10000"/>
              </a:spcBef>
              <a:spcAft>
                <a:spcPct val="10000"/>
              </a:spcAft>
            </a:pPr>
            <a:r>
              <a:rPr lang="en-US" b="1" dirty="0">
                <a:solidFill>
                  <a:srgbClr val="CC00CC"/>
                </a:solidFill>
              </a:rPr>
              <a:t>Reasons:</a:t>
            </a:r>
            <a:r>
              <a:rPr lang="en-US" dirty="0">
                <a:solidFill>
                  <a:srgbClr val="CC00CC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Irreversibilities</a:t>
            </a:r>
            <a:r>
              <a:rPr lang="en-US" dirty="0">
                <a:solidFill>
                  <a:schemeClr val="bg1"/>
                </a:solidFill>
              </a:rPr>
              <a:t> in turbine and compressors, pressure drops, heat losses</a:t>
            </a:r>
          </a:p>
        </p:txBody>
      </p:sp>
      <p:sp>
        <p:nvSpPr>
          <p:cNvPr id="26633" name="Text Box 11"/>
          <p:cNvSpPr txBox="1">
            <a:spLocks noChangeArrowheads="1"/>
          </p:cNvSpPr>
          <p:nvPr/>
        </p:nvSpPr>
        <p:spPr bwMode="auto">
          <a:xfrm>
            <a:off x="533400" y="4387850"/>
            <a:ext cx="4267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3333FF"/>
                </a:solidFill>
              </a:rPr>
              <a:t>Isentropic efficiencies of the compressor and turbine</a:t>
            </a:r>
          </a:p>
        </p:txBody>
      </p:sp>
      <p:pic>
        <p:nvPicPr>
          <p:cNvPr id="26634" name="Picture 1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238750" y="2019300"/>
            <a:ext cx="3524250" cy="468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304800" y="76200"/>
            <a:ext cx="8153400" cy="492443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CA" sz="2600" b="1" dirty="0">
                <a:solidFill>
                  <a:srgbClr val="C00000"/>
                </a:solidFill>
              </a:rPr>
              <a:t>ACTUAL GAS TURBINE </a:t>
            </a:r>
            <a:endParaRPr lang="en-US" sz="2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843648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D24B2-5D52-46F7-B915-67CABB3AD0CF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95300" y="1143000"/>
            <a:ext cx="7810500" cy="4157662"/>
          </a:xfrm>
        </p:spPr>
        <p:txBody>
          <a:bodyPr/>
          <a:lstStyle/>
          <a:p>
            <a:pPr marL="0" indent="0" algn="ctr">
              <a:buNone/>
            </a:pPr>
            <a:endParaRPr lang="en-CA" b="1" dirty="0"/>
          </a:p>
          <a:p>
            <a:pPr marL="0" indent="0" algn="ctr">
              <a:buNone/>
            </a:pPr>
            <a:r>
              <a:rPr lang="en-CA" sz="3200" b="1" dirty="0"/>
              <a:t>PART 4</a:t>
            </a:r>
          </a:p>
          <a:p>
            <a:pPr marL="0" indent="0" algn="ctr">
              <a:buNone/>
            </a:pPr>
            <a:endParaRPr lang="en-CA" sz="3200" b="1" dirty="0"/>
          </a:p>
          <a:p>
            <a:pPr marL="0" indent="0" algn="ctr">
              <a:buNone/>
            </a:pPr>
            <a:r>
              <a:rPr lang="en-CA" sz="3200" b="1" dirty="0"/>
              <a:t>STEAM POWER CYCLES </a:t>
            </a:r>
          </a:p>
          <a:p>
            <a:pPr marL="0" indent="0" algn="ctr">
              <a:buNone/>
            </a:pPr>
            <a:r>
              <a:rPr lang="en-CA" sz="3200" b="1" dirty="0"/>
              <a:t>&amp; </a:t>
            </a:r>
          </a:p>
          <a:p>
            <a:pPr marL="0" indent="0" algn="ctr">
              <a:buNone/>
            </a:pPr>
            <a:r>
              <a:rPr lang="en-CA" sz="3200" b="1" dirty="0"/>
              <a:t>COMBINES CYCLES</a:t>
            </a:r>
          </a:p>
        </p:txBody>
      </p:sp>
    </p:spTree>
    <p:extLst>
      <p:ext uri="{BB962C8B-B14F-4D97-AF65-F5344CB8AC3E}">
        <p14:creationId xmlns:p14="http://schemas.microsoft.com/office/powerpoint/2010/main" val="10256770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3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D1AF752-598D-4CE9-AF73-F617F238C5B5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5123" name="Rectangle 2"/>
          <p:cNvSpPr>
            <a:spLocks noChangeArrowheads="1"/>
          </p:cNvSpPr>
          <p:nvPr/>
        </p:nvSpPr>
        <p:spPr bwMode="auto">
          <a:xfrm>
            <a:off x="304800" y="152400"/>
            <a:ext cx="4572000" cy="1384995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RANKINE CYCLE: THE IDEAL CYCLE</a:t>
            </a:r>
            <a:r>
              <a:rPr lang="tr-TR" sz="2800" b="1" dirty="0">
                <a:solidFill>
                  <a:srgbClr val="C00000"/>
                </a:solidFill>
              </a:rPr>
              <a:t> </a:t>
            </a:r>
            <a:r>
              <a:rPr lang="en-US" sz="2800" b="1" dirty="0">
                <a:solidFill>
                  <a:srgbClr val="C00000"/>
                </a:solidFill>
              </a:rPr>
              <a:t>FOR STEAM TURBINES</a:t>
            </a:r>
          </a:p>
        </p:txBody>
      </p:sp>
      <p:sp>
        <p:nvSpPr>
          <p:cNvPr id="5124" name="Rectangle 7"/>
          <p:cNvSpPr>
            <a:spLocks noChangeArrowheads="1"/>
          </p:cNvSpPr>
          <p:nvPr/>
        </p:nvSpPr>
        <p:spPr bwMode="auto">
          <a:xfrm>
            <a:off x="228600" y="1828800"/>
            <a:ext cx="4876800" cy="18374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15000"/>
              </a:spcBef>
              <a:spcAft>
                <a:spcPct val="15000"/>
              </a:spcAft>
            </a:pPr>
            <a:r>
              <a:rPr lang="en-US" dirty="0">
                <a:solidFill>
                  <a:schemeClr val="bg1"/>
                </a:solidFill>
              </a:rPr>
              <a:t>Many of the impracticalities associated with the Carnot cycle can be eliminated by superheating the steam in the boiler and condensing it completely in the condenser.</a:t>
            </a:r>
            <a:endParaRPr lang="tr-TR" dirty="0">
              <a:solidFill>
                <a:schemeClr val="bg1"/>
              </a:solidFill>
            </a:endParaRPr>
          </a:p>
          <a:p>
            <a:pPr>
              <a:spcBef>
                <a:spcPct val="15000"/>
              </a:spcBef>
              <a:spcAft>
                <a:spcPct val="15000"/>
              </a:spcAft>
            </a:pPr>
            <a:r>
              <a:rPr lang="en-US" dirty="0">
                <a:solidFill>
                  <a:srgbClr val="3333FF"/>
                </a:solidFill>
              </a:rPr>
              <a:t>The cycle that results is the </a:t>
            </a:r>
            <a:r>
              <a:rPr lang="en-US" b="1" dirty="0">
                <a:solidFill>
                  <a:srgbClr val="3333FF"/>
                </a:solidFill>
              </a:rPr>
              <a:t>Rankine cycle</a:t>
            </a:r>
            <a:r>
              <a:rPr lang="en-US" dirty="0">
                <a:solidFill>
                  <a:srgbClr val="3333FF"/>
                </a:solidFill>
              </a:rPr>
              <a:t>, which is the ideal cycle for vapor power plants.  </a:t>
            </a:r>
          </a:p>
        </p:txBody>
      </p:sp>
      <p:pic>
        <p:nvPicPr>
          <p:cNvPr id="5125" name="Picture 1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62600" y="157163"/>
            <a:ext cx="3414713" cy="654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6" name="Picture 1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95275" y="4343400"/>
            <a:ext cx="5038725" cy="131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9220207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3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4566CFB-04FE-4C55-948E-19587F6F318B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7171" name="Rectangle 2"/>
          <p:cNvSpPr>
            <a:spLocks noChangeArrowheads="1"/>
          </p:cNvSpPr>
          <p:nvPr/>
        </p:nvSpPr>
        <p:spPr bwMode="auto">
          <a:xfrm>
            <a:off x="381000" y="152400"/>
            <a:ext cx="7086600" cy="9540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 b="1">
                <a:solidFill>
                  <a:srgbClr val="C00000"/>
                </a:solidFill>
              </a:rPr>
              <a:t>DEVIATION OF ACTUAL VAPOR POWER CYCLES FROM IDEALIZED ONES</a:t>
            </a:r>
          </a:p>
        </p:txBody>
      </p:sp>
      <p:sp>
        <p:nvSpPr>
          <p:cNvPr id="7172" name="Rectangle 5"/>
          <p:cNvSpPr>
            <a:spLocks noChangeArrowheads="1"/>
          </p:cNvSpPr>
          <p:nvPr/>
        </p:nvSpPr>
        <p:spPr bwMode="auto">
          <a:xfrm>
            <a:off x="228600" y="6064250"/>
            <a:ext cx="8001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rgbClr val="3333FF"/>
                </a:solidFill>
              </a:rPr>
              <a:t>(</a:t>
            </a:r>
            <a:r>
              <a:rPr lang="en-US" i="1">
                <a:solidFill>
                  <a:srgbClr val="3333FF"/>
                </a:solidFill>
              </a:rPr>
              <a:t>a</a:t>
            </a:r>
            <a:r>
              <a:rPr lang="en-US">
                <a:solidFill>
                  <a:srgbClr val="3333FF"/>
                </a:solidFill>
              </a:rPr>
              <a:t>) Deviation of actual vapor power cycle from the ideal Rankine cycle.       (</a:t>
            </a:r>
            <a:r>
              <a:rPr lang="en-US" i="1">
                <a:solidFill>
                  <a:srgbClr val="3333FF"/>
                </a:solidFill>
              </a:rPr>
              <a:t>b</a:t>
            </a:r>
            <a:r>
              <a:rPr lang="en-US">
                <a:solidFill>
                  <a:srgbClr val="3333FF"/>
                </a:solidFill>
              </a:rPr>
              <a:t>) The effect of pump and turbine irreversibilities on the ideal Rankine cycle.</a:t>
            </a:r>
          </a:p>
        </p:txBody>
      </p:sp>
      <p:sp>
        <p:nvSpPr>
          <p:cNvPr id="7173" name="Rectangle 8"/>
          <p:cNvSpPr>
            <a:spLocks noChangeArrowheads="1"/>
          </p:cNvSpPr>
          <p:nvPr/>
        </p:nvSpPr>
        <p:spPr bwMode="auto">
          <a:xfrm>
            <a:off x="304800" y="1143000"/>
            <a:ext cx="7848600" cy="124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10000"/>
              </a:spcBef>
              <a:spcAft>
                <a:spcPct val="10000"/>
              </a:spcAft>
            </a:pPr>
            <a:r>
              <a:rPr lang="en-US" dirty="0">
                <a:solidFill>
                  <a:schemeClr val="bg1"/>
                </a:solidFill>
              </a:rPr>
              <a:t>The actual vapor power cycle differs from the ideal Rankine cycle as a result of </a:t>
            </a:r>
            <a:r>
              <a:rPr lang="en-US" dirty="0" err="1">
                <a:solidFill>
                  <a:schemeClr val="bg1"/>
                </a:solidFill>
              </a:rPr>
              <a:t>irreversibilities</a:t>
            </a:r>
            <a:r>
              <a:rPr lang="en-US" dirty="0">
                <a:solidFill>
                  <a:schemeClr val="bg1"/>
                </a:solidFill>
              </a:rPr>
              <a:t> in various components. </a:t>
            </a:r>
          </a:p>
          <a:p>
            <a:pPr>
              <a:spcBef>
                <a:spcPct val="10000"/>
              </a:spcBef>
              <a:spcAft>
                <a:spcPct val="10000"/>
              </a:spcAft>
            </a:pPr>
            <a:r>
              <a:rPr lang="en-US" dirty="0">
                <a:solidFill>
                  <a:schemeClr val="bg1"/>
                </a:solidFill>
              </a:rPr>
              <a:t>Fluid friction and heat loss to the surroundings are the two common sources of </a:t>
            </a:r>
            <a:r>
              <a:rPr lang="en-US" dirty="0" err="1">
                <a:solidFill>
                  <a:schemeClr val="bg1"/>
                </a:solidFill>
              </a:rPr>
              <a:t>irreversibilities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7175" name="Picture 1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8338" y="2362200"/>
            <a:ext cx="3305175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6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29994" y="2702528"/>
            <a:ext cx="2066925" cy="623887"/>
          </a:xfrm>
          <a:prstGeom prst="rect">
            <a:avLst/>
          </a:prstGeom>
          <a:noFill/>
          <a:ln w="19050">
            <a:solidFill>
              <a:schemeClr val="bg2"/>
            </a:solidFill>
            <a:miter lim="800000"/>
            <a:headEnd/>
            <a:tailEnd/>
          </a:ln>
        </p:spPr>
      </p:pic>
      <p:pic>
        <p:nvPicPr>
          <p:cNvPr id="7177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29994" y="3891756"/>
            <a:ext cx="2092325" cy="623887"/>
          </a:xfrm>
          <a:prstGeom prst="rect">
            <a:avLst/>
          </a:prstGeom>
          <a:noFill/>
          <a:ln w="19050">
            <a:solidFill>
              <a:schemeClr val="bg2"/>
            </a:solidFill>
            <a:miter lim="800000"/>
            <a:headEnd/>
            <a:tailEnd/>
          </a:ln>
        </p:spPr>
      </p:pic>
      <p:sp>
        <p:nvSpPr>
          <p:cNvPr id="7178" name="Text Box 9"/>
          <p:cNvSpPr txBox="1">
            <a:spLocks noChangeArrowheads="1"/>
          </p:cNvSpPr>
          <p:nvPr/>
        </p:nvSpPr>
        <p:spPr bwMode="auto">
          <a:xfrm>
            <a:off x="6400800" y="2438400"/>
            <a:ext cx="2667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/>
              <a:t>Isentropic efficiencies</a:t>
            </a:r>
          </a:p>
        </p:txBody>
      </p:sp>
    </p:spTree>
    <p:extLst>
      <p:ext uri="{BB962C8B-B14F-4D97-AF65-F5344CB8AC3E}">
        <p14:creationId xmlns:p14="http://schemas.microsoft.com/office/powerpoint/2010/main" val="143203055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3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BA6E8D2-4CE0-4DCD-95FC-323468D5C86B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11267" name="Rectangle 2"/>
          <p:cNvSpPr>
            <a:spLocks noChangeArrowheads="1"/>
          </p:cNvSpPr>
          <p:nvPr/>
        </p:nvSpPr>
        <p:spPr bwMode="auto">
          <a:xfrm>
            <a:off x="381000" y="179388"/>
            <a:ext cx="6781800" cy="523875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 b="1">
                <a:solidFill>
                  <a:srgbClr val="C00000"/>
                </a:solidFill>
              </a:rPr>
              <a:t>THE IDEAL REHEAT RANKINE CYCLE</a:t>
            </a:r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325438" y="1058862"/>
            <a:ext cx="8686800" cy="1298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10000"/>
              </a:spcBef>
              <a:spcAft>
                <a:spcPct val="10000"/>
              </a:spcAft>
            </a:pPr>
            <a:r>
              <a:rPr lang="en-US" i="1" dirty="0">
                <a:solidFill>
                  <a:srgbClr val="3333FF"/>
                </a:solidFill>
              </a:rPr>
              <a:t>How can we take advantage of the increased efficiencies at higher boiler pressures without facing the problem of excessive moisture at the final stages of the turbine?</a:t>
            </a:r>
          </a:p>
          <a:p>
            <a:pPr>
              <a:spcBef>
                <a:spcPct val="10000"/>
              </a:spcBef>
              <a:spcAft>
                <a:spcPct val="10000"/>
              </a:spcAft>
            </a:pPr>
            <a:r>
              <a:rPr lang="en-US" dirty="0"/>
              <a:t>1. Superheat the steam to very high temperatures. It is limited metallurgically.</a:t>
            </a:r>
          </a:p>
          <a:p>
            <a:pPr>
              <a:spcBef>
                <a:spcPct val="10000"/>
              </a:spcBef>
              <a:spcAft>
                <a:spcPct val="10000"/>
              </a:spcAft>
            </a:pPr>
            <a:r>
              <a:rPr lang="en-US" dirty="0"/>
              <a:t>2. Expand the steam in the turbine in two stages, and reheat it in between (</a:t>
            </a:r>
            <a:r>
              <a:rPr lang="en-US" b="1" dirty="0"/>
              <a:t>reheat</a:t>
            </a:r>
            <a:r>
              <a:rPr lang="en-US" dirty="0"/>
              <a:t>)</a:t>
            </a:r>
            <a:endParaRPr lang="en-US" b="1" dirty="0">
              <a:solidFill>
                <a:srgbClr val="FF3300"/>
              </a:solidFill>
              <a:latin typeface="Times New Roman" pitchFamily="18" charset="0"/>
            </a:endParaRPr>
          </a:p>
        </p:txBody>
      </p:sp>
      <p:pic>
        <p:nvPicPr>
          <p:cNvPr id="11271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5438" y="3057525"/>
            <a:ext cx="8513762" cy="3724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2" name="Picture 1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91250" y="2667000"/>
            <a:ext cx="264795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6485008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9"/>
          <p:cNvPicPr>
            <a:picLocks noChangeAspect="1" noChangeArrowheads="1"/>
          </p:cNvPicPr>
          <p:nvPr/>
        </p:nvPicPr>
        <p:blipFill rotWithShape="1">
          <a:blip r:embed="rId2"/>
          <a:srcRect r="38603"/>
          <a:stretch/>
        </p:blipFill>
        <p:spPr bwMode="auto">
          <a:xfrm>
            <a:off x="1371600" y="2522743"/>
            <a:ext cx="5638799" cy="4295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39" name="3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5650BB8-BFF3-4A50-B301-A7CB15BE9A7B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14342" name="Rectangle 8"/>
          <p:cNvSpPr>
            <a:spLocks noChangeArrowheads="1"/>
          </p:cNvSpPr>
          <p:nvPr/>
        </p:nvSpPr>
        <p:spPr bwMode="auto">
          <a:xfrm>
            <a:off x="408806" y="1628647"/>
            <a:ext cx="8582795" cy="877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chemeClr val="bg1"/>
                </a:solidFill>
              </a:rPr>
              <a:t>An </a:t>
            </a:r>
            <a:r>
              <a:rPr lang="en-US" sz="1700" b="1" dirty="0">
                <a:solidFill>
                  <a:schemeClr val="bg1"/>
                </a:solidFill>
              </a:rPr>
              <a:t>open </a:t>
            </a:r>
            <a:r>
              <a:rPr lang="en-US" sz="1700" dirty="0">
                <a:solidFill>
                  <a:schemeClr val="bg1"/>
                </a:solidFill>
              </a:rPr>
              <a:t>(or </a:t>
            </a:r>
            <a:r>
              <a:rPr lang="en-US" sz="1700" b="1" dirty="0">
                <a:solidFill>
                  <a:schemeClr val="bg1"/>
                </a:solidFill>
              </a:rPr>
              <a:t>direct-contact</a:t>
            </a:r>
            <a:r>
              <a:rPr lang="en-US" sz="1700" dirty="0">
                <a:solidFill>
                  <a:schemeClr val="bg1"/>
                </a:solidFill>
              </a:rPr>
              <a:t>) </a:t>
            </a:r>
            <a:r>
              <a:rPr lang="en-US" sz="1700" b="1" dirty="0" err="1">
                <a:solidFill>
                  <a:schemeClr val="bg1"/>
                </a:solidFill>
              </a:rPr>
              <a:t>feedwater</a:t>
            </a:r>
            <a:r>
              <a:rPr lang="en-US" sz="1700" b="1" dirty="0">
                <a:solidFill>
                  <a:schemeClr val="bg1"/>
                </a:solidFill>
              </a:rPr>
              <a:t> heater </a:t>
            </a:r>
            <a:r>
              <a:rPr lang="en-US" sz="1700" dirty="0">
                <a:solidFill>
                  <a:schemeClr val="bg1"/>
                </a:solidFill>
              </a:rPr>
              <a:t>is basically a </a:t>
            </a:r>
            <a:r>
              <a:rPr lang="en-US" sz="1700" i="1" dirty="0">
                <a:solidFill>
                  <a:schemeClr val="bg1"/>
                </a:solidFill>
              </a:rPr>
              <a:t>mixing chamber, </a:t>
            </a:r>
            <a:r>
              <a:rPr lang="en-US" sz="1700" dirty="0">
                <a:solidFill>
                  <a:schemeClr val="bg1"/>
                </a:solidFill>
              </a:rPr>
              <a:t>where the steam extracted from the turbine mixes with the </a:t>
            </a:r>
            <a:r>
              <a:rPr lang="en-US" sz="1700" dirty="0" err="1">
                <a:solidFill>
                  <a:schemeClr val="bg1"/>
                </a:solidFill>
              </a:rPr>
              <a:t>feedwater</a:t>
            </a:r>
            <a:r>
              <a:rPr lang="en-US" sz="1700" dirty="0">
                <a:solidFill>
                  <a:schemeClr val="bg1"/>
                </a:solidFill>
              </a:rPr>
              <a:t> exiting the pump. Ideally, the mixture leaves the heater as a saturated liquid at the heater pressure.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B8F609F4-05B1-411D-8CF9-0EB6786C8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911464"/>
            <a:ext cx="8153400" cy="523875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THE IDEAL REGENERATIVE RANKINE CYCLE</a:t>
            </a:r>
          </a:p>
        </p:txBody>
      </p:sp>
    </p:spTree>
    <p:extLst>
      <p:ext uri="{BB962C8B-B14F-4D97-AF65-F5344CB8AC3E}">
        <p14:creationId xmlns:p14="http://schemas.microsoft.com/office/powerpoint/2010/main" val="3874231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3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10B47F6-A342-4B3B-B3C9-EC3FC74D96F8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18435" name="Rectangle 2"/>
          <p:cNvSpPr>
            <a:spLocks noChangeArrowheads="1"/>
          </p:cNvSpPr>
          <p:nvPr/>
        </p:nvSpPr>
        <p:spPr bwMode="auto">
          <a:xfrm>
            <a:off x="609600" y="76200"/>
            <a:ext cx="3276600" cy="523875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COGENERATION</a:t>
            </a:r>
          </a:p>
        </p:txBody>
      </p:sp>
      <p:sp>
        <p:nvSpPr>
          <p:cNvPr id="18436" name="Rectangle 7"/>
          <p:cNvSpPr>
            <a:spLocks noChangeArrowheads="1"/>
          </p:cNvSpPr>
          <p:nvPr/>
        </p:nvSpPr>
        <p:spPr bwMode="auto">
          <a:xfrm>
            <a:off x="533400" y="609600"/>
            <a:ext cx="7772400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Many industries require energy input in the form of heat, called </a:t>
            </a:r>
            <a:r>
              <a:rPr lang="en-US" b="1" i="1">
                <a:solidFill>
                  <a:schemeClr val="bg1"/>
                </a:solidFill>
              </a:rPr>
              <a:t>process heat</a:t>
            </a:r>
            <a:r>
              <a:rPr lang="en-US" i="1">
                <a:solidFill>
                  <a:schemeClr val="bg1"/>
                </a:solidFill>
              </a:rPr>
              <a:t>. </a:t>
            </a:r>
            <a:r>
              <a:rPr lang="en-US">
                <a:solidFill>
                  <a:schemeClr val="bg1"/>
                </a:solidFill>
              </a:rPr>
              <a:t>Process heat in these industries is usually supplied by steam at 5 to 7 atm and 150 to 200°C. Energy is usually transferred to the steam by burning coal, oil, natural gas, or another fuel in a furnace.</a:t>
            </a:r>
            <a:endParaRPr lang="en-US" i="1">
              <a:solidFill>
                <a:schemeClr val="bg1"/>
              </a:solidFill>
            </a:endParaRPr>
          </a:p>
        </p:txBody>
      </p:sp>
      <p:sp>
        <p:nvSpPr>
          <p:cNvPr id="18437" name="Rectangle 8"/>
          <p:cNvSpPr>
            <a:spLocks noChangeArrowheads="1"/>
          </p:cNvSpPr>
          <p:nvPr/>
        </p:nvSpPr>
        <p:spPr bwMode="auto">
          <a:xfrm>
            <a:off x="4876800" y="2066925"/>
            <a:ext cx="3733800" cy="3495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10000"/>
              </a:spcBef>
              <a:spcAft>
                <a:spcPct val="10000"/>
              </a:spcAft>
            </a:pPr>
            <a:r>
              <a:rPr lang="en-US" dirty="0">
                <a:solidFill>
                  <a:schemeClr val="bg1"/>
                </a:solidFill>
              </a:rPr>
              <a:t>Industries that use large amounts of process heat also consume a large amount of electric power. </a:t>
            </a:r>
          </a:p>
          <a:p>
            <a:pPr>
              <a:spcBef>
                <a:spcPct val="10000"/>
              </a:spcBef>
              <a:spcAft>
                <a:spcPct val="10000"/>
              </a:spcAft>
            </a:pPr>
            <a:r>
              <a:rPr lang="en-US" dirty="0">
                <a:solidFill>
                  <a:schemeClr val="bg1"/>
                </a:solidFill>
              </a:rPr>
              <a:t>It makes sense to use the already-existing work potential to produce power instead of letting it go to waste. </a:t>
            </a:r>
          </a:p>
          <a:p>
            <a:pPr>
              <a:spcBef>
                <a:spcPct val="10000"/>
              </a:spcBef>
              <a:spcAft>
                <a:spcPct val="10000"/>
              </a:spcAft>
            </a:pPr>
            <a:r>
              <a:rPr lang="en-US" dirty="0">
                <a:solidFill>
                  <a:schemeClr val="bg1"/>
                </a:solidFill>
              </a:rPr>
              <a:t>The result is a plant that produces electricity while meeting the process-heat requirements of certain industrial processes (cogeneration plant)</a:t>
            </a:r>
            <a:endParaRPr lang="en-US" i="1" dirty="0">
              <a:solidFill>
                <a:schemeClr val="bg1"/>
              </a:solidFill>
            </a:endParaRPr>
          </a:p>
        </p:txBody>
      </p:sp>
      <p:sp>
        <p:nvSpPr>
          <p:cNvPr id="18438" name="Rectangle 9"/>
          <p:cNvSpPr>
            <a:spLocks noChangeArrowheads="1"/>
          </p:cNvSpPr>
          <p:nvPr/>
        </p:nvSpPr>
        <p:spPr bwMode="auto">
          <a:xfrm>
            <a:off x="609600" y="6121400"/>
            <a:ext cx="7543800" cy="660400"/>
          </a:xfrm>
          <a:prstGeom prst="rect">
            <a:avLst/>
          </a:prstGeom>
          <a:solidFill>
            <a:srgbClr val="FFCC99"/>
          </a:solidFill>
          <a:ln w="19050">
            <a:solidFill>
              <a:schemeClr val="bg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10000"/>
              </a:spcBef>
              <a:spcAft>
                <a:spcPct val="10000"/>
              </a:spcAft>
            </a:pPr>
            <a:r>
              <a:rPr lang="en-US" b="1">
                <a:solidFill>
                  <a:srgbClr val="CC00CC"/>
                </a:solidFill>
              </a:rPr>
              <a:t>Cogeneration:</a:t>
            </a:r>
            <a:r>
              <a:rPr lang="en-US"/>
              <a:t> The production of more than one useful form of energy (such as process heat and electric power) from the same energy source.</a:t>
            </a: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08089664-9F55-4333-BB68-D2628BECB8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73376" y="1903412"/>
            <a:ext cx="2549047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35725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3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814AA9F-5D19-4CAE-A329-FD93D7006A0B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19459" name="Text Box 11"/>
          <p:cNvSpPr txBox="1">
            <a:spLocks noChangeArrowheads="1"/>
          </p:cNvSpPr>
          <p:nvPr/>
        </p:nvSpPr>
        <p:spPr bwMode="auto">
          <a:xfrm>
            <a:off x="609600" y="939748"/>
            <a:ext cx="4800600" cy="523220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defPPr>
              <a:defRPr lang="en-US"/>
            </a:defPPr>
            <a:lvl1pPr>
              <a:defRPr sz="2800" b="1"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Utilization factor</a:t>
            </a:r>
          </a:p>
        </p:txBody>
      </p:sp>
      <p:sp>
        <p:nvSpPr>
          <p:cNvPr id="19460" name="Rectangle 12"/>
          <p:cNvSpPr>
            <a:spLocks noChangeArrowheads="1"/>
          </p:cNvSpPr>
          <p:nvPr/>
        </p:nvSpPr>
        <p:spPr bwMode="auto">
          <a:xfrm>
            <a:off x="4267200" y="4994800"/>
            <a:ext cx="36576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15000"/>
              </a:spcBef>
              <a:spcAft>
                <a:spcPct val="15000"/>
              </a:spcAft>
              <a:buClr>
                <a:srgbClr val="FF3300"/>
              </a:buClr>
              <a:buFontTx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Actual cogeneration plants have utilization factors as high as 80%. </a:t>
            </a:r>
          </a:p>
        </p:txBody>
      </p:sp>
      <p:pic>
        <p:nvPicPr>
          <p:cNvPr id="19462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78688" y="2602944"/>
            <a:ext cx="5436320" cy="74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3" name="Picture 1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38431" y="3745419"/>
            <a:ext cx="1562100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28CBD78B-391A-4122-B4D3-3761A22609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04801" y="1709164"/>
            <a:ext cx="3048000" cy="49202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8391647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Dikdörtgen"/>
          <p:cNvSpPr/>
          <p:nvPr/>
        </p:nvSpPr>
        <p:spPr>
          <a:xfrm>
            <a:off x="7162799" y="3512101"/>
            <a:ext cx="1828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>
              <a:solidFill>
                <a:srgbClr val="0000FF"/>
              </a:solidFill>
            </a:endParaRPr>
          </a:p>
          <a:p>
            <a:r>
              <a:rPr lang="en-US" dirty="0">
                <a:solidFill>
                  <a:srgbClr val="0000FF"/>
                </a:solidFill>
              </a:rPr>
              <a:t>Schematic diagram of a coal-fired power plant with environmental controls for major pollutants </a:t>
            </a:r>
            <a:endParaRPr lang="tr-TR" dirty="0">
              <a:solidFill>
                <a:srgbClr val="0000FF"/>
              </a:solidFill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" y="471002"/>
            <a:ext cx="6934199" cy="6386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Dikdörtgen"/>
          <p:cNvSpPr/>
          <p:nvPr/>
        </p:nvSpPr>
        <p:spPr>
          <a:xfrm>
            <a:off x="342900" y="567954"/>
            <a:ext cx="8610600" cy="2339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100" b="1" dirty="0">
                <a:solidFill>
                  <a:schemeClr val="bg1"/>
                </a:solidFill>
                <a:latin typeface="Calibri" pitchFamily="34" charset="0"/>
              </a:rPr>
              <a:t>Flue gas desulfurization (FGD)</a:t>
            </a:r>
            <a:r>
              <a:rPr lang="tr-TR" sz="2100" dirty="0">
                <a:solidFill>
                  <a:schemeClr val="bg1"/>
                </a:solidFill>
                <a:latin typeface="Calibri" pitchFamily="34" charset="0"/>
              </a:rPr>
              <a:t>: </a:t>
            </a:r>
            <a:r>
              <a:rPr lang="en-US" sz="2100" dirty="0">
                <a:solidFill>
                  <a:schemeClr val="bg1"/>
                </a:solidFill>
                <a:latin typeface="Calibri" pitchFamily="34" charset="0"/>
              </a:rPr>
              <a:t>All coal-fired power plants must be equipped with FGD</a:t>
            </a:r>
            <a:r>
              <a:rPr lang="tr-TR" sz="2100" dirty="0">
                <a:solidFill>
                  <a:schemeClr val="bg1"/>
                </a:solidFill>
                <a:latin typeface="Calibri" pitchFamily="34" charset="0"/>
              </a:rPr>
              <a:t> </a:t>
            </a:r>
            <a:r>
              <a:rPr lang="en-US" sz="2100" dirty="0">
                <a:solidFill>
                  <a:schemeClr val="bg1"/>
                </a:solidFill>
                <a:latin typeface="Calibri" pitchFamily="34" charset="0"/>
              </a:rPr>
              <a:t>systems, which are very effective in SO</a:t>
            </a:r>
            <a:r>
              <a:rPr lang="en-US" sz="2100" baseline="-25000" dirty="0">
                <a:solidFill>
                  <a:schemeClr val="bg1"/>
                </a:solidFill>
                <a:latin typeface="Calibri" pitchFamily="34" charset="0"/>
              </a:rPr>
              <a:t>2</a:t>
            </a:r>
            <a:r>
              <a:rPr lang="en-US" sz="2100" dirty="0">
                <a:solidFill>
                  <a:schemeClr val="bg1"/>
                </a:solidFill>
                <a:latin typeface="Calibri" pitchFamily="34" charset="0"/>
              </a:rPr>
              <a:t> removal. </a:t>
            </a:r>
            <a:endParaRPr lang="tr-TR" sz="2100" dirty="0">
              <a:solidFill>
                <a:schemeClr val="bg1"/>
              </a:solidFill>
              <a:latin typeface="Calibri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100" dirty="0">
                <a:solidFill>
                  <a:schemeClr val="bg1"/>
                </a:solidFill>
                <a:latin typeface="Calibri" pitchFamily="34" charset="0"/>
              </a:rPr>
              <a:t>In this process, a slurry of pulverized limestone (</a:t>
            </a:r>
            <a:r>
              <a:rPr lang="en-US" sz="2100" b="1" dirty="0">
                <a:solidFill>
                  <a:schemeClr val="bg1"/>
                </a:solidFill>
                <a:latin typeface="Calibri" pitchFamily="34" charset="0"/>
              </a:rPr>
              <a:t>calcium carbonate—</a:t>
            </a:r>
            <a:r>
              <a:rPr lang="en-US" sz="2100" b="1" dirty="0" err="1">
                <a:solidFill>
                  <a:schemeClr val="bg1"/>
                </a:solidFill>
                <a:latin typeface="Calibri" pitchFamily="34" charset="0"/>
              </a:rPr>
              <a:t>CaCO</a:t>
            </a:r>
            <a:r>
              <a:rPr lang="tr-TR" sz="2100" b="1" baseline="-25000" dirty="0">
                <a:solidFill>
                  <a:schemeClr val="bg1"/>
                </a:solidFill>
                <a:latin typeface="Calibri" pitchFamily="34" charset="0"/>
              </a:rPr>
              <a:t>3</a:t>
            </a:r>
            <a:r>
              <a:rPr lang="en-US" sz="2100" dirty="0">
                <a:solidFill>
                  <a:schemeClr val="bg1"/>
                </a:solidFill>
                <a:latin typeface="Calibri" pitchFamily="34" charset="0"/>
              </a:rPr>
              <a:t>) mixed with water is used. The process takes place in a vessel called scrubber. </a:t>
            </a:r>
            <a:endParaRPr lang="tr-TR" sz="2100" dirty="0">
              <a:solidFill>
                <a:schemeClr val="bg1"/>
              </a:solidFill>
              <a:latin typeface="Calibri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100" dirty="0">
                <a:solidFill>
                  <a:schemeClr val="bg1"/>
                </a:solidFill>
                <a:latin typeface="Calibri" pitchFamily="34" charset="0"/>
              </a:rPr>
              <a:t>A mixture of limestone and water is sprayed into the combustion gas containing SO</a:t>
            </a:r>
            <a:r>
              <a:rPr lang="en-US" sz="2100" baseline="-25000" dirty="0">
                <a:solidFill>
                  <a:schemeClr val="bg1"/>
                </a:solidFill>
                <a:latin typeface="Calibri" pitchFamily="34" charset="0"/>
              </a:rPr>
              <a:t>2</a:t>
            </a:r>
            <a:r>
              <a:rPr lang="en-US" sz="2100" dirty="0">
                <a:solidFill>
                  <a:schemeClr val="bg1"/>
                </a:solidFill>
                <a:latin typeface="Calibri" pitchFamily="34" charset="0"/>
              </a:rPr>
              <a:t> according to the reaction: </a:t>
            </a:r>
            <a:endParaRPr lang="tr-TR" sz="2100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5" name="4 Dikdörtgen"/>
          <p:cNvSpPr/>
          <p:nvPr/>
        </p:nvSpPr>
        <p:spPr>
          <a:xfrm>
            <a:off x="494297" y="3709161"/>
            <a:ext cx="4878805" cy="2831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100" dirty="0">
                <a:solidFill>
                  <a:schemeClr val="bg1"/>
                </a:solidFill>
                <a:latin typeface="Calibri" pitchFamily="34" charset="0"/>
              </a:rPr>
              <a:t>The product </a:t>
            </a:r>
            <a:r>
              <a:rPr lang="en-US" sz="2100" b="1" dirty="0">
                <a:solidFill>
                  <a:schemeClr val="bg1"/>
                </a:solidFill>
                <a:latin typeface="Calibri" pitchFamily="34" charset="0"/>
              </a:rPr>
              <a:t>gypsum (CaSO</a:t>
            </a:r>
            <a:r>
              <a:rPr lang="en-US" sz="2100" b="1" baseline="-25000" dirty="0">
                <a:solidFill>
                  <a:schemeClr val="bg1"/>
                </a:solidFill>
                <a:latin typeface="Calibri" pitchFamily="34" charset="0"/>
              </a:rPr>
              <a:t>4</a:t>
            </a:r>
            <a:r>
              <a:rPr lang="en-US" sz="2100" b="1" dirty="0">
                <a:solidFill>
                  <a:schemeClr val="bg1"/>
                </a:solidFill>
                <a:latin typeface="Calibri" pitchFamily="34" charset="0"/>
              </a:rPr>
              <a:t> ⋅ 2H</a:t>
            </a:r>
            <a:r>
              <a:rPr lang="en-US" sz="2100" b="1" baseline="-25000" dirty="0">
                <a:solidFill>
                  <a:schemeClr val="bg1"/>
                </a:solidFill>
                <a:latin typeface="Calibri" pitchFamily="34" charset="0"/>
              </a:rPr>
              <a:t>2</a:t>
            </a:r>
            <a:r>
              <a:rPr lang="en-US" sz="2100" b="1" dirty="0">
                <a:solidFill>
                  <a:schemeClr val="bg1"/>
                </a:solidFill>
                <a:latin typeface="Calibri" pitchFamily="34" charset="0"/>
              </a:rPr>
              <a:t>O) </a:t>
            </a:r>
            <a:r>
              <a:rPr lang="en-US" sz="2100" dirty="0">
                <a:solidFill>
                  <a:schemeClr val="bg1"/>
                </a:solidFill>
                <a:latin typeface="Calibri" pitchFamily="34" charset="0"/>
              </a:rPr>
              <a:t>has commercial value as it is a main constituent in plaster, blackboard chalk, and wallboard. </a:t>
            </a:r>
            <a:endParaRPr lang="tr-TR" sz="2100" dirty="0">
              <a:solidFill>
                <a:schemeClr val="bg1"/>
              </a:solidFill>
              <a:latin typeface="Calibri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tr-TR" sz="2100" b="1" dirty="0">
                <a:solidFill>
                  <a:schemeClr val="bg1"/>
                </a:solidFill>
                <a:latin typeface="Calibri" pitchFamily="34" charset="0"/>
              </a:rPr>
              <a:t>FGD effectiveness:</a:t>
            </a:r>
            <a:r>
              <a:rPr lang="en-US" sz="2100" b="1" dirty="0">
                <a:solidFill>
                  <a:schemeClr val="bg1"/>
                </a:solidFill>
                <a:latin typeface="Calibri" pitchFamily="34" charset="0"/>
              </a:rPr>
              <a:t> </a:t>
            </a:r>
            <a:r>
              <a:rPr lang="tr-TR" sz="2100" dirty="0">
                <a:solidFill>
                  <a:schemeClr val="bg1"/>
                </a:solidFill>
                <a:latin typeface="Calibri" pitchFamily="34" charset="0"/>
              </a:rPr>
              <a:t> </a:t>
            </a:r>
            <a:r>
              <a:rPr lang="en-US" sz="2100" dirty="0">
                <a:solidFill>
                  <a:schemeClr val="bg1"/>
                </a:solidFill>
                <a:latin typeface="Calibri" pitchFamily="34" charset="0"/>
              </a:rPr>
              <a:t>A modern flue gas desulfurization system utilizing limestone (</a:t>
            </a:r>
            <a:r>
              <a:rPr lang="en-US" sz="2100" dirty="0" err="1">
                <a:solidFill>
                  <a:schemeClr val="bg1"/>
                </a:solidFill>
                <a:latin typeface="Calibri" pitchFamily="34" charset="0"/>
              </a:rPr>
              <a:t>CaCO</a:t>
            </a:r>
            <a:r>
              <a:rPr lang="tr-TR" sz="2100" baseline="-25000" dirty="0">
                <a:solidFill>
                  <a:schemeClr val="bg1"/>
                </a:solidFill>
                <a:latin typeface="Calibri" pitchFamily="34" charset="0"/>
              </a:rPr>
              <a:t>3</a:t>
            </a:r>
            <a:r>
              <a:rPr lang="en-US" sz="2100" dirty="0">
                <a:solidFill>
                  <a:schemeClr val="bg1"/>
                </a:solidFill>
                <a:latin typeface="Calibri" pitchFamily="34" charset="0"/>
              </a:rPr>
              <a:t>) can remove more than 95</a:t>
            </a:r>
            <a:r>
              <a:rPr lang="tr-TR" sz="2100" dirty="0">
                <a:solidFill>
                  <a:schemeClr val="bg1"/>
                </a:solidFill>
                <a:latin typeface="Calibri" pitchFamily="34" charset="0"/>
              </a:rPr>
              <a:t>%</a:t>
            </a:r>
            <a:r>
              <a:rPr lang="en-US" sz="2100" dirty="0">
                <a:solidFill>
                  <a:schemeClr val="bg1"/>
                </a:solidFill>
                <a:latin typeface="Calibri" pitchFamily="34" charset="0"/>
              </a:rPr>
              <a:t> of SO</a:t>
            </a:r>
            <a:r>
              <a:rPr lang="en-US" sz="2100" baseline="-25000" dirty="0">
                <a:solidFill>
                  <a:schemeClr val="bg1"/>
                </a:solidFill>
                <a:latin typeface="Calibri" pitchFamily="34" charset="0"/>
              </a:rPr>
              <a:t>2</a:t>
            </a:r>
            <a:r>
              <a:rPr lang="en-US" sz="2100" dirty="0">
                <a:solidFill>
                  <a:schemeClr val="bg1"/>
                </a:solidFill>
                <a:latin typeface="Calibri" pitchFamily="34" charset="0"/>
              </a:rPr>
              <a:t> in combustion gases. </a:t>
            </a:r>
            <a:endParaRPr lang="tr-TR" sz="2100" dirty="0">
              <a:solidFill>
                <a:schemeClr val="bg1"/>
              </a:solidFill>
              <a:latin typeface="Calibri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2900" y="2990849"/>
            <a:ext cx="6581775" cy="438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3A9BBC-80C9-39DF-7F17-FC79EC145CA0}"/>
              </a:ext>
            </a:extLst>
          </p:cNvPr>
          <p:cNvSpPr txBox="1"/>
          <p:nvPr/>
        </p:nvSpPr>
        <p:spPr>
          <a:xfrm>
            <a:off x="342900" y="98732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>
            <a:defPPr>
              <a:defRPr lang="en-US"/>
            </a:defPPr>
            <a:lvl1pPr>
              <a:defRPr sz="2400" b="1">
                <a:solidFill>
                  <a:srgbClr val="0000FF"/>
                </a:solidFill>
              </a:defRPr>
            </a:lvl1pPr>
          </a:lstStyle>
          <a:p>
            <a:r>
              <a:rPr lang="en-US" dirty="0"/>
              <a:t>Flue gas desulfurization (FGD)</a:t>
            </a:r>
            <a:endParaRPr lang="en-CA" dirty="0"/>
          </a:p>
        </p:txBody>
      </p:sp>
      <p:pic>
        <p:nvPicPr>
          <p:cNvPr id="6" name="Picture 5" descr="Diagram of a chemical process&#10;&#10;AI-generated content may be incorrect.">
            <a:extLst>
              <a:ext uri="{FF2B5EF4-FFF2-40B4-BE49-F238E27FC236}">
                <a16:creationId xmlns:a16="http://schemas.microsoft.com/office/drawing/2014/main" id="{13138026-BF18-41F9-D99E-5EC5E0CDE1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389" y="3378295"/>
            <a:ext cx="3090111" cy="337924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Dikdörtgen"/>
          <p:cNvSpPr/>
          <p:nvPr/>
        </p:nvSpPr>
        <p:spPr>
          <a:xfrm>
            <a:off x="296173" y="836370"/>
            <a:ext cx="8153400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Calibri" pitchFamily="34" charset="0"/>
              </a:rPr>
              <a:t>In coal-fired power plants, a </a:t>
            </a:r>
            <a:r>
              <a:rPr lang="en-US" sz="2200" b="1" dirty="0">
                <a:solidFill>
                  <a:schemeClr val="bg1"/>
                </a:solidFill>
                <a:latin typeface="Calibri" pitchFamily="34" charset="0"/>
              </a:rPr>
              <a:t>SCR unit is installed into the combustion gas stream right after the boiler</a:t>
            </a:r>
            <a:r>
              <a:rPr lang="en-US" sz="2200" dirty="0">
                <a:solidFill>
                  <a:schemeClr val="bg1"/>
                </a:solidFill>
                <a:latin typeface="Calibri" pitchFamily="34" charset="0"/>
              </a:rPr>
              <a:t>. </a:t>
            </a:r>
            <a:endParaRPr lang="tr-TR" sz="2200" dirty="0">
              <a:solidFill>
                <a:schemeClr val="bg1"/>
              </a:solidFill>
              <a:latin typeface="Calibri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Calibri" pitchFamily="34" charset="0"/>
              </a:rPr>
              <a:t>The system uses a catalyst material to promote the conversion of NO</a:t>
            </a:r>
            <a:r>
              <a:rPr lang="en-US" sz="2200" baseline="-25000" dirty="0">
                <a:solidFill>
                  <a:schemeClr val="bg1"/>
                </a:solidFill>
                <a:latin typeface="Calibri" pitchFamily="34" charset="0"/>
              </a:rPr>
              <a:t>x</a:t>
            </a:r>
            <a:r>
              <a:rPr lang="en-US" sz="2200" dirty="0">
                <a:solidFill>
                  <a:schemeClr val="bg1"/>
                </a:solidFill>
                <a:latin typeface="Calibri" pitchFamily="34" charset="0"/>
              </a:rPr>
              <a:t> components into non-harmful molecular nitrogen N</a:t>
            </a:r>
            <a:r>
              <a:rPr lang="tr-TR" sz="2200" baseline="-25000" dirty="0">
                <a:solidFill>
                  <a:schemeClr val="bg1"/>
                </a:solidFill>
                <a:latin typeface="Calibri" pitchFamily="34" charset="0"/>
              </a:rPr>
              <a:t>2</a:t>
            </a:r>
            <a:r>
              <a:rPr lang="en-US" sz="2200" dirty="0">
                <a:solidFill>
                  <a:schemeClr val="bg1"/>
                </a:solidFill>
                <a:latin typeface="Calibri" pitchFamily="34" charset="0"/>
              </a:rPr>
              <a:t>. </a:t>
            </a:r>
            <a:endParaRPr lang="tr-TR" sz="2200" dirty="0">
              <a:solidFill>
                <a:schemeClr val="bg1"/>
              </a:solidFill>
              <a:latin typeface="Calibri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200" dirty="0">
                <a:solidFill>
                  <a:schemeClr val="bg1"/>
                </a:solidFill>
                <a:latin typeface="Calibri" pitchFamily="34" charset="0"/>
              </a:rPr>
              <a:t>Ammonia (NH</a:t>
            </a:r>
            <a:r>
              <a:rPr lang="tr-TR" sz="2200" baseline="-25000" dirty="0">
                <a:solidFill>
                  <a:schemeClr val="bg1"/>
                </a:solidFill>
                <a:latin typeface="Calibri" pitchFamily="34" charset="0"/>
              </a:rPr>
              <a:t>3</a:t>
            </a:r>
            <a:r>
              <a:rPr lang="en-US" sz="2200" dirty="0">
                <a:solidFill>
                  <a:schemeClr val="bg1"/>
                </a:solidFill>
                <a:latin typeface="Calibri" pitchFamily="34" charset="0"/>
              </a:rPr>
              <a:t>) is also injected into the combustion gas stream leading to the following reactions </a:t>
            </a:r>
            <a:endParaRPr lang="tr-TR" sz="2200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5" name="4 Dikdörtgen"/>
          <p:cNvSpPr/>
          <p:nvPr/>
        </p:nvSpPr>
        <p:spPr>
          <a:xfrm>
            <a:off x="381000" y="4618398"/>
            <a:ext cx="8382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tr-TR" sz="2200" b="1" dirty="0">
                <a:solidFill>
                  <a:schemeClr val="bg1"/>
                </a:solidFill>
                <a:latin typeface="Calibri" pitchFamily="34" charset="0"/>
              </a:rPr>
              <a:t>Temperature requirement for SCR:</a:t>
            </a:r>
            <a:r>
              <a:rPr lang="tr-TR" sz="2200" dirty="0">
                <a:solidFill>
                  <a:schemeClr val="bg1"/>
                </a:solidFill>
                <a:latin typeface="Calibri" pitchFamily="34" charset="0"/>
              </a:rPr>
              <a:t> </a:t>
            </a:r>
            <a:r>
              <a:rPr lang="en-US" sz="2200" dirty="0">
                <a:solidFill>
                  <a:schemeClr val="bg1"/>
                </a:solidFill>
                <a:latin typeface="Calibri" pitchFamily="34" charset="0"/>
              </a:rPr>
              <a:t>These reactions require a temperature of about 400°C, and this is the reason the SCR system is installed right after the boiler of the power plant.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tr-TR" sz="2200" b="1" dirty="0">
                <a:solidFill>
                  <a:schemeClr val="bg1"/>
                </a:solidFill>
                <a:latin typeface="Calibri" pitchFamily="34" charset="0"/>
              </a:rPr>
              <a:t>Effectiveness of SCR:</a:t>
            </a:r>
            <a:r>
              <a:rPr lang="tr-TR" sz="2200" dirty="0">
                <a:solidFill>
                  <a:schemeClr val="bg1"/>
                </a:solidFill>
                <a:latin typeface="Calibri" pitchFamily="34" charset="0"/>
              </a:rPr>
              <a:t> </a:t>
            </a:r>
            <a:r>
              <a:rPr lang="en-US" sz="2200" dirty="0">
                <a:solidFill>
                  <a:schemeClr val="bg1"/>
                </a:solidFill>
                <a:latin typeface="Calibri" pitchFamily="34" charset="0"/>
              </a:rPr>
              <a:t>The SCR systems can typically remove 70 to 90</a:t>
            </a:r>
            <a:r>
              <a:rPr lang="tr-TR" sz="2200" dirty="0">
                <a:solidFill>
                  <a:schemeClr val="bg1"/>
                </a:solidFill>
                <a:latin typeface="Calibri" pitchFamily="34" charset="0"/>
              </a:rPr>
              <a:t>%</a:t>
            </a:r>
            <a:r>
              <a:rPr lang="en-US" sz="2200" dirty="0">
                <a:solidFill>
                  <a:schemeClr val="bg1"/>
                </a:solidFill>
                <a:latin typeface="Calibri" pitchFamily="34" charset="0"/>
              </a:rPr>
              <a:t> of NO</a:t>
            </a:r>
            <a:r>
              <a:rPr lang="en-US" sz="2200" baseline="-25000" dirty="0">
                <a:solidFill>
                  <a:schemeClr val="bg1"/>
                </a:solidFill>
                <a:latin typeface="Calibri" pitchFamily="34" charset="0"/>
              </a:rPr>
              <a:t>x</a:t>
            </a:r>
            <a:r>
              <a:rPr lang="en-US" sz="2200" dirty="0">
                <a:solidFill>
                  <a:schemeClr val="bg1"/>
                </a:solidFill>
                <a:latin typeface="Calibri" pitchFamily="34" charset="0"/>
              </a:rPr>
              <a:t> in the combustion gases. 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04693" y="3391141"/>
            <a:ext cx="3857625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04693" y="3962152"/>
            <a:ext cx="4219575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2 Dikdörtgen">
            <a:extLst>
              <a:ext uri="{FF2B5EF4-FFF2-40B4-BE49-F238E27FC236}">
                <a16:creationId xmlns:a16="http://schemas.microsoft.com/office/drawing/2014/main" id="{AF62E0F8-3EC1-D001-7433-49308217970D}"/>
              </a:ext>
            </a:extLst>
          </p:cNvPr>
          <p:cNvSpPr/>
          <p:nvPr/>
        </p:nvSpPr>
        <p:spPr>
          <a:xfrm>
            <a:off x="296173" y="258364"/>
            <a:ext cx="625127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400" b="1" dirty="0">
                <a:solidFill>
                  <a:srgbClr val="0000FF"/>
                </a:solidFill>
              </a:rPr>
              <a:t>S</a:t>
            </a:r>
            <a:r>
              <a:rPr lang="en-US" sz="2400" b="1" dirty="0">
                <a:solidFill>
                  <a:srgbClr val="0000FF"/>
                </a:solidFill>
              </a:rPr>
              <a:t>elective catalytic reduction (SCR) </a:t>
            </a:r>
            <a:endParaRPr lang="tr-TR" sz="2400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3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7392728-8530-41F8-BACC-F911421794FE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21507" name="Rectangle 2"/>
          <p:cNvSpPr>
            <a:spLocks noChangeArrowheads="1"/>
          </p:cNvSpPr>
          <p:nvPr/>
        </p:nvSpPr>
        <p:spPr bwMode="auto">
          <a:xfrm>
            <a:off x="685800" y="390525"/>
            <a:ext cx="7467600" cy="523875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COMBINED GAS–VAPOR POWER CYCLES</a:t>
            </a:r>
          </a:p>
        </p:txBody>
      </p:sp>
      <p:sp>
        <p:nvSpPr>
          <p:cNvPr id="21508" name="Rectangle 5"/>
          <p:cNvSpPr>
            <a:spLocks noChangeArrowheads="1"/>
          </p:cNvSpPr>
          <p:nvPr/>
        </p:nvSpPr>
        <p:spPr bwMode="auto">
          <a:xfrm>
            <a:off x="304800" y="1066800"/>
            <a:ext cx="8305800" cy="527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15000"/>
              </a:spcBef>
              <a:spcAft>
                <a:spcPct val="15000"/>
              </a:spcAft>
              <a:buClr>
                <a:srgbClr val="FF3300"/>
              </a:buClr>
              <a:buFontTx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The continued quest for higher thermal efficiencies has resulted in rather innovative modifications to conventional power plants. </a:t>
            </a:r>
          </a:p>
          <a:p>
            <a:pPr marL="342900" indent="-342900">
              <a:spcBef>
                <a:spcPct val="15000"/>
              </a:spcBef>
              <a:spcAft>
                <a:spcPct val="15000"/>
              </a:spcAft>
              <a:buClr>
                <a:srgbClr val="FF3300"/>
              </a:buClr>
              <a:buFontTx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A popular modification involves a gas power cycle topping a vapor power cycle, which is called the </a:t>
            </a:r>
            <a:r>
              <a:rPr lang="en-US" sz="1700" b="1" dirty="0">
                <a:solidFill>
                  <a:schemeClr val="bg1"/>
                </a:solidFill>
              </a:rPr>
              <a:t>combined gas–vapor cycle</a:t>
            </a:r>
            <a:r>
              <a:rPr lang="en-US" sz="1700" dirty="0">
                <a:solidFill>
                  <a:schemeClr val="bg1"/>
                </a:solidFill>
              </a:rPr>
              <a:t>, or just the </a:t>
            </a:r>
            <a:r>
              <a:rPr lang="en-US" sz="1700" b="1" dirty="0">
                <a:solidFill>
                  <a:schemeClr val="bg1"/>
                </a:solidFill>
              </a:rPr>
              <a:t>combined cycle</a:t>
            </a:r>
            <a:r>
              <a:rPr lang="en-US" sz="1700" dirty="0">
                <a:solidFill>
                  <a:schemeClr val="bg1"/>
                </a:solidFill>
              </a:rPr>
              <a:t>. </a:t>
            </a:r>
          </a:p>
          <a:p>
            <a:pPr marL="342900" indent="-342900">
              <a:spcBef>
                <a:spcPct val="15000"/>
              </a:spcBef>
              <a:spcAft>
                <a:spcPct val="15000"/>
              </a:spcAft>
              <a:buClr>
                <a:srgbClr val="FF3300"/>
              </a:buClr>
              <a:buFontTx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The combined cycle of greatest interest is the gas-turbine (Brayton) cycle topping a steam-turbine (Rankine) cycle, which has a higher thermal efficiency than either of the cycles executed individually.</a:t>
            </a:r>
          </a:p>
          <a:p>
            <a:pPr marL="342900" indent="-342900">
              <a:spcBef>
                <a:spcPct val="15000"/>
              </a:spcBef>
              <a:spcAft>
                <a:spcPct val="15000"/>
              </a:spcAft>
              <a:buClr>
                <a:srgbClr val="FF3300"/>
              </a:buClr>
              <a:buFontTx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It makes engineering sense to take advantage of the very desirable characteristics of the gas-turbine cycle at high temperatures </a:t>
            </a:r>
            <a:r>
              <a:rPr lang="en-US" sz="1700" i="1" dirty="0">
                <a:solidFill>
                  <a:schemeClr val="bg1"/>
                </a:solidFill>
              </a:rPr>
              <a:t>and </a:t>
            </a:r>
            <a:r>
              <a:rPr lang="en-US" sz="1700" dirty="0">
                <a:solidFill>
                  <a:schemeClr val="bg1"/>
                </a:solidFill>
              </a:rPr>
              <a:t>to use the high-temperature exhaust gases as the energy source for the bottoming cycle such as a steam power cycle. The result is a combined gas–steam cycle.</a:t>
            </a:r>
          </a:p>
          <a:p>
            <a:pPr marL="342900" indent="-342900">
              <a:spcBef>
                <a:spcPct val="15000"/>
              </a:spcBef>
              <a:spcAft>
                <a:spcPct val="15000"/>
              </a:spcAft>
              <a:buClr>
                <a:srgbClr val="FF3300"/>
              </a:buClr>
              <a:buFontTx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Recent developments in gas-turbine technology have made the combined gas–steam cycle economically very attractive. </a:t>
            </a:r>
          </a:p>
          <a:p>
            <a:pPr marL="342900" indent="-342900">
              <a:spcBef>
                <a:spcPct val="15000"/>
              </a:spcBef>
              <a:spcAft>
                <a:spcPct val="15000"/>
              </a:spcAft>
              <a:buClr>
                <a:srgbClr val="FF3300"/>
              </a:buClr>
              <a:buFontTx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The combined cycle increases the efficiency without increasing the initial cost greatly. Consequently, many new power plants operate on combined cycles, and many more existing steam- or gas-turbine plants are being converted to combined-cycle power plants. </a:t>
            </a:r>
          </a:p>
          <a:p>
            <a:pPr marL="342900" indent="-342900">
              <a:spcBef>
                <a:spcPct val="15000"/>
              </a:spcBef>
              <a:spcAft>
                <a:spcPct val="15000"/>
              </a:spcAft>
              <a:buClr>
                <a:srgbClr val="FF3300"/>
              </a:buClr>
              <a:buFontTx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Thermal efficiencies over 50% are reported.</a:t>
            </a:r>
          </a:p>
        </p:txBody>
      </p:sp>
    </p:spTree>
    <p:extLst>
      <p:ext uri="{BB962C8B-B14F-4D97-AF65-F5344CB8AC3E}">
        <p14:creationId xmlns:p14="http://schemas.microsoft.com/office/powerpoint/2010/main" val="420040247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8"/>
          <p:cNvPicPr>
            <a:picLocks noChangeAspect="1" noChangeArrowheads="1"/>
          </p:cNvPicPr>
          <p:nvPr/>
        </p:nvPicPr>
        <p:blipFill>
          <a:blip r:embed="rId2"/>
          <a:srcRect r="46509"/>
          <a:stretch/>
        </p:blipFill>
        <p:spPr bwMode="auto">
          <a:xfrm>
            <a:off x="2362200" y="867254"/>
            <a:ext cx="4191000" cy="58907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31" name="3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579EE4A-C559-4E32-A378-D61C4456972E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533400" y="251861"/>
            <a:ext cx="7467600" cy="523875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COMBINED GAS–VAPOR POWER CYCLES</a:t>
            </a:r>
          </a:p>
        </p:txBody>
      </p:sp>
    </p:spTree>
    <p:extLst>
      <p:ext uri="{BB962C8B-B14F-4D97-AF65-F5344CB8AC3E}">
        <p14:creationId xmlns:p14="http://schemas.microsoft.com/office/powerpoint/2010/main" val="27934341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 Unicode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Green Yellow">
    <a:dk1>
      <a:sysClr val="windowText" lastClr="000000"/>
    </a:dk1>
    <a:lt1>
      <a:sysClr val="window" lastClr="FFFFFF"/>
    </a:lt1>
    <a:dk2>
      <a:srgbClr val="455F51"/>
    </a:dk2>
    <a:lt2>
      <a:srgbClr val="E2DFCC"/>
    </a:lt2>
    <a:accent1>
      <a:srgbClr val="99CB38"/>
    </a:accent1>
    <a:accent2>
      <a:srgbClr val="63A537"/>
    </a:accent2>
    <a:accent3>
      <a:srgbClr val="37A76F"/>
    </a:accent3>
    <a:accent4>
      <a:srgbClr val="44C1A3"/>
    </a:accent4>
    <a:accent5>
      <a:srgbClr val="4EB3CF"/>
    </a:accent5>
    <a:accent6>
      <a:srgbClr val="51C3F9"/>
    </a:accent6>
    <a:hlink>
      <a:srgbClr val="EE7B08"/>
    </a:hlink>
    <a:folHlink>
      <a:srgbClr val="977B2D"/>
    </a:folHlink>
  </a:clrScheme>
</a:themeOverride>
</file>

<file path=ppt/theme/themeOverride2.xml><?xml version="1.0" encoding="utf-8"?>
<a:themeOverride xmlns:a="http://schemas.openxmlformats.org/drawingml/2006/main">
  <a:clrScheme name="Green Yellow">
    <a:dk1>
      <a:sysClr val="windowText" lastClr="000000"/>
    </a:dk1>
    <a:lt1>
      <a:sysClr val="window" lastClr="FFFFFF"/>
    </a:lt1>
    <a:dk2>
      <a:srgbClr val="455F51"/>
    </a:dk2>
    <a:lt2>
      <a:srgbClr val="E2DFCC"/>
    </a:lt2>
    <a:accent1>
      <a:srgbClr val="99CB38"/>
    </a:accent1>
    <a:accent2>
      <a:srgbClr val="63A537"/>
    </a:accent2>
    <a:accent3>
      <a:srgbClr val="37A76F"/>
    </a:accent3>
    <a:accent4>
      <a:srgbClr val="44C1A3"/>
    </a:accent4>
    <a:accent5>
      <a:srgbClr val="4EB3CF"/>
    </a:accent5>
    <a:accent6>
      <a:srgbClr val="51C3F9"/>
    </a:accent6>
    <a:hlink>
      <a:srgbClr val="EE7B08"/>
    </a:hlink>
    <a:folHlink>
      <a:srgbClr val="977B2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33275</TotalTime>
  <Words>3185</Words>
  <Application>Microsoft Office PowerPoint</Application>
  <PresentationFormat>On-screen Show (4:3)</PresentationFormat>
  <Paragraphs>357</Paragraphs>
  <Slides>55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14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55</vt:i4>
      </vt:variant>
    </vt:vector>
  </HeadingPairs>
  <TitlesOfParts>
    <vt:vector size="74" baseType="lpstr">
      <vt:lpstr>Arial</vt:lpstr>
      <vt:lpstr>Calibri</vt:lpstr>
      <vt:lpstr>Cambria Math</vt:lpstr>
      <vt:lpstr>Constantia</vt:lpstr>
      <vt:lpstr>Courier New</vt:lpstr>
      <vt:lpstr>Garamond</vt:lpstr>
      <vt:lpstr>Lucida Sans Unicode</vt:lpstr>
      <vt:lpstr>Source Sans Pro</vt:lpstr>
      <vt:lpstr>Times New Roman</vt:lpstr>
      <vt:lpstr>Times-BoldItalic</vt:lpstr>
      <vt:lpstr>Times-Italic</vt:lpstr>
      <vt:lpstr>Verdana</vt:lpstr>
      <vt:lpstr>Wingdings</vt:lpstr>
      <vt:lpstr>Wingdings 2</vt:lpstr>
      <vt:lpstr>Flow</vt:lpstr>
      <vt:lpstr>Default Design</vt:lpstr>
      <vt:lpstr>1_Default Design</vt:lpstr>
      <vt:lpstr>Εξίσωση</vt:lpstr>
      <vt:lpstr>Equation</vt:lpstr>
      <vt:lpstr>PowerPoint Presentation</vt:lpstr>
      <vt:lpstr>References</vt:lpstr>
      <vt:lpstr>Learning Outcome</vt:lpstr>
      <vt:lpstr>Conventional Fossil Fuels</vt:lpstr>
      <vt:lpstr>Nonconventional Fossil Fuels</vt:lpstr>
      <vt:lpstr>Fossil Fuel Cost &amp; Energy Density</vt:lpstr>
      <vt:lpstr>CO2 Emission of Fossil Fuels</vt:lpstr>
      <vt:lpstr>Motivation</vt:lpstr>
      <vt:lpstr>Motivation</vt:lpstr>
      <vt:lpstr>Fossil Fuel Use</vt:lpstr>
      <vt:lpstr>Goal</vt:lpstr>
      <vt:lpstr>PowerPoint Presentation</vt:lpstr>
      <vt:lpstr>Introducing Power Generation (1 of 3)</vt:lpstr>
      <vt:lpstr>Introducing Power Generation (2 of 3)</vt:lpstr>
      <vt:lpstr>Introducing Power Generation (3 of 3)</vt:lpstr>
      <vt:lpstr>Introducing Vapor Power Plants (1 of 11)</vt:lpstr>
      <vt:lpstr>Introducing Vapor Power Plants (2 of 11)</vt:lpstr>
      <vt:lpstr>Introducing Vapor Power Plants (3 of 11)</vt:lpstr>
      <vt:lpstr>Introducing Vapor Power Plants (4 of 11)</vt:lpstr>
      <vt:lpstr>Introducing Vapor Power Plants (5 of 11)</vt:lpstr>
      <vt:lpstr>Introducing Vapor Power Plants (6 of 11)</vt:lpstr>
      <vt:lpstr>Introducing Vapor Power Plants (7 of 11)</vt:lpstr>
      <vt:lpstr>Introducing Vapor Power Plants (8 of 11)</vt:lpstr>
      <vt:lpstr>Introducing Vapor Power Plants (9 of 11)</vt:lpstr>
      <vt:lpstr>Introducing Vapor Power Plants (10 of 11)</vt:lpstr>
      <vt:lpstr>Introducing Vapor Power Plants (11 of 11)</vt:lpstr>
      <vt:lpstr>PowerPoint Presentation</vt:lpstr>
      <vt:lpstr>PowerPoint Presentation</vt:lpstr>
      <vt:lpstr>Approach</vt:lpstr>
      <vt:lpstr>Open Systems</vt:lpstr>
      <vt:lpstr>Turbine Modeling (Air and Water)</vt:lpstr>
      <vt:lpstr>Compressor Modeling (Air Only)</vt:lpstr>
      <vt:lpstr>Heat Exchanger Modeling</vt:lpstr>
      <vt:lpstr>Boiler/Condenser Modeling (Water)</vt:lpstr>
      <vt:lpstr>ENERGY FLOW RATE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NTL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altit</dc:creator>
  <cp:lastModifiedBy>Amin Ghobeity</cp:lastModifiedBy>
  <cp:revision>2192</cp:revision>
  <dcterms:created xsi:type="dcterms:W3CDTF">2013-10-11T17:23:38Z</dcterms:created>
  <dcterms:modified xsi:type="dcterms:W3CDTF">2025-09-11T19:29:18Z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</Properties>
</file>