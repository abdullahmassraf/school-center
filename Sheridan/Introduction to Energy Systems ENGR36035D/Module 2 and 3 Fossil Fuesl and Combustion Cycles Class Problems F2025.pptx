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7"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95" d="100"/>
          <a:sy n="95" d="100"/>
        </p:scale>
        <p:origin x="115"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FC94F-EFB5-4567-BCED-CC5D3500AB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E471ECBF-9AAA-4F6A-9C06-AB915D61E0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23B6CE69-AB38-4F61-8E49-71B71A18BFD7}"/>
              </a:ext>
            </a:extLst>
          </p:cNvPr>
          <p:cNvSpPr>
            <a:spLocks noGrp="1"/>
          </p:cNvSpPr>
          <p:nvPr>
            <p:ph type="dt" sz="half" idx="10"/>
          </p:nvPr>
        </p:nvSpPr>
        <p:spPr/>
        <p:txBody>
          <a:bodyPr/>
          <a:lstStyle/>
          <a:p>
            <a:fld id="{74FB2816-6792-438D-9B71-EBEBE975D25C}" type="datetimeFigureOut">
              <a:rPr lang="en-CA" smtClean="0"/>
              <a:t>2025-09-22</a:t>
            </a:fld>
            <a:endParaRPr lang="en-CA"/>
          </a:p>
        </p:txBody>
      </p:sp>
      <p:sp>
        <p:nvSpPr>
          <p:cNvPr id="5" name="Footer Placeholder 4">
            <a:extLst>
              <a:ext uri="{FF2B5EF4-FFF2-40B4-BE49-F238E27FC236}">
                <a16:creationId xmlns:a16="http://schemas.microsoft.com/office/drawing/2014/main" id="{BE14BB1C-7473-4CB2-973C-DCB2E6856EA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EBC0D4E-B656-4699-AB6A-A69D65B7A716}"/>
              </a:ext>
            </a:extLst>
          </p:cNvPr>
          <p:cNvSpPr>
            <a:spLocks noGrp="1"/>
          </p:cNvSpPr>
          <p:nvPr>
            <p:ph type="sldNum" sz="quarter" idx="12"/>
          </p:nvPr>
        </p:nvSpPr>
        <p:spPr/>
        <p:txBody>
          <a:bodyPr/>
          <a:lstStyle/>
          <a:p>
            <a:fld id="{D7136EAA-CE03-41B0-A0AC-20BC17B61D72}" type="slidenum">
              <a:rPr lang="en-CA" smtClean="0"/>
              <a:t>‹#›</a:t>
            </a:fld>
            <a:endParaRPr lang="en-CA"/>
          </a:p>
        </p:txBody>
      </p:sp>
    </p:spTree>
    <p:extLst>
      <p:ext uri="{BB962C8B-B14F-4D97-AF65-F5344CB8AC3E}">
        <p14:creationId xmlns:p14="http://schemas.microsoft.com/office/powerpoint/2010/main" val="29779997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7CBB4-F3D7-40ED-8456-AAB4DE5C21E1}"/>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19EC0080-D52A-4CA7-9351-1A65138CA5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FC24849-98CE-49A0-A903-470B7770E8E7}"/>
              </a:ext>
            </a:extLst>
          </p:cNvPr>
          <p:cNvSpPr>
            <a:spLocks noGrp="1"/>
          </p:cNvSpPr>
          <p:nvPr>
            <p:ph type="dt" sz="half" idx="10"/>
          </p:nvPr>
        </p:nvSpPr>
        <p:spPr/>
        <p:txBody>
          <a:bodyPr/>
          <a:lstStyle/>
          <a:p>
            <a:fld id="{74FB2816-6792-438D-9B71-EBEBE975D25C}" type="datetimeFigureOut">
              <a:rPr lang="en-CA" smtClean="0"/>
              <a:t>2025-09-22</a:t>
            </a:fld>
            <a:endParaRPr lang="en-CA"/>
          </a:p>
        </p:txBody>
      </p:sp>
      <p:sp>
        <p:nvSpPr>
          <p:cNvPr id="5" name="Footer Placeholder 4">
            <a:extLst>
              <a:ext uri="{FF2B5EF4-FFF2-40B4-BE49-F238E27FC236}">
                <a16:creationId xmlns:a16="http://schemas.microsoft.com/office/drawing/2014/main" id="{9F63C485-2924-48EF-81B8-B0007359097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A7268CF-6917-41B3-9A8C-DF1E3712F1A5}"/>
              </a:ext>
            </a:extLst>
          </p:cNvPr>
          <p:cNvSpPr>
            <a:spLocks noGrp="1"/>
          </p:cNvSpPr>
          <p:nvPr>
            <p:ph type="sldNum" sz="quarter" idx="12"/>
          </p:nvPr>
        </p:nvSpPr>
        <p:spPr/>
        <p:txBody>
          <a:bodyPr/>
          <a:lstStyle/>
          <a:p>
            <a:fld id="{D7136EAA-CE03-41B0-A0AC-20BC17B61D72}" type="slidenum">
              <a:rPr lang="en-CA" smtClean="0"/>
              <a:t>‹#›</a:t>
            </a:fld>
            <a:endParaRPr lang="en-CA"/>
          </a:p>
        </p:txBody>
      </p:sp>
    </p:spTree>
    <p:extLst>
      <p:ext uri="{BB962C8B-B14F-4D97-AF65-F5344CB8AC3E}">
        <p14:creationId xmlns:p14="http://schemas.microsoft.com/office/powerpoint/2010/main" val="1434472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44D00-3EC4-43E8-8220-3708FC5802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052C0D2C-AFA2-42D5-B9B6-2AD281CA8B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E270B86-8D8B-4D59-84C9-E297CFA77619}"/>
              </a:ext>
            </a:extLst>
          </p:cNvPr>
          <p:cNvSpPr>
            <a:spLocks noGrp="1"/>
          </p:cNvSpPr>
          <p:nvPr>
            <p:ph type="dt" sz="half" idx="10"/>
          </p:nvPr>
        </p:nvSpPr>
        <p:spPr/>
        <p:txBody>
          <a:bodyPr/>
          <a:lstStyle/>
          <a:p>
            <a:fld id="{74FB2816-6792-438D-9B71-EBEBE975D25C}" type="datetimeFigureOut">
              <a:rPr lang="en-CA" smtClean="0"/>
              <a:t>2025-09-22</a:t>
            </a:fld>
            <a:endParaRPr lang="en-CA"/>
          </a:p>
        </p:txBody>
      </p:sp>
      <p:sp>
        <p:nvSpPr>
          <p:cNvPr id="5" name="Footer Placeholder 4">
            <a:extLst>
              <a:ext uri="{FF2B5EF4-FFF2-40B4-BE49-F238E27FC236}">
                <a16:creationId xmlns:a16="http://schemas.microsoft.com/office/drawing/2014/main" id="{A5C5D1A6-C9C1-4CBD-A2A8-2FDC98FB0D2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4498EF2-498E-4B03-9B45-0E6B45989F24}"/>
              </a:ext>
            </a:extLst>
          </p:cNvPr>
          <p:cNvSpPr>
            <a:spLocks noGrp="1"/>
          </p:cNvSpPr>
          <p:nvPr>
            <p:ph type="sldNum" sz="quarter" idx="12"/>
          </p:nvPr>
        </p:nvSpPr>
        <p:spPr/>
        <p:txBody>
          <a:bodyPr/>
          <a:lstStyle/>
          <a:p>
            <a:fld id="{D7136EAA-CE03-41B0-A0AC-20BC17B61D72}" type="slidenum">
              <a:rPr lang="en-CA" smtClean="0"/>
              <a:t>‹#›</a:t>
            </a:fld>
            <a:endParaRPr lang="en-CA"/>
          </a:p>
        </p:txBody>
      </p:sp>
    </p:spTree>
    <p:extLst>
      <p:ext uri="{BB962C8B-B14F-4D97-AF65-F5344CB8AC3E}">
        <p14:creationId xmlns:p14="http://schemas.microsoft.com/office/powerpoint/2010/main" val="1348860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4F6F7-70B7-46B1-A468-EB0C707E93A8}"/>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E6E6D407-F1AF-4B08-815D-8338CA3D9D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91AF2B1C-ADBC-447A-9B0B-E1774A7137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100CDA9F-193B-4A36-994E-41148777D8C8}"/>
              </a:ext>
            </a:extLst>
          </p:cNvPr>
          <p:cNvSpPr>
            <a:spLocks noGrp="1"/>
          </p:cNvSpPr>
          <p:nvPr>
            <p:ph type="dt" sz="half" idx="10"/>
          </p:nvPr>
        </p:nvSpPr>
        <p:spPr/>
        <p:txBody>
          <a:bodyPr/>
          <a:lstStyle/>
          <a:p>
            <a:fld id="{74FB2816-6792-438D-9B71-EBEBE975D25C}" type="datetimeFigureOut">
              <a:rPr lang="en-CA" smtClean="0"/>
              <a:t>2025-09-22</a:t>
            </a:fld>
            <a:endParaRPr lang="en-CA"/>
          </a:p>
        </p:txBody>
      </p:sp>
      <p:sp>
        <p:nvSpPr>
          <p:cNvPr id="6" name="Footer Placeholder 5">
            <a:extLst>
              <a:ext uri="{FF2B5EF4-FFF2-40B4-BE49-F238E27FC236}">
                <a16:creationId xmlns:a16="http://schemas.microsoft.com/office/drawing/2014/main" id="{B7884DBF-138B-4DE0-AB63-DDF26F1EF05C}"/>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C52FEDE-CEE3-4A9F-AC55-D22EFBCAF231}"/>
              </a:ext>
            </a:extLst>
          </p:cNvPr>
          <p:cNvSpPr>
            <a:spLocks noGrp="1"/>
          </p:cNvSpPr>
          <p:nvPr>
            <p:ph type="sldNum" sz="quarter" idx="12"/>
          </p:nvPr>
        </p:nvSpPr>
        <p:spPr/>
        <p:txBody>
          <a:bodyPr/>
          <a:lstStyle/>
          <a:p>
            <a:fld id="{D7136EAA-CE03-41B0-A0AC-20BC17B61D72}" type="slidenum">
              <a:rPr lang="en-CA" smtClean="0"/>
              <a:t>‹#›</a:t>
            </a:fld>
            <a:endParaRPr lang="en-CA"/>
          </a:p>
        </p:txBody>
      </p:sp>
    </p:spTree>
    <p:extLst>
      <p:ext uri="{BB962C8B-B14F-4D97-AF65-F5344CB8AC3E}">
        <p14:creationId xmlns:p14="http://schemas.microsoft.com/office/powerpoint/2010/main" val="2228739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E64C6-91C8-4270-A468-2EDE3E6A9B26}"/>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6C8E4F03-BA5B-4364-A7AC-7A1A843C2D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F02BC6-E92A-4F14-A119-3C91D95517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26F63918-14E7-44A8-B28D-847856929B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E31263-55B1-42A2-8A6D-DF6CA1F50B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9AAA5323-44D6-4B80-A0D5-79A7D86C879E}"/>
              </a:ext>
            </a:extLst>
          </p:cNvPr>
          <p:cNvSpPr>
            <a:spLocks noGrp="1"/>
          </p:cNvSpPr>
          <p:nvPr>
            <p:ph type="dt" sz="half" idx="10"/>
          </p:nvPr>
        </p:nvSpPr>
        <p:spPr/>
        <p:txBody>
          <a:bodyPr/>
          <a:lstStyle/>
          <a:p>
            <a:fld id="{74FB2816-6792-438D-9B71-EBEBE975D25C}" type="datetimeFigureOut">
              <a:rPr lang="en-CA" smtClean="0"/>
              <a:t>2025-09-22</a:t>
            </a:fld>
            <a:endParaRPr lang="en-CA"/>
          </a:p>
        </p:txBody>
      </p:sp>
      <p:sp>
        <p:nvSpPr>
          <p:cNvPr id="8" name="Footer Placeholder 7">
            <a:extLst>
              <a:ext uri="{FF2B5EF4-FFF2-40B4-BE49-F238E27FC236}">
                <a16:creationId xmlns:a16="http://schemas.microsoft.com/office/drawing/2014/main" id="{BFA316E4-BC43-4B0B-A868-06EAE839D0DE}"/>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F6D9A227-3CE4-4BBE-8D1E-B41C892F4739}"/>
              </a:ext>
            </a:extLst>
          </p:cNvPr>
          <p:cNvSpPr>
            <a:spLocks noGrp="1"/>
          </p:cNvSpPr>
          <p:nvPr>
            <p:ph type="sldNum" sz="quarter" idx="12"/>
          </p:nvPr>
        </p:nvSpPr>
        <p:spPr/>
        <p:txBody>
          <a:bodyPr/>
          <a:lstStyle/>
          <a:p>
            <a:fld id="{D7136EAA-CE03-41B0-A0AC-20BC17B61D72}" type="slidenum">
              <a:rPr lang="en-CA" smtClean="0"/>
              <a:t>‹#›</a:t>
            </a:fld>
            <a:endParaRPr lang="en-CA"/>
          </a:p>
        </p:txBody>
      </p:sp>
    </p:spTree>
    <p:extLst>
      <p:ext uri="{BB962C8B-B14F-4D97-AF65-F5344CB8AC3E}">
        <p14:creationId xmlns:p14="http://schemas.microsoft.com/office/powerpoint/2010/main" val="3915182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E2C4C-976F-44E6-A42F-B30E46D64D41}"/>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8C01934E-89BD-464C-B860-AB3D5A1CBD9B}"/>
              </a:ext>
            </a:extLst>
          </p:cNvPr>
          <p:cNvSpPr>
            <a:spLocks noGrp="1"/>
          </p:cNvSpPr>
          <p:nvPr>
            <p:ph type="dt" sz="half" idx="10"/>
          </p:nvPr>
        </p:nvSpPr>
        <p:spPr/>
        <p:txBody>
          <a:bodyPr/>
          <a:lstStyle/>
          <a:p>
            <a:fld id="{74FB2816-6792-438D-9B71-EBEBE975D25C}" type="datetimeFigureOut">
              <a:rPr lang="en-CA" smtClean="0"/>
              <a:t>2025-09-22</a:t>
            </a:fld>
            <a:endParaRPr lang="en-CA"/>
          </a:p>
        </p:txBody>
      </p:sp>
      <p:sp>
        <p:nvSpPr>
          <p:cNvPr id="4" name="Footer Placeholder 3">
            <a:extLst>
              <a:ext uri="{FF2B5EF4-FFF2-40B4-BE49-F238E27FC236}">
                <a16:creationId xmlns:a16="http://schemas.microsoft.com/office/drawing/2014/main" id="{466EB8F3-EA36-4DA3-BADB-C8CABAC9E8A2}"/>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92C68C4D-C043-48C5-841A-0C8C4C248735}"/>
              </a:ext>
            </a:extLst>
          </p:cNvPr>
          <p:cNvSpPr>
            <a:spLocks noGrp="1"/>
          </p:cNvSpPr>
          <p:nvPr>
            <p:ph type="sldNum" sz="quarter" idx="12"/>
          </p:nvPr>
        </p:nvSpPr>
        <p:spPr/>
        <p:txBody>
          <a:bodyPr/>
          <a:lstStyle/>
          <a:p>
            <a:fld id="{D7136EAA-CE03-41B0-A0AC-20BC17B61D72}" type="slidenum">
              <a:rPr lang="en-CA" smtClean="0"/>
              <a:t>‹#›</a:t>
            </a:fld>
            <a:endParaRPr lang="en-CA"/>
          </a:p>
        </p:txBody>
      </p:sp>
    </p:spTree>
    <p:extLst>
      <p:ext uri="{BB962C8B-B14F-4D97-AF65-F5344CB8AC3E}">
        <p14:creationId xmlns:p14="http://schemas.microsoft.com/office/powerpoint/2010/main" val="19453014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F61651-9B00-469E-A833-A71E3D72F369}"/>
              </a:ext>
            </a:extLst>
          </p:cNvPr>
          <p:cNvSpPr>
            <a:spLocks noGrp="1"/>
          </p:cNvSpPr>
          <p:nvPr>
            <p:ph type="dt" sz="half" idx="10"/>
          </p:nvPr>
        </p:nvSpPr>
        <p:spPr/>
        <p:txBody>
          <a:bodyPr/>
          <a:lstStyle/>
          <a:p>
            <a:fld id="{74FB2816-6792-438D-9B71-EBEBE975D25C}" type="datetimeFigureOut">
              <a:rPr lang="en-CA" smtClean="0"/>
              <a:t>2025-09-22</a:t>
            </a:fld>
            <a:endParaRPr lang="en-CA"/>
          </a:p>
        </p:txBody>
      </p:sp>
      <p:sp>
        <p:nvSpPr>
          <p:cNvPr id="3" name="Footer Placeholder 2">
            <a:extLst>
              <a:ext uri="{FF2B5EF4-FFF2-40B4-BE49-F238E27FC236}">
                <a16:creationId xmlns:a16="http://schemas.microsoft.com/office/drawing/2014/main" id="{5E0A6DA5-C330-408D-A084-5469F25D8A6D}"/>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7F93B047-BB54-4D77-8203-C94D977545B2}"/>
              </a:ext>
            </a:extLst>
          </p:cNvPr>
          <p:cNvSpPr>
            <a:spLocks noGrp="1"/>
          </p:cNvSpPr>
          <p:nvPr>
            <p:ph type="sldNum" sz="quarter" idx="12"/>
          </p:nvPr>
        </p:nvSpPr>
        <p:spPr/>
        <p:txBody>
          <a:bodyPr/>
          <a:lstStyle/>
          <a:p>
            <a:fld id="{D7136EAA-CE03-41B0-A0AC-20BC17B61D72}" type="slidenum">
              <a:rPr lang="en-CA" smtClean="0"/>
              <a:t>‹#›</a:t>
            </a:fld>
            <a:endParaRPr lang="en-CA"/>
          </a:p>
        </p:txBody>
      </p:sp>
    </p:spTree>
    <p:extLst>
      <p:ext uri="{BB962C8B-B14F-4D97-AF65-F5344CB8AC3E}">
        <p14:creationId xmlns:p14="http://schemas.microsoft.com/office/powerpoint/2010/main" val="506978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F49FC-C1C5-4535-88E4-44A35DDBD9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9AA56D1C-0ED0-4F2B-BF34-0A53905820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9A031177-F4C9-463C-9CC6-897007223A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89D03A-2F2E-4C7C-BCBC-2811F2F0A398}"/>
              </a:ext>
            </a:extLst>
          </p:cNvPr>
          <p:cNvSpPr>
            <a:spLocks noGrp="1"/>
          </p:cNvSpPr>
          <p:nvPr>
            <p:ph type="dt" sz="half" idx="10"/>
          </p:nvPr>
        </p:nvSpPr>
        <p:spPr/>
        <p:txBody>
          <a:bodyPr/>
          <a:lstStyle/>
          <a:p>
            <a:fld id="{74FB2816-6792-438D-9B71-EBEBE975D25C}" type="datetimeFigureOut">
              <a:rPr lang="en-CA" smtClean="0"/>
              <a:t>2025-09-22</a:t>
            </a:fld>
            <a:endParaRPr lang="en-CA"/>
          </a:p>
        </p:txBody>
      </p:sp>
      <p:sp>
        <p:nvSpPr>
          <p:cNvPr id="6" name="Footer Placeholder 5">
            <a:extLst>
              <a:ext uri="{FF2B5EF4-FFF2-40B4-BE49-F238E27FC236}">
                <a16:creationId xmlns:a16="http://schemas.microsoft.com/office/drawing/2014/main" id="{23FFFD2C-CF53-45BE-83AA-6577D3372131}"/>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6EF86E41-E2CC-4BCD-B670-72D67E0047D3}"/>
              </a:ext>
            </a:extLst>
          </p:cNvPr>
          <p:cNvSpPr>
            <a:spLocks noGrp="1"/>
          </p:cNvSpPr>
          <p:nvPr>
            <p:ph type="sldNum" sz="quarter" idx="12"/>
          </p:nvPr>
        </p:nvSpPr>
        <p:spPr/>
        <p:txBody>
          <a:bodyPr/>
          <a:lstStyle/>
          <a:p>
            <a:fld id="{D7136EAA-CE03-41B0-A0AC-20BC17B61D72}" type="slidenum">
              <a:rPr lang="en-CA" smtClean="0"/>
              <a:t>‹#›</a:t>
            </a:fld>
            <a:endParaRPr lang="en-CA"/>
          </a:p>
        </p:txBody>
      </p:sp>
    </p:spTree>
    <p:extLst>
      <p:ext uri="{BB962C8B-B14F-4D97-AF65-F5344CB8AC3E}">
        <p14:creationId xmlns:p14="http://schemas.microsoft.com/office/powerpoint/2010/main" val="2218818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9C208-86A0-428D-B063-51CE257524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351AF474-97A0-48BF-8C04-0ACAC08EF3C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FDF71FEC-C073-4809-AFF6-A3EF9E6C90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7A9F3F-C336-4839-9EAD-63F974BFE05B}"/>
              </a:ext>
            </a:extLst>
          </p:cNvPr>
          <p:cNvSpPr>
            <a:spLocks noGrp="1"/>
          </p:cNvSpPr>
          <p:nvPr>
            <p:ph type="dt" sz="half" idx="10"/>
          </p:nvPr>
        </p:nvSpPr>
        <p:spPr/>
        <p:txBody>
          <a:bodyPr/>
          <a:lstStyle/>
          <a:p>
            <a:fld id="{74FB2816-6792-438D-9B71-EBEBE975D25C}" type="datetimeFigureOut">
              <a:rPr lang="en-CA" smtClean="0"/>
              <a:t>2025-09-22</a:t>
            </a:fld>
            <a:endParaRPr lang="en-CA"/>
          </a:p>
        </p:txBody>
      </p:sp>
      <p:sp>
        <p:nvSpPr>
          <p:cNvPr id="6" name="Footer Placeholder 5">
            <a:extLst>
              <a:ext uri="{FF2B5EF4-FFF2-40B4-BE49-F238E27FC236}">
                <a16:creationId xmlns:a16="http://schemas.microsoft.com/office/drawing/2014/main" id="{BC2A6337-2ED9-4A80-9C15-CD7BCC3B981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EBBD3291-5F17-4BA8-9743-893421433417}"/>
              </a:ext>
            </a:extLst>
          </p:cNvPr>
          <p:cNvSpPr>
            <a:spLocks noGrp="1"/>
          </p:cNvSpPr>
          <p:nvPr>
            <p:ph type="sldNum" sz="quarter" idx="12"/>
          </p:nvPr>
        </p:nvSpPr>
        <p:spPr/>
        <p:txBody>
          <a:bodyPr/>
          <a:lstStyle/>
          <a:p>
            <a:fld id="{D7136EAA-CE03-41B0-A0AC-20BC17B61D72}" type="slidenum">
              <a:rPr lang="en-CA" smtClean="0"/>
              <a:t>‹#›</a:t>
            </a:fld>
            <a:endParaRPr lang="en-CA"/>
          </a:p>
        </p:txBody>
      </p:sp>
    </p:spTree>
    <p:extLst>
      <p:ext uri="{BB962C8B-B14F-4D97-AF65-F5344CB8AC3E}">
        <p14:creationId xmlns:p14="http://schemas.microsoft.com/office/powerpoint/2010/main" val="3758632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FC315-B8A7-4BFE-9CF5-A3C01A839F71}"/>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B821C960-6EAF-4681-8D86-CA24529CAF9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153ACAFF-767D-4A76-A6E8-434659E9C8D6}"/>
              </a:ext>
            </a:extLst>
          </p:cNvPr>
          <p:cNvSpPr>
            <a:spLocks noGrp="1"/>
          </p:cNvSpPr>
          <p:nvPr>
            <p:ph type="dt" sz="half" idx="10"/>
          </p:nvPr>
        </p:nvSpPr>
        <p:spPr/>
        <p:txBody>
          <a:bodyPr/>
          <a:lstStyle/>
          <a:p>
            <a:fld id="{74FB2816-6792-438D-9B71-EBEBE975D25C}" type="datetimeFigureOut">
              <a:rPr lang="en-CA" smtClean="0"/>
              <a:t>2025-09-22</a:t>
            </a:fld>
            <a:endParaRPr lang="en-CA"/>
          </a:p>
        </p:txBody>
      </p:sp>
      <p:sp>
        <p:nvSpPr>
          <p:cNvPr id="5" name="Footer Placeholder 4">
            <a:extLst>
              <a:ext uri="{FF2B5EF4-FFF2-40B4-BE49-F238E27FC236}">
                <a16:creationId xmlns:a16="http://schemas.microsoft.com/office/drawing/2014/main" id="{B2C0ACC0-ECB3-4BEB-A58F-82CF0BB2013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92F7896-84F3-41CB-9935-9B8BE84B50F9}"/>
              </a:ext>
            </a:extLst>
          </p:cNvPr>
          <p:cNvSpPr>
            <a:spLocks noGrp="1"/>
          </p:cNvSpPr>
          <p:nvPr>
            <p:ph type="sldNum" sz="quarter" idx="12"/>
          </p:nvPr>
        </p:nvSpPr>
        <p:spPr/>
        <p:txBody>
          <a:bodyPr/>
          <a:lstStyle/>
          <a:p>
            <a:fld id="{D7136EAA-CE03-41B0-A0AC-20BC17B61D72}" type="slidenum">
              <a:rPr lang="en-CA" smtClean="0"/>
              <a:t>‹#›</a:t>
            </a:fld>
            <a:endParaRPr lang="en-CA"/>
          </a:p>
        </p:txBody>
      </p:sp>
    </p:spTree>
    <p:extLst>
      <p:ext uri="{BB962C8B-B14F-4D97-AF65-F5344CB8AC3E}">
        <p14:creationId xmlns:p14="http://schemas.microsoft.com/office/powerpoint/2010/main" val="3009774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C871AF-F9F9-4D12-B42A-6A824DAD067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3F9C592A-E7EE-436C-AD49-90DB5400B2D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D237C81B-378F-476C-913E-E5010F6B9648}"/>
              </a:ext>
            </a:extLst>
          </p:cNvPr>
          <p:cNvSpPr>
            <a:spLocks noGrp="1"/>
          </p:cNvSpPr>
          <p:nvPr>
            <p:ph type="dt" sz="half" idx="10"/>
          </p:nvPr>
        </p:nvSpPr>
        <p:spPr/>
        <p:txBody>
          <a:bodyPr/>
          <a:lstStyle/>
          <a:p>
            <a:fld id="{74FB2816-6792-438D-9B71-EBEBE975D25C}" type="datetimeFigureOut">
              <a:rPr lang="en-CA" smtClean="0"/>
              <a:t>2025-09-22</a:t>
            </a:fld>
            <a:endParaRPr lang="en-CA"/>
          </a:p>
        </p:txBody>
      </p:sp>
      <p:sp>
        <p:nvSpPr>
          <p:cNvPr id="5" name="Footer Placeholder 4">
            <a:extLst>
              <a:ext uri="{FF2B5EF4-FFF2-40B4-BE49-F238E27FC236}">
                <a16:creationId xmlns:a16="http://schemas.microsoft.com/office/drawing/2014/main" id="{4856E008-7E0E-43C1-98A7-2FFD960E52A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D629F52-D4BC-444B-8E17-7DA080C6E636}"/>
              </a:ext>
            </a:extLst>
          </p:cNvPr>
          <p:cNvSpPr>
            <a:spLocks noGrp="1"/>
          </p:cNvSpPr>
          <p:nvPr>
            <p:ph type="sldNum" sz="quarter" idx="12"/>
          </p:nvPr>
        </p:nvSpPr>
        <p:spPr/>
        <p:txBody>
          <a:bodyPr/>
          <a:lstStyle/>
          <a:p>
            <a:fld id="{D7136EAA-CE03-41B0-A0AC-20BC17B61D72}" type="slidenum">
              <a:rPr lang="en-CA" smtClean="0"/>
              <a:t>‹#›</a:t>
            </a:fld>
            <a:endParaRPr lang="en-CA"/>
          </a:p>
        </p:txBody>
      </p:sp>
    </p:spTree>
    <p:extLst>
      <p:ext uri="{BB962C8B-B14F-4D97-AF65-F5344CB8AC3E}">
        <p14:creationId xmlns:p14="http://schemas.microsoft.com/office/powerpoint/2010/main" val="42889347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3C528C-FD45-4FAB-932D-101D09CDF3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A2F9E60D-F0FB-4771-8229-54FF0665CB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95659FB4-4CB5-452D-8D49-5C70788B01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FB2816-6792-438D-9B71-EBEBE975D25C}" type="datetimeFigureOut">
              <a:rPr lang="en-CA" smtClean="0"/>
              <a:t>2025-09-22</a:t>
            </a:fld>
            <a:endParaRPr lang="en-CA"/>
          </a:p>
        </p:txBody>
      </p:sp>
      <p:sp>
        <p:nvSpPr>
          <p:cNvPr id="5" name="Footer Placeholder 4">
            <a:extLst>
              <a:ext uri="{FF2B5EF4-FFF2-40B4-BE49-F238E27FC236}">
                <a16:creationId xmlns:a16="http://schemas.microsoft.com/office/drawing/2014/main" id="{BA1770E0-1A6F-47FA-B3E0-CB61DFBC0F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F54E492C-8407-4CB0-A655-55EEEBFB1A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136EAA-CE03-41B0-A0AC-20BC17B61D72}" type="slidenum">
              <a:rPr lang="en-CA" smtClean="0"/>
              <a:t>‹#›</a:t>
            </a:fld>
            <a:endParaRPr lang="en-CA"/>
          </a:p>
        </p:txBody>
      </p:sp>
    </p:spTree>
    <p:extLst>
      <p:ext uri="{BB962C8B-B14F-4D97-AF65-F5344CB8AC3E}">
        <p14:creationId xmlns:p14="http://schemas.microsoft.com/office/powerpoint/2010/main" val="37443383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BF0EF-988C-471D-8ED6-2A8F13DBBDF2}"/>
              </a:ext>
            </a:extLst>
          </p:cNvPr>
          <p:cNvSpPr>
            <a:spLocks noGrp="1"/>
          </p:cNvSpPr>
          <p:nvPr>
            <p:ph type="ctrTitle"/>
          </p:nvPr>
        </p:nvSpPr>
        <p:spPr/>
        <p:txBody>
          <a:bodyPr/>
          <a:lstStyle/>
          <a:p>
            <a:r>
              <a:rPr lang="en-CA" dirty="0"/>
              <a:t>Module 2 &amp; 3 Class Problems </a:t>
            </a:r>
            <a:br>
              <a:rPr lang="en-CA" dirty="0"/>
            </a:br>
            <a:endParaRPr lang="en-CA" dirty="0"/>
          </a:p>
        </p:txBody>
      </p:sp>
      <p:sp>
        <p:nvSpPr>
          <p:cNvPr id="3" name="Subtitle 2">
            <a:extLst>
              <a:ext uri="{FF2B5EF4-FFF2-40B4-BE49-F238E27FC236}">
                <a16:creationId xmlns:a16="http://schemas.microsoft.com/office/drawing/2014/main" id="{2D00E45C-D54B-4434-84F4-126C83FCA9B7}"/>
              </a:ext>
            </a:extLst>
          </p:cNvPr>
          <p:cNvSpPr>
            <a:spLocks noGrp="1"/>
          </p:cNvSpPr>
          <p:nvPr>
            <p:ph type="subTitle" idx="1"/>
          </p:nvPr>
        </p:nvSpPr>
        <p:spPr/>
        <p:txBody>
          <a:bodyPr/>
          <a:lstStyle/>
          <a:p>
            <a:endParaRPr lang="en-CA" dirty="0"/>
          </a:p>
        </p:txBody>
      </p:sp>
    </p:spTree>
    <p:extLst>
      <p:ext uri="{BB962C8B-B14F-4D97-AF65-F5344CB8AC3E}">
        <p14:creationId xmlns:p14="http://schemas.microsoft.com/office/powerpoint/2010/main" val="5989751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1A72C1-277D-423B-AD7F-71569FA066F4}"/>
              </a:ext>
            </a:extLst>
          </p:cNvPr>
          <p:cNvSpPr>
            <a:spLocks noGrp="1"/>
          </p:cNvSpPr>
          <p:nvPr>
            <p:ph idx="1"/>
          </p:nvPr>
        </p:nvSpPr>
        <p:spPr>
          <a:xfrm>
            <a:off x="132055" y="511730"/>
            <a:ext cx="11927889" cy="4351338"/>
          </a:xfrm>
        </p:spPr>
        <p:txBody>
          <a:bodyPr>
            <a:normAutofit/>
          </a:bodyPr>
          <a:lstStyle/>
          <a:p>
            <a:pPr marL="0" indent="0">
              <a:buNone/>
            </a:pPr>
            <a:r>
              <a:rPr lang="en-US" sz="2400" b="1" dirty="0">
                <a:effectLst/>
              </a:rPr>
              <a:t>Q1.</a:t>
            </a:r>
            <a:r>
              <a:rPr lang="en-US" sz="2400" dirty="0"/>
              <a:t>  A Brayton cycle operates with isentropic compression and expansion, and air entering the compressor 27°C. The pressure ratio is 8:1, and the air leaves the combustion chamber at 1200 K. Compute a) the thermal efficiency of the cycle, b) temperature of air at the compressor outlet. </a:t>
            </a: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r>
              <a:rPr lang="en-US" sz="2400" dirty="0"/>
              <a:t> </a:t>
            </a:r>
            <a:endParaRPr lang="en-CA" sz="2400" dirty="0"/>
          </a:p>
        </p:txBody>
      </p:sp>
    </p:spTree>
    <p:extLst>
      <p:ext uri="{BB962C8B-B14F-4D97-AF65-F5344CB8AC3E}">
        <p14:creationId xmlns:p14="http://schemas.microsoft.com/office/powerpoint/2010/main" val="38218890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9A2C17-3F43-447E-8B58-13F233DCF26E}"/>
              </a:ext>
            </a:extLst>
          </p:cNvPr>
          <p:cNvSpPr>
            <a:spLocks noGrp="1"/>
          </p:cNvSpPr>
          <p:nvPr>
            <p:ph idx="1"/>
          </p:nvPr>
        </p:nvSpPr>
        <p:spPr>
          <a:xfrm>
            <a:off x="337351" y="343054"/>
            <a:ext cx="11745158" cy="4351338"/>
          </a:xfrm>
        </p:spPr>
        <p:txBody>
          <a:bodyPr>
            <a:normAutofit/>
          </a:bodyPr>
          <a:lstStyle/>
          <a:p>
            <a:pPr marL="0" indent="0">
              <a:buNone/>
            </a:pPr>
            <a:r>
              <a:rPr lang="en-US" sz="2000" b="1" dirty="0">
                <a:effectLst/>
              </a:rPr>
              <a:t>Q2. </a:t>
            </a:r>
            <a:r>
              <a:rPr lang="en-US" sz="2000" dirty="0">
                <a:effectLst/>
              </a:rPr>
              <a:t>Suppose a power plant using the cycle in Q1 produces 700 million kWh/year of electricity. Ignore losses in the compressor and turbine. If the generator is 98% efficient and combustor is 88% efficient, and gas costs $10/GJ, calculate: a. The total gas energy content required per year b. The annual expenditure on gas c. The mass of CO2 emitted per year from the plant d. The mass of CO2 emitted per million kWh produced</a:t>
            </a:r>
          </a:p>
          <a:p>
            <a:endParaRPr lang="en-CA" sz="2000" dirty="0"/>
          </a:p>
        </p:txBody>
      </p:sp>
    </p:spTree>
    <p:extLst>
      <p:ext uri="{BB962C8B-B14F-4D97-AF65-F5344CB8AC3E}">
        <p14:creationId xmlns:p14="http://schemas.microsoft.com/office/powerpoint/2010/main" val="19887740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628922-B78E-4D0A-BF4F-320A2E3D978F}"/>
              </a:ext>
            </a:extLst>
          </p:cNvPr>
          <p:cNvSpPr>
            <a:spLocks noGrp="1"/>
          </p:cNvSpPr>
          <p:nvPr>
            <p:ph idx="1"/>
          </p:nvPr>
        </p:nvSpPr>
        <p:spPr>
          <a:xfrm>
            <a:off x="181252" y="343054"/>
            <a:ext cx="11599415" cy="4351338"/>
          </a:xfrm>
        </p:spPr>
        <p:txBody>
          <a:bodyPr>
            <a:normAutofit/>
          </a:bodyPr>
          <a:lstStyle/>
          <a:p>
            <a:pPr marL="0" indent="0">
              <a:buNone/>
            </a:pPr>
            <a:r>
              <a:rPr lang="en-US" sz="2000" b="1" dirty="0">
                <a:effectLst/>
              </a:rPr>
              <a:t>Q3.</a:t>
            </a:r>
            <a:r>
              <a:rPr lang="en-US" sz="2000" dirty="0"/>
              <a:t>  A Brayton cycle operates with isentropic compression and expansion, and air entering the compressor 25°C. The pressure ratio is 10:1, and the air leaves the combustion chamber at 1000 K. air enters the compressor at atmospheric pressure of ~100 kPa at volumetric flow rate of 100 m</a:t>
            </a:r>
            <a:r>
              <a:rPr lang="en-US" sz="2000" baseline="30000" dirty="0"/>
              <a:t>3</a:t>
            </a:r>
            <a:r>
              <a:rPr lang="en-US" sz="2000" dirty="0"/>
              <a:t>/s,  Compute a) the thermal efficiency of the cycle, b) temperature of air at the compressor outlet, c) the net power produced by the power plant</a:t>
            </a:r>
            <a:endParaRPr lang="en-CA" sz="2000" dirty="0"/>
          </a:p>
          <a:p>
            <a:endParaRPr lang="en-CA" sz="2000" dirty="0"/>
          </a:p>
        </p:txBody>
      </p:sp>
    </p:spTree>
    <p:extLst>
      <p:ext uri="{BB962C8B-B14F-4D97-AF65-F5344CB8AC3E}">
        <p14:creationId xmlns:p14="http://schemas.microsoft.com/office/powerpoint/2010/main" val="2417199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5FB5CB-43AA-4823-B2C6-56E4BC347937}"/>
              </a:ext>
            </a:extLst>
          </p:cNvPr>
          <p:cNvSpPr>
            <a:spLocks noGrp="1"/>
          </p:cNvSpPr>
          <p:nvPr>
            <p:ph idx="1"/>
          </p:nvPr>
        </p:nvSpPr>
        <p:spPr>
          <a:xfrm>
            <a:off x="305538" y="529486"/>
            <a:ext cx="11794725" cy="4351338"/>
          </a:xfrm>
        </p:spPr>
        <p:txBody>
          <a:bodyPr>
            <a:normAutofit/>
          </a:bodyPr>
          <a:lstStyle/>
          <a:p>
            <a:pPr marL="0" indent="0">
              <a:buNone/>
            </a:pPr>
            <a:r>
              <a:rPr lang="en-US" sz="2000" b="1" dirty="0">
                <a:effectLst/>
              </a:rPr>
              <a:t>Q4. </a:t>
            </a:r>
            <a:r>
              <a:rPr lang="en-US" sz="2000" dirty="0">
                <a:effectLst/>
              </a:rPr>
              <a:t>Air enters the compressor of an air-standard Brayton cycle with a volumetric flow rate of 60 m</a:t>
            </a:r>
            <a:r>
              <a:rPr lang="en-US" sz="2000" baseline="30000" dirty="0">
                <a:effectLst/>
              </a:rPr>
              <a:t>3</a:t>
            </a:r>
            <a:r>
              <a:rPr lang="en-US" sz="2000" dirty="0">
                <a:effectLst/>
              </a:rPr>
              <a:t>/s at 0.8 bar, 280 K. The compressor pressure ratio is 20, and the maximum cycle temperature is 2100 K. Assume both compressor and the turbine to be isentropic. Determine </a:t>
            </a:r>
          </a:p>
          <a:p>
            <a:pPr marL="514350" indent="-514350">
              <a:buAutoNum type="alphaLcPeriod"/>
            </a:pPr>
            <a:r>
              <a:rPr lang="en-US" sz="2000" dirty="0">
                <a:effectLst/>
              </a:rPr>
              <a:t>the net power developed, in MW. </a:t>
            </a:r>
          </a:p>
          <a:p>
            <a:pPr marL="514350" indent="-514350">
              <a:buAutoNum type="alphaLcPeriod"/>
            </a:pPr>
            <a:r>
              <a:rPr lang="en-US" sz="2000" dirty="0">
                <a:effectLst/>
              </a:rPr>
              <a:t>the rate of heat addition in the combustor, in MW. </a:t>
            </a:r>
          </a:p>
          <a:p>
            <a:pPr marL="514350" indent="-514350">
              <a:buAutoNum type="alphaLcPeriod"/>
            </a:pPr>
            <a:r>
              <a:rPr lang="en-US" sz="2000" dirty="0">
                <a:effectLst/>
              </a:rPr>
              <a:t>the thermal efficiency of the cycle.</a:t>
            </a:r>
          </a:p>
          <a:p>
            <a:endParaRPr lang="en-CA" sz="2000" dirty="0"/>
          </a:p>
        </p:txBody>
      </p:sp>
    </p:spTree>
    <p:extLst>
      <p:ext uri="{BB962C8B-B14F-4D97-AF65-F5344CB8AC3E}">
        <p14:creationId xmlns:p14="http://schemas.microsoft.com/office/powerpoint/2010/main" val="4759524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5FB5CB-43AA-4823-B2C6-56E4BC347937}"/>
              </a:ext>
            </a:extLst>
          </p:cNvPr>
          <p:cNvSpPr>
            <a:spLocks noGrp="1"/>
          </p:cNvSpPr>
          <p:nvPr>
            <p:ph idx="1"/>
          </p:nvPr>
        </p:nvSpPr>
        <p:spPr>
          <a:xfrm>
            <a:off x="305538" y="529486"/>
            <a:ext cx="11794725" cy="4351338"/>
          </a:xfrm>
        </p:spPr>
        <p:txBody>
          <a:bodyPr>
            <a:normAutofit/>
          </a:bodyPr>
          <a:lstStyle/>
          <a:p>
            <a:pPr marL="0" indent="0">
              <a:buNone/>
            </a:pPr>
            <a:r>
              <a:rPr lang="en-US" sz="2000" b="1" dirty="0">
                <a:effectLst/>
              </a:rPr>
              <a:t>Q5. </a:t>
            </a:r>
            <a:r>
              <a:rPr lang="en-US" sz="2000" dirty="0">
                <a:effectLst/>
              </a:rPr>
              <a:t>Air enters the compressor of an air-standard Brayton cycle with a volumetric flow rate of 60 m</a:t>
            </a:r>
            <a:r>
              <a:rPr lang="en-US" sz="2000" baseline="30000" dirty="0">
                <a:effectLst/>
              </a:rPr>
              <a:t>3</a:t>
            </a:r>
            <a:r>
              <a:rPr lang="en-US" sz="2000" dirty="0">
                <a:effectLst/>
              </a:rPr>
              <a:t>/s at </a:t>
            </a:r>
            <a:r>
              <a:rPr lang="en-US" sz="2000" dirty="0"/>
              <a:t>80 kPa</a:t>
            </a:r>
            <a:r>
              <a:rPr lang="en-US" sz="2000" dirty="0">
                <a:effectLst/>
              </a:rPr>
              <a:t>, 280 K. The compressor pressure ratio is 20, and the maximum cycle temperature is 2100 K. For the compressor, the isentropic efficiency is 92% and for the turbine the isentropic efficiency is 95%. Determine </a:t>
            </a:r>
          </a:p>
          <a:p>
            <a:pPr marL="514350" indent="-514350">
              <a:buAutoNum type="alphaLcPeriod"/>
            </a:pPr>
            <a:r>
              <a:rPr lang="en-US" sz="2000" dirty="0">
                <a:effectLst/>
              </a:rPr>
              <a:t>the net power developed, in MW. </a:t>
            </a:r>
          </a:p>
          <a:p>
            <a:pPr marL="514350" indent="-514350">
              <a:buAutoNum type="alphaLcPeriod"/>
            </a:pPr>
            <a:r>
              <a:rPr lang="en-US" sz="2000" dirty="0">
                <a:effectLst/>
              </a:rPr>
              <a:t>the rate of heat addition in the combustor, in MW. </a:t>
            </a:r>
          </a:p>
          <a:p>
            <a:pPr marL="514350" indent="-514350">
              <a:buAutoNum type="alphaLcPeriod"/>
            </a:pPr>
            <a:r>
              <a:rPr lang="en-US" sz="2000" dirty="0">
                <a:effectLst/>
              </a:rPr>
              <a:t>the thermal efficiency of the cycle.</a:t>
            </a:r>
          </a:p>
          <a:p>
            <a:pPr marL="514350" indent="-514350">
              <a:buAutoNum type="alphaLcPeriod"/>
            </a:pPr>
            <a:r>
              <a:rPr lang="en-US" sz="2000" dirty="0">
                <a:effectLst/>
              </a:rPr>
              <a:t>the rate of natural gas required to the combustor.</a:t>
            </a:r>
          </a:p>
          <a:p>
            <a:pPr marL="514350" indent="-514350">
              <a:buAutoNum type="alphaLcPeriod"/>
            </a:pPr>
            <a:r>
              <a:rPr lang="en-US" sz="2000" dirty="0">
                <a:effectLst/>
              </a:rPr>
              <a:t>the rate annual CO</a:t>
            </a:r>
            <a:r>
              <a:rPr lang="en-US" sz="2000" baseline="-25000" dirty="0">
                <a:effectLst/>
              </a:rPr>
              <a:t>2</a:t>
            </a:r>
            <a:r>
              <a:rPr lang="en-US" sz="2000" dirty="0">
                <a:effectLst/>
              </a:rPr>
              <a:t> generatio</a:t>
            </a:r>
            <a:r>
              <a:rPr lang="en-US" sz="2000" dirty="0"/>
              <a:t>n by the plant if the plant has an availability of 90% through the year</a:t>
            </a:r>
            <a:endParaRPr lang="en-US" sz="2000" dirty="0">
              <a:effectLst/>
            </a:endParaRPr>
          </a:p>
          <a:p>
            <a:endParaRPr lang="en-CA" sz="2000" dirty="0"/>
          </a:p>
        </p:txBody>
      </p:sp>
    </p:spTree>
    <p:extLst>
      <p:ext uri="{BB962C8B-B14F-4D97-AF65-F5344CB8AC3E}">
        <p14:creationId xmlns:p14="http://schemas.microsoft.com/office/powerpoint/2010/main" val="4258572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B18A59-42A9-45AB-8026-4E854FE99E8F}"/>
              </a:ext>
            </a:extLst>
          </p:cNvPr>
          <p:cNvSpPr>
            <a:spLocks noGrp="1"/>
          </p:cNvSpPr>
          <p:nvPr>
            <p:ph idx="1"/>
          </p:nvPr>
        </p:nvSpPr>
        <p:spPr>
          <a:xfrm>
            <a:off x="163497" y="201012"/>
            <a:ext cx="11803602" cy="4351338"/>
          </a:xfrm>
        </p:spPr>
        <p:txBody>
          <a:bodyPr>
            <a:normAutofit/>
          </a:bodyPr>
          <a:lstStyle/>
          <a:p>
            <a:pPr marL="0" indent="0">
              <a:buNone/>
            </a:pPr>
            <a:r>
              <a:rPr lang="en-US" sz="1800" b="1" dirty="0">
                <a:effectLst/>
              </a:rPr>
              <a:t>Q6. </a:t>
            </a:r>
            <a:r>
              <a:rPr lang="en-US" sz="1800" dirty="0">
                <a:effectLst/>
              </a:rPr>
              <a:t>Compute the thermal efficiency of a Rankine cycle with isentropic compression and expansion for which steam leaves the boiler at 6 MPa and 480 C and is condensed at 50 kPa. </a:t>
            </a:r>
            <a:r>
              <a:rPr lang="en-US" sz="1800" dirty="0"/>
              <a:t>Make appropriate assumptions if necessary. </a:t>
            </a:r>
            <a:endParaRPr lang="en-US" sz="1800" dirty="0">
              <a:effectLst/>
            </a:endParaRPr>
          </a:p>
          <a:p>
            <a:endParaRPr lang="en-CA" sz="1800" dirty="0"/>
          </a:p>
        </p:txBody>
      </p:sp>
      <p:sp>
        <p:nvSpPr>
          <p:cNvPr id="5" name="TextBox 4">
            <a:extLst>
              <a:ext uri="{FF2B5EF4-FFF2-40B4-BE49-F238E27FC236}">
                <a16:creationId xmlns:a16="http://schemas.microsoft.com/office/drawing/2014/main" id="{80AEF03C-BE2A-4640-A204-37B1B28D82BA}"/>
              </a:ext>
            </a:extLst>
          </p:cNvPr>
          <p:cNvSpPr txBox="1"/>
          <p:nvPr/>
        </p:nvSpPr>
        <p:spPr>
          <a:xfrm>
            <a:off x="224900" y="4189338"/>
            <a:ext cx="11609033" cy="369332"/>
          </a:xfrm>
          <a:prstGeom prst="rect">
            <a:avLst/>
          </a:prstGeom>
          <a:noFill/>
        </p:spPr>
        <p:txBody>
          <a:bodyPr wrap="square">
            <a:spAutoFit/>
          </a:bodyPr>
          <a:lstStyle/>
          <a:p>
            <a:pPr marL="0" indent="0">
              <a:buNone/>
            </a:pPr>
            <a:r>
              <a:rPr lang="en-US" sz="1800" b="1" dirty="0">
                <a:effectLst/>
              </a:rPr>
              <a:t>Q7. </a:t>
            </a:r>
            <a:r>
              <a:rPr lang="en-US" sz="1800" dirty="0">
                <a:effectLst/>
              </a:rPr>
              <a:t>Determine the mass flow rate of water through the boiler to produce 350 MW through the turbine</a:t>
            </a:r>
            <a:r>
              <a:rPr lang="en-US" sz="1800" dirty="0"/>
              <a:t>. </a:t>
            </a:r>
            <a:endParaRPr lang="en-US" sz="1800" dirty="0">
              <a:effectLst/>
            </a:endParaRPr>
          </a:p>
        </p:txBody>
      </p:sp>
    </p:spTree>
    <p:extLst>
      <p:ext uri="{BB962C8B-B14F-4D97-AF65-F5344CB8AC3E}">
        <p14:creationId xmlns:p14="http://schemas.microsoft.com/office/powerpoint/2010/main" val="42017263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D9644F-14DD-497A-9B46-08DA19921FE1}"/>
              </a:ext>
            </a:extLst>
          </p:cNvPr>
          <p:cNvSpPr>
            <a:spLocks noGrp="1"/>
          </p:cNvSpPr>
          <p:nvPr>
            <p:ph idx="1"/>
          </p:nvPr>
        </p:nvSpPr>
        <p:spPr>
          <a:xfrm>
            <a:off x="62144" y="298666"/>
            <a:ext cx="12129856" cy="4351338"/>
          </a:xfrm>
        </p:spPr>
        <p:txBody>
          <a:bodyPr>
            <a:normAutofit/>
          </a:bodyPr>
          <a:lstStyle/>
          <a:p>
            <a:pPr marL="0" indent="0">
              <a:buNone/>
            </a:pPr>
            <a:r>
              <a:rPr lang="en-US" sz="1800" b="1" dirty="0">
                <a:effectLst/>
              </a:rPr>
              <a:t>Q8. </a:t>
            </a:r>
            <a:r>
              <a:rPr lang="en-US" sz="1800" dirty="0">
                <a:effectLst/>
              </a:rPr>
              <a:t>Suppose a power plant using the cycle in Problems 6&amp;7 produces 2.1 billion kWh/year of electricity. Ignore losses in the boiler and turbine. If the generator is 98% efficient and boiler is 84% efficient, and coal costs $30/</a:t>
            </a:r>
            <a:r>
              <a:rPr lang="en-US" sz="1800" dirty="0" err="1">
                <a:effectLst/>
              </a:rPr>
              <a:t>tonne</a:t>
            </a:r>
            <a:r>
              <a:rPr lang="en-US" sz="1800" dirty="0">
                <a:effectLst/>
              </a:rPr>
              <a:t>, calculate: </a:t>
            </a:r>
          </a:p>
          <a:p>
            <a:pPr marL="342900" indent="-342900">
              <a:buAutoNum type="alphaLcPeriod"/>
            </a:pPr>
            <a:r>
              <a:rPr lang="en-US" sz="1800" dirty="0">
                <a:effectLst/>
              </a:rPr>
              <a:t>The total coal energy content required per year </a:t>
            </a:r>
          </a:p>
          <a:p>
            <a:pPr marL="342900" indent="-342900">
              <a:buAutoNum type="alphaLcPeriod"/>
            </a:pPr>
            <a:r>
              <a:rPr lang="en-US" sz="1800" dirty="0">
                <a:effectLst/>
              </a:rPr>
              <a:t>The annual expenditure on coal </a:t>
            </a:r>
          </a:p>
          <a:p>
            <a:pPr marL="342900" indent="-342900">
              <a:buAutoNum type="alphaLcPeriod"/>
            </a:pPr>
            <a:r>
              <a:rPr lang="en-US" sz="1800" dirty="0">
                <a:effectLst/>
              </a:rPr>
              <a:t>The mass of CO2 emitted per year from the plant </a:t>
            </a:r>
          </a:p>
          <a:p>
            <a:pPr marL="342900" indent="-342900">
              <a:buAutoNum type="alphaLcPeriod"/>
            </a:pPr>
            <a:r>
              <a:rPr lang="en-US" sz="1800" dirty="0">
                <a:effectLst/>
              </a:rPr>
              <a:t>The mass of CO2 emitted per million kWh produce</a:t>
            </a:r>
          </a:p>
          <a:p>
            <a:endParaRPr lang="en-CA" sz="1800" dirty="0"/>
          </a:p>
        </p:txBody>
      </p:sp>
    </p:spTree>
    <p:extLst>
      <p:ext uri="{BB962C8B-B14F-4D97-AF65-F5344CB8AC3E}">
        <p14:creationId xmlns:p14="http://schemas.microsoft.com/office/powerpoint/2010/main" val="2598071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B18A59-42A9-45AB-8026-4E854FE99E8F}"/>
              </a:ext>
            </a:extLst>
          </p:cNvPr>
          <p:cNvSpPr>
            <a:spLocks noGrp="1"/>
          </p:cNvSpPr>
          <p:nvPr>
            <p:ph idx="1"/>
          </p:nvPr>
        </p:nvSpPr>
        <p:spPr>
          <a:xfrm>
            <a:off x="163497" y="201012"/>
            <a:ext cx="11803602" cy="4351338"/>
          </a:xfrm>
        </p:spPr>
        <p:txBody>
          <a:bodyPr>
            <a:normAutofit/>
          </a:bodyPr>
          <a:lstStyle/>
          <a:p>
            <a:pPr marL="0" indent="0">
              <a:buNone/>
            </a:pPr>
            <a:r>
              <a:rPr lang="en-US" sz="1800" b="1" dirty="0">
                <a:effectLst/>
              </a:rPr>
              <a:t>Q9. </a:t>
            </a:r>
            <a:r>
              <a:rPr lang="en-US" sz="1800" dirty="0">
                <a:effectLst/>
              </a:rPr>
              <a:t>Compute the work produced by the turbine, heat required by the boiler, mass flow rate of the steam through the boiler, and cycle efficiency if the following conditions are known about a simple Rankine cycle:</a:t>
            </a:r>
          </a:p>
          <a:p>
            <a:pPr>
              <a:buFontTx/>
              <a:buChar char="-"/>
            </a:pPr>
            <a:r>
              <a:rPr lang="en-US" sz="1800" dirty="0"/>
              <a:t>Turbine inlet temperature and pressures: 540 C and 5 MPa.</a:t>
            </a:r>
          </a:p>
          <a:p>
            <a:pPr>
              <a:buFontTx/>
              <a:buChar char="-"/>
            </a:pPr>
            <a:r>
              <a:rPr lang="en-US" sz="1800" dirty="0"/>
              <a:t>Turbine exhaust pressure of 12 kPa</a:t>
            </a:r>
          </a:p>
          <a:p>
            <a:pPr>
              <a:buFontTx/>
              <a:buChar char="-"/>
            </a:pPr>
            <a:r>
              <a:rPr lang="en-US" sz="1800" dirty="0"/>
              <a:t>Pump and turbine efficiency: 90, and 80% respectively</a:t>
            </a:r>
          </a:p>
          <a:p>
            <a:pPr>
              <a:buFontTx/>
              <a:buChar char="-"/>
            </a:pPr>
            <a:r>
              <a:rPr lang="en-US" sz="1800" dirty="0"/>
              <a:t>Net work produced by the plant: 180 MW</a:t>
            </a:r>
          </a:p>
          <a:p>
            <a:pPr marL="0" indent="0">
              <a:buNone/>
            </a:pPr>
            <a:r>
              <a:rPr lang="en-US" sz="1800" dirty="0"/>
              <a:t> </a:t>
            </a:r>
            <a:endParaRPr lang="en-US" sz="1800" dirty="0">
              <a:effectLst/>
            </a:endParaRPr>
          </a:p>
          <a:p>
            <a:endParaRPr lang="en-CA" sz="1800" dirty="0"/>
          </a:p>
        </p:txBody>
      </p:sp>
    </p:spTree>
    <p:extLst>
      <p:ext uri="{BB962C8B-B14F-4D97-AF65-F5344CB8AC3E}">
        <p14:creationId xmlns:p14="http://schemas.microsoft.com/office/powerpoint/2010/main" val="15953115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F6EB9-7F63-4DC3-9BAE-C6A87660DF44}"/>
              </a:ext>
            </a:extLst>
          </p:cNvPr>
          <p:cNvSpPr>
            <a:spLocks noGrp="1"/>
          </p:cNvSpPr>
          <p:nvPr>
            <p:ph type="title"/>
          </p:nvPr>
        </p:nvSpPr>
        <p:spPr>
          <a:xfrm>
            <a:off x="163497" y="18255"/>
            <a:ext cx="10515600" cy="1325563"/>
          </a:xfrm>
        </p:spPr>
        <p:txBody>
          <a:bodyPr>
            <a:normAutofit/>
          </a:bodyPr>
          <a:lstStyle/>
          <a:p>
            <a:r>
              <a:rPr lang="en-CA" sz="2800" i="1" dirty="0"/>
              <a:t>Combined Cycle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05F74EA-8565-4A0B-8933-98D2D23F1B89}"/>
                  </a:ext>
                </a:extLst>
              </p:cNvPr>
              <p:cNvSpPr>
                <a:spLocks noGrp="1"/>
              </p:cNvSpPr>
              <p:nvPr>
                <p:ph idx="1"/>
              </p:nvPr>
            </p:nvSpPr>
            <p:spPr>
              <a:xfrm>
                <a:off x="243395" y="991123"/>
                <a:ext cx="11785107" cy="4351338"/>
              </a:xfrm>
            </p:spPr>
            <p:txBody>
              <a:bodyPr>
                <a:normAutofit/>
              </a:bodyPr>
              <a:lstStyle/>
              <a:p>
                <a:pPr marL="0" indent="0">
                  <a:buNone/>
                </a:pPr>
                <a:r>
                  <a:rPr lang="en-US" sz="1800" b="1" dirty="0">
                    <a:effectLst/>
                  </a:rPr>
                  <a:t>Q10. </a:t>
                </a:r>
                <a:r>
                  <a:rPr lang="en-US" sz="1800" dirty="0">
                    <a:effectLst/>
                  </a:rPr>
                  <a:t>The top cycle of a combined cycle power plant has a pressure ratio of 12. Air enters the compressor at 300 K at a rate of 12 kg/s and is heated to 1300 K in the combustion chamber. The steam in the bottom cycle is heated to 350°C at 10 MPa in a heat exchanger, and after leaving the turbine is condensed at 10 kPa. The combustion gases leave the heat exchanger at 350 </a:t>
                </a:r>
                <a:r>
                  <a:rPr lang="en-US" sz="1800" dirty="0"/>
                  <a:t>C</a:t>
                </a:r>
                <a:r>
                  <a:rPr lang="en-US" sz="1800" dirty="0">
                    <a:effectLst/>
                  </a:rPr>
                  <a:t>. Assume that all compression and expansion processes are isentropic. Determine the thermal efficiency of the combined cycle.</a:t>
                </a:r>
              </a:p>
              <a:p>
                <a:pPr marL="0" indent="0">
                  <a:buNone/>
                </a:pPr>
                <a:r>
                  <a:rPr lang="en-US" sz="1800" dirty="0"/>
                  <a:t>Use the energy balance on heat recovery steam generator to determine the mass flow rate of the steam in steam cycle:</a:t>
                </a:r>
                <a:endParaRPr lang="en-US" sz="1800" i="1" dirty="0">
                  <a:latin typeface="Cambria Math" panose="02040503050406030204" pitchFamily="18" charset="0"/>
                </a:endParaRPr>
              </a:p>
              <a:p>
                <a:pPr marL="0" indent="0">
                  <a:buNone/>
                </a:pPr>
                <a:endParaRPr lang="en-US" sz="1800" i="1" dirty="0">
                  <a:latin typeface="Cambria Math" panose="02040503050406030204" pitchFamily="18" charset="0"/>
                </a:endParaRPr>
              </a:p>
              <a:p>
                <a:pPr marL="0" indent="0">
                  <a:buNone/>
                </a:pPr>
                <a14:m>
                  <m:oMath xmlns:m="http://schemas.openxmlformats.org/officeDocument/2006/math">
                    <m:r>
                      <a:rPr lang="el-GR" sz="1800" i="1" smtClean="0">
                        <a:latin typeface="Cambria Math" panose="02040503050406030204" pitchFamily="18" charset="0"/>
                      </a:rPr>
                      <m:t> </m:t>
                    </m:r>
                    <m:acc>
                      <m:accPr>
                        <m:chr m:val="̇"/>
                        <m:ctrlPr>
                          <a:rPr lang="el-GR" sz="1800" i="1" smtClean="0">
                            <a:latin typeface="Cambria Math" panose="02040503050406030204" pitchFamily="18" charset="0"/>
                          </a:rPr>
                        </m:ctrlPr>
                      </m:accPr>
                      <m:e>
                        <m:sSub>
                          <m:sSubPr>
                            <m:ctrlPr>
                              <a:rPr lang="el-GR" sz="1800" i="1" smtClean="0">
                                <a:latin typeface="Cambria Math" panose="02040503050406030204" pitchFamily="18" charset="0"/>
                              </a:rPr>
                            </m:ctrlPr>
                          </m:sSubPr>
                          <m:e>
                            <m:r>
                              <a:rPr lang="en-US" sz="1800" b="0" i="1" smtClean="0">
                                <a:latin typeface="Cambria Math" panose="02040503050406030204" pitchFamily="18" charset="0"/>
                              </a:rPr>
                              <m:t>𝑚</m:t>
                            </m:r>
                          </m:e>
                          <m:sub>
                            <m:r>
                              <a:rPr lang="en-US" sz="1800" b="0" i="1" smtClean="0">
                                <a:latin typeface="Cambria Math" panose="02040503050406030204" pitchFamily="18" charset="0"/>
                              </a:rPr>
                              <m:t>𝑠</m:t>
                            </m:r>
                          </m:sub>
                        </m:sSub>
                      </m:e>
                    </m:acc>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h</m:t>
                        </m:r>
                      </m:e>
                      <m:sub>
                        <m:r>
                          <a:rPr lang="en-US" sz="1800" b="0" i="1" smtClean="0">
                            <a:latin typeface="Cambria Math" panose="02040503050406030204" pitchFamily="18" charset="0"/>
                          </a:rPr>
                          <m:t>3</m:t>
                        </m:r>
                      </m:sub>
                    </m:sSub>
                    <m:r>
                      <a:rPr lang="en-US" sz="1800" b="0" i="1" smtClean="0">
                        <a:latin typeface="Cambria Math" panose="02040503050406030204" pitchFamily="18" charset="0"/>
                      </a:rPr>
                      <m:t>−</m:t>
                    </m:r>
                  </m:oMath>
                </a14:m>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h</m:t>
                        </m:r>
                      </m:e>
                      <m:sub>
                        <m:r>
                          <a:rPr lang="en-US" sz="1800" b="0" i="1" smtClean="0">
                            <a:latin typeface="Cambria Math" panose="02040503050406030204" pitchFamily="18" charset="0"/>
                          </a:rPr>
                          <m:t>2</m:t>
                        </m:r>
                      </m:sub>
                    </m:sSub>
                    <m:r>
                      <a:rPr lang="en-US" sz="1800" b="0" i="1" smtClean="0">
                        <a:latin typeface="Cambria Math" panose="02040503050406030204" pitchFamily="18" charset="0"/>
                      </a:rPr>
                      <m:t>)=</m:t>
                    </m:r>
                  </m:oMath>
                </a14:m>
                <a:r>
                  <a:rPr lang="el-GR" sz="1800" dirty="0"/>
                  <a:t> </a:t>
                </a:r>
                <a14:m>
                  <m:oMath xmlns:m="http://schemas.openxmlformats.org/officeDocument/2006/math">
                    <m:acc>
                      <m:accPr>
                        <m:chr m:val="̇"/>
                        <m:ctrlPr>
                          <a:rPr lang="el-GR" sz="1800" i="1">
                            <a:latin typeface="Cambria Math" panose="02040503050406030204" pitchFamily="18" charset="0"/>
                          </a:rPr>
                        </m:ctrlPr>
                      </m:accPr>
                      <m:e>
                        <m:sSub>
                          <m:sSubPr>
                            <m:ctrlPr>
                              <a:rPr lang="el-GR" sz="1800" i="1">
                                <a:latin typeface="Cambria Math" panose="02040503050406030204" pitchFamily="18" charset="0"/>
                              </a:rPr>
                            </m:ctrlPr>
                          </m:sSubPr>
                          <m:e>
                            <m:r>
                              <a:rPr lang="en-US" sz="1800" i="1">
                                <a:latin typeface="Cambria Math" panose="02040503050406030204" pitchFamily="18" charset="0"/>
                              </a:rPr>
                              <m:t>𝑚</m:t>
                            </m:r>
                          </m:e>
                          <m:sub>
                            <m:r>
                              <a:rPr lang="en-US" sz="1800" i="1">
                                <a:latin typeface="Cambria Math" panose="02040503050406030204" pitchFamily="18" charset="0"/>
                              </a:rPr>
                              <m:t>𝑠</m:t>
                            </m:r>
                          </m:sub>
                        </m:sSub>
                      </m:e>
                    </m:acc>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𝑝</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𝑇</m:t>
                        </m:r>
                      </m:e>
                      <m:sub>
                        <m:r>
                          <a:rPr lang="en-US" sz="1800" b="0" i="1" smtClean="0">
                            <a:latin typeface="Cambria Math" panose="02040503050406030204" pitchFamily="18" charset="0"/>
                          </a:rPr>
                          <m:t>4</m:t>
                        </m:r>
                        <m:r>
                          <a:rPr lang="en-US" sz="1800" b="0" i="1" smtClean="0">
                            <a:latin typeface="Cambria Math" panose="02040503050406030204" pitchFamily="18" charset="0"/>
                          </a:rPr>
                          <m:t>𝑎</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𝑇</m:t>
                        </m:r>
                      </m:e>
                      <m:sub>
                        <m:r>
                          <a:rPr lang="en-US" sz="1800" b="0" i="1" smtClean="0">
                            <a:latin typeface="Cambria Math" panose="02040503050406030204" pitchFamily="18" charset="0"/>
                          </a:rPr>
                          <m:t>𝑎𝑖𝑟</m:t>
                        </m:r>
                        <m:r>
                          <a:rPr lang="en-US" sz="1800" b="0" i="1" smtClean="0">
                            <a:latin typeface="Cambria Math" panose="02040503050406030204" pitchFamily="18" charset="0"/>
                          </a:rPr>
                          <m:t>−</m:t>
                        </m:r>
                        <m:r>
                          <a:rPr lang="en-US" sz="1800" b="0" i="1" smtClean="0">
                            <a:latin typeface="Cambria Math" panose="02040503050406030204" pitchFamily="18" charset="0"/>
                          </a:rPr>
                          <m:t>𝑜𝑢𝑡</m:t>
                        </m:r>
                      </m:sub>
                    </m:sSub>
                    <m:r>
                      <a:rPr lang="en-US" sz="1800" b="0" i="1" smtClean="0">
                        <a:latin typeface="Cambria Math" panose="02040503050406030204" pitchFamily="18" charset="0"/>
                      </a:rPr>
                      <m:t>)</m:t>
                    </m:r>
                  </m:oMath>
                </a14:m>
                <a:endParaRPr lang="en-US" sz="1800" dirty="0">
                  <a:effectLst/>
                </a:endParaRPr>
              </a:p>
              <a:p>
                <a:endParaRPr lang="en-CA" sz="1800" dirty="0"/>
              </a:p>
            </p:txBody>
          </p:sp>
        </mc:Choice>
        <mc:Fallback>
          <p:sp>
            <p:nvSpPr>
              <p:cNvPr id="3" name="Content Placeholder 2">
                <a:extLst>
                  <a:ext uri="{FF2B5EF4-FFF2-40B4-BE49-F238E27FC236}">
                    <a16:creationId xmlns:a16="http://schemas.microsoft.com/office/drawing/2014/main" id="{E05F74EA-8565-4A0B-8933-98D2D23F1B89}"/>
                  </a:ext>
                </a:extLst>
              </p:cNvPr>
              <p:cNvSpPr>
                <a:spLocks noGrp="1" noRot="1" noChangeAspect="1" noMove="1" noResize="1" noEditPoints="1" noAdjustHandles="1" noChangeArrowheads="1" noChangeShapeType="1" noTextEdit="1"/>
              </p:cNvSpPr>
              <p:nvPr>
                <p:ph idx="1"/>
              </p:nvPr>
            </p:nvSpPr>
            <p:spPr>
              <a:xfrm>
                <a:off x="243395" y="991123"/>
                <a:ext cx="11785107" cy="4351338"/>
              </a:xfrm>
              <a:blipFill>
                <a:blip r:embed="rId2"/>
                <a:stretch>
                  <a:fillRect l="-466" t="-1403" r="-621"/>
                </a:stretch>
              </a:blipFill>
            </p:spPr>
            <p:txBody>
              <a:bodyPr/>
              <a:lstStyle/>
              <a:p>
                <a:r>
                  <a:rPr lang="en-CA">
                    <a:noFill/>
                  </a:rPr>
                  <a:t> </a:t>
                </a:r>
              </a:p>
            </p:txBody>
          </p:sp>
        </mc:Fallback>
      </mc:AlternateContent>
    </p:spTree>
    <p:extLst>
      <p:ext uri="{BB962C8B-B14F-4D97-AF65-F5344CB8AC3E}">
        <p14:creationId xmlns:p14="http://schemas.microsoft.com/office/powerpoint/2010/main" val="23738769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2343</TotalTime>
  <Words>819</Words>
  <Application>Microsoft Office PowerPoint</Application>
  <PresentationFormat>Widescreen</PresentationFormat>
  <Paragraphs>37</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Cambria Math</vt:lpstr>
      <vt:lpstr>Office Theme</vt:lpstr>
      <vt:lpstr>Module 2 &amp; 3 Class Problems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Combined Cycle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Amin Ghobeity</dc:creator>
  <cp:lastModifiedBy>Amin Ghobeity</cp:lastModifiedBy>
  <cp:revision>20</cp:revision>
  <dcterms:created xsi:type="dcterms:W3CDTF">2021-05-27T20:00:43Z</dcterms:created>
  <dcterms:modified xsi:type="dcterms:W3CDTF">2025-09-22T17:24:05Z</dcterms:modified>
</cp:coreProperties>
</file>