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Lst>
  <p:notesMasterIdLst>
    <p:notesMasterId r:id="rId34"/>
  </p:notesMasterIdLst>
  <p:handoutMasterIdLst>
    <p:handoutMasterId r:id="rId35"/>
  </p:handoutMasterIdLst>
  <p:sldIdLst>
    <p:sldId id="256" r:id="rId2"/>
    <p:sldId id="316" r:id="rId3"/>
    <p:sldId id="343" r:id="rId4"/>
    <p:sldId id="262" r:id="rId5"/>
    <p:sldId id="263" r:id="rId6"/>
    <p:sldId id="317" r:id="rId7"/>
    <p:sldId id="318" r:id="rId8"/>
    <p:sldId id="366" r:id="rId9"/>
    <p:sldId id="280" r:id="rId10"/>
    <p:sldId id="281" r:id="rId11"/>
    <p:sldId id="372" r:id="rId12"/>
    <p:sldId id="296" r:id="rId13"/>
    <p:sldId id="297" r:id="rId14"/>
    <p:sldId id="303" r:id="rId15"/>
    <p:sldId id="313" r:id="rId16"/>
    <p:sldId id="304" r:id="rId17"/>
    <p:sldId id="374" r:id="rId18"/>
    <p:sldId id="321" r:id="rId19"/>
    <p:sldId id="348" r:id="rId20"/>
    <p:sldId id="375" r:id="rId21"/>
    <p:sldId id="323" r:id="rId22"/>
    <p:sldId id="371" r:id="rId23"/>
    <p:sldId id="325" r:id="rId24"/>
    <p:sldId id="373" r:id="rId25"/>
    <p:sldId id="365" r:id="rId26"/>
    <p:sldId id="326" r:id="rId27"/>
    <p:sldId id="344" r:id="rId28"/>
    <p:sldId id="345" r:id="rId29"/>
    <p:sldId id="358" r:id="rId30"/>
    <p:sldId id="370" r:id="rId31"/>
    <p:sldId id="335" r:id="rId32"/>
    <p:sldId id="368" r:id="rId3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eftel, Mona D" initials="ZMD" lastIdx="8"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FFCC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80" d="100"/>
          <a:sy n="80" d="100"/>
        </p:scale>
        <p:origin x="1522" y="283"/>
      </p:cViewPr>
      <p:guideLst>
        <p:guide orient="horz" pos="2160"/>
        <p:guide pos="2880"/>
      </p:guideLst>
    </p:cSldViewPr>
  </p:slideViewPr>
  <p:notesTextViewPr>
    <p:cViewPr>
      <p:scale>
        <a:sx n="100" d="100"/>
        <a:sy n="100" d="100"/>
      </p:scale>
      <p:origin x="0" y="0"/>
    </p:cViewPr>
  </p:notesTextViewPr>
  <p:notesViewPr>
    <p:cSldViewPr>
      <p:cViewPr varScale="1">
        <p:scale>
          <a:sx n="70" d="100"/>
          <a:sy n="70" d="100"/>
        </p:scale>
        <p:origin x="-3246"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05D4A66-4E06-4F80-804F-A964EB6C0D0A}" type="datetimeFigureOut">
              <a:rPr lang="en-US" smtClean="0"/>
              <a:pPr/>
              <a:t>8/31/2026</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A340500-23C6-45C7-9626-EF17B47CA0A2}" type="slidenum">
              <a:rPr lang="en-US" smtClean="0"/>
              <a:pPr/>
              <a:t>‹#›</a:t>
            </a:fld>
            <a:endParaRPr lang="en-US" dirty="0"/>
          </a:p>
        </p:txBody>
      </p:sp>
    </p:spTree>
    <p:extLst>
      <p:ext uri="{BB962C8B-B14F-4D97-AF65-F5344CB8AC3E}">
        <p14:creationId xmlns:p14="http://schemas.microsoft.com/office/powerpoint/2010/main" val="25474727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0646D3D-12D9-42A1-A359-88470FD6EB52}" type="datetimeFigureOut">
              <a:rPr lang="en-US" smtClean="0"/>
              <a:pPr/>
              <a:t>8/31/2026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B58331F-8B33-4884-9995-3C14B2EEB352}" type="slidenum">
              <a:rPr lang="en-US" smtClean="0"/>
              <a:pPr/>
              <a:t>‹#›</a:t>
            </a:fld>
            <a:endParaRPr lang="en-US" dirty="0"/>
          </a:p>
        </p:txBody>
      </p:sp>
    </p:spTree>
    <p:extLst>
      <p:ext uri="{BB962C8B-B14F-4D97-AF65-F5344CB8AC3E}">
        <p14:creationId xmlns:p14="http://schemas.microsoft.com/office/powerpoint/2010/main" val="10535876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B58331F-8B33-4884-9995-3C14B2EEB352}" type="slidenum">
              <a:rPr lang="en-US" smtClean="0"/>
              <a:pPr/>
              <a:t>1</a:t>
            </a:fld>
            <a:endParaRPr lang="en-US" dirty="0"/>
          </a:p>
        </p:txBody>
      </p:sp>
    </p:spTree>
    <p:extLst>
      <p:ext uri="{BB962C8B-B14F-4D97-AF65-F5344CB8AC3E}">
        <p14:creationId xmlns:p14="http://schemas.microsoft.com/office/powerpoint/2010/main" val="36232110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7" name="Slide Number Placeholder 26"/>
          <p:cNvSpPr>
            <a:spLocks noGrp="1"/>
          </p:cNvSpPr>
          <p:nvPr>
            <p:ph type="sldNum" sz="quarter" idx="12"/>
          </p:nvPr>
        </p:nvSpPr>
        <p:spPr/>
        <p:txBody>
          <a:bodyPr/>
          <a:lstStyle/>
          <a:p>
            <a:fld id="{122D24B2-5D52-46F7-B915-67CABB3AD0CF}" type="slidenum">
              <a:rPr lang="en-US" smtClean="0"/>
              <a:pPr/>
              <a:t>‹#›</a:t>
            </a:fld>
            <a:endParaRPr lang="en-US" dirty="0"/>
          </a:p>
        </p:txBody>
      </p:sp>
      <p:sp>
        <p:nvSpPr>
          <p:cNvPr id="4" name="Text Placeholder 3"/>
          <p:cNvSpPr>
            <a:spLocks noGrp="1"/>
          </p:cNvSpPr>
          <p:nvPr>
            <p:ph type="body" sz="quarter" idx="13"/>
          </p:nvPr>
        </p:nvSpPr>
        <p:spPr>
          <a:xfrm>
            <a:off x="609600" y="2133600"/>
            <a:ext cx="7810500" cy="4157662"/>
          </a:xfrm>
          <a:prstGeom prst="rect">
            <a:avLst/>
          </a:prstGeom>
        </p:spPr>
        <p:txBody>
          <a:bodyPr/>
          <a:lstStyle>
            <a:lvl1pPr marL="463550" indent="-463550">
              <a:buFont typeface="Wingdings" panose="05000000000000000000" pitchFamily="2" charset="2"/>
              <a:buChar char="q"/>
              <a:defRPr sz="2400">
                <a:solidFill>
                  <a:schemeClr val="bg1"/>
                </a:solidFill>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Click to edit Master text styles</a:t>
            </a:r>
          </a:p>
        </p:txBody>
      </p:sp>
      <p:sp>
        <p:nvSpPr>
          <p:cNvPr id="6" name="Title 5"/>
          <p:cNvSpPr>
            <a:spLocks noGrp="1"/>
          </p:cNvSpPr>
          <p:nvPr>
            <p:ph type="title"/>
          </p:nvPr>
        </p:nvSpPr>
        <p:spPr>
          <a:xfrm>
            <a:off x="609600" y="1001951"/>
            <a:ext cx="7810500" cy="979250"/>
          </a:xfrm>
          <a:prstGeom prst="rect">
            <a:avLst/>
          </a:prstGeom>
        </p:spPr>
        <p:txBody>
          <a:bodyPr/>
          <a:lstStyle>
            <a:lvl1pPr algn="l">
              <a:defRPr kumimoji="0" lang="en-US" sz="3600" b="1" kern="1200" dirty="0">
                <a:ln>
                  <a:noFill/>
                </a:ln>
                <a:solidFill>
                  <a:schemeClr val="accent2"/>
                </a:solidFill>
                <a:effectLst/>
                <a:latin typeface="Arial" panose="020B0604020202020204" pitchFamily="34" charset="0"/>
                <a:ea typeface="Verdana" panose="020B0604030504040204" pitchFamily="34" charset="0"/>
                <a:cs typeface="Arial" panose="020B0604020202020204" pitchFamily="34" charset="0"/>
              </a:defRPr>
            </a:lvl1pPr>
          </a:lstStyle>
          <a:p>
            <a:r>
              <a:rPr lang="en-US" dirty="0"/>
              <a:t>Click to edit Master title style</a:t>
            </a:r>
          </a:p>
        </p:txBody>
      </p:sp>
      <p:sp>
        <p:nvSpPr>
          <p:cNvPr id="10" name="Footer Placeholder 8"/>
          <p:cNvSpPr txBox="1">
            <a:spLocks/>
          </p:cNvSpPr>
          <p:nvPr userDrawn="1"/>
        </p:nvSpPr>
        <p:spPr>
          <a:xfrm>
            <a:off x="1333500" y="6364275"/>
            <a:ext cx="6972300" cy="37785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kumimoji="0" lang="en-US" sz="1100" kern="1200" dirty="0">
              <a:solidFill>
                <a:srgbClr val="002060"/>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0042793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7" name="Slide Number Placeholder 26"/>
          <p:cNvSpPr>
            <a:spLocks noGrp="1"/>
          </p:cNvSpPr>
          <p:nvPr>
            <p:ph type="sldNum" sz="quarter" idx="12"/>
          </p:nvPr>
        </p:nvSpPr>
        <p:spPr/>
        <p:txBody>
          <a:bodyPr/>
          <a:lstStyle/>
          <a:p>
            <a:fld id="{122D24B2-5D52-46F7-B915-67CABB3AD0CF}" type="slidenum">
              <a:rPr lang="en-US" smtClean="0"/>
              <a:pPr/>
              <a:t>‹#›</a:t>
            </a:fld>
            <a:endParaRPr lang="en-US" dirty="0"/>
          </a:p>
        </p:txBody>
      </p:sp>
      <p:sp>
        <p:nvSpPr>
          <p:cNvPr id="4" name="Text Placeholder 3"/>
          <p:cNvSpPr>
            <a:spLocks noGrp="1"/>
          </p:cNvSpPr>
          <p:nvPr>
            <p:ph type="body" sz="quarter" idx="13"/>
          </p:nvPr>
        </p:nvSpPr>
        <p:spPr>
          <a:xfrm>
            <a:off x="609600" y="2133600"/>
            <a:ext cx="7810500" cy="4157662"/>
          </a:xfrm>
          <a:prstGeom prst="rect">
            <a:avLst/>
          </a:prstGeom>
        </p:spPr>
        <p:txBody>
          <a:bodyPr/>
          <a:lstStyle>
            <a:lvl1pPr marL="463550" indent="-463550">
              <a:buFont typeface="Wingdings" panose="05000000000000000000" pitchFamily="2" charset="2"/>
              <a:buChar char="q"/>
              <a:defRPr sz="2400">
                <a:solidFill>
                  <a:schemeClr val="bg1"/>
                </a:solidFill>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Click to edit Master text styles</a:t>
            </a:r>
          </a:p>
        </p:txBody>
      </p:sp>
      <p:sp>
        <p:nvSpPr>
          <p:cNvPr id="6" name="Title 5"/>
          <p:cNvSpPr>
            <a:spLocks noGrp="1"/>
          </p:cNvSpPr>
          <p:nvPr>
            <p:ph type="title"/>
          </p:nvPr>
        </p:nvSpPr>
        <p:spPr>
          <a:xfrm>
            <a:off x="609600" y="1001951"/>
            <a:ext cx="7810500" cy="979250"/>
          </a:xfrm>
          <a:prstGeom prst="rect">
            <a:avLst/>
          </a:prstGeom>
        </p:spPr>
        <p:txBody>
          <a:bodyPr/>
          <a:lstStyle>
            <a:lvl1pPr algn="l">
              <a:defRPr b="1">
                <a:solidFill>
                  <a:schemeClr val="accent2"/>
                </a:solidFill>
                <a:latin typeface="Arial" panose="020B0604020202020204" pitchFamily="34" charset="0"/>
                <a:cs typeface="Arial" panose="020B0604020202020204" pitchFamily="34" charset="0"/>
              </a:defRPr>
            </a:lvl1pPr>
          </a:lstStyle>
          <a:p>
            <a:r>
              <a:rPr lang="en-US" dirty="0"/>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DAE7DF90-8D12-4930-BD21-C6C321D11815}" type="datetime1">
              <a:rPr lang="en-US" smtClean="0"/>
              <a:t>8/31/2026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615449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Başlık ve İçerik">
    <p:spTree>
      <p:nvGrpSpPr>
        <p:cNvPr id="1" name=""/>
        <p:cNvGrpSpPr/>
        <p:nvPr/>
      </p:nvGrpSpPr>
      <p:grpSpPr>
        <a:xfrm>
          <a:off x="0" y="0"/>
          <a:ext cx="0" cy="0"/>
          <a:chOff x="0" y="0"/>
          <a:chExt cx="0" cy="0"/>
        </a:xfrm>
      </p:grpSpPr>
      <p:sp>
        <p:nvSpPr>
          <p:cNvPr id="3" name="2 İçerik Yer Tutucusu"/>
          <p:cNvSpPr>
            <a:spLocks noGrp="1"/>
          </p:cNvSpPr>
          <p:nvPr>
            <p:ph idx="1"/>
          </p:nvPr>
        </p:nvSpPr>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Tree>
    <p:extLst>
      <p:ext uri="{BB962C8B-B14F-4D97-AF65-F5344CB8AC3E}">
        <p14:creationId xmlns:p14="http://schemas.microsoft.com/office/powerpoint/2010/main" val="5512667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Freeform 6"/>
          <p:cNvSpPr>
            <a:spLocks/>
          </p:cNvSpPr>
          <p:nvPr/>
        </p:nvSpPr>
        <p:spPr bwMode="auto">
          <a:xfrm>
            <a:off x="-7409" y="632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100">
                <a:solidFill>
                  <a:srgbClr val="002060"/>
                </a:solidFill>
                <a:latin typeface="Verdana" panose="020B0604030504040204" pitchFamily="34" charset="0"/>
                <a:ea typeface="Verdana" panose="020B0604030504040204" pitchFamily="34" charset="0"/>
                <a:cs typeface="Verdana" panose="020B0604030504040204" pitchFamily="34" charset="0"/>
              </a:defRPr>
            </a:lvl1pPr>
          </a:lstStyle>
          <a:p>
            <a:fld id="{122D24B2-5D52-46F7-B915-67CABB3AD0CF}" type="slidenum">
              <a:rPr lang="en-US" smtClean="0"/>
              <a:pPr/>
              <a:t>‹#›</a:t>
            </a:fld>
            <a:endParaRPr lang="en-US" dirty="0"/>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dirty="0"/>
            </a:p>
          </p:txBody>
        </p:sp>
      </p:grpSp>
      <p:sp>
        <p:nvSpPr>
          <p:cNvPr id="9" name="TextBox 8"/>
          <p:cNvSpPr txBox="1"/>
          <p:nvPr userDrawn="1"/>
        </p:nvSpPr>
        <p:spPr>
          <a:xfrm>
            <a:off x="0" y="0"/>
            <a:ext cx="9144000" cy="307777"/>
          </a:xfrm>
          <a:prstGeom prst="rect">
            <a:avLst/>
          </a:prstGeom>
          <a:noFill/>
        </p:spPr>
        <p:txBody>
          <a:bodyPr wrap="square" rtlCol="0">
            <a:spAutoFit/>
          </a:bodyPr>
          <a:lstStyle/>
          <a:p>
            <a:r>
              <a:rPr lang="en-US" sz="1400" dirty="0">
                <a:solidFill>
                  <a:schemeClr val="bg1"/>
                </a:solidFill>
                <a:latin typeface="Verdana" panose="020B0604030504040204" pitchFamily="34" charset="0"/>
                <a:ea typeface="Verdana" panose="020B0604030504040204" pitchFamily="34" charset="0"/>
                <a:cs typeface="Verdana" panose="020B0604030504040204" pitchFamily="34" charset="0"/>
              </a:rPr>
              <a:t>				</a:t>
            </a:r>
          </a:p>
        </p:txBody>
      </p:sp>
    </p:spTree>
  </p:cSld>
  <p:clrMap bg1="dk1" tx1="lt1" bg2="dk2" tx2="lt2" accent1="accent1" accent2="accent2" accent3="accent3" accent4="accent4" accent5="accent5" accent6="accent6" hlink="hlink" folHlink="folHlink"/>
  <p:sldLayoutIdLst>
    <p:sldLayoutId id="2147483758" r:id="rId1"/>
    <p:sldLayoutId id="2147483757" r:id="rId2"/>
    <p:sldLayoutId id="2147483759" r:id="rId3"/>
    <p:sldLayoutId id="2147483760" r:id="rId4"/>
  </p:sldLayoutIdLst>
  <p:hf hdr="0" ftr="0" dt="0"/>
  <p:txStyles>
    <p:titleStyle>
      <a:lvl1pPr algn="ctr" rtl="0" eaLnBrk="1" latinLnBrk="0" hangingPunct="1">
        <a:spcBef>
          <a:spcPct val="0"/>
        </a:spcBef>
        <a:buNone/>
        <a:defRPr kumimoji="0" sz="3600" b="0" kern="1200">
          <a:ln>
            <a:noFill/>
          </a:ln>
          <a:solidFill>
            <a:srgbClr val="002060"/>
          </a:solidFill>
          <a:effectLst/>
          <a:latin typeface="Verdana" panose="020B0604030504040204" pitchFamily="34" charset="0"/>
          <a:ea typeface="Verdana" panose="020B0604030504040204" pitchFamily="34" charset="0"/>
          <a:cs typeface="Verdana" panose="020B0604030504040204" pitchFamily="34" charset="0"/>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rgbClr val="002060"/>
          </a:solidFill>
          <a:latin typeface="Verdana" panose="020B0604030504040204" pitchFamily="34" charset="0"/>
          <a:ea typeface="Verdana" panose="020B0604030504040204" pitchFamily="34" charset="0"/>
          <a:cs typeface="Verdana" panose="020B0604030504040204" pitchFamily="34" charset="0"/>
        </a:defRPr>
      </a:lvl1pPr>
      <a:lvl2pPr marL="640080" indent="-246888" algn="l" rtl="0" eaLnBrk="1" latinLnBrk="0" hangingPunct="1">
        <a:spcBef>
          <a:spcPct val="20000"/>
        </a:spcBef>
        <a:buClr>
          <a:schemeClr val="accent1"/>
        </a:buClr>
        <a:buSzPct val="85000"/>
        <a:buFont typeface="Wingdings 2"/>
        <a:buChar char=""/>
        <a:defRPr kumimoji="0" sz="2400" kern="1200">
          <a:solidFill>
            <a:srgbClr val="002060"/>
          </a:solidFill>
          <a:latin typeface="Verdana" panose="020B0604030504040204" pitchFamily="34" charset="0"/>
          <a:ea typeface="Verdana" panose="020B0604030504040204" pitchFamily="34" charset="0"/>
          <a:cs typeface="Verdana" panose="020B0604030504040204" pitchFamily="34" charset="0"/>
        </a:defRPr>
      </a:lvl2pPr>
      <a:lvl3pPr marL="914400" indent="-246888" algn="l" rtl="0" eaLnBrk="1" latinLnBrk="0" hangingPunct="1">
        <a:spcBef>
          <a:spcPct val="20000"/>
        </a:spcBef>
        <a:buClr>
          <a:schemeClr val="accent2"/>
        </a:buClr>
        <a:buSzPct val="70000"/>
        <a:buFont typeface="Wingdings 2"/>
        <a:buChar char=""/>
        <a:defRPr kumimoji="0" sz="2100" kern="1200">
          <a:solidFill>
            <a:srgbClr val="002060"/>
          </a:solidFill>
          <a:latin typeface="Verdana" panose="020B0604030504040204" pitchFamily="34" charset="0"/>
          <a:ea typeface="Verdana" panose="020B0604030504040204" pitchFamily="34" charset="0"/>
          <a:cs typeface="Verdana" panose="020B0604030504040204" pitchFamily="34" charset="0"/>
        </a:defRPr>
      </a:lvl3pPr>
      <a:lvl4pPr marL="1188720" indent="-210312" algn="l" rtl="0" eaLnBrk="1" latinLnBrk="0" hangingPunct="1">
        <a:spcBef>
          <a:spcPct val="20000"/>
        </a:spcBef>
        <a:buClr>
          <a:schemeClr val="accent3"/>
        </a:buClr>
        <a:buSzPct val="65000"/>
        <a:buFont typeface="Wingdings 2"/>
        <a:buChar char=""/>
        <a:defRPr kumimoji="0" sz="2000" kern="1200">
          <a:solidFill>
            <a:srgbClr val="002060"/>
          </a:solidFill>
          <a:latin typeface="Verdana" panose="020B0604030504040204" pitchFamily="34" charset="0"/>
          <a:ea typeface="Verdana" panose="020B0604030504040204" pitchFamily="34" charset="0"/>
          <a:cs typeface="Verdana" panose="020B0604030504040204" pitchFamily="34" charset="0"/>
        </a:defRPr>
      </a:lvl4pPr>
      <a:lvl5pPr marL="1463040" indent="-210312" algn="l" rtl="0" eaLnBrk="1" latinLnBrk="0" hangingPunct="1">
        <a:spcBef>
          <a:spcPct val="20000"/>
        </a:spcBef>
        <a:buClr>
          <a:schemeClr val="accent4"/>
        </a:buClr>
        <a:buSzPct val="65000"/>
        <a:buFont typeface="Wingdings 2"/>
        <a:buChar char=""/>
        <a:defRPr kumimoji="0" sz="2000" kern="1200">
          <a:solidFill>
            <a:srgbClr val="002060"/>
          </a:solidFill>
          <a:latin typeface="Verdana" panose="020B0604030504040204" pitchFamily="34" charset="0"/>
          <a:ea typeface="Verdana" panose="020B0604030504040204" pitchFamily="34" charset="0"/>
          <a:cs typeface="Verdana" panose="020B0604030504040204" pitchFamily="34" charset="0"/>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8.png"/><Relationship Id="rId1" Type="http://schemas.openxmlformats.org/officeDocument/2006/relationships/slideLayout" Target="../slideLayouts/slideLayout2.xml"/><Relationship Id="rId5" Type="http://schemas.openxmlformats.org/officeDocument/2006/relationships/image" Target="../media/image6.emf"/><Relationship Id="rId4" Type="http://schemas.openxmlformats.org/officeDocument/2006/relationships/image" Target="../media/image5.emf"/></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3.xml"/><Relationship Id="rId1" Type="http://schemas.openxmlformats.org/officeDocument/2006/relationships/themeOverride" Target="../theme/themeOverride1.xml"/><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3.xml"/><Relationship Id="rId1" Type="http://schemas.openxmlformats.org/officeDocument/2006/relationships/themeOverride" Target="../theme/themeOverride2.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3.xml"/><Relationship Id="rId1" Type="http://schemas.openxmlformats.org/officeDocument/2006/relationships/themeOverride" Target="../theme/themeOverride3.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txBox="1">
            <a:spLocks/>
          </p:cNvSpPr>
          <p:nvPr/>
        </p:nvSpPr>
        <p:spPr>
          <a:xfrm>
            <a:off x="4953000" y="1739900"/>
            <a:ext cx="3432048" cy="914400"/>
          </a:xfrm>
          <a:prstGeom prst="rect">
            <a:avLst/>
          </a:prstGeom>
        </p:spPr>
        <p:txBody>
          <a:bodyPr>
            <a:noAutofit/>
          </a:bodyPr>
          <a:lstStyle>
            <a:lvl1pPr algn="l" rtl="0" eaLnBrk="1" latinLnBrk="0" hangingPunct="1">
              <a:spcBef>
                <a:spcPct val="0"/>
              </a:spcBef>
              <a:buNone/>
              <a:defRPr kumimoji="0" sz="3600" b="1" kern="1200">
                <a:ln>
                  <a:noFill/>
                </a:ln>
                <a:solidFill>
                  <a:schemeClr val="accent2"/>
                </a:solidFill>
                <a:effectLst/>
                <a:latin typeface="Arial" panose="020B0604020202020204" pitchFamily="34" charset="0"/>
                <a:ea typeface="Verdana" panose="020B0604030504040204" pitchFamily="34" charset="0"/>
                <a:cs typeface="Arial" panose="020B0604020202020204" pitchFamily="34" charset="0"/>
              </a:defRPr>
            </a:lvl1pPr>
          </a:lstStyle>
          <a:p>
            <a:pPr algn="ctr"/>
            <a:r>
              <a:rPr lang="en-US" sz="4800" b="0" dirty="0">
                <a:solidFill>
                  <a:schemeClr val="accent1"/>
                </a:solidFill>
                <a:latin typeface="Verdana" panose="020B0604030504040204" pitchFamily="34" charset="0"/>
                <a:cs typeface="Verdana" panose="020B0604030504040204" pitchFamily="34" charset="0"/>
              </a:rPr>
              <a:t> </a:t>
            </a:r>
          </a:p>
        </p:txBody>
      </p:sp>
      <p:sp>
        <p:nvSpPr>
          <p:cNvPr id="14" name="Subtitle 2"/>
          <p:cNvSpPr txBox="1">
            <a:spLocks/>
          </p:cNvSpPr>
          <p:nvPr/>
        </p:nvSpPr>
        <p:spPr>
          <a:xfrm>
            <a:off x="228600" y="1447800"/>
            <a:ext cx="8763000" cy="4800600"/>
          </a:xfrm>
          <a:prstGeom prst="rect">
            <a:avLst/>
          </a:prstGeom>
        </p:spPr>
        <p:txBody>
          <a:bodyPr>
            <a:noAutofit/>
          </a:bodyPr>
          <a:lstStyle>
            <a:lvl1pPr marL="274320" indent="-274320" algn="l" rtl="0" eaLnBrk="1" latinLnBrk="0" hangingPunct="1">
              <a:spcBef>
                <a:spcPct val="20000"/>
              </a:spcBef>
              <a:buClr>
                <a:schemeClr val="accent3"/>
              </a:buClr>
              <a:buSzPct val="95000"/>
              <a:buFont typeface="Wingdings 2"/>
              <a:buChar char=""/>
              <a:defRPr kumimoji="0" sz="2600" kern="1200">
                <a:solidFill>
                  <a:srgbClr val="002060"/>
                </a:solidFill>
                <a:latin typeface="Verdana" panose="020B0604030504040204" pitchFamily="34" charset="0"/>
                <a:ea typeface="Verdana" panose="020B0604030504040204" pitchFamily="34" charset="0"/>
                <a:cs typeface="Verdana" panose="020B0604030504040204" pitchFamily="34" charset="0"/>
              </a:defRPr>
            </a:lvl1pPr>
            <a:lvl2pPr marL="640080" indent="-246888" algn="l" rtl="0" eaLnBrk="1" latinLnBrk="0" hangingPunct="1">
              <a:spcBef>
                <a:spcPct val="20000"/>
              </a:spcBef>
              <a:buClr>
                <a:schemeClr val="accent1"/>
              </a:buClr>
              <a:buSzPct val="85000"/>
              <a:buFont typeface="Wingdings 2"/>
              <a:buChar char=""/>
              <a:defRPr kumimoji="0" sz="2400" kern="1200">
                <a:solidFill>
                  <a:srgbClr val="002060"/>
                </a:solidFill>
                <a:latin typeface="Verdana" panose="020B0604030504040204" pitchFamily="34" charset="0"/>
                <a:ea typeface="Verdana" panose="020B0604030504040204" pitchFamily="34" charset="0"/>
                <a:cs typeface="Verdana" panose="020B0604030504040204" pitchFamily="34" charset="0"/>
              </a:defRPr>
            </a:lvl2pPr>
            <a:lvl3pPr marL="914400" indent="-246888" algn="l" rtl="0" eaLnBrk="1" latinLnBrk="0" hangingPunct="1">
              <a:spcBef>
                <a:spcPct val="20000"/>
              </a:spcBef>
              <a:buClr>
                <a:schemeClr val="accent2"/>
              </a:buClr>
              <a:buSzPct val="70000"/>
              <a:buFont typeface="Wingdings 2"/>
              <a:buChar char=""/>
              <a:defRPr kumimoji="0" sz="2100" kern="1200">
                <a:solidFill>
                  <a:srgbClr val="002060"/>
                </a:solidFill>
                <a:latin typeface="Verdana" panose="020B0604030504040204" pitchFamily="34" charset="0"/>
                <a:ea typeface="Verdana" panose="020B0604030504040204" pitchFamily="34" charset="0"/>
                <a:cs typeface="Verdana" panose="020B0604030504040204" pitchFamily="34" charset="0"/>
              </a:defRPr>
            </a:lvl3pPr>
            <a:lvl4pPr marL="1188720" indent="-210312" algn="l" rtl="0" eaLnBrk="1" latinLnBrk="0" hangingPunct="1">
              <a:spcBef>
                <a:spcPct val="20000"/>
              </a:spcBef>
              <a:buClr>
                <a:schemeClr val="accent3"/>
              </a:buClr>
              <a:buSzPct val="65000"/>
              <a:buFont typeface="Wingdings 2"/>
              <a:buChar char=""/>
              <a:defRPr kumimoji="0" sz="2000" kern="1200">
                <a:solidFill>
                  <a:srgbClr val="002060"/>
                </a:solidFill>
                <a:latin typeface="Verdana" panose="020B0604030504040204" pitchFamily="34" charset="0"/>
                <a:ea typeface="Verdana" panose="020B0604030504040204" pitchFamily="34" charset="0"/>
                <a:cs typeface="Verdana" panose="020B0604030504040204" pitchFamily="34" charset="0"/>
              </a:defRPr>
            </a:lvl4pPr>
            <a:lvl5pPr marL="1463040" indent="-210312" algn="l" rtl="0" eaLnBrk="1" latinLnBrk="0" hangingPunct="1">
              <a:spcBef>
                <a:spcPct val="20000"/>
              </a:spcBef>
              <a:buClr>
                <a:schemeClr val="accent4"/>
              </a:buClr>
              <a:buSzPct val="65000"/>
              <a:buFont typeface="Wingdings 2"/>
              <a:buChar char=""/>
              <a:defRPr kumimoji="0" sz="2000" kern="1200">
                <a:solidFill>
                  <a:srgbClr val="002060"/>
                </a:solidFill>
                <a:latin typeface="Verdana" panose="020B0604030504040204" pitchFamily="34" charset="0"/>
                <a:ea typeface="Verdana" panose="020B0604030504040204" pitchFamily="34" charset="0"/>
                <a:cs typeface="Verdana" panose="020B0604030504040204" pitchFamily="34" charset="0"/>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marL="0" indent="0">
              <a:buFont typeface="Wingdings 2"/>
              <a:buNone/>
            </a:pPr>
            <a:r>
              <a:rPr lang="en-US" sz="3200" b="1" dirty="0">
                <a:solidFill>
                  <a:schemeClr val="accent2"/>
                </a:solidFill>
              </a:rPr>
              <a:t>Introduction to Energy Systems </a:t>
            </a:r>
          </a:p>
          <a:p>
            <a:pPr marL="0" indent="0">
              <a:buFont typeface="Wingdings 2"/>
              <a:buNone/>
            </a:pPr>
            <a:endParaRPr lang="en-US" sz="3200" dirty="0">
              <a:solidFill>
                <a:schemeClr val="accent2"/>
              </a:solidFill>
            </a:endParaRPr>
          </a:p>
          <a:p>
            <a:pPr marL="0" indent="0">
              <a:buFont typeface="Wingdings 2"/>
              <a:buNone/>
            </a:pPr>
            <a:r>
              <a:rPr lang="en-US" sz="3200" dirty="0">
                <a:solidFill>
                  <a:schemeClr val="accent2"/>
                </a:solidFill>
              </a:rPr>
              <a:t>Review &amp; Module 1</a:t>
            </a:r>
          </a:p>
          <a:p>
            <a:pPr marL="0" indent="0">
              <a:buFont typeface="Wingdings 2"/>
              <a:buNone/>
            </a:pPr>
            <a:r>
              <a:rPr lang="en-US" sz="3200" dirty="0">
                <a:solidFill>
                  <a:schemeClr val="accent2"/>
                </a:solidFill>
              </a:rPr>
              <a:t>Introduction Energy and Power </a:t>
            </a:r>
            <a:r>
              <a:rPr lang="en-US" sz="2800" i="1" dirty="0">
                <a:solidFill>
                  <a:schemeClr val="accent2"/>
                </a:solidFill>
              </a:rPr>
              <a:t>(</a:t>
            </a:r>
            <a:r>
              <a:rPr lang="en-US" sz="2800" i="1" u="sng" dirty="0">
                <a:solidFill>
                  <a:schemeClr val="accent2"/>
                </a:solidFill>
              </a:rPr>
              <a:t>Review</a:t>
            </a:r>
            <a:r>
              <a:rPr lang="en-US" sz="2800" i="1" dirty="0">
                <a:solidFill>
                  <a:schemeClr val="accent2"/>
                </a:solidFill>
              </a:rPr>
              <a:t>)</a:t>
            </a:r>
          </a:p>
          <a:p>
            <a:pPr marL="0" indent="0">
              <a:buFont typeface="Wingdings 2"/>
              <a:buNone/>
            </a:pPr>
            <a:r>
              <a:rPr lang="en-US" sz="3200" dirty="0">
                <a:solidFill>
                  <a:schemeClr val="accent2"/>
                </a:solidFill>
              </a:rPr>
              <a:t>Introduction to Energy Issues (Module 1)</a:t>
            </a:r>
          </a:p>
          <a:p>
            <a:pPr marL="0" indent="0">
              <a:buFont typeface="Wingdings 2"/>
              <a:buNone/>
            </a:pPr>
            <a:endParaRPr lang="en-US" sz="3200" dirty="0">
              <a:solidFill>
                <a:schemeClr val="accent2"/>
              </a:solidFill>
            </a:endParaRPr>
          </a:p>
          <a:p>
            <a:pPr marL="0" indent="0">
              <a:buFont typeface="Wingdings 2"/>
              <a:buNone/>
            </a:pPr>
            <a:r>
              <a:rPr lang="en-US" sz="2400" dirty="0">
                <a:solidFill>
                  <a:schemeClr val="accent2"/>
                </a:solidFill>
              </a:rPr>
              <a:t>Prepared by: Prof. Amin Ghobeity</a:t>
            </a:r>
          </a:p>
          <a:p>
            <a:pPr marL="0" indent="0">
              <a:buFont typeface="Wingdings 2"/>
              <a:buNone/>
            </a:pPr>
            <a:r>
              <a:rPr lang="en-US" sz="2400" dirty="0">
                <a:solidFill>
                  <a:schemeClr val="accent2"/>
                </a:solidFill>
              </a:rPr>
              <a:t>Please do not distribute without permission</a:t>
            </a:r>
          </a:p>
        </p:txBody>
      </p:sp>
      <p:sp>
        <p:nvSpPr>
          <p:cNvPr id="16" name="Slide Number Placeholder 15"/>
          <p:cNvSpPr>
            <a:spLocks noGrp="1"/>
          </p:cNvSpPr>
          <p:nvPr>
            <p:ph type="sldNum" sz="quarter" idx="12"/>
          </p:nvPr>
        </p:nvSpPr>
        <p:spPr/>
        <p:txBody>
          <a:bodyPr/>
          <a:lstStyle/>
          <a:p>
            <a:fld id="{122D24B2-5D52-46F7-B915-67CABB3AD0CF}" type="slidenum">
              <a:rPr lang="en-US" smtClean="0"/>
              <a:pPr/>
              <a:t>1</a:t>
            </a:fld>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122D24B2-5D52-46F7-B915-67CABB3AD0CF}" type="slidenum">
              <a:rPr lang="en-US" smtClean="0"/>
              <a:pPr/>
              <a:t>2</a:t>
            </a:fld>
            <a:endParaRPr lang="en-US" dirty="0"/>
          </a:p>
        </p:txBody>
      </p:sp>
      <p:sp>
        <p:nvSpPr>
          <p:cNvPr id="4" name="Title 3"/>
          <p:cNvSpPr>
            <a:spLocks noGrp="1"/>
          </p:cNvSpPr>
          <p:nvPr>
            <p:ph type="title"/>
          </p:nvPr>
        </p:nvSpPr>
        <p:spPr/>
        <p:txBody>
          <a:bodyPr/>
          <a:lstStyle/>
          <a:p>
            <a:r>
              <a:rPr lang="en-CA" dirty="0"/>
              <a:t>References</a:t>
            </a:r>
          </a:p>
        </p:txBody>
      </p:sp>
      <p:sp>
        <p:nvSpPr>
          <p:cNvPr id="3" name="Rectangle 2"/>
          <p:cNvSpPr/>
          <p:nvPr/>
        </p:nvSpPr>
        <p:spPr>
          <a:xfrm>
            <a:off x="624840" y="4835826"/>
            <a:ext cx="3522980" cy="1200329"/>
          </a:xfrm>
          <a:prstGeom prst="rect">
            <a:avLst/>
          </a:prstGeom>
        </p:spPr>
        <p:txBody>
          <a:bodyPr wrap="square">
            <a:spAutoFit/>
          </a:bodyPr>
          <a:lstStyle/>
          <a:p>
            <a:r>
              <a:rPr lang="en-US" b="1" i="1" dirty="0">
                <a:solidFill>
                  <a:schemeClr val="bg1"/>
                </a:solidFill>
              </a:rPr>
              <a:t>Energy Systems Engineering: Evaluation and Implementation, 4</a:t>
            </a:r>
            <a:r>
              <a:rPr lang="en-US" b="1" i="1" baseline="30000" dirty="0">
                <a:solidFill>
                  <a:schemeClr val="bg1"/>
                </a:solidFill>
              </a:rPr>
              <a:t>th</a:t>
            </a:r>
            <a:r>
              <a:rPr lang="en-US" b="1" i="1" dirty="0">
                <a:solidFill>
                  <a:schemeClr val="bg1"/>
                </a:solidFill>
              </a:rPr>
              <a:t>  Ed.</a:t>
            </a:r>
          </a:p>
          <a:p>
            <a:r>
              <a:rPr lang="en-US" b="1" dirty="0">
                <a:solidFill>
                  <a:schemeClr val="bg1"/>
                </a:solidFill>
              </a:rPr>
              <a:t>McGraw-Hill, New York, 2016</a:t>
            </a:r>
          </a:p>
        </p:txBody>
      </p:sp>
      <p:sp>
        <p:nvSpPr>
          <p:cNvPr id="8" name="Rectangle 7">
            <a:extLst>
              <a:ext uri="{FF2B5EF4-FFF2-40B4-BE49-F238E27FC236}">
                <a16:creationId xmlns:a16="http://schemas.microsoft.com/office/drawing/2014/main" id="{7F07A550-0FF9-4423-A04C-BBA21DE607F9}"/>
              </a:ext>
            </a:extLst>
          </p:cNvPr>
          <p:cNvSpPr/>
          <p:nvPr/>
        </p:nvSpPr>
        <p:spPr>
          <a:xfrm>
            <a:off x="4380994" y="2340333"/>
            <a:ext cx="2608580" cy="369332"/>
          </a:xfrm>
          <a:prstGeom prst="rect">
            <a:avLst/>
          </a:prstGeom>
        </p:spPr>
        <p:txBody>
          <a:bodyPr wrap="square">
            <a:spAutoFit/>
          </a:bodyPr>
          <a:lstStyle/>
          <a:p>
            <a:r>
              <a:rPr lang="en-US" b="1" i="1" dirty="0">
                <a:solidFill>
                  <a:schemeClr val="bg1"/>
                </a:solidFill>
              </a:rPr>
              <a:t>Instructor Notes</a:t>
            </a:r>
            <a:endParaRPr lang="en-US" b="1" dirty="0">
              <a:solidFill>
                <a:schemeClr val="bg1"/>
              </a:solidFill>
            </a:endParaRPr>
          </a:p>
        </p:txBody>
      </p:sp>
      <p:pic>
        <p:nvPicPr>
          <p:cNvPr id="10" name="Picture 9">
            <a:extLst>
              <a:ext uri="{FF2B5EF4-FFF2-40B4-BE49-F238E27FC236}">
                <a16:creationId xmlns:a16="http://schemas.microsoft.com/office/drawing/2014/main" id="{0EAE3CDF-D6DA-48D3-851D-F3CB11A1FBF2}"/>
              </a:ext>
            </a:extLst>
          </p:cNvPr>
          <p:cNvPicPr>
            <a:picLocks noChangeAspect="1"/>
          </p:cNvPicPr>
          <p:nvPr/>
        </p:nvPicPr>
        <p:blipFill>
          <a:blip r:embed="rId2"/>
          <a:stretch>
            <a:fillRect/>
          </a:stretch>
        </p:blipFill>
        <p:spPr>
          <a:xfrm>
            <a:off x="723900" y="1752600"/>
            <a:ext cx="2224647" cy="2952371"/>
          </a:xfrm>
          <a:prstGeom prst="rect">
            <a:avLst/>
          </a:prstGeom>
        </p:spPr>
      </p:pic>
    </p:spTree>
    <p:extLst>
      <p:ext uri="{BB962C8B-B14F-4D97-AF65-F5344CB8AC3E}">
        <p14:creationId xmlns:p14="http://schemas.microsoft.com/office/powerpoint/2010/main" val="28361431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122D24B2-5D52-46F7-B915-67CABB3AD0CF}" type="slidenum">
              <a:rPr lang="en-US" smtClean="0"/>
              <a:pPr/>
              <a:t>3</a:t>
            </a:fld>
            <a:endParaRPr lang="en-US" dirty="0"/>
          </a:p>
        </p:txBody>
      </p:sp>
      <p:sp>
        <p:nvSpPr>
          <p:cNvPr id="4" name="Title 3"/>
          <p:cNvSpPr>
            <a:spLocks noGrp="1"/>
          </p:cNvSpPr>
          <p:nvPr>
            <p:ph type="title"/>
          </p:nvPr>
        </p:nvSpPr>
        <p:spPr>
          <a:xfrm>
            <a:off x="838200" y="2895600"/>
            <a:ext cx="7696200" cy="979250"/>
          </a:xfrm>
        </p:spPr>
        <p:txBody>
          <a:bodyPr/>
          <a:lstStyle/>
          <a:p>
            <a:pPr algn="ctr"/>
            <a:r>
              <a:rPr lang="en-CA" dirty="0"/>
              <a:t>Part 1 </a:t>
            </a:r>
            <a:br>
              <a:rPr lang="en-CA" dirty="0"/>
            </a:br>
            <a:r>
              <a:rPr lang="en-CA" dirty="0"/>
              <a:t>Introduction to Energy and Power</a:t>
            </a:r>
          </a:p>
        </p:txBody>
      </p:sp>
    </p:spTree>
    <p:extLst>
      <p:ext uri="{BB962C8B-B14F-4D97-AF65-F5344CB8AC3E}">
        <p14:creationId xmlns:p14="http://schemas.microsoft.com/office/powerpoint/2010/main" val="6503688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122D24B2-5D52-46F7-B915-67CABB3AD0CF}" type="slidenum">
              <a:rPr lang="en-US" smtClean="0"/>
              <a:pPr/>
              <a:t>4</a:t>
            </a:fld>
            <a:endParaRPr lang="en-US" dirty="0"/>
          </a:p>
        </p:txBody>
      </p:sp>
      <p:sp>
        <p:nvSpPr>
          <p:cNvPr id="6" name="Text Placeholder 5"/>
          <p:cNvSpPr>
            <a:spLocks noGrp="1"/>
          </p:cNvSpPr>
          <p:nvPr>
            <p:ph type="body" sz="quarter" idx="13"/>
          </p:nvPr>
        </p:nvSpPr>
        <p:spPr>
          <a:xfrm>
            <a:off x="609600" y="1905000"/>
            <a:ext cx="7810500" cy="4157662"/>
          </a:xfrm>
        </p:spPr>
        <p:txBody>
          <a:bodyPr/>
          <a:lstStyle/>
          <a:p>
            <a:r>
              <a:rPr lang="en-US" dirty="0"/>
              <a:t>Energy</a:t>
            </a:r>
          </a:p>
          <a:p>
            <a:pPr marL="914400" indent="-225425">
              <a:buFont typeface="Arial" panose="020B0604020202020204" pitchFamily="34" charset="0"/>
              <a:buChar char="•"/>
            </a:pPr>
            <a:r>
              <a:rPr lang="en-US" dirty="0"/>
              <a:t>Kinetic energy</a:t>
            </a:r>
          </a:p>
          <a:p>
            <a:pPr marL="914400" indent="-225425">
              <a:buFont typeface="Arial" panose="020B0604020202020204" pitchFamily="34" charset="0"/>
              <a:buChar char="•"/>
            </a:pPr>
            <a:r>
              <a:rPr lang="en-US" dirty="0"/>
              <a:t>Potential energy</a:t>
            </a:r>
          </a:p>
          <a:p>
            <a:pPr marL="914400" indent="-225425">
              <a:buFont typeface="Arial" panose="020B0604020202020204" pitchFamily="34" charset="0"/>
              <a:buChar char="•"/>
            </a:pPr>
            <a:r>
              <a:rPr lang="en-US" dirty="0"/>
              <a:t>Internal / Thermal energy</a:t>
            </a:r>
          </a:p>
          <a:p>
            <a:pPr marL="688975" indent="0">
              <a:buNone/>
            </a:pPr>
            <a:endParaRPr lang="en-US" sz="2000" dirty="0"/>
          </a:p>
          <a:p>
            <a:r>
              <a:rPr lang="en-US" dirty="0"/>
              <a:t>Work</a:t>
            </a:r>
          </a:p>
          <a:p>
            <a:pPr lvl="2">
              <a:buFont typeface="Arial" panose="020B0604020202020204" pitchFamily="34" charset="0"/>
              <a:buChar char="•"/>
            </a:pPr>
            <a:r>
              <a:rPr lang="en-US" sz="2400" dirty="0">
                <a:solidFill>
                  <a:schemeClr val="bg1"/>
                </a:solidFill>
              </a:rPr>
              <a:t>Work is performed when a force moves an object through a distance.</a:t>
            </a:r>
          </a:p>
          <a:p>
            <a:pPr lvl="2">
              <a:buFont typeface="Arial" panose="020B0604020202020204" pitchFamily="34" charset="0"/>
              <a:buChar char="•"/>
            </a:pPr>
            <a:r>
              <a:rPr lang="en-US" sz="2400" dirty="0">
                <a:solidFill>
                  <a:schemeClr val="bg1"/>
                </a:solidFill>
              </a:rPr>
              <a:t>Work and energy have same units</a:t>
            </a:r>
          </a:p>
          <a:p>
            <a:pPr>
              <a:buNone/>
            </a:pPr>
            <a:endParaRPr lang="en-US" dirty="0"/>
          </a:p>
        </p:txBody>
      </p:sp>
      <p:sp>
        <p:nvSpPr>
          <p:cNvPr id="5" name="Title 4"/>
          <p:cNvSpPr>
            <a:spLocks noGrp="1"/>
          </p:cNvSpPr>
          <p:nvPr>
            <p:ph type="title"/>
          </p:nvPr>
        </p:nvSpPr>
        <p:spPr/>
        <p:txBody>
          <a:bodyPr/>
          <a:lstStyle/>
          <a:p>
            <a:r>
              <a:rPr lang="en-US" dirty="0"/>
              <a:t>Energy</a:t>
            </a:r>
          </a:p>
        </p:txBody>
      </p:sp>
      <p:grpSp>
        <p:nvGrpSpPr>
          <p:cNvPr id="7" name="Group 6"/>
          <p:cNvGrpSpPr/>
          <p:nvPr/>
        </p:nvGrpSpPr>
        <p:grpSpPr>
          <a:xfrm>
            <a:off x="1828800" y="5856049"/>
            <a:ext cx="5943600" cy="533400"/>
            <a:chOff x="1120036" y="4915422"/>
            <a:chExt cx="5943600" cy="533400"/>
          </a:xfrm>
        </p:grpSpPr>
        <p:sp>
          <p:nvSpPr>
            <p:cNvPr id="4" name="Rectangle 3"/>
            <p:cNvSpPr/>
            <p:nvPr/>
          </p:nvSpPr>
          <p:spPr>
            <a:xfrm>
              <a:off x="1120036" y="4915422"/>
              <a:ext cx="5943600" cy="533400"/>
            </a:xfrm>
            <a:prstGeom prst="rect">
              <a:avLst/>
            </a:prstGeom>
            <a:solidFill>
              <a:schemeClr val="tx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400" dirty="0">
                <a:solidFill>
                  <a:srgbClr val="0070C0"/>
                </a:solidFill>
                <a:latin typeface="Arial" panose="020B0604020202020204" pitchFamily="34" charset="0"/>
                <a:cs typeface="Arial" panose="020B0604020202020204" pitchFamily="34" charset="0"/>
              </a:endParaRPr>
            </a:p>
          </p:txBody>
        </p:sp>
        <p:sp>
          <p:nvSpPr>
            <p:cNvPr id="3" name="Rectangle 2"/>
            <p:cNvSpPr/>
            <p:nvPr/>
          </p:nvSpPr>
          <p:spPr>
            <a:xfrm>
              <a:off x="1905000" y="4934733"/>
              <a:ext cx="3494867" cy="461665"/>
            </a:xfrm>
            <a:prstGeom prst="rect">
              <a:avLst/>
            </a:prstGeom>
          </p:spPr>
          <p:txBody>
            <a:bodyPr wrap="none">
              <a:spAutoFit/>
            </a:bodyPr>
            <a:lstStyle/>
            <a:p>
              <a:r>
                <a:rPr lang="en-US" sz="2400" dirty="0">
                  <a:solidFill>
                    <a:schemeClr val="bg1"/>
                  </a:solidFill>
                  <a:latin typeface="TimesTenLTStd-Roman"/>
                </a:rPr>
                <a:t>W</a:t>
              </a:r>
              <a:r>
                <a:rPr lang="en-US" sz="2400" dirty="0">
                  <a:solidFill>
                    <a:schemeClr val="bg1"/>
                  </a:solidFill>
                  <a:latin typeface="Arial" panose="020B0604020202020204" pitchFamily="34" charset="0"/>
                  <a:cs typeface="Arial" panose="020B0604020202020204" pitchFamily="34" charset="0"/>
                </a:rPr>
                <a:t>ork = (force)(distance)</a:t>
              </a:r>
            </a:p>
          </p:txBody>
        </p:sp>
      </p:grpSp>
    </p:spTree>
    <p:extLst>
      <p:ext uri="{BB962C8B-B14F-4D97-AF65-F5344CB8AC3E}">
        <p14:creationId xmlns:p14="http://schemas.microsoft.com/office/powerpoint/2010/main" val="38008408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122D24B2-5D52-46F7-B915-67CABB3AD0CF}" type="slidenum">
              <a:rPr lang="en-US" smtClean="0"/>
              <a:pPr/>
              <a:t>5</a:t>
            </a:fld>
            <a:endParaRPr lang="en-US" dirty="0"/>
          </a:p>
        </p:txBody>
      </p:sp>
      <p:sp>
        <p:nvSpPr>
          <p:cNvPr id="6" name="Text Placeholder 5"/>
          <p:cNvSpPr>
            <a:spLocks noGrp="1"/>
          </p:cNvSpPr>
          <p:nvPr>
            <p:ph type="body" sz="quarter" idx="13"/>
          </p:nvPr>
        </p:nvSpPr>
        <p:spPr>
          <a:xfrm>
            <a:off x="609600" y="1905000"/>
            <a:ext cx="7810500" cy="4157662"/>
          </a:xfrm>
        </p:spPr>
        <p:txBody>
          <a:bodyPr/>
          <a:lstStyle/>
          <a:p>
            <a:pPr marL="225425" indent="-225425">
              <a:spcBef>
                <a:spcPts val="0"/>
              </a:spcBef>
              <a:spcAft>
                <a:spcPts val="600"/>
              </a:spcAft>
              <a:buFont typeface="Arial" panose="020B0604020202020204" pitchFamily="34" charset="0"/>
              <a:buChar char="•"/>
            </a:pPr>
            <a:r>
              <a:rPr lang="en-US" dirty="0"/>
              <a:t>SI unit: Joule (J)  </a:t>
            </a:r>
          </a:p>
          <a:p>
            <a:pPr marL="688975" indent="0">
              <a:spcBef>
                <a:spcPts val="0"/>
              </a:spcBef>
              <a:spcAft>
                <a:spcPts val="600"/>
              </a:spcAft>
              <a:buNone/>
            </a:pPr>
            <a:r>
              <a:rPr lang="en-US" dirty="0"/>
              <a:t>	1 J = (1 N)(1 m)</a:t>
            </a:r>
          </a:p>
          <a:p>
            <a:pPr marL="688975" indent="0">
              <a:spcBef>
                <a:spcPts val="0"/>
              </a:spcBef>
              <a:spcAft>
                <a:spcPts val="600"/>
              </a:spcAft>
              <a:buNone/>
            </a:pPr>
            <a:endParaRPr lang="en-US" dirty="0"/>
          </a:p>
          <a:p>
            <a:pPr marL="225425" indent="-225425">
              <a:spcBef>
                <a:spcPts val="0"/>
              </a:spcBef>
              <a:spcAft>
                <a:spcPts val="600"/>
              </a:spcAft>
              <a:buFont typeface="Arial" panose="020B0604020202020204" pitchFamily="34" charset="0"/>
              <a:buChar char="•"/>
            </a:pPr>
            <a:r>
              <a:rPr lang="en-US" dirty="0"/>
              <a:t>US Customary unit: pound-force-</a:t>
            </a:r>
            <a:r>
              <a:rPr lang="en-US" dirty="0" err="1"/>
              <a:t>ft</a:t>
            </a:r>
            <a:r>
              <a:rPr lang="en-US" dirty="0"/>
              <a:t> (</a:t>
            </a:r>
            <a:r>
              <a:rPr lang="en-US" dirty="0" err="1"/>
              <a:t>lbf·ft</a:t>
            </a:r>
            <a:r>
              <a:rPr lang="en-US" dirty="0"/>
              <a:t>) </a:t>
            </a:r>
          </a:p>
          <a:p>
            <a:pPr marL="225425" indent="-225425">
              <a:spcBef>
                <a:spcPts val="0"/>
              </a:spcBef>
              <a:spcAft>
                <a:spcPts val="600"/>
              </a:spcAft>
              <a:buNone/>
            </a:pPr>
            <a:r>
              <a:rPr lang="en-US" dirty="0"/>
              <a:t>		1 </a:t>
            </a:r>
            <a:r>
              <a:rPr lang="en-US" dirty="0" err="1"/>
              <a:t>lbf·ft</a:t>
            </a:r>
            <a:r>
              <a:rPr lang="en-US" dirty="0"/>
              <a:t> = (1 </a:t>
            </a:r>
            <a:r>
              <a:rPr lang="en-US" dirty="0" err="1"/>
              <a:t>lbf</a:t>
            </a:r>
            <a:r>
              <a:rPr lang="en-US" dirty="0"/>
              <a:t>)(1 </a:t>
            </a:r>
            <a:r>
              <a:rPr lang="en-US" dirty="0" err="1"/>
              <a:t>ft</a:t>
            </a:r>
            <a:r>
              <a:rPr lang="en-US" dirty="0"/>
              <a:t>)</a:t>
            </a:r>
          </a:p>
          <a:p>
            <a:pPr marL="225425" indent="-225425">
              <a:spcBef>
                <a:spcPts val="0"/>
              </a:spcBef>
              <a:spcAft>
                <a:spcPts val="600"/>
              </a:spcAft>
              <a:buNone/>
            </a:pPr>
            <a:endParaRPr lang="en-US" dirty="0"/>
          </a:p>
          <a:p>
            <a:pPr marL="225425" indent="-225425">
              <a:spcBef>
                <a:spcPts val="0"/>
              </a:spcBef>
              <a:spcAft>
                <a:spcPts val="600"/>
              </a:spcAft>
              <a:buFont typeface="Arial" panose="020B0604020202020204" pitchFamily="34" charset="0"/>
              <a:buChar char="•"/>
            </a:pPr>
            <a:r>
              <a:rPr lang="en-US" dirty="0"/>
              <a:t>1J ≈ 0.74 </a:t>
            </a:r>
            <a:r>
              <a:rPr lang="en-US" dirty="0" err="1"/>
              <a:t>lbf·ft</a:t>
            </a:r>
            <a:r>
              <a:rPr lang="en-US" dirty="0"/>
              <a:t>  </a:t>
            </a:r>
          </a:p>
          <a:p>
            <a:pPr marL="225425" indent="-225425">
              <a:spcBef>
                <a:spcPts val="0"/>
              </a:spcBef>
              <a:spcAft>
                <a:spcPts val="600"/>
              </a:spcAft>
              <a:buFont typeface="Arial" panose="020B0604020202020204" pitchFamily="34" charset="0"/>
              <a:buChar char="•"/>
            </a:pPr>
            <a:r>
              <a:rPr lang="en-US" dirty="0"/>
              <a:t>1 </a:t>
            </a:r>
            <a:r>
              <a:rPr lang="en-US" dirty="0" err="1"/>
              <a:t>lbf·ft</a:t>
            </a:r>
            <a:r>
              <a:rPr lang="en-US" dirty="0"/>
              <a:t> ≈ 1.4 J </a:t>
            </a:r>
          </a:p>
        </p:txBody>
      </p:sp>
      <p:sp>
        <p:nvSpPr>
          <p:cNvPr id="5" name="Title 4"/>
          <p:cNvSpPr>
            <a:spLocks noGrp="1"/>
          </p:cNvSpPr>
          <p:nvPr>
            <p:ph type="title"/>
          </p:nvPr>
        </p:nvSpPr>
        <p:spPr/>
        <p:txBody>
          <a:bodyPr/>
          <a:lstStyle/>
          <a:p>
            <a:r>
              <a:rPr lang="en-US" dirty="0"/>
              <a:t>Units of Work</a:t>
            </a:r>
          </a:p>
        </p:txBody>
      </p:sp>
    </p:spTree>
    <p:extLst>
      <p:ext uri="{BB962C8B-B14F-4D97-AF65-F5344CB8AC3E}">
        <p14:creationId xmlns:p14="http://schemas.microsoft.com/office/powerpoint/2010/main" val="33693776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122D24B2-5D52-46F7-B915-67CABB3AD0CF}" type="slidenum">
              <a:rPr lang="en-US" smtClean="0"/>
              <a:pPr/>
              <a:t>6</a:t>
            </a:fld>
            <a:endParaRPr lang="en-US" dirty="0"/>
          </a:p>
        </p:txBody>
      </p:sp>
      <p:sp>
        <p:nvSpPr>
          <p:cNvPr id="3" name="Text Placeholder 2"/>
          <p:cNvSpPr>
            <a:spLocks noGrp="1"/>
          </p:cNvSpPr>
          <p:nvPr>
            <p:ph type="body" sz="quarter" idx="13"/>
          </p:nvPr>
        </p:nvSpPr>
        <p:spPr>
          <a:xfrm>
            <a:off x="704850" y="2035109"/>
            <a:ext cx="7810500" cy="4157662"/>
          </a:xfrm>
        </p:spPr>
        <p:txBody>
          <a:bodyPr/>
          <a:lstStyle/>
          <a:p>
            <a:r>
              <a:rPr lang="en-US" dirty="0"/>
              <a:t>Power represents the amount of work done or energy expended per unit of time.</a:t>
            </a:r>
          </a:p>
          <a:p>
            <a:pPr marL="0" indent="0">
              <a:buNone/>
            </a:pPr>
            <a:endParaRPr lang="en-US" dirty="0"/>
          </a:p>
          <a:p>
            <a:pPr marL="0" indent="0">
              <a:buNone/>
            </a:pPr>
            <a:endParaRPr lang="en-US" dirty="0"/>
          </a:p>
          <a:p>
            <a:pPr marL="0" indent="0">
              <a:buNone/>
            </a:pPr>
            <a:endParaRPr lang="en-US" dirty="0"/>
          </a:p>
        </p:txBody>
      </p:sp>
      <p:sp>
        <p:nvSpPr>
          <p:cNvPr id="4" name="Title 3"/>
          <p:cNvSpPr>
            <a:spLocks noGrp="1"/>
          </p:cNvSpPr>
          <p:nvPr>
            <p:ph type="title"/>
          </p:nvPr>
        </p:nvSpPr>
        <p:spPr>
          <a:xfrm>
            <a:off x="228600" y="1064210"/>
            <a:ext cx="8763000" cy="979250"/>
          </a:xfrm>
        </p:spPr>
        <p:txBody>
          <a:bodyPr/>
          <a:lstStyle/>
          <a:p>
            <a:r>
              <a:rPr lang="en-US" dirty="0"/>
              <a:t>Difference Between Energy and Power</a:t>
            </a:r>
          </a:p>
        </p:txBody>
      </p:sp>
      <p:pic>
        <p:nvPicPr>
          <p:cNvPr id="9" name="Picture 8"/>
          <p:cNvPicPr>
            <a:picLocks noChangeAspect="1"/>
          </p:cNvPicPr>
          <p:nvPr/>
        </p:nvPicPr>
        <p:blipFill rotWithShape="1">
          <a:blip r:embed="rId2"/>
          <a:srcRect l="30559" t="-2525" r="30559" b="-2521"/>
          <a:stretch/>
        </p:blipFill>
        <p:spPr>
          <a:xfrm>
            <a:off x="1828800" y="3429000"/>
            <a:ext cx="4809298" cy="1030560"/>
          </a:xfrm>
          <a:prstGeom prst="rect">
            <a:avLst/>
          </a:prstGeom>
        </p:spPr>
      </p:pic>
    </p:spTree>
    <p:extLst>
      <p:ext uri="{BB962C8B-B14F-4D97-AF65-F5344CB8AC3E}">
        <p14:creationId xmlns:p14="http://schemas.microsoft.com/office/powerpoint/2010/main" val="38890481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122D24B2-5D52-46F7-B915-67CABB3AD0CF}" type="slidenum">
              <a:rPr lang="en-US" smtClean="0"/>
              <a:pPr/>
              <a:t>7</a:t>
            </a:fld>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sz="quarter" idx="13"/>
              </p:nvPr>
            </p:nvSpPr>
            <p:spPr>
              <a:xfrm>
                <a:off x="568890" y="1905000"/>
                <a:ext cx="8153400" cy="4157662"/>
              </a:xfrm>
            </p:spPr>
            <p:txBody>
              <a:bodyPr/>
              <a:lstStyle/>
              <a:p>
                <a:pPr marL="225425" indent="-225425">
                  <a:spcBef>
                    <a:spcPts val="0"/>
                  </a:spcBef>
                  <a:buFont typeface="Arial" panose="020B0604020202020204" pitchFamily="34" charset="0"/>
                  <a:buChar char="•"/>
                </a:pPr>
                <a:r>
                  <a:rPr lang="en-US" sz="2200" dirty="0"/>
                  <a:t>SI unit: Watt (W)</a:t>
                </a:r>
              </a:p>
              <a:p>
                <a:pPr marL="225425" indent="-225425">
                  <a:spcBef>
                    <a:spcPts val="0"/>
                  </a:spcBef>
                  <a:buFont typeface="Arial" panose="020B0604020202020204" pitchFamily="34" charset="0"/>
                  <a:buChar char="•"/>
                </a:pPr>
                <a:endParaRPr lang="en-US" sz="2200" dirty="0"/>
              </a:p>
              <a:p>
                <a:pPr marL="225425" indent="-225425">
                  <a:spcBef>
                    <a:spcPts val="0"/>
                  </a:spcBef>
                  <a:buFont typeface="Arial" panose="020B0604020202020204" pitchFamily="34" charset="0"/>
                  <a:buChar char="•"/>
                </a:pPr>
                <a:endParaRPr lang="en-US" sz="2200" dirty="0"/>
              </a:p>
              <a:p>
                <a:pPr marL="225425" indent="-225425">
                  <a:spcBef>
                    <a:spcPts val="0"/>
                  </a:spcBef>
                  <a:buFont typeface="Arial" panose="020B0604020202020204" pitchFamily="34" charset="0"/>
                  <a:buChar char="•"/>
                </a:pPr>
                <a:endParaRPr lang="en-US" sz="2200" dirty="0"/>
              </a:p>
              <a:p>
                <a:pPr marL="225425" indent="-225425">
                  <a:spcBef>
                    <a:spcPts val="0"/>
                  </a:spcBef>
                  <a:buFont typeface="Arial" panose="020B0604020202020204" pitchFamily="34" charset="0"/>
                  <a:buChar char="•"/>
                  <a:tabLst>
                    <a:tab pos="3257550" algn="l"/>
                  </a:tabLst>
                </a:pPr>
                <a:endParaRPr lang="en-US" sz="2200" dirty="0"/>
              </a:p>
              <a:p>
                <a:pPr marL="225425" indent="-225425">
                  <a:spcBef>
                    <a:spcPts val="0"/>
                  </a:spcBef>
                  <a:buFont typeface="Arial" panose="020B0604020202020204" pitchFamily="34" charset="0"/>
                  <a:buChar char="•"/>
                  <a:tabLst>
                    <a:tab pos="3257550" algn="l"/>
                  </a:tabLst>
                </a:pPr>
                <a:r>
                  <a:rPr lang="en-US" sz="2200" dirty="0"/>
                  <a:t>U.S. Customary units: pound force-</a:t>
                </a:r>
                <a:r>
                  <a:rPr lang="en-US" sz="2200" dirty="0" err="1"/>
                  <a:t>ft</a:t>
                </a:r>
                <a:r>
                  <a:rPr lang="en-US" sz="2200" dirty="0"/>
                  <a:t> per second </a:t>
                </a:r>
                <a14:m>
                  <m:oMath xmlns:m="http://schemas.openxmlformats.org/officeDocument/2006/math">
                    <m:d>
                      <m:dPr>
                        <m:ctrlPr>
                          <a:rPr lang="en-US" sz="2200" i="1">
                            <a:latin typeface="Cambria Math" panose="02040503050406030204" pitchFamily="18" charset="0"/>
                          </a:rPr>
                        </m:ctrlPr>
                      </m:dPr>
                      <m:e>
                        <m:f>
                          <m:fPr>
                            <m:ctrlPr>
                              <a:rPr lang="en-US" sz="2200" i="1">
                                <a:latin typeface="Cambria Math" panose="02040503050406030204" pitchFamily="18" charset="0"/>
                              </a:rPr>
                            </m:ctrlPr>
                          </m:fPr>
                          <m:num>
                            <m:r>
                              <m:rPr>
                                <m:sty m:val="p"/>
                              </m:rPr>
                              <a:rPr lang="en-US" sz="2200">
                                <a:latin typeface="Cambria Math" panose="02040503050406030204" pitchFamily="18" charset="0"/>
                              </a:rPr>
                              <m:t>lbf</m:t>
                            </m:r>
                            <m:r>
                              <a:rPr lang="en-US" sz="2200" i="1" smtClean="0">
                                <a:latin typeface="Cambria Math" panose="02040503050406030204" pitchFamily="18" charset="0"/>
                                <a:sym typeface="Wingdings 2" panose="05020102010507070707" pitchFamily="18" charset="2"/>
                              </a:rPr>
                              <m:t>·</m:t>
                            </m:r>
                            <m:r>
                              <m:rPr>
                                <m:sty m:val="p"/>
                              </m:rPr>
                              <a:rPr lang="en-US" sz="2200">
                                <a:latin typeface="Cambria Math" panose="02040503050406030204" pitchFamily="18" charset="0"/>
                              </a:rPr>
                              <m:t>ft</m:t>
                            </m:r>
                          </m:num>
                          <m:den>
                            <m:r>
                              <m:rPr>
                                <m:sty m:val="p"/>
                              </m:rPr>
                              <a:rPr lang="en-US" sz="2200">
                                <a:latin typeface="Cambria Math" panose="02040503050406030204" pitchFamily="18" charset="0"/>
                              </a:rPr>
                              <m:t>s</m:t>
                            </m:r>
                          </m:den>
                        </m:f>
                      </m:e>
                    </m:d>
                  </m:oMath>
                </a14:m>
                <a:endParaRPr lang="en-US" sz="2200" dirty="0"/>
              </a:p>
              <a:p>
                <a:pPr marL="0" indent="0">
                  <a:spcBef>
                    <a:spcPts val="0"/>
                  </a:spcBef>
                  <a:buNone/>
                  <a:tabLst>
                    <a:tab pos="3030538" algn="l"/>
                  </a:tabLst>
                </a:pPr>
                <a:r>
                  <a:rPr lang="en-US" sz="2200" dirty="0"/>
                  <a:t>	horsepower (</a:t>
                </a:r>
                <a:r>
                  <a:rPr lang="en-US" sz="2200" dirty="0" err="1"/>
                  <a:t>hp</a:t>
                </a:r>
                <a:r>
                  <a:rPr lang="en-US" sz="2200" dirty="0"/>
                  <a:t>)</a:t>
                </a:r>
              </a:p>
              <a:p>
                <a:pPr marL="0" indent="0">
                  <a:spcBef>
                    <a:spcPts val="0"/>
                  </a:spcBef>
                  <a:buNone/>
                  <a:tabLst>
                    <a:tab pos="3257550" algn="l"/>
                  </a:tabLst>
                </a:pPr>
                <a:endParaRPr lang="en-US" sz="2200" dirty="0"/>
              </a:p>
              <a:p>
                <a:pPr marL="0" indent="0">
                  <a:spcBef>
                    <a:spcPts val="0"/>
                  </a:spcBef>
                  <a:buNone/>
                  <a:tabLst>
                    <a:tab pos="3257550" algn="l"/>
                  </a:tabLst>
                </a:pPr>
                <a:r>
                  <a:rPr lang="en-US" sz="2200" dirty="0"/>
                  <a:t>				          </a:t>
                </a:r>
                <a:r>
                  <a:rPr lang="en-US" sz="2000" dirty="0"/>
                  <a:t>(</a:t>
                </a:r>
                <a:r>
                  <a:rPr lang="en-US" sz="1600" dirty="0"/>
                  <a:t>= 1.36 Watts)</a:t>
                </a:r>
              </a:p>
              <a:p>
                <a:pPr marL="0" indent="0">
                  <a:spcBef>
                    <a:spcPts val="0"/>
                  </a:spcBef>
                  <a:buNone/>
                  <a:tabLst>
                    <a:tab pos="3257550" algn="l"/>
                  </a:tabLst>
                </a:pPr>
                <a:endParaRPr lang="en-US" sz="1600" dirty="0"/>
              </a:p>
              <a:p>
                <a:pPr marL="0" indent="0">
                  <a:spcBef>
                    <a:spcPts val="0"/>
                  </a:spcBef>
                  <a:buNone/>
                  <a:tabLst>
                    <a:tab pos="3257550" algn="l"/>
                  </a:tabLst>
                </a:pPr>
                <a:endParaRPr lang="en-US" sz="1800" dirty="0"/>
              </a:p>
              <a:p>
                <a:pPr marL="0" indent="0">
                  <a:spcBef>
                    <a:spcPts val="0"/>
                  </a:spcBef>
                  <a:buNone/>
                  <a:tabLst>
                    <a:tab pos="3257550" algn="l"/>
                  </a:tabLst>
                </a:pPr>
                <a:r>
                  <a:rPr lang="en-US" sz="1800" dirty="0"/>
                  <a:t>	     </a:t>
                </a:r>
                <a:r>
                  <a:rPr lang="en-US" sz="1600" dirty="0"/>
                  <a:t>(= 746 W = 0.746 kW)</a:t>
                </a:r>
                <a:endParaRPr lang="en-US" sz="2200" dirty="0"/>
              </a:p>
            </p:txBody>
          </p:sp>
        </mc:Choice>
        <mc:Fallback xmlns="">
          <p:sp>
            <p:nvSpPr>
              <p:cNvPr id="3" name="Text Placeholder 2"/>
              <p:cNvSpPr>
                <a:spLocks noGrp="1" noRot="1" noChangeAspect="1" noMove="1" noResize="1" noEditPoints="1" noAdjustHandles="1" noChangeArrowheads="1" noChangeShapeType="1" noTextEdit="1"/>
              </p:cNvSpPr>
              <p:nvPr>
                <p:ph type="body" sz="quarter" idx="13"/>
              </p:nvPr>
            </p:nvSpPr>
            <p:spPr>
              <a:xfrm>
                <a:off x="568890" y="1905000"/>
                <a:ext cx="8153400" cy="4157662"/>
              </a:xfrm>
              <a:blipFill>
                <a:blip r:embed="rId2"/>
                <a:stretch>
                  <a:fillRect l="-747" t="-880"/>
                </a:stretch>
              </a:blipFill>
            </p:spPr>
            <p:txBody>
              <a:bodyPr/>
              <a:lstStyle/>
              <a:p>
                <a:r>
                  <a:rPr lang="en-US">
                    <a:noFill/>
                  </a:rPr>
                  <a:t> </a:t>
                </a:r>
              </a:p>
            </p:txBody>
          </p:sp>
        </mc:Fallback>
      </mc:AlternateContent>
      <p:sp>
        <p:nvSpPr>
          <p:cNvPr id="4" name="Title 3"/>
          <p:cNvSpPr>
            <a:spLocks noGrp="1"/>
          </p:cNvSpPr>
          <p:nvPr>
            <p:ph type="title"/>
          </p:nvPr>
        </p:nvSpPr>
        <p:spPr/>
        <p:txBody>
          <a:bodyPr/>
          <a:lstStyle/>
          <a:p>
            <a:r>
              <a:rPr lang="en-US" dirty="0"/>
              <a:t>Units of Power</a:t>
            </a:r>
          </a:p>
        </p:txBody>
      </p:sp>
      <p:pic>
        <p:nvPicPr>
          <p:cNvPr id="5" name="Picture 4"/>
          <p:cNvPicPr>
            <a:picLocks noChangeAspect="1"/>
          </p:cNvPicPr>
          <p:nvPr/>
        </p:nvPicPr>
        <p:blipFill>
          <a:blip r:embed="rId3"/>
          <a:stretch>
            <a:fillRect/>
          </a:stretch>
        </p:blipFill>
        <p:spPr>
          <a:xfrm>
            <a:off x="372775" y="2576611"/>
            <a:ext cx="8349515" cy="671512"/>
          </a:xfrm>
          <a:prstGeom prst="rect">
            <a:avLst/>
          </a:prstGeom>
        </p:spPr>
      </p:pic>
      <p:pic>
        <p:nvPicPr>
          <p:cNvPr id="6" name="Picture 5"/>
          <p:cNvPicPr>
            <a:picLocks noChangeAspect="1"/>
          </p:cNvPicPr>
          <p:nvPr/>
        </p:nvPicPr>
        <p:blipFill rotWithShape="1">
          <a:blip r:embed="rId4"/>
          <a:srcRect l="15275" t="-17267" r="12516" b="-3597"/>
          <a:stretch/>
        </p:blipFill>
        <p:spPr>
          <a:xfrm>
            <a:off x="914400" y="4600554"/>
            <a:ext cx="6067419" cy="816768"/>
          </a:xfrm>
          <a:prstGeom prst="rect">
            <a:avLst/>
          </a:prstGeom>
        </p:spPr>
      </p:pic>
      <p:pic>
        <p:nvPicPr>
          <p:cNvPr id="7" name="Picture 6"/>
          <p:cNvPicPr>
            <a:picLocks noChangeAspect="1"/>
          </p:cNvPicPr>
          <p:nvPr/>
        </p:nvPicPr>
        <p:blipFill rotWithShape="1">
          <a:blip r:embed="rId5"/>
          <a:srcRect l="29170" t="-2525" r="27782" b="-2521"/>
          <a:stretch/>
        </p:blipFill>
        <p:spPr>
          <a:xfrm>
            <a:off x="736948" y="5526449"/>
            <a:ext cx="3496051" cy="676655"/>
          </a:xfrm>
          <a:prstGeom prst="rect">
            <a:avLst/>
          </a:prstGeom>
        </p:spPr>
      </p:pic>
    </p:spTree>
    <p:extLst>
      <p:ext uri="{BB962C8B-B14F-4D97-AF65-F5344CB8AC3E}">
        <p14:creationId xmlns:p14="http://schemas.microsoft.com/office/powerpoint/2010/main" val="29265106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74DD4F1-BD93-41E9-954F-E95DB48E9BD0}"/>
              </a:ext>
            </a:extLst>
          </p:cNvPr>
          <p:cNvSpPr>
            <a:spLocks noGrp="1"/>
          </p:cNvSpPr>
          <p:nvPr>
            <p:ph type="sldNum" sz="quarter" idx="12"/>
          </p:nvPr>
        </p:nvSpPr>
        <p:spPr/>
        <p:txBody>
          <a:bodyPr/>
          <a:lstStyle/>
          <a:p>
            <a:fld id="{122D24B2-5D52-46F7-B915-67CABB3AD0CF}" type="slidenum">
              <a:rPr lang="en-US" smtClean="0"/>
              <a:pPr/>
              <a:t>8</a:t>
            </a:fld>
            <a:endParaRPr lang="en-US" dirty="0"/>
          </a:p>
        </p:txBody>
      </p:sp>
      <p:sp>
        <p:nvSpPr>
          <p:cNvPr id="3" name="Text Placeholder 2">
            <a:extLst>
              <a:ext uri="{FF2B5EF4-FFF2-40B4-BE49-F238E27FC236}">
                <a16:creationId xmlns:a16="http://schemas.microsoft.com/office/drawing/2014/main" id="{06D1AD0C-D7FC-4B53-9B52-712909D56970}"/>
              </a:ext>
            </a:extLst>
          </p:cNvPr>
          <p:cNvSpPr>
            <a:spLocks noGrp="1"/>
          </p:cNvSpPr>
          <p:nvPr>
            <p:ph type="body" sz="quarter" idx="13"/>
          </p:nvPr>
        </p:nvSpPr>
        <p:spPr/>
        <p:txBody>
          <a:bodyPr/>
          <a:lstStyle/>
          <a:p>
            <a:endParaRPr lang="en-CA"/>
          </a:p>
        </p:txBody>
      </p:sp>
      <p:sp>
        <p:nvSpPr>
          <p:cNvPr id="4" name="Title 3">
            <a:extLst>
              <a:ext uri="{FF2B5EF4-FFF2-40B4-BE49-F238E27FC236}">
                <a16:creationId xmlns:a16="http://schemas.microsoft.com/office/drawing/2014/main" id="{7FA1D2ED-F1FC-4D9D-941E-19B322E609C0}"/>
              </a:ext>
            </a:extLst>
          </p:cNvPr>
          <p:cNvSpPr>
            <a:spLocks noGrp="1"/>
          </p:cNvSpPr>
          <p:nvPr>
            <p:ph type="title"/>
          </p:nvPr>
        </p:nvSpPr>
        <p:spPr>
          <a:xfrm>
            <a:off x="607671" y="446976"/>
            <a:ext cx="7810500" cy="979250"/>
          </a:xfrm>
        </p:spPr>
        <p:txBody>
          <a:bodyPr/>
          <a:lstStyle/>
          <a:p>
            <a:r>
              <a:rPr lang="en-CA" dirty="0"/>
              <a:t>Prefixes used with metric units of energy </a:t>
            </a:r>
          </a:p>
        </p:txBody>
      </p:sp>
      <p:pic>
        <p:nvPicPr>
          <p:cNvPr id="6" name="Picture 5">
            <a:extLst>
              <a:ext uri="{FF2B5EF4-FFF2-40B4-BE49-F238E27FC236}">
                <a16:creationId xmlns:a16="http://schemas.microsoft.com/office/drawing/2014/main" id="{6C0A2008-AFAC-4A61-87FF-C1DAC65E3950}"/>
              </a:ext>
            </a:extLst>
          </p:cNvPr>
          <p:cNvPicPr>
            <a:picLocks noChangeAspect="1"/>
          </p:cNvPicPr>
          <p:nvPr/>
        </p:nvPicPr>
        <p:blipFill>
          <a:blip r:embed="rId2"/>
          <a:stretch>
            <a:fillRect/>
          </a:stretch>
        </p:blipFill>
        <p:spPr>
          <a:xfrm>
            <a:off x="242887" y="1602581"/>
            <a:ext cx="8658225" cy="5219700"/>
          </a:xfrm>
          <a:prstGeom prst="rect">
            <a:avLst/>
          </a:prstGeom>
        </p:spPr>
      </p:pic>
    </p:spTree>
    <p:extLst>
      <p:ext uri="{BB962C8B-B14F-4D97-AF65-F5344CB8AC3E}">
        <p14:creationId xmlns:p14="http://schemas.microsoft.com/office/powerpoint/2010/main" val="33042575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122D24B2-5D52-46F7-B915-67CABB3AD0CF}" type="slidenum">
              <a:rPr lang="en-US" smtClean="0"/>
              <a:pPr/>
              <a:t>9</a:t>
            </a:fld>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sz="quarter" idx="13"/>
              </p:nvPr>
            </p:nvSpPr>
            <p:spPr>
              <a:xfrm>
                <a:off x="304799" y="1817688"/>
                <a:ext cx="8534400" cy="4538662"/>
              </a:xfrm>
            </p:spPr>
            <p:txBody>
              <a:bodyPr/>
              <a:lstStyle/>
              <a:p>
                <a:pPr>
                  <a:spcBef>
                    <a:spcPts val="0"/>
                  </a:spcBef>
                  <a:spcAft>
                    <a:spcPts val="1200"/>
                  </a:spcAft>
                </a:pPr>
                <a:r>
                  <a:rPr lang="en-US" sz="2000" dirty="0"/>
                  <a:t>Thermal energy quantifies the amount of energy required to heat or cool something. Q is heat (kJ or BTU), and Q_dot is heat rate (kW, or BTU/s)</a:t>
                </a:r>
              </a:p>
              <a:p>
                <a:pPr marL="0" indent="0">
                  <a:spcBef>
                    <a:spcPts val="0"/>
                  </a:spcBef>
                  <a:spcAft>
                    <a:spcPts val="1200"/>
                  </a:spcAft>
                  <a:buNone/>
                </a:pPr>
                <a:endParaRPr lang="en-US" dirty="0"/>
              </a:p>
              <a:p>
                <a:pPr marL="0" indent="0">
                  <a:spcBef>
                    <a:spcPts val="0"/>
                  </a:spcBef>
                  <a:spcAft>
                    <a:spcPts val="1200"/>
                  </a:spcAft>
                  <a:buNone/>
                </a:pPr>
                <a:endParaRPr lang="en-US" sz="2000" dirty="0"/>
              </a:p>
              <a:p>
                <a:pPr marL="0" indent="0">
                  <a:spcBef>
                    <a:spcPts val="0"/>
                  </a:spcBef>
                  <a:spcAft>
                    <a:spcPts val="1200"/>
                  </a:spcAft>
                  <a:buNone/>
                </a:pPr>
                <a:endParaRPr lang="en-US" sz="2000" dirty="0"/>
              </a:p>
              <a:p>
                <a:pPr marL="0" indent="0">
                  <a:spcBef>
                    <a:spcPts val="0"/>
                  </a:spcBef>
                  <a:spcAft>
                    <a:spcPts val="1200"/>
                  </a:spcAft>
                  <a:buNone/>
                </a:pPr>
                <a:endParaRPr lang="en-US" sz="2000" dirty="0"/>
              </a:p>
              <a:p>
                <a:pPr>
                  <a:spcBef>
                    <a:spcPts val="0"/>
                  </a:spcBef>
                  <a:spcAft>
                    <a:spcPts val="1200"/>
                  </a:spcAft>
                </a:pPr>
                <a:r>
                  <a:rPr lang="en-US" sz="2000" dirty="0"/>
                  <a:t>Where </a:t>
                </a:r>
                <a:r>
                  <a:rPr lang="en-US" sz="2000" b="1" i="1" dirty="0"/>
                  <a:t>C</a:t>
                </a:r>
                <a:r>
                  <a:rPr lang="en-US" sz="2000" b="1" i="1" baseline="-25000" dirty="0"/>
                  <a:t>p</a:t>
                </a:r>
                <a:r>
                  <a:rPr lang="en-US" sz="2000" dirty="0"/>
                  <a:t> is the specific heat under constant pressure. For solids and nearly incompressible liquids, </a:t>
                </a:r>
                <a:r>
                  <a:rPr lang="en-US" sz="2000" b="1" i="1" dirty="0"/>
                  <a:t>C</a:t>
                </a:r>
                <a:r>
                  <a:rPr lang="en-US" sz="2000" b="1" i="1" baseline="-25000" dirty="0"/>
                  <a:t>p</a:t>
                </a:r>
                <a:r>
                  <a:rPr lang="en-US" sz="2000" b="1" i="1" dirty="0"/>
                  <a:t>= C</a:t>
                </a:r>
                <a:r>
                  <a:rPr lang="en-US" sz="2000" b="1" i="1" baseline="-25000" dirty="0"/>
                  <a:t>v </a:t>
                </a:r>
                <a:r>
                  <a:rPr lang="en-US" sz="2000" b="1" i="1" dirty="0"/>
                  <a:t>=C</a:t>
                </a:r>
                <a:r>
                  <a:rPr lang="en-US" sz="2000" i="1" dirty="0"/>
                  <a:t>. </a:t>
                </a:r>
              </a:p>
              <a:p>
                <a:pPr>
                  <a:spcBef>
                    <a:spcPts val="0"/>
                  </a:spcBef>
                  <a:spcAft>
                    <a:spcPts val="1200"/>
                  </a:spcAft>
                </a:pPr>
                <a:r>
                  <a:rPr lang="en-US" sz="2000" dirty="0"/>
                  <a:t>For water in liquid phase C can be assumed constant as </a:t>
                </a:r>
                <a:r>
                  <a:rPr lang="en-US" sz="2000" b="1" dirty="0"/>
                  <a:t>4.18 kJ/</a:t>
                </a:r>
                <a:r>
                  <a:rPr lang="en-US" sz="2000" b="1" dirty="0" err="1"/>
                  <a:t>kg.K</a:t>
                </a:r>
                <a:r>
                  <a:rPr lang="en-US" sz="2000" b="1" dirty="0"/>
                  <a:t> </a:t>
                </a:r>
                <a:r>
                  <a:rPr lang="en-US" sz="2000" dirty="0"/>
                  <a:t>or </a:t>
                </a:r>
                <a:r>
                  <a:rPr lang="en-US" sz="2000" b="1" dirty="0"/>
                  <a:t>1 BTU/</a:t>
                </a:r>
                <a:r>
                  <a:rPr lang="en-US" sz="2000" b="1" dirty="0" err="1"/>
                  <a:t>lbm.R</a:t>
                </a:r>
                <a:endParaRPr lang="en-US" sz="2000" b="1" dirty="0"/>
              </a:p>
              <a:p>
                <a:pPr>
                  <a:spcBef>
                    <a:spcPts val="0"/>
                  </a:spcBef>
                  <a:spcAft>
                    <a:spcPts val="1200"/>
                  </a:spcAft>
                </a:pPr>
                <a14:m>
                  <m:oMath xmlns:m="http://schemas.openxmlformats.org/officeDocument/2006/math">
                    <m:acc>
                      <m:accPr>
                        <m:chr m:val="̇"/>
                        <m:ctrlPr>
                          <a:rPr lang="en-CA" sz="2000" b="1" i="1" smtClean="0">
                            <a:solidFill>
                              <a:schemeClr val="bg1"/>
                            </a:solidFill>
                            <a:latin typeface="Cambria Math" panose="02040503050406030204" pitchFamily="18" charset="0"/>
                          </a:rPr>
                        </m:ctrlPr>
                      </m:accPr>
                      <m:e>
                        <m:r>
                          <a:rPr lang="en-CA" sz="2000" b="1" i="1" smtClean="0">
                            <a:solidFill>
                              <a:schemeClr val="bg1"/>
                            </a:solidFill>
                            <a:latin typeface="Cambria Math" panose="02040503050406030204" pitchFamily="18" charset="0"/>
                          </a:rPr>
                          <m:t>𝒎</m:t>
                        </m:r>
                      </m:e>
                    </m:acc>
                  </m:oMath>
                </a14:m>
                <a:r>
                  <a:rPr lang="en-CA" sz="2000" b="1" dirty="0">
                    <a:solidFill>
                      <a:schemeClr val="bg1"/>
                    </a:solidFill>
                  </a:rPr>
                  <a:t> </a:t>
                </a:r>
                <a:r>
                  <a:rPr lang="en-CA" sz="2000" dirty="0"/>
                  <a:t>is the mass flow rate, </a:t>
                </a:r>
                <a14:m>
                  <m:oMath xmlns:m="http://schemas.openxmlformats.org/officeDocument/2006/math">
                    <m:r>
                      <m:rPr>
                        <m:sty m:val="p"/>
                      </m:rPr>
                      <a:rPr lang="el-GR" sz="2000" i="1">
                        <a:latin typeface="Cambria Math" panose="02040503050406030204" pitchFamily="18" charset="0"/>
                        <a:ea typeface="Cambria Math" panose="02040503050406030204" pitchFamily="18" charset="0"/>
                      </a:rPr>
                      <m:t>ρ</m:t>
                    </m:r>
                    <m:r>
                      <a:rPr lang="en-CA" sz="2000" b="0" i="1" smtClean="0">
                        <a:latin typeface="Cambria Math" panose="02040503050406030204" pitchFamily="18" charset="0"/>
                        <a:ea typeface="Cambria Math" panose="02040503050406030204" pitchFamily="18" charset="0"/>
                      </a:rPr>
                      <m:t> </m:t>
                    </m:r>
                    <m:r>
                      <m:rPr>
                        <m:sty m:val="p"/>
                      </m:rPr>
                      <a:rPr lang="en-CA" sz="2000" b="0" i="0" smtClean="0">
                        <a:latin typeface="Cambria Math" panose="02040503050406030204" pitchFamily="18" charset="0"/>
                        <a:ea typeface="Cambria Math" panose="02040503050406030204" pitchFamily="18" charset="0"/>
                      </a:rPr>
                      <m:t>is</m:t>
                    </m:r>
                    <m:r>
                      <a:rPr lang="en-CA" sz="2000" b="0" i="0" smtClean="0">
                        <a:latin typeface="Cambria Math" panose="02040503050406030204" pitchFamily="18" charset="0"/>
                        <a:ea typeface="Cambria Math" panose="02040503050406030204" pitchFamily="18" charset="0"/>
                      </a:rPr>
                      <m:t> </m:t>
                    </m:r>
                    <m:r>
                      <m:rPr>
                        <m:sty m:val="p"/>
                      </m:rPr>
                      <a:rPr lang="en-CA" sz="2000" b="0" i="0" smtClean="0">
                        <a:latin typeface="Cambria Math" panose="02040503050406030204" pitchFamily="18" charset="0"/>
                        <a:ea typeface="Cambria Math" panose="02040503050406030204" pitchFamily="18" charset="0"/>
                      </a:rPr>
                      <m:t>the</m:t>
                    </m:r>
                    <m:r>
                      <a:rPr lang="en-CA" sz="2000" b="0" i="0" smtClean="0">
                        <a:latin typeface="Cambria Math" panose="02040503050406030204" pitchFamily="18" charset="0"/>
                        <a:ea typeface="Cambria Math" panose="02040503050406030204" pitchFamily="18" charset="0"/>
                      </a:rPr>
                      <m:t> </m:t>
                    </m:r>
                    <m:r>
                      <m:rPr>
                        <m:sty m:val="p"/>
                      </m:rPr>
                      <a:rPr lang="en-CA" sz="2000" b="0" i="0" smtClean="0">
                        <a:latin typeface="Cambria Math" panose="02040503050406030204" pitchFamily="18" charset="0"/>
                        <a:ea typeface="Cambria Math" panose="02040503050406030204" pitchFamily="18" charset="0"/>
                      </a:rPr>
                      <m:t>density</m:t>
                    </m:r>
                    <m:r>
                      <a:rPr lang="en-CA" sz="2000" b="0" i="0" smtClean="0">
                        <a:latin typeface="Cambria Math" panose="02040503050406030204" pitchFamily="18" charset="0"/>
                        <a:ea typeface="Cambria Math" panose="02040503050406030204" pitchFamily="18" charset="0"/>
                      </a:rPr>
                      <m:t> </m:t>
                    </m:r>
                    <m:r>
                      <m:rPr>
                        <m:sty m:val="p"/>
                      </m:rPr>
                      <a:rPr lang="en-CA" sz="2000" b="0" i="0" smtClean="0">
                        <a:latin typeface="Cambria Math" panose="02040503050406030204" pitchFamily="18" charset="0"/>
                        <a:ea typeface="Cambria Math" panose="02040503050406030204" pitchFamily="18" charset="0"/>
                      </a:rPr>
                      <m:t>and</m:t>
                    </m:r>
                    <m:r>
                      <a:rPr lang="en-CA" sz="2000" b="0" i="0" smtClean="0">
                        <a:latin typeface="Cambria Math" panose="02040503050406030204" pitchFamily="18" charset="0"/>
                      </a:rPr>
                      <m:t> </m:t>
                    </m:r>
                    <m:acc>
                      <m:accPr>
                        <m:chr m:val="̇"/>
                        <m:ctrlPr>
                          <a:rPr lang="en-CA" sz="2000" i="1">
                            <a:latin typeface="Cambria Math" panose="02040503050406030204" pitchFamily="18" charset="0"/>
                          </a:rPr>
                        </m:ctrlPr>
                      </m:accPr>
                      <m:e>
                        <m:r>
                          <a:rPr lang="en-CA" sz="2000" i="1">
                            <a:latin typeface="Cambria Math" panose="02040503050406030204" pitchFamily="18" charset="0"/>
                          </a:rPr>
                          <m:t>𝑉</m:t>
                        </m:r>
                      </m:e>
                    </m:acc>
                  </m:oMath>
                </a14:m>
                <a:r>
                  <a:rPr lang="en-US" sz="2000" dirty="0"/>
                  <a:t> the volumetric flow rate</a:t>
                </a:r>
              </a:p>
            </p:txBody>
          </p:sp>
        </mc:Choice>
        <mc:Fallback>
          <p:sp>
            <p:nvSpPr>
              <p:cNvPr id="3" name="Text Placeholder 2"/>
              <p:cNvSpPr>
                <a:spLocks noGrp="1" noRot="1" noChangeAspect="1" noMove="1" noResize="1" noEditPoints="1" noAdjustHandles="1" noChangeArrowheads="1" noChangeShapeType="1" noTextEdit="1"/>
              </p:cNvSpPr>
              <p:nvPr>
                <p:ph type="body" sz="quarter" idx="13"/>
              </p:nvPr>
            </p:nvSpPr>
            <p:spPr>
              <a:xfrm>
                <a:off x="304799" y="1817688"/>
                <a:ext cx="8534400" cy="4538662"/>
              </a:xfrm>
              <a:blipFill>
                <a:blip r:embed="rId2"/>
                <a:stretch>
                  <a:fillRect l="-500" t="-537" r="-500" b="-10067"/>
                </a:stretch>
              </a:blipFill>
            </p:spPr>
            <p:txBody>
              <a:bodyPr/>
              <a:lstStyle/>
              <a:p>
                <a:r>
                  <a:rPr lang="en-CA">
                    <a:noFill/>
                  </a:rPr>
                  <a:t> </a:t>
                </a:r>
              </a:p>
            </p:txBody>
          </p:sp>
        </mc:Fallback>
      </mc:AlternateContent>
      <p:sp>
        <p:nvSpPr>
          <p:cNvPr id="4" name="Title 3"/>
          <p:cNvSpPr>
            <a:spLocks noGrp="1"/>
          </p:cNvSpPr>
          <p:nvPr>
            <p:ph type="title"/>
          </p:nvPr>
        </p:nvSpPr>
        <p:spPr/>
        <p:txBody>
          <a:bodyPr/>
          <a:lstStyle/>
          <a:p>
            <a:r>
              <a:rPr lang="en-US" dirty="0"/>
              <a:t>Thermal Energy</a:t>
            </a: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11634B34-016C-4C03-87B5-3A16579285E4}"/>
                  </a:ext>
                </a:extLst>
              </p:cNvPr>
              <p:cNvSpPr txBox="1"/>
              <p:nvPr/>
            </p:nvSpPr>
            <p:spPr>
              <a:xfrm>
                <a:off x="2850213" y="2895600"/>
                <a:ext cx="3443571" cy="1651093"/>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lang="en-CA" sz="2000" b="1" i="1" smtClean="0">
                          <a:solidFill>
                            <a:schemeClr val="bg1"/>
                          </a:solidFill>
                          <a:latin typeface="Cambria Math" panose="02040503050406030204" pitchFamily="18" charset="0"/>
                        </a:rPr>
                        <m:t>𝑸</m:t>
                      </m:r>
                      <m:r>
                        <a:rPr lang="en-CA" sz="2000" b="1" i="1" smtClean="0">
                          <a:solidFill>
                            <a:schemeClr val="bg1"/>
                          </a:solidFill>
                          <a:latin typeface="Cambria Math" panose="02040503050406030204" pitchFamily="18" charset="0"/>
                        </a:rPr>
                        <m:t>=</m:t>
                      </m:r>
                      <m:r>
                        <a:rPr lang="en-CA" sz="2000" b="1" i="1" smtClean="0">
                          <a:solidFill>
                            <a:schemeClr val="bg1"/>
                          </a:solidFill>
                          <a:latin typeface="Cambria Math" panose="02040503050406030204" pitchFamily="18" charset="0"/>
                        </a:rPr>
                        <m:t>𝒎</m:t>
                      </m:r>
                      <m:sSub>
                        <m:sSubPr>
                          <m:ctrlPr>
                            <a:rPr lang="en-CA" sz="2000" b="1" i="1" smtClean="0">
                              <a:solidFill>
                                <a:schemeClr val="bg1"/>
                              </a:solidFill>
                              <a:latin typeface="Cambria Math" panose="02040503050406030204" pitchFamily="18" charset="0"/>
                            </a:rPr>
                          </m:ctrlPr>
                        </m:sSubPr>
                        <m:e>
                          <m:r>
                            <a:rPr lang="en-CA" sz="2000" b="1" i="1" smtClean="0">
                              <a:solidFill>
                                <a:schemeClr val="bg1"/>
                              </a:solidFill>
                              <a:latin typeface="Cambria Math" panose="02040503050406030204" pitchFamily="18" charset="0"/>
                            </a:rPr>
                            <m:t>𝑪</m:t>
                          </m:r>
                        </m:e>
                        <m:sub>
                          <m:r>
                            <a:rPr lang="en-CA" sz="2000" b="1" i="1" smtClean="0">
                              <a:solidFill>
                                <a:schemeClr val="bg1"/>
                              </a:solidFill>
                              <a:latin typeface="Cambria Math" panose="02040503050406030204" pitchFamily="18" charset="0"/>
                            </a:rPr>
                            <m:t>𝒑</m:t>
                          </m:r>
                        </m:sub>
                      </m:sSub>
                      <m:d>
                        <m:dPr>
                          <m:ctrlPr>
                            <a:rPr lang="en-CA" sz="2000" b="1" i="1" smtClean="0">
                              <a:solidFill>
                                <a:schemeClr val="bg1"/>
                              </a:solidFill>
                              <a:latin typeface="Cambria Math" panose="02040503050406030204" pitchFamily="18" charset="0"/>
                            </a:rPr>
                          </m:ctrlPr>
                        </m:dPr>
                        <m:e>
                          <m:sSub>
                            <m:sSubPr>
                              <m:ctrlPr>
                                <a:rPr lang="en-CA" sz="2000" b="1" i="1" smtClean="0">
                                  <a:solidFill>
                                    <a:schemeClr val="bg1"/>
                                  </a:solidFill>
                                  <a:latin typeface="Cambria Math" panose="02040503050406030204" pitchFamily="18" charset="0"/>
                                </a:rPr>
                              </m:ctrlPr>
                            </m:sSubPr>
                            <m:e>
                              <m:r>
                                <a:rPr lang="en-CA" sz="2000" b="1" i="1" smtClean="0">
                                  <a:solidFill>
                                    <a:schemeClr val="bg1"/>
                                  </a:solidFill>
                                  <a:latin typeface="Cambria Math" panose="02040503050406030204" pitchFamily="18" charset="0"/>
                                </a:rPr>
                                <m:t>𝑻</m:t>
                              </m:r>
                            </m:e>
                            <m:sub>
                              <m:r>
                                <a:rPr lang="en-CA" sz="2000" b="1" i="1" smtClean="0">
                                  <a:solidFill>
                                    <a:schemeClr val="bg1"/>
                                  </a:solidFill>
                                  <a:latin typeface="Cambria Math" panose="02040503050406030204" pitchFamily="18" charset="0"/>
                                </a:rPr>
                                <m:t>𝒇</m:t>
                              </m:r>
                            </m:sub>
                          </m:sSub>
                          <m:r>
                            <a:rPr lang="en-CA" sz="2000" b="1" i="1" smtClean="0">
                              <a:solidFill>
                                <a:schemeClr val="bg1"/>
                              </a:solidFill>
                              <a:latin typeface="Cambria Math" panose="02040503050406030204" pitchFamily="18" charset="0"/>
                            </a:rPr>
                            <m:t>−</m:t>
                          </m:r>
                          <m:sSub>
                            <m:sSubPr>
                              <m:ctrlPr>
                                <a:rPr lang="en-CA" sz="2000" b="1" i="1">
                                  <a:solidFill>
                                    <a:schemeClr val="bg1"/>
                                  </a:solidFill>
                                  <a:latin typeface="Cambria Math" panose="02040503050406030204" pitchFamily="18" charset="0"/>
                                </a:rPr>
                              </m:ctrlPr>
                            </m:sSubPr>
                            <m:e>
                              <m:r>
                                <a:rPr lang="en-CA" sz="2000" b="1" i="1">
                                  <a:solidFill>
                                    <a:schemeClr val="bg1"/>
                                  </a:solidFill>
                                  <a:latin typeface="Cambria Math" panose="02040503050406030204" pitchFamily="18" charset="0"/>
                                </a:rPr>
                                <m:t>𝑻</m:t>
                              </m:r>
                            </m:e>
                            <m:sub>
                              <m:r>
                                <a:rPr lang="en-CA" sz="2000" b="1" i="1" smtClean="0">
                                  <a:solidFill>
                                    <a:schemeClr val="bg1"/>
                                  </a:solidFill>
                                  <a:latin typeface="Cambria Math" panose="02040503050406030204" pitchFamily="18" charset="0"/>
                                </a:rPr>
                                <m:t>𝒊</m:t>
                              </m:r>
                            </m:sub>
                          </m:sSub>
                        </m:e>
                      </m:d>
                      <m:r>
                        <a:rPr lang="en-CA" sz="2000" b="1" i="1" smtClean="0">
                          <a:solidFill>
                            <a:schemeClr val="bg1"/>
                          </a:solidFill>
                          <a:latin typeface="Cambria Math" panose="02040503050406030204" pitchFamily="18" charset="0"/>
                        </a:rPr>
                        <m:t>=</m:t>
                      </m:r>
                      <m:r>
                        <a:rPr lang="en-CA" sz="2000" b="1" i="1" smtClean="0">
                          <a:solidFill>
                            <a:schemeClr val="bg1"/>
                          </a:solidFill>
                          <a:latin typeface="Cambria Math" panose="02040503050406030204" pitchFamily="18" charset="0"/>
                        </a:rPr>
                        <m:t>𝒎</m:t>
                      </m:r>
                      <m:sSub>
                        <m:sSubPr>
                          <m:ctrlPr>
                            <a:rPr lang="en-CA" sz="2000" b="1" i="1">
                              <a:solidFill>
                                <a:schemeClr val="bg1"/>
                              </a:solidFill>
                              <a:latin typeface="Cambria Math" panose="02040503050406030204" pitchFamily="18" charset="0"/>
                            </a:rPr>
                          </m:ctrlPr>
                        </m:sSubPr>
                        <m:e>
                          <m:r>
                            <a:rPr lang="en-CA" sz="2000" b="1" i="1">
                              <a:solidFill>
                                <a:schemeClr val="bg1"/>
                              </a:solidFill>
                              <a:latin typeface="Cambria Math" panose="02040503050406030204" pitchFamily="18" charset="0"/>
                            </a:rPr>
                            <m:t>𝑪</m:t>
                          </m:r>
                        </m:e>
                        <m:sub>
                          <m:r>
                            <a:rPr lang="en-CA" sz="2000" b="1" i="1">
                              <a:solidFill>
                                <a:schemeClr val="bg1"/>
                              </a:solidFill>
                              <a:latin typeface="Cambria Math" panose="02040503050406030204" pitchFamily="18" charset="0"/>
                            </a:rPr>
                            <m:t>𝒑</m:t>
                          </m:r>
                        </m:sub>
                      </m:sSub>
                      <m:r>
                        <a:rPr lang="en-CA" sz="2000" b="1" i="1" smtClean="0">
                          <a:solidFill>
                            <a:schemeClr val="bg1"/>
                          </a:solidFill>
                          <a:latin typeface="Cambria Math" panose="02040503050406030204" pitchFamily="18" charset="0"/>
                          <a:ea typeface="Cambria Math" panose="02040503050406030204" pitchFamily="18" charset="0"/>
                        </a:rPr>
                        <m:t>∆</m:t>
                      </m:r>
                      <m:r>
                        <a:rPr lang="en-CA" sz="2000" b="1" i="1" smtClean="0">
                          <a:solidFill>
                            <a:schemeClr val="bg1"/>
                          </a:solidFill>
                          <a:latin typeface="Cambria Math" panose="02040503050406030204" pitchFamily="18" charset="0"/>
                          <a:ea typeface="Cambria Math" panose="02040503050406030204" pitchFamily="18" charset="0"/>
                        </a:rPr>
                        <m:t>𝑻</m:t>
                      </m:r>
                    </m:oMath>
                  </m:oMathPara>
                </a14:m>
                <a:endParaRPr lang="en-CA" sz="2000" b="1" dirty="0">
                  <a:solidFill>
                    <a:schemeClr val="bg1"/>
                  </a:solidFill>
                  <a:ea typeface="Cambria Math" panose="02040503050406030204" pitchFamily="18" charset="0"/>
                </a:endParaRPr>
              </a:p>
              <a:p>
                <a:pPr algn="ctr"/>
                <a:endParaRPr lang="en-CA" sz="2000" b="1" i="1" dirty="0">
                  <a:solidFill>
                    <a:schemeClr val="bg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acc>
                        <m:accPr>
                          <m:chr m:val="̇"/>
                          <m:ctrlPr>
                            <a:rPr lang="en-CA" sz="2000" b="1" i="1" smtClean="0">
                              <a:solidFill>
                                <a:schemeClr val="bg1"/>
                              </a:solidFill>
                              <a:latin typeface="Cambria Math" panose="02040503050406030204" pitchFamily="18" charset="0"/>
                            </a:rPr>
                          </m:ctrlPr>
                        </m:accPr>
                        <m:e>
                          <m:r>
                            <a:rPr lang="en-CA" sz="2000" b="1" i="1" smtClean="0">
                              <a:solidFill>
                                <a:schemeClr val="bg1"/>
                              </a:solidFill>
                              <a:latin typeface="Cambria Math" panose="02040503050406030204" pitchFamily="18" charset="0"/>
                            </a:rPr>
                            <m:t>𝑸</m:t>
                          </m:r>
                        </m:e>
                      </m:acc>
                      <m:r>
                        <a:rPr lang="en-CA" sz="2000" b="1" i="1" smtClean="0">
                          <a:solidFill>
                            <a:schemeClr val="bg1"/>
                          </a:solidFill>
                          <a:latin typeface="Cambria Math" panose="02040503050406030204" pitchFamily="18" charset="0"/>
                        </a:rPr>
                        <m:t> =</m:t>
                      </m:r>
                      <m:acc>
                        <m:accPr>
                          <m:chr m:val="̇"/>
                          <m:ctrlPr>
                            <a:rPr lang="en-CA" sz="2000" b="1" i="1" smtClean="0">
                              <a:solidFill>
                                <a:schemeClr val="bg1"/>
                              </a:solidFill>
                              <a:latin typeface="Cambria Math" panose="02040503050406030204" pitchFamily="18" charset="0"/>
                            </a:rPr>
                          </m:ctrlPr>
                        </m:accPr>
                        <m:e>
                          <m:r>
                            <a:rPr lang="en-CA" sz="2000" b="1" i="1" smtClean="0">
                              <a:solidFill>
                                <a:schemeClr val="bg1"/>
                              </a:solidFill>
                              <a:latin typeface="Cambria Math" panose="02040503050406030204" pitchFamily="18" charset="0"/>
                            </a:rPr>
                            <m:t>𝒎</m:t>
                          </m:r>
                        </m:e>
                      </m:acc>
                      <m:r>
                        <a:rPr lang="en-CA" sz="2000" b="1" i="1" smtClean="0">
                          <a:solidFill>
                            <a:schemeClr val="bg1"/>
                          </a:solidFill>
                          <a:latin typeface="Cambria Math" panose="02040503050406030204" pitchFamily="18" charset="0"/>
                        </a:rPr>
                        <m:t> </m:t>
                      </m:r>
                      <m:sSub>
                        <m:sSubPr>
                          <m:ctrlPr>
                            <a:rPr lang="en-CA" sz="2000" b="1" i="1" smtClean="0">
                              <a:solidFill>
                                <a:schemeClr val="bg1"/>
                              </a:solidFill>
                              <a:latin typeface="Cambria Math" panose="02040503050406030204" pitchFamily="18" charset="0"/>
                            </a:rPr>
                          </m:ctrlPr>
                        </m:sSubPr>
                        <m:e>
                          <m:r>
                            <a:rPr lang="en-CA" sz="2000" b="1" i="1" smtClean="0">
                              <a:solidFill>
                                <a:schemeClr val="bg1"/>
                              </a:solidFill>
                              <a:latin typeface="Cambria Math" panose="02040503050406030204" pitchFamily="18" charset="0"/>
                            </a:rPr>
                            <m:t>𝑪</m:t>
                          </m:r>
                        </m:e>
                        <m:sub>
                          <m:r>
                            <a:rPr lang="en-CA" sz="2000" b="1" i="1" smtClean="0">
                              <a:solidFill>
                                <a:schemeClr val="bg1"/>
                              </a:solidFill>
                              <a:latin typeface="Cambria Math" panose="02040503050406030204" pitchFamily="18" charset="0"/>
                            </a:rPr>
                            <m:t>𝒑</m:t>
                          </m:r>
                        </m:sub>
                      </m:sSub>
                      <m:d>
                        <m:dPr>
                          <m:ctrlPr>
                            <a:rPr lang="en-CA" sz="2000" b="1" i="1" smtClean="0">
                              <a:solidFill>
                                <a:schemeClr val="bg1"/>
                              </a:solidFill>
                              <a:latin typeface="Cambria Math" panose="02040503050406030204" pitchFamily="18" charset="0"/>
                            </a:rPr>
                          </m:ctrlPr>
                        </m:dPr>
                        <m:e>
                          <m:sSub>
                            <m:sSubPr>
                              <m:ctrlPr>
                                <a:rPr lang="en-CA" sz="2000" b="1" i="1" smtClean="0">
                                  <a:solidFill>
                                    <a:schemeClr val="bg1"/>
                                  </a:solidFill>
                                  <a:latin typeface="Cambria Math" panose="02040503050406030204" pitchFamily="18" charset="0"/>
                                </a:rPr>
                              </m:ctrlPr>
                            </m:sSubPr>
                            <m:e>
                              <m:r>
                                <a:rPr lang="en-CA" sz="2000" b="1" i="1" smtClean="0">
                                  <a:solidFill>
                                    <a:schemeClr val="bg1"/>
                                  </a:solidFill>
                                  <a:latin typeface="Cambria Math" panose="02040503050406030204" pitchFamily="18" charset="0"/>
                                </a:rPr>
                                <m:t>𝑻</m:t>
                              </m:r>
                            </m:e>
                            <m:sub>
                              <m:r>
                                <a:rPr lang="en-CA" sz="2000" b="1" i="1" smtClean="0">
                                  <a:solidFill>
                                    <a:schemeClr val="bg1"/>
                                  </a:solidFill>
                                  <a:latin typeface="Cambria Math" panose="02040503050406030204" pitchFamily="18" charset="0"/>
                                </a:rPr>
                                <m:t>𝒇</m:t>
                              </m:r>
                            </m:sub>
                          </m:sSub>
                          <m:r>
                            <a:rPr lang="en-CA" sz="2000" b="1" i="1" smtClean="0">
                              <a:solidFill>
                                <a:schemeClr val="bg1"/>
                              </a:solidFill>
                              <a:latin typeface="Cambria Math" panose="02040503050406030204" pitchFamily="18" charset="0"/>
                            </a:rPr>
                            <m:t>−</m:t>
                          </m:r>
                          <m:sSub>
                            <m:sSubPr>
                              <m:ctrlPr>
                                <a:rPr lang="en-CA" sz="2000" b="1" i="1">
                                  <a:solidFill>
                                    <a:schemeClr val="bg1"/>
                                  </a:solidFill>
                                  <a:latin typeface="Cambria Math" panose="02040503050406030204" pitchFamily="18" charset="0"/>
                                </a:rPr>
                              </m:ctrlPr>
                            </m:sSubPr>
                            <m:e>
                              <m:r>
                                <a:rPr lang="en-CA" sz="2000" b="1" i="1">
                                  <a:solidFill>
                                    <a:schemeClr val="bg1"/>
                                  </a:solidFill>
                                  <a:latin typeface="Cambria Math" panose="02040503050406030204" pitchFamily="18" charset="0"/>
                                </a:rPr>
                                <m:t>𝑻</m:t>
                              </m:r>
                            </m:e>
                            <m:sub>
                              <m:r>
                                <a:rPr lang="en-CA" sz="2000" b="1" i="1" smtClean="0">
                                  <a:solidFill>
                                    <a:schemeClr val="bg1"/>
                                  </a:solidFill>
                                  <a:latin typeface="Cambria Math" panose="02040503050406030204" pitchFamily="18" charset="0"/>
                                </a:rPr>
                                <m:t>𝒊</m:t>
                              </m:r>
                            </m:sub>
                          </m:sSub>
                        </m:e>
                      </m:d>
                      <m:r>
                        <a:rPr lang="en-CA" sz="2000" b="1" i="1" smtClean="0">
                          <a:solidFill>
                            <a:schemeClr val="bg1"/>
                          </a:solidFill>
                          <a:latin typeface="Cambria Math" panose="02040503050406030204" pitchFamily="18" charset="0"/>
                        </a:rPr>
                        <m:t>=</m:t>
                      </m:r>
                      <m:acc>
                        <m:accPr>
                          <m:chr m:val="̇"/>
                          <m:ctrlPr>
                            <a:rPr lang="en-CA" sz="2000" b="1" i="1">
                              <a:solidFill>
                                <a:schemeClr val="bg1"/>
                              </a:solidFill>
                              <a:latin typeface="Cambria Math" panose="02040503050406030204" pitchFamily="18" charset="0"/>
                            </a:rPr>
                          </m:ctrlPr>
                        </m:accPr>
                        <m:e>
                          <m:r>
                            <a:rPr lang="en-CA" sz="2000" b="1" i="1">
                              <a:solidFill>
                                <a:schemeClr val="bg1"/>
                              </a:solidFill>
                              <a:latin typeface="Cambria Math" panose="02040503050406030204" pitchFamily="18" charset="0"/>
                            </a:rPr>
                            <m:t>𝒎</m:t>
                          </m:r>
                        </m:e>
                      </m:acc>
                      <m:sSub>
                        <m:sSubPr>
                          <m:ctrlPr>
                            <a:rPr lang="en-CA" sz="2000" b="1" i="1">
                              <a:solidFill>
                                <a:schemeClr val="bg1"/>
                              </a:solidFill>
                              <a:latin typeface="Cambria Math" panose="02040503050406030204" pitchFamily="18" charset="0"/>
                            </a:rPr>
                          </m:ctrlPr>
                        </m:sSubPr>
                        <m:e>
                          <m:r>
                            <a:rPr lang="en-CA" sz="2000" b="1" i="1">
                              <a:solidFill>
                                <a:schemeClr val="bg1"/>
                              </a:solidFill>
                              <a:latin typeface="Cambria Math" panose="02040503050406030204" pitchFamily="18" charset="0"/>
                            </a:rPr>
                            <m:t>𝑪</m:t>
                          </m:r>
                        </m:e>
                        <m:sub>
                          <m:r>
                            <a:rPr lang="en-CA" sz="2000" b="1" i="1">
                              <a:solidFill>
                                <a:schemeClr val="bg1"/>
                              </a:solidFill>
                              <a:latin typeface="Cambria Math" panose="02040503050406030204" pitchFamily="18" charset="0"/>
                            </a:rPr>
                            <m:t>𝒑</m:t>
                          </m:r>
                        </m:sub>
                      </m:sSub>
                      <m:r>
                        <a:rPr lang="en-CA" sz="2000" b="1" i="1" smtClean="0">
                          <a:solidFill>
                            <a:schemeClr val="bg1"/>
                          </a:solidFill>
                          <a:latin typeface="Cambria Math" panose="02040503050406030204" pitchFamily="18" charset="0"/>
                          <a:ea typeface="Cambria Math" panose="02040503050406030204" pitchFamily="18" charset="0"/>
                        </a:rPr>
                        <m:t>∆</m:t>
                      </m:r>
                      <m:r>
                        <a:rPr lang="en-CA" sz="2000" b="1" i="1" smtClean="0">
                          <a:solidFill>
                            <a:schemeClr val="bg1"/>
                          </a:solidFill>
                          <a:latin typeface="Cambria Math" panose="02040503050406030204" pitchFamily="18" charset="0"/>
                          <a:ea typeface="Cambria Math" panose="02040503050406030204" pitchFamily="18" charset="0"/>
                        </a:rPr>
                        <m:t>𝑻</m:t>
                      </m:r>
                    </m:oMath>
                  </m:oMathPara>
                </a14:m>
                <a:endParaRPr lang="en-CA" sz="2000" b="1" dirty="0">
                  <a:solidFill>
                    <a:schemeClr val="bg1"/>
                  </a:solidFill>
                  <a:ea typeface="Cambria Math" panose="02040503050406030204" pitchFamily="18" charset="0"/>
                </a:endParaRPr>
              </a:p>
              <a:p>
                <a:pPr algn="ctr"/>
                <a:endParaRPr lang="en-CA" sz="2000" b="1" dirty="0">
                  <a:solidFill>
                    <a:schemeClr val="bg1"/>
                  </a:solidFill>
                  <a:ea typeface="Cambria Math" panose="02040503050406030204" pitchFamily="18" charset="0"/>
                </a:endParaRPr>
              </a:p>
              <a:p>
                <a:pPr algn="ctr"/>
                <a14:m>
                  <m:oMath xmlns:m="http://schemas.openxmlformats.org/officeDocument/2006/math">
                    <m:acc>
                      <m:accPr>
                        <m:chr m:val="̇"/>
                        <m:ctrlPr>
                          <a:rPr lang="en-CA" sz="2000" b="1" i="1" smtClean="0">
                            <a:solidFill>
                              <a:schemeClr val="bg1"/>
                            </a:solidFill>
                            <a:latin typeface="Cambria Math" panose="02040503050406030204" pitchFamily="18" charset="0"/>
                          </a:rPr>
                        </m:ctrlPr>
                      </m:accPr>
                      <m:e>
                        <m:r>
                          <a:rPr lang="en-CA" sz="2000" b="1" i="1" smtClean="0">
                            <a:solidFill>
                              <a:schemeClr val="bg1"/>
                            </a:solidFill>
                            <a:latin typeface="Cambria Math" panose="02040503050406030204" pitchFamily="18" charset="0"/>
                          </a:rPr>
                          <m:t>𝒎</m:t>
                        </m:r>
                      </m:e>
                    </m:acc>
                  </m:oMath>
                </a14:m>
                <a:r>
                  <a:rPr lang="en-CA" sz="2000" b="1" dirty="0">
                    <a:solidFill>
                      <a:schemeClr val="bg1"/>
                    </a:solidFill>
                  </a:rPr>
                  <a:t> = </a:t>
                </a:r>
                <a14:m>
                  <m:oMath xmlns:m="http://schemas.openxmlformats.org/officeDocument/2006/math">
                    <m:r>
                      <a:rPr lang="el-GR" sz="2000" b="1" i="1">
                        <a:solidFill>
                          <a:schemeClr val="bg1"/>
                        </a:solidFill>
                        <a:latin typeface="Cambria Math" panose="02040503050406030204" pitchFamily="18" charset="0"/>
                        <a:ea typeface="Cambria Math" panose="02040503050406030204" pitchFamily="18" charset="0"/>
                      </a:rPr>
                      <m:t>𝝆</m:t>
                    </m:r>
                  </m:oMath>
                </a14:m>
                <a:r>
                  <a:rPr lang="en-CA" sz="2000" b="1" dirty="0">
                    <a:solidFill>
                      <a:schemeClr val="bg1"/>
                    </a:solidFill>
                  </a:rPr>
                  <a:t> </a:t>
                </a:r>
                <a14:m>
                  <m:oMath xmlns:m="http://schemas.openxmlformats.org/officeDocument/2006/math">
                    <m:acc>
                      <m:accPr>
                        <m:chr m:val="̇"/>
                        <m:ctrlPr>
                          <a:rPr lang="en-CA" sz="2000" b="1" i="1">
                            <a:solidFill>
                              <a:schemeClr val="bg1"/>
                            </a:solidFill>
                            <a:latin typeface="Cambria Math" panose="02040503050406030204" pitchFamily="18" charset="0"/>
                          </a:rPr>
                        </m:ctrlPr>
                      </m:accPr>
                      <m:e>
                        <m:r>
                          <a:rPr lang="en-CA" sz="2000" b="1" i="1" smtClean="0">
                            <a:solidFill>
                              <a:schemeClr val="bg1"/>
                            </a:solidFill>
                            <a:latin typeface="Cambria Math" panose="02040503050406030204" pitchFamily="18" charset="0"/>
                          </a:rPr>
                          <m:t>𝑽</m:t>
                        </m:r>
                      </m:e>
                    </m:acc>
                  </m:oMath>
                </a14:m>
                <a:r>
                  <a:rPr lang="en-CA" sz="2000" b="1" dirty="0">
                    <a:solidFill>
                      <a:schemeClr val="bg1"/>
                    </a:solidFill>
                  </a:rPr>
                  <a:t> </a:t>
                </a:r>
              </a:p>
            </p:txBody>
          </p:sp>
        </mc:Choice>
        <mc:Fallback>
          <p:sp>
            <p:nvSpPr>
              <p:cNvPr id="6" name="TextBox 5">
                <a:extLst>
                  <a:ext uri="{FF2B5EF4-FFF2-40B4-BE49-F238E27FC236}">
                    <a16:creationId xmlns:a16="http://schemas.microsoft.com/office/drawing/2014/main" id="{11634B34-016C-4C03-87B5-3A16579285E4}"/>
                  </a:ext>
                </a:extLst>
              </p:cNvPr>
              <p:cNvSpPr txBox="1">
                <a:spLocks noRot="1" noChangeAspect="1" noMove="1" noResize="1" noEditPoints="1" noAdjustHandles="1" noChangeArrowheads="1" noChangeShapeType="1" noTextEdit="1"/>
              </p:cNvSpPr>
              <p:nvPr/>
            </p:nvSpPr>
            <p:spPr>
              <a:xfrm>
                <a:off x="2850213" y="2895600"/>
                <a:ext cx="3443571" cy="1651093"/>
              </a:xfrm>
              <a:prstGeom prst="rect">
                <a:avLst/>
              </a:prstGeom>
              <a:blipFill>
                <a:blip r:embed="rId3"/>
                <a:stretch>
                  <a:fillRect l="-1950" r="-1418" b="-8487"/>
                </a:stretch>
              </a:blipFill>
            </p:spPr>
            <p:txBody>
              <a:bodyPr/>
              <a:lstStyle/>
              <a:p>
                <a:r>
                  <a:rPr lang="en-CA">
                    <a:noFill/>
                  </a:rPr>
                  <a:t> </a:t>
                </a:r>
              </a:p>
            </p:txBody>
          </p:sp>
        </mc:Fallback>
      </mc:AlternateContent>
    </p:spTree>
    <p:extLst>
      <p:ext uri="{BB962C8B-B14F-4D97-AF65-F5344CB8AC3E}">
        <p14:creationId xmlns:p14="http://schemas.microsoft.com/office/powerpoint/2010/main" val="36026871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122D24B2-5D52-46F7-B915-67CABB3AD0CF}" type="slidenum">
              <a:rPr lang="en-US" smtClean="0"/>
              <a:pPr/>
              <a:t>10</a:t>
            </a:fld>
            <a:endParaRPr lang="en-US" dirty="0"/>
          </a:p>
        </p:txBody>
      </p:sp>
      <p:sp>
        <p:nvSpPr>
          <p:cNvPr id="3" name="Text Placeholder 2"/>
          <p:cNvSpPr>
            <a:spLocks noGrp="1"/>
          </p:cNvSpPr>
          <p:nvPr>
            <p:ph type="body" sz="quarter" idx="13"/>
          </p:nvPr>
        </p:nvSpPr>
        <p:spPr>
          <a:xfrm>
            <a:off x="476250" y="1828800"/>
            <a:ext cx="8077200" cy="4157662"/>
          </a:xfrm>
        </p:spPr>
        <p:txBody>
          <a:bodyPr/>
          <a:lstStyle/>
          <a:p>
            <a:pPr>
              <a:spcBef>
                <a:spcPts val="0"/>
              </a:spcBef>
              <a:spcAft>
                <a:spcPts val="600"/>
              </a:spcAft>
              <a:buFont typeface="Arial" panose="020B0604020202020204" pitchFamily="34" charset="0"/>
              <a:buChar char="•"/>
            </a:pPr>
            <a:r>
              <a:rPr lang="en-US" b="1" dirty="0"/>
              <a:t>British thermal unit (Btu)</a:t>
            </a:r>
          </a:p>
          <a:p>
            <a:pPr indent="0">
              <a:spcBef>
                <a:spcPts val="0"/>
              </a:spcBef>
              <a:spcAft>
                <a:spcPts val="1800"/>
              </a:spcAft>
              <a:buNone/>
            </a:pPr>
            <a:r>
              <a:rPr lang="en-US" sz="2000" dirty="0"/>
              <a:t>The amount of thermal energy needed to raise the temperature of one pound mass (</a:t>
            </a:r>
            <a:r>
              <a:rPr lang="en-US" sz="2000" dirty="0" err="1"/>
              <a:t>lbm</a:t>
            </a:r>
            <a:r>
              <a:rPr lang="en-US" sz="2000" dirty="0"/>
              <a:t>) of water by one degree Fahrenheit (°F).</a:t>
            </a:r>
            <a:endParaRPr lang="en-US" sz="1400" dirty="0"/>
          </a:p>
          <a:p>
            <a:pPr>
              <a:spcBef>
                <a:spcPts val="0"/>
              </a:spcBef>
              <a:spcAft>
                <a:spcPts val="600"/>
              </a:spcAft>
              <a:buFont typeface="Arial" panose="020B0604020202020204" pitchFamily="34" charset="0"/>
              <a:buChar char="•"/>
            </a:pPr>
            <a:r>
              <a:rPr lang="en-US" dirty="0"/>
              <a:t>Calorie</a:t>
            </a:r>
          </a:p>
          <a:p>
            <a:pPr indent="0">
              <a:spcBef>
                <a:spcPts val="0"/>
              </a:spcBef>
              <a:spcAft>
                <a:spcPts val="600"/>
              </a:spcAft>
              <a:buNone/>
            </a:pPr>
            <a:r>
              <a:rPr lang="en-US" sz="2000" dirty="0"/>
              <a:t>The amount of heat required to raise the temperature of one gram (g) of water by one degree Celsius (°C). </a:t>
            </a:r>
          </a:p>
          <a:p>
            <a:pPr indent="0">
              <a:spcBef>
                <a:spcPts val="0"/>
              </a:spcBef>
              <a:spcAft>
                <a:spcPts val="1800"/>
              </a:spcAft>
              <a:buNone/>
            </a:pPr>
            <a:r>
              <a:rPr lang="en-US" sz="2000" b="1" dirty="0">
                <a:solidFill>
                  <a:srgbClr val="0070C0"/>
                </a:solidFill>
              </a:rPr>
              <a:t>1,000 calories = 1 Calorie</a:t>
            </a:r>
            <a:endParaRPr lang="en-US" sz="1200" b="1" dirty="0">
              <a:solidFill>
                <a:srgbClr val="0070C0"/>
              </a:solidFill>
            </a:endParaRPr>
          </a:p>
          <a:p>
            <a:pPr>
              <a:spcBef>
                <a:spcPts val="0"/>
              </a:spcBef>
              <a:spcAft>
                <a:spcPts val="600"/>
              </a:spcAft>
              <a:buFont typeface="Arial" panose="020B0604020202020204" pitchFamily="34" charset="0"/>
              <a:buChar char="•"/>
            </a:pPr>
            <a:r>
              <a:rPr lang="en-US" dirty="0"/>
              <a:t>SI unit: joule (J)</a:t>
            </a:r>
          </a:p>
          <a:p>
            <a:pPr>
              <a:spcBef>
                <a:spcPts val="0"/>
              </a:spcBef>
              <a:buNone/>
            </a:pPr>
            <a:r>
              <a:rPr lang="fr-FR" dirty="0"/>
              <a:t>	</a:t>
            </a:r>
            <a:r>
              <a:rPr lang="fr-FR" sz="2000" dirty="0"/>
              <a:t>1 Btu = 1,055 joules		1 Btu = 252 calories</a:t>
            </a:r>
          </a:p>
          <a:p>
            <a:pPr>
              <a:spcBef>
                <a:spcPts val="0"/>
              </a:spcBef>
              <a:buNone/>
            </a:pPr>
            <a:r>
              <a:rPr lang="fr-FR" sz="2000" dirty="0"/>
              <a:t>	</a:t>
            </a:r>
            <a:r>
              <a:rPr lang="fr-FR" sz="2000" b="1" dirty="0">
                <a:solidFill>
                  <a:srgbClr val="0070C0"/>
                </a:solidFill>
              </a:rPr>
              <a:t>1 calorie = 4.186 joules</a:t>
            </a:r>
            <a:endParaRPr lang="en-US" sz="2000" b="1" dirty="0">
              <a:solidFill>
                <a:srgbClr val="0070C0"/>
              </a:solidFill>
            </a:endParaRPr>
          </a:p>
          <a:p>
            <a:pPr marL="0" indent="0">
              <a:buNone/>
            </a:pPr>
            <a:r>
              <a:rPr lang="en-US" dirty="0"/>
              <a:t>	</a:t>
            </a:r>
          </a:p>
          <a:p>
            <a:pPr marL="0" indent="0">
              <a:buNone/>
            </a:pPr>
            <a:endParaRPr lang="en-US" sz="2000" dirty="0"/>
          </a:p>
          <a:p>
            <a:endParaRPr lang="en-US" sz="1800" dirty="0"/>
          </a:p>
          <a:p>
            <a:endParaRPr lang="en-US" dirty="0"/>
          </a:p>
          <a:p>
            <a:endParaRPr lang="en-US" dirty="0"/>
          </a:p>
        </p:txBody>
      </p:sp>
      <p:sp>
        <p:nvSpPr>
          <p:cNvPr id="4" name="Title 3"/>
          <p:cNvSpPr>
            <a:spLocks noGrp="1"/>
          </p:cNvSpPr>
          <p:nvPr>
            <p:ph type="title"/>
          </p:nvPr>
        </p:nvSpPr>
        <p:spPr/>
        <p:txBody>
          <a:bodyPr/>
          <a:lstStyle/>
          <a:p>
            <a:r>
              <a:rPr lang="en-US" dirty="0"/>
              <a:t>Units of Thermal Energy</a:t>
            </a:r>
          </a:p>
        </p:txBody>
      </p:sp>
    </p:spTree>
    <p:extLst>
      <p:ext uri="{BB962C8B-B14F-4D97-AF65-F5344CB8AC3E}">
        <p14:creationId xmlns:p14="http://schemas.microsoft.com/office/powerpoint/2010/main" val="6251151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AE4221C-941D-4989-B0F9-6C023517595F}"/>
              </a:ext>
            </a:extLst>
          </p:cNvPr>
          <p:cNvSpPr>
            <a:spLocks noGrp="1"/>
          </p:cNvSpPr>
          <p:nvPr>
            <p:ph type="sldNum" sz="quarter" idx="12"/>
          </p:nvPr>
        </p:nvSpPr>
        <p:spPr/>
        <p:txBody>
          <a:bodyPr/>
          <a:lstStyle/>
          <a:p>
            <a:fld id="{122D24B2-5D52-46F7-B915-67CABB3AD0CF}" type="slidenum">
              <a:rPr lang="en-US" smtClean="0"/>
              <a:pPr/>
              <a:t>11</a:t>
            </a:fld>
            <a:endParaRPr lang="en-US" dirty="0"/>
          </a:p>
        </p:txBody>
      </p:sp>
      <p:sp>
        <p:nvSpPr>
          <p:cNvPr id="4" name="Title 3">
            <a:extLst>
              <a:ext uri="{FF2B5EF4-FFF2-40B4-BE49-F238E27FC236}">
                <a16:creationId xmlns:a16="http://schemas.microsoft.com/office/drawing/2014/main" id="{86B9303F-E1C3-451D-95CD-3D557C96A591}"/>
              </a:ext>
            </a:extLst>
          </p:cNvPr>
          <p:cNvSpPr>
            <a:spLocks noGrp="1"/>
          </p:cNvSpPr>
          <p:nvPr>
            <p:ph type="title"/>
          </p:nvPr>
        </p:nvSpPr>
        <p:spPr/>
        <p:txBody>
          <a:bodyPr/>
          <a:lstStyle/>
          <a:p>
            <a:r>
              <a:rPr lang="en-US" dirty="0"/>
              <a:t>U.S. Standard Customary Units</a:t>
            </a:r>
            <a:endParaRPr lang="en-CA" dirty="0"/>
          </a:p>
        </p:txBody>
      </p:sp>
      <p:sp>
        <p:nvSpPr>
          <p:cNvPr id="6" name="TextBox 5">
            <a:extLst>
              <a:ext uri="{FF2B5EF4-FFF2-40B4-BE49-F238E27FC236}">
                <a16:creationId xmlns:a16="http://schemas.microsoft.com/office/drawing/2014/main" id="{0AFE66B4-2300-4ED4-B703-6339EC75E77C}"/>
              </a:ext>
            </a:extLst>
          </p:cNvPr>
          <p:cNvSpPr txBox="1"/>
          <p:nvPr/>
        </p:nvSpPr>
        <p:spPr>
          <a:xfrm>
            <a:off x="407377" y="1600200"/>
            <a:ext cx="8012723" cy="3139321"/>
          </a:xfrm>
          <a:prstGeom prst="rect">
            <a:avLst/>
          </a:prstGeom>
          <a:noFill/>
        </p:spPr>
        <p:txBody>
          <a:bodyPr wrap="square">
            <a:spAutoFit/>
          </a:bodyPr>
          <a:lstStyle/>
          <a:p>
            <a:r>
              <a:rPr lang="en-CA" dirty="0">
                <a:solidFill>
                  <a:schemeClr val="bg1"/>
                </a:solidFill>
              </a:rPr>
              <a:t>One BTU is defined as sufficient energy to raise the temperature of </a:t>
            </a:r>
            <a:r>
              <a:rPr lang="en-CA" b="1" dirty="0">
                <a:solidFill>
                  <a:schemeClr val="bg1"/>
                </a:solidFill>
              </a:rPr>
              <a:t>1 </a:t>
            </a:r>
            <a:r>
              <a:rPr lang="en-CA" b="1" dirty="0" err="1">
                <a:solidFill>
                  <a:schemeClr val="bg1"/>
                </a:solidFill>
              </a:rPr>
              <a:t>lbm</a:t>
            </a:r>
            <a:r>
              <a:rPr lang="en-CA" b="1" dirty="0">
                <a:solidFill>
                  <a:schemeClr val="bg1"/>
                </a:solidFill>
              </a:rPr>
              <a:t> of water by 1°F at a starting temperature of 39.1°F</a:t>
            </a:r>
            <a:r>
              <a:rPr lang="en-CA" dirty="0">
                <a:solidFill>
                  <a:schemeClr val="bg1"/>
                </a:solidFill>
              </a:rPr>
              <a:t>. At other starting temperatures, the amount of heat required varies slightly from 1 BTU, but this discrepancy is small and is ignored in this course.</a:t>
            </a:r>
          </a:p>
          <a:p>
            <a:endParaRPr lang="en-CA" dirty="0">
              <a:solidFill>
                <a:schemeClr val="bg1"/>
              </a:solidFill>
            </a:endParaRPr>
          </a:p>
          <a:p>
            <a:r>
              <a:rPr lang="en-CA" b="1" dirty="0">
                <a:solidFill>
                  <a:schemeClr val="bg1"/>
                </a:solidFill>
              </a:rPr>
              <a:t>1 BTU is equivalent to 1055 J</a:t>
            </a:r>
            <a:r>
              <a:rPr lang="en-CA" dirty="0">
                <a:solidFill>
                  <a:schemeClr val="bg1"/>
                </a:solidFill>
              </a:rPr>
              <a:t>. The units BTU/second (equivalent to 1.055 kW) and BTU/hour (equivalent to 3.798 MW) can be used to measure power. </a:t>
            </a:r>
          </a:p>
          <a:p>
            <a:endParaRPr lang="en-CA" dirty="0">
              <a:solidFill>
                <a:schemeClr val="bg1"/>
              </a:solidFill>
            </a:endParaRPr>
          </a:p>
          <a:p>
            <a:r>
              <a:rPr lang="en-CA" dirty="0">
                <a:solidFill>
                  <a:schemeClr val="bg1"/>
                </a:solidFill>
              </a:rPr>
              <a:t>A unit of </a:t>
            </a:r>
            <a:r>
              <a:rPr lang="en-CA" b="1" dirty="0">
                <a:solidFill>
                  <a:schemeClr val="bg1"/>
                </a:solidFill>
              </a:rPr>
              <a:t>1 quadrillion BTU (10</a:t>
            </a:r>
            <a:r>
              <a:rPr lang="en-CA" b="1" baseline="30000" dirty="0">
                <a:solidFill>
                  <a:schemeClr val="bg1"/>
                </a:solidFill>
              </a:rPr>
              <a:t>15</a:t>
            </a:r>
            <a:r>
              <a:rPr lang="en-CA" b="1" dirty="0">
                <a:solidFill>
                  <a:schemeClr val="bg1"/>
                </a:solidFill>
              </a:rPr>
              <a:t> BTU) </a:t>
            </a:r>
            <a:r>
              <a:rPr lang="en-CA" dirty="0">
                <a:solidFill>
                  <a:schemeClr val="bg1"/>
                </a:solidFill>
              </a:rPr>
              <a:t>is called a </a:t>
            </a:r>
            <a:r>
              <a:rPr lang="en-CA" b="1" dirty="0">
                <a:solidFill>
                  <a:schemeClr val="bg1"/>
                </a:solidFill>
              </a:rPr>
              <a:t>quad</a:t>
            </a:r>
            <a:r>
              <a:rPr lang="en-CA" dirty="0">
                <a:solidFill>
                  <a:schemeClr val="bg1"/>
                </a:solidFill>
              </a:rPr>
              <a:t>. Typical quantities associated with increasing orders of magnitude of BTU measurements are given in Table 1-5.</a:t>
            </a:r>
          </a:p>
        </p:txBody>
      </p:sp>
      <p:pic>
        <p:nvPicPr>
          <p:cNvPr id="5" name="Picture 4">
            <a:extLst>
              <a:ext uri="{FF2B5EF4-FFF2-40B4-BE49-F238E27FC236}">
                <a16:creationId xmlns:a16="http://schemas.microsoft.com/office/drawing/2014/main" id="{5797982A-CD4C-4933-A6FA-266E1478B5BA}"/>
              </a:ext>
            </a:extLst>
          </p:cNvPr>
          <p:cNvPicPr>
            <a:picLocks noChangeAspect="1"/>
          </p:cNvPicPr>
          <p:nvPr/>
        </p:nvPicPr>
        <p:blipFill>
          <a:blip r:embed="rId2"/>
          <a:stretch>
            <a:fillRect/>
          </a:stretch>
        </p:blipFill>
        <p:spPr>
          <a:xfrm>
            <a:off x="1809750" y="4518620"/>
            <a:ext cx="6115050" cy="1638300"/>
          </a:xfrm>
          <a:prstGeom prst="rect">
            <a:avLst/>
          </a:prstGeom>
        </p:spPr>
      </p:pic>
    </p:spTree>
    <p:extLst>
      <p:ext uri="{BB962C8B-B14F-4D97-AF65-F5344CB8AC3E}">
        <p14:creationId xmlns:p14="http://schemas.microsoft.com/office/powerpoint/2010/main" val="15324694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122D24B2-5D52-46F7-B915-67CABB3AD0CF}" type="slidenum">
              <a:rPr lang="en-US" smtClean="0"/>
              <a:pPr/>
              <a:t>12</a:t>
            </a:fld>
            <a:endParaRPr lang="en-US" dirty="0"/>
          </a:p>
        </p:txBody>
      </p:sp>
      <p:sp>
        <p:nvSpPr>
          <p:cNvPr id="3" name="Text Placeholder 2"/>
          <p:cNvSpPr>
            <a:spLocks noGrp="1"/>
          </p:cNvSpPr>
          <p:nvPr>
            <p:ph type="body" sz="quarter" idx="13"/>
          </p:nvPr>
        </p:nvSpPr>
        <p:spPr>
          <a:xfrm>
            <a:off x="259104" y="1952005"/>
            <a:ext cx="7972425" cy="4495800"/>
          </a:xfrm>
        </p:spPr>
        <p:txBody>
          <a:bodyPr/>
          <a:lstStyle/>
          <a:p>
            <a:r>
              <a:rPr lang="en-US" dirty="0"/>
              <a:t>Heating value of a fuel</a:t>
            </a:r>
            <a:r>
              <a:rPr lang="en-US" b="1" i="1" dirty="0"/>
              <a:t> </a:t>
            </a:r>
          </a:p>
          <a:p>
            <a:pPr indent="0">
              <a:buNone/>
            </a:pPr>
            <a:r>
              <a:rPr lang="en-US" dirty="0"/>
              <a:t>The amount of energy that is released when a unit mass (kilogram or pound) or a unit volume (cubic meter, cubic foot, or gallon) of a fuel is burned</a:t>
            </a:r>
          </a:p>
          <a:p>
            <a:pPr>
              <a:spcBef>
                <a:spcPct val="10000"/>
              </a:spcBef>
              <a:spcAft>
                <a:spcPct val="10000"/>
              </a:spcAft>
            </a:pPr>
            <a:r>
              <a:rPr lang="en-US" sz="2400" b="1" dirty="0">
                <a:solidFill>
                  <a:srgbClr val="0070C0"/>
                </a:solidFill>
                <a:latin typeface="Arial" panose="020B0604020202020204" pitchFamily="34" charset="0"/>
                <a:ea typeface="Verdana" panose="020B0604030504040204" pitchFamily="34" charset="0"/>
                <a:cs typeface="Arial" panose="020B0604020202020204" pitchFamily="34" charset="0"/>
              </a:rPr>
              <a:t>Lower heating value (LHV): </a:t>
            </a:r>
            <a:r>
              <a:rPr lang="en-US" sz="2400" dirty="0">
                <a:solidFill>
                  <a:schemeClr val="bg1"/>
                </a:solidFill>
                <a:latin typeface="Arial" panose="020B0604020202020204" pitchFamily="34" charset="0"/>
                <a:ea typeface="Verdana" panose="020B0604030504040204" pitchFamily="34" charset="0"/>
                <a:cs typeface="Arial" panose="020B0604020202020204" pitchFamily="34" charset="0"/>
              </a:rPr>
              <a:t>When the water leaves as a vapor.</a:t>
            </a:r>
          </a:p>
          <a:p>
            <a:pPr>
              <a:spcBef>
                <a:spcPct val="10000"/>
              </a:spcBef>
              <a:spcAft>
                <a:spcPct val="10000"/>
              </a:spcAft>
            </a:pPr>
            <a:r>
              <a:rPr lang="en-US" sz="2400" b="1" dirty="0">
                <a:solidFill>
                  <a:srgbClr val="0070C0"/>
                </a:solidFill>
                <a:latin typeface="Arial" panose="020B0604020202020204" pitchFamily="34" charset="0"/>
                <a:ea typeface="Verdana" panose="020B0604030504040204" pitchFamily="34" charset="0"/>
                <a:cs typeface="Arial" panose="020B0604020202020204" pitchFamily="34" charset="0"/>
              </a:rPr>
              <a:t>Higher heating value (HHV): </a:t>
            </a:r>
            <a:r>
              <a:rPr lang="en-US" sz="2400" dirty="0">
                <a:solidFill>
                  <a:schemeClr val="bg1"/>
                </a:solidFill>
                <a:latin typeface="Arial" panose="020B0604020202020204" pitchFamily="34" charset="0"/>
                <a:ea typeface="Verdana" panose="020B0604030504040204" pitchFamily="34" charset="0"/>
                <a:cs typeface="Arial" panose="020B0604020202020204" pitchFamily="34" charset="0"/>
              </a:rPr>
              <a:t>When the water in the combustion gases is completely condensed and thus the heat of vaporization is also recovered.</a:t>
            </a:r>
          </a:p>
          <a:p>
            <a:pPr indent="0">
              <a:buNone/>
            </a:pPr>
            <a:endParaRPr lang="en-US" dirty="0"/>
          </a:p>
          <a:p>
            <a:pPr indent="0">
              <a:buNone/>
            </a:pPr>
            <a:endParaRPr lang="en-US" dirty="0"/>
          </a:p>
        </p:txBody>
      </p:sp>
      <p:sp>
        <p:nvSpPr>
          <p:cNvPr id="4" name="Title 3"/>
          <p:cNvSpPr>
            <a:spLocks noGrp="1"/>
          </p:cNvSpPr>
          <p:nvPr>
            <p:ph type="title"/>
          </p:nvPr>
        </p:nvSpPr>
        <p:spPr>
          <a:xfrm>
            <a:off x="142875" y="1064210"/>
            <a:ext cx="8743950" cy="979250"/>
          </a:xfrm>
        </p:spPr>
        <p:txBody>
          <a:bodyPr/>
          <a:lstStyle/>
          <a:p>
            <a:r>
              <a:rPr lang="en-US" dirty="0"/>
              <a:t>Energy Content </a:t>
            </a:r>
            <a:r>
              <a:rPr lang="en-US" sz="3200" dirty="0"/>
              <a:t>(Heating Values) </a:t>
            </a:r>
            <a:r>
              <a:rPr lang="en-US" dirty="0"/>
              <a:t>of Fuels</a:t>
            </a:r>
          </a:p>
        </p:txBody>
      </p:sp>
      <p:pic>
        <p:nvPicPr>
          <p:cNvPr id="6" name="Picture 8">
            <a:extLst>
              <a:ext uri="{FF2B5EF4-FFF2-40B4-BE49-F238E27FC236}">
                <a16:creationId xmlns:a16="http://schemas.microsoft.com/office/drawing/2014/main" id="{E22EF0E8-1932-4777-B4EC-75E37618E2B0}"/>
              </a:ext>
            </a:extLst>
          </p:cNvPr>
          <p:cNvPicPr>
            <a:picLocks noChangeAspect="1" noChangeArrowheads="1"/>
          </p:cNvPicPr>
          <p:nvPr/>
        </p:nvPicPr>
        <p:blipFill>
          <a:blip r:embed="rId2"/>
          <a:srcRect/>
          <a:stretch>
            <a:fillRect/>
          </a:stretch>
        </p:blipFill>
        <p:spPr bwMode="auto">
          <a:xfrm>
            <a:off x="606766" y="5750146"/>
            <a:ext cx="7277100" cy="781050"/>
          </a:xfrm>
          <a:prstGeom prst="rect">
            <a:avLst/>
          </a:prstGeom>
          <a:noFill/>
          <a:ln w="9525">
            <a:noFill/>
            <a:miter lim="800000"/>
            <a:headEnd/>
            <a:tailEnd/>
          </a:ln>
        </p:spPr>
      </p:pic>
    </p:spTree>
    <p:extLst>
      <p:ext uri="{BB962C8B-B14F-4D97-AF65-F5344CB8AC3E}">
        <p14:creationId xmlns:p14="http://schemas.microsoft.com/office/powerpoint/2010/main" val="1484672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122D24B2-5D52-46F7-B915-67CABB3AD0CF}" type="slidenum">
              <a:rPr lang="en-US" smtClean="0"/>
              <a:pPr/>
              <a:t>13</a:t>
            </a:fld>
            <a:endParaRPr lang="en-US" dirty="0"/>
          </a:p>
        </p:txBody>
      </p:sp>
      <p:sp>
        <p:nvSpPr>
          <p:cNvPr id="9" name="Text Placeholder 8"/>
          <p:cNvSpPr>
            <a:spLocks noGrp="1"/>
          </p:cNvSpPr>
          <p:nvPr>
            <p:ph type="body" sz="quarter" idx="13"/>
          </p:nvPr>
        </p:nvSpPr>
        <p:spPr>
          <a:xfrm>
            <a:off x="589767" y="1898809"/>
            <a:ext cx="7810500" cy="4157662"/>
          </a:xfrm>
        </p:spPr>
        <p:txBody>
          <a:bodyPr/>
          <a:lstStyle/>
          <a:p>
            <a:pPr marL="0" indent="0">
              <a:buNone/>
            </a:pPr>
            <a:r>
              <a:rPr lang="en-US" dirty="0">
                <a:sym typeface="Wingdings" panose="05000000000000000000" pitchFamily="2" charset="2"/>
              </a:rPr>
              <a:t> </a:t>
            </a:r>
            <a:endParaRPr lang="en-US" dirty="0"/>
          </a:p>
        </p:txBody>
      </p:sp>
      <p:sp>
        <p:nvSpPr>
          <p:cNvPr id="4" name="Title 3"/>
          <p:cNvSpPr>
            <a:spLocks noGrp="1"/>
          </p:cNvSpPr>
          <p:nvPr>
            <p:ph type="title"/>
          </p:nvPr>
        </p:nvSpPr>
        <p:spPr/>
        <p:txBody>
          <a:bodyPr/>
          <a:lstStyle/>
          <a:p>
            <a:r>
              <a:rPr lang="en-US" dirty="0"/>
              <a:t>Energy Content of Common Fuels</a:t>
            </a:r>
          </a:p>
        </p:txBody>
      </p:sp>
      <p:graphicFrame>
        <p:nvGraphicFramePr>
          <p:cNvPr id="8" name="Table 7"/>
          <p:cNvGraphicFramePr>
            <a:graphicFrameLocks noGrp="1"/>
          </p:cNvGraphicFramePr>
          <p:nvPr>
            <p:extLst>
              <p:ext uri="{D42A27DB-BD31-4B8C-83A1-F6EECF244321}">
                <p14:modId xmlns:p14="http://schemas.microsoft.com/office/powerpoint/2010/main" val="2185694864"/>
              </p:ext>
            </p:extLst>
          </p:nvPr>
        </p:nvGraphicFramePr>
        <p:xfrm>
          <a:off x="589767" y="2004911"/>
          <a:ext cx="8077200" cy="3160811"/>
        </p:xfrm>
        <a:graphic>
          <a:graphicData uri="http://schemas.openxmlformats.org/drawingml/2006/table">
            <a:tbl>
              <a:tblPr firstRow="1" bandRow="1">
                <a:tableStyleId>{5C22544A-7EE6-4342-B048-85BDC9FD1C3A}</a:tableStyleId>
              </a:tblPr>
              <a:tblGrid>
                <a:gridCol w="2599998">
                  <a:extLst>
                    <a:ext uri="{9D8B030D-6E8A-4147-A177-3AD203B41FA5}">
                      <a16:colId xmlns:a16="http://schemas.microsoft.com/office/drawing/2014/main" val="865762527"/>
                    </a:ext>
                  </a:extLst>
                </a:gridCol>
                <a:gridCol w="2279783">
                  <a:extLst>
                    <a:ext uri="{9D8B030D-6E8A-4147-A177-3AD203B41FA5}">
                      <a16:colId xmlns:a16="http://schemas.microsoft.com/office/drawing/2014/main" val="3487858563"/>
                    </a:ext>
                  </a:extLst>
                </a:gridCol>
                <a:gridCol w="3197419">
                  <a:extLst>
                    <a:ext uri="{9D8B030D-6E8A-4147-A177-3AD203B41FA5}">
                      <a16:colId xmlns:a16="http://schemas.microsoft.com/office/drawing/2014/main" val="328698755"/>
                    </a:ext>
                  </a:extLst>
                </a:gridCol>
              </a:tblGrid>
              <a:tr h="312360">
                <a:tc>
                  <a:txBody>
                    <a:bodyPr/>
                    <a:lstStyle/>
                    <a:p>
                      <a:r>
                        <a:rPr lang="en-US" sz="1800" dirty="0">
                          <a:solidFill>
                            <a:schemeClr val="bg1"/>
                          </a:solidFill>
                          <a:latin typeface="Arial" panose="020B0604020202020204" pitchFamily="34" charset="0"/>
                          <a:cs typeface="Arial" panose="020B0604020202020204" pitchFamily="34" charset="0"/>
                        </a:rPr>
                        <a:t>Fuel</a:t>
                      </a:r>
                    </a:p>
                  </a:txBody>
                  <a:tcPr/>
                </a:tc>
                <a:tc>
                  <a:txBody>
                    <a:bodyPr/>
                    <a:lstStyle/>
                    <a:p>
                      <a:r>
                        <a:rPr lang="en-US" sz="1800" dirty="0">
                          <a:solidFill>
                            <a:schemeClr val="bg1"/>
                          </a:solidFill>
                          <a:latin typeface="Arial" panose="020B0604020202020204" pitchFamily="34" charset="0"/>
                          <a:cs typeface="Arial" panose="020B0604020202020204" pitchFamily="34" charset="0"/>
                        </a:rPr>
                        <a:t>Quantity</a:t>
                      </a:r>
                    </a:p>
                  </a:txBody>
                  <a:tcPr/>
                </a:tc>
                <a:tc>
                  <a:txBody>
                    <a:bodyPr/>
                    <a:lstStyle/>
                    <a:p>
                      <a:r>
                        <a:rPr lang="en-US" sz="1800" u="sng" dirty="0">
                          <a:solidFill>
                            <a:schemeClr val="bg1"/>
                          </a:solidFill>
                          <a:latin typeface="Arial" panose="020B0604020202020204" pitchFamily="34" charset="0"/>
                          <a:cs typeface="Arial" panose="020B0604020202020204" pitchFamily="34" charset="0"/>
                        </a:rPr>
                        <a:t>Average</a:t>
                      </a:r>
                      <a:r>
                        <a:rPr lang="en-US" sz="1800" dirty="0">
                          <a:solidFill>
                            <a:schemeClr val="bg1"/>
                          </a:solidFill>
                          <a:latin typeface="Arial" panose="020B0604020202020204" pitchFamily="34" charset="0"/>
                          <a:cs typeface="Arial" panose="020B0604020202020204" pitchFamily="34" charset="0"/>
                        </a:rPr>
                        <a:t> Energy Content</a:t>
                      </a:r>
                    </a:p>
                  </a:txBody>
                  <a:tcPr/>
                </a:tc>
                <a:extLst>
                  <a:ext uri="{0D108BD9-81ED-4DB2-BD59-A6C34878D82A}">
                    <a16:rowId xmlns:a16="http://schemas.microsoft.com/office/drawing/2014/main" val="2533153088"/>
                  </a:ext>
                </a:extLst>
              </a:tr>
              <a:tr h="312360">
                <a:tc>
                  <a:txBody>
                    <a:bodyPr/>
                    <a:lstStyle/>
                    <a:p>
                      <a:r>
                        <a:rPr lang="en-US" sz="1800" dirty="0">
                          <a:solidFill>
                            <a:schemeClr val="bg1"/>
                          </a:solidFill>
                          <a:latin typeface="Arial" panose="020B0604020202020204" pitchFamily="34" charset="0"/>
                          <a:cs typeface="Arial" panose="020B0604020202020204" pitchFamily="34" charset="0"/>
                        </a:rPr>
                        <a:t>Coal</a:t>
                      </a:r>
                    </a:p>
                  </a:txBody>
                  <a:tcPr/>
                </a:tc>
                <a:tc>
                  <a:txBody>
                    <a:bodyPr/>
                    <a:lstStyle/>
                    <a:p>
                      <a:r>
                        <a:rPr kumimoji="0" lang="en-US" sz="1800" b="0" i="0" u="none" strike="noStrike" kern="1200" baseline="0" dirty="0">
                          <a:solidFill>
                            <a:schemeClr val="dk1"/>
                          </a:solidFill>
                          <a:latin typeface="Arial" panose="020B0604020202020204" pitchFamily="34" charset="0"/>
                          <a:ea typeface="+mn-ea"/>
                          <a:cs typeface="Arial" panose="020B0604020202020204" pitchFamily="34" charset="0"/>
                        </a:rPr>
                        <a:t>One pound</a:t>
                      </a:r>
                      <a:endParaRPr lang="en-US" sz="1800" dirty="0">
                        <a:solidFill>
                          <a:schemeClr val="bg1"/>
                        </a:solidFill>
                        <a:latin typeface="Arial" panose="020B0604020202020204" pitchFamily="34" charset="0"/>
                        <a:cs typeface="Arial" panose="020B0604020202020204" pitchFamily="34" charset="0"/>
                      </a:endParaRPr>
                    </a:p>
                  </a:txBody>
                  <a:tcPr/>
                </a:tc>
                <a:tc>
                  <a:txBody>
                    <a:bodyPr/>
                    <a:lstStyle/>
                    <a:p>
                      <a:r>
                        <a:rPr kumimoji="0" lang="pl-PL" sz="1800" b="0" i="0" u="none" strike="noStrike" kern="1200" baseline="0" dirty="0">
                          <a:solidFill>
                            <a:schemeClr val="dk1"/>
                          </a:solidFill>
                          <a:latin typeface="Arial" panose="020B0604020202020204" pitchFamily="34" charset="0"/>
                          <a:ea typeface="+mn-ea"/>
                          <a:cs typeface="Arial" panose="020B0604020202020204" pitchFamily="34" charset="0"/>
                        </a:rPr>
                        <a:t>10,000 Btu (10.5×10</a:t>
                      </a:r>
                      <a:r>
                        <a:rPr kumimoji="0" lang="pl-PL" sz="1800" b="0" i="0" u="none" strike="noStrike" kern="1200" baseline="30000" dirty="0">
                          <a:solidFill>
                            <a:schemeClr val="dk1"/>
                          </a:solidFill>
                          <a:latin typeface="Arial" panose="020B0604020202020204" pitchFamily="34" charset="0"/>
                          <a:ea typeface="+mn-ea"/>
                          <a:cs typeface="Arial" panose="020B0604020202020204" pitchFamily="34" charset="0"/>
                        </a:rPr>
                        <a:t>6</a:t>
                      </a:r>
                      <a:r>
                        <a:rPr kumimoji="0" lang="pl-PL" sz="1800" b="0" i="0" u="none" strike="noStrike" kern="1200" baseline="0" dirty="0">
                          <a:solidFill>
                            <a:schemeClr val="dk1"/>
                          </a:solidFill>
                          <a:latin typeface="Arial" panose="020B0604020202020204" pitchFamily="34" charset="0"/>
                          <a:ea typeface="+mn-ea"/>
                          <a:cs typeface="Arial" panose="020B0604020202020204" pitchFamily="34" charset="0"/>
                        </a:rPr>
                        <a:t> J)</a:t>
                      </a:r>
                      <a:endParaRPr lang="en-US" sz="1800" dirty="0">
                        <a:solidFill>
                          <a:schemeClr val="bg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15687467"/>
                  </a:ext>
                </a:extLst>
              </a:tr>
              <a:tr h="312360">
                <a:tc>
                  <a:txBody>
                    <a:bodyPr/>
                    <a:lstStyle/>
                    <a:p>
                      <a:r>
                        <a:rPr lang="en-US" sz="1800" dirty="0">
                          <a:solidFill>
                            <a:schemeClr val="bg1"/>
                          </a:solidFill>
                          <a:latin typeface="Arial" panose="020B0604020202020204" pitchFamily="34" charset="0"/>
                          <a:cs typeface="Arial" panose="020B0604020202020204" pitchFamily="34" charset="0"/>
                        </a:rPr>
                        <a:t>Diesel</a:t>
                      </a:r>
                    </a:p>
                  </a:txBody>
                  <a:tcPr/>
                </a:tc>
                <a:tc>
                  <a:txBody>
                    <a:bodyPr/>
                    <a:lstStyle/>
                    <a:p>
                      <a:r>
                        <a:rPr kumimoji="0" lang="en-US" sz="1800" b="0" i="0" u="none" strike="noStrike" kern="1200" baseline="0" dirty="0">
                          <a:solidFill>
                            <a:schemeClr val="dk1"/>
                          </a:solidFill>
                          <a:latin typeface="Arial" panose="020B0604020202020204" pitchFamily="34" charset="0"/>
                          <a:ea typeface="+mn-ea"/>
                          <a:cs typeface="Arial" panose="020B0604020202020204" pitchFamily="34" charset="0"/>
                        </a:rPr>
                        <a:t>One gallon</a:t>
                      </a:r>
                      <a:endParaRPr lang="en-US" sz="1800" dirty="0">
                        <a:solidFill>
                          <a:schemeClr val="bg1"/>
                        </a:solidFill>
                        <a:latin typeface="Arial" panose="020B0604020202020204" pitchFamily="34" charset="0"/>
                        <a:cs typeface="Arial" panose="020B0604020202020204" pitchFamily="34" charset="0"/>
                      </a:endParaRPr>
                    </a:p>
                  </a:txBody>
                  <a:tcPr/>
                </a:tc>
                <a:tc>
                  <a:txBody>
                    <a:bodyPr/>
                    <a:lstStyle/>
                    <a:p>
                      <a:r>
                        <a:rPr kumimoji="0" lang="pl-PL" sz="1800" b="0" i="0" u="none" strike="noStrike" kern="1200" baseline="0" dirty="0">
                          <a:solidFill>
                            <a:schemeClr val="dk1"/>
                          </a:solidFill>
                          <a:latin typeface="Arial" panose="020B0604020202020204" pitchFamily="34" charset="0"/>
                          <a:ea typeface="+mn-ea"/>
                          <a:cs typeface="Arial" panose="020B0604020202020204" pitchFamily="34" charset="0"/>
                        </a:rPr>
                        <a:t>139,000 Btu (146.6×10</a:t>
                      </a:r>
                      <a:r>
                        <a:rPr kumimoji="0" lang="pl-PL" sz="1800" b="0" i="0" u="none" strike="noStrike" kern="1200" baseline="30000" dirty="0">
                          <a:solidFill>
                            <a:schemeClr val="dk1"/>
                          </a:solidFill>
                          <a:latin typeface="Arial" panose="020B0604020202020204" pitchFamily="34" charset="0"/>
                          <a:ea typeface="+mn-ea"/>
                          <a:cs typeface="Arial" panose="020B0604020202020204" pitchFamily="34" charset="0"/>
                        </a:rPr>
                        <a:t>6</a:t>
                      </a:r>
                      <a:r>
                        <a:rPr kumimoji="0" lang="pl-PL" sz="1800" b="0" i="0" u="none" strike="noStrike" kern="1200" baseline="0" dirty="0">
                          <a:solidFill>
                            <a:schemeClr val="dk1"/>
                          </a:solidFill>
                          <a:latin typeface="Arial" panose="020B0604020202020204" pitchFamily="34" charset="0"/>
                          <a:ea typeface="+mn-ea"/>
                          <a:cs typeface="Arial" panose="020B0604020202020204" pitchFamily="34" charset="0"/>
                        </a:rPr>
                        <a:t> J)</a:t>
                      </a:r>
                      <a:endParaRPr lang="en-US" sz="1800" dirty="0">
                        <a:solidFill>
                          <a:schemeClr val="bg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45970988"/>
                  </a:ext>
                </a:extLst>
              </a:tr>
              <a:tr h="312360">
                <a:tc>
                  <a:txBody>
                    <a:bodyPr/>
                    <a:lstStyle/>
                    <a:p>
                      <a:r>
                        <a:rPr lang="en-US" sz="1800" dirty="0">
                          <a:solidFill>
                            <a:schemeClr val="bg1"/>
                          </a:solidFill>
                          <a:latin typeface="Arial" panose="020B0604020202020204" pitchFamily="34" charset="0"/>
                          <a:cs typeface="Arial" panose="020B0604020202020204" pitchFamily="34" charset="0"/>
                        </a:rPr>
                        <a:t>Gasoline</a:t>
                      </a:r>
                    </a:p>
                  </a:txBody>
                  <a:tcPr/>
                </a:tc>
                <a:tc>
                  <a:txBody>
                    <a:bodyPr/>
                    <a:lstStyle/>
                    <a:p>
                      <a:r>
                        <a:rPr kumimoji="0" lang="en-US" sz="1800" b="0" i="0" u="none" strike="noStrike" kern="1200" baseline="0" dirty="0">
                          <a:solidFill>
                            <a:schemeClr val="dk1"/>
                          </a:solidFill>
                          <a:latin typeface="Arial" panose="020B0604020202020204" pitchFamily="34" charset="0"/>
                          <a:ea typeface="+mn-ea"/>
                          <a:cs typeface="Arial" panose="020B0604020202020204" pitchFamily="34" charset="0"/>
                        </a:rPr>
                        <a:t>One gallon</a:t>
                      </a:r>
                      <a:endParaRPr lang="en-US" sz="1800" dirty="0">
                        <a:solidFill>
                          <a:schemeClr val="bg1"/>
                        </a:solidFill>
                        <a:latin typeface="Arial" panose="020B0604020202020204" pitchFamily="34" charset="0"/>
                        <a:cs typeface="Arial" panose="020B0604020202020204" pitchFamily="34" charset="0"/>
                      </a:endParaRPr>
                    </a:p>
                  </a:txBody>
                  <a:tcPr/>
                </a:tc>
                <a:tc>
                  <a:txBody>
                    <a:bodyPr/>
                    <a:lstStyle/>
                    <a:p>
                      <a:r>
                        <a:rPr kumimoji="0" lang="pl-PL" sz="1800" b="0" i="0" u="none" strike="noStrike" kern="1200" baseline="0" dirty="0">
                          <a:solidFill>
                            <a:schemeClr val="dk1"/>
                          </a:solidFill>
                          <a:latin typeface="Arial" panose="020B0604020202020204" pitchFamily="34" charset="0"/>
                          <a:ea typeface="+mn-ea"/>
                          <a:cs typeface="Arial" panose="020B0604020202020204" pitchFamily="34" charset="0"/>
                        </a:rPr>
                        <a:t>124,000 Btu (130.8×10</a:t>
                      </a:r>
                      <a:r>
                        <a:rPr kumimoji="0" lang="pl-PL" sz="1800" b="0" i="0" u="none" strike="noStrike" kern="1200" baseline="30000" dirty="0">
                          <a:solidFill>
                            <a:schemeClr val="dk1"/>
                          </a:solidFill>
                          <a:latin typeface="Arial" panose="020B0604020202020204" pitchFamily="34" charset="0"/>
                          <a:ea typeface="+mn-ea"/>
                          <a:cs typeface="Arial" panose="020B0604020202020204" pitchFamily="34" charset="0"/>
                        </a:rPr>
                        <a:t>6</a:t>
                      </a:r>
                      <a:r>
                        <a:rPr kumimoji="0" lang="pl-PL" sz="1800" b="0" i="0" u="none" strike="noStrike" kern="1200" baseline="0" dirty="0">
                          <a:solidFill>
                            <a:schemeClr val="dk1"/>
                          </a:solidFill>
                          <a:latin typeface="Arial" panose="020B0604020202020204" pitchFamily="34" charset="0"/>
                          <a:ea typeface="+mn-ea"/>
                          <a:cs typeface="Arial" panose="020B0604020202020204" pitchFamily="34" charset="0"/>
                        </a:rPr>
                        <a:t> J)</a:t>
                      </a:r>
                      <a:endParaRPr lang="en-US" sz="1800" dirty="0">
                        <a:solidFill>
                          <a:schemeClr val="bg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336811457"/>
                  </a:ext>
                </a:extLst>
              </a:tr>
              <a:tr h="539531">
                <a:tc>
                  <a:txBody>
                    <a:bodyPr/>
                    <a:lstStyle/>
                    <a:p>
                      <a:r>
                        <a:rPr lang="en-US" sz="1800" dirty="0">
                          <a:solidFill>
                            <a:schemeClr val="bg1"/>
                          </a:solidFill>
                          <a:latin typeface="Arial" panose="020B0604020202020204" pitchFamily="34" charset="0"/>
                          <a:cs typeface="Arial" panose="020B0604020202020204" pitchFamily="34" charset="0"/>
                        </a:rPr>
                        <a:t>Fuel Oil </a:t>
                      </a:r>
                      <a:r>
                        <a:rPr lang="en-US" sz="1400" dirty="0">
                          <a:solidFill>
                            <a:schemeClr val="bg1"/>
                          </a:solidFill>
                          <a:latin typeface="Arial" panose="020B0604020202020204" pitchFamily="34" charset="0"/>
                          <a:cs typeface="Arial" panose="020B0604020202020204" pitchFamily="34" charset="0"/>
                        </a:rPr>
                        <a:t>(Home Heating Oil)</a:t>
                      </a:r>
                      <a:endParaRPr lang="en-US" sz="1800" dirty="0">
                        <a:solidFill>
                          <a:schemeClr val="bg1"/>
                        </a:solidFill>
                        <a:latin typeface="Arial" panose="020B0604020202020204" pitchFamily="34" charset="0"/>
                        <a:cs typeface="Arial" panose="020B0604020202020204" pitchFamily="34" charset="0"/>
                      </a:endParaRPr>
                    </a:p>
                  </a:txBody>
                  <a:tcPr/>
                </a:tc>
                <a:tc>
                  <a:txBody>
                    <a:bodyPr/>
                    <a:lstStyle/>
                    <a:p>
                      <a:r>
                        <a:rPr kumimoji="0" lang="en-US" sz="1800" b="0" i="0" u="none" strike="noStrike" kern="1200" baseline="0" dirty="0">
                          <a:solidFill>
                            <a:schemeClr val="dk1"/>
                          </a:solidFill>
                          <a:latin typeface="Arial" panose="020B0604020202020204" pitchFamily="34" charset="0"/>
                          <a:ea typeface="+mn-ea"/>
                          <a:cs typeface="Arial" panose="020B0604020202020204" pitchFamily="34" charset="0"/>
                        </a:rPr>
                        <a:t>One gallon</a:t>
                      </a:r>
                      <a:endParaRPr lang="en-US" sz="1800" dirty="0">
                        <a:solidFill>
                          <a:schemeClr val="bg1"/>
                        </a:solidFill>
                        <a:latin typeface="Arial" panose="020B0604020202020204" pitchFamily="34" charset="0"/>
                        <a:cs typeface="Arial" panose="020B0604020202020204" pitchFamily="34" charset="0"/>
                      </a:endParaRPr>
                    </a:p>
                  </a:txBody>
                  <a:tcPr/>
                </a:tc>
                <a:tc>
                  <a:txBody>
                    <a:bodyPr/>
                    <a:lstStyle/>
                    <a:p>
                      <a:r>
                        <a:rPr kumimoji="0" lang="pl-PL" sz="1800" b="0" i="0" u="none" strike="noStrike" kern="1200" baseline="0" dirty="0">
                          <a:solidFill>
                            <a:schemeClr val="dk1"/>
                          </a:solidFill>
                          <a:latin typeface="Arial" panose="020B0604020202020204" pitchFamily="34" charset="0"/>
                          <a:ea typeface="+mn-ea"/>
                          <a:cs typeface="Arial" panose="020B0604020202020204" pitchFamily="34" charset="0"/>
                        </a:rPr>
                        <a:t>139,000 Btu (146.6×10</a:t>
                      </a:r>
                      <a:r>
                        <a:rPr kumimoji="0" lang="pl-PL" sz="1800" b="0" i="0" u="none" strike="noStrike" kern="1200" baseline="30000" dirty="0">
                          <a:solidFill>
                            <a:schemeClr val="dk1"/>
                          </a:solidFill>
                          <a:latin typeface="Arial" panose="020B0604020202020204" pitchFamily="34" charset="0"/>
                          <a:ea typeface="+mn-ea"/>
                          <a:cs typeface="Arial" panose="020B0604020202020204" pitchFamily="34" charset="0"/>
                        </a:rPr>
                        <a:t>6</a:t>
                      </a:r>
                      <a:r>
                        <a:rPr kumimoji="0" lang="pl-PL" sz="1800" b="0" i="0" u="none" strike="noStrike" kern="1200" baseline="0" dirty="0">
                          <a:solidFill>
                            <a:schemeClr val="dk1"/>
                          </a:solidFill>
                          <a:latin typeface="Arial" panose="020B0604020202020204" pitchFamily="34" charset="0"/>
                          <a:ea typeface="+mn-ea"/>
                          <a:cs typeface="Arial" panose="020B0604020202020204" pitchFamily="34" charset="0"/>
                        </a:rPr>
                        <a:t> J)</a:t>
                      </a:r>
                      <a:endParaRPr lang="en-US" sz="1800" dirty="0">
                        <a:solidFill>
                          <a:schemeClr val="bg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609987881"/>
                  </a:ext>
                </a:extLst>
              </a:tr>
              <a:tr h="312360">
                <a:tc>
                  <a:txBody>
                    <a:bodyPr/>
                    <a:lstStyle/>
                    <a:p>
                      <a:r>
                        <a:rPr lang="en-US" sz="1800" dirty="0">
                          <a:solidFill>
                            <a:schemeClr val="bg1"/>
                          </a:solidFill>
                          <a:latin typeface="Arial" panose="020B0604020202020204" pitchFamily="34" charset="0"/>
                          <a:cs typeface="Arial" panose="020B0604020202020204" pitchFamily="34" charset="0"/>
                        </a:rPr>
                        <a:t>Natural</a:t>
                      </a:r>
                      <a:r>
                        <a:rPr lang="en-US" sz="1800" baseline="0" dirty="0">
                          <a:solidFill>
                            <a:schemeClr val="bg1"/>
                          </a:solidFill>
                          <a:latin typeface="Arial" panose="020B0604020202020204" pitchFamily="34" charset="0"/>
                          <a:cs typeface="Arial" panose="020B0604020202020204" pitchFamily="34" charset="0"/>
                        </a:rPr>
                        <a:t> Gas</a:t>
                      </a:r>
                      <a:endParaRPr lang="en-US" sz="1800" dirty="0">
                        <a:solidFill>
                          <a:schemeClr val="bg1"/>
                        </a:solidFill>
                        <a:latin typeface="Arial" panose="020B0604020202020204" pitchFamily="34" charset="0"/>
                        <a:cs typeface="Arial" panose="020B0604020202020204" pitchFamily="34" charset="0"/>
                      </a:endParaRPr>
                    </a:p>
                  </a:txBody>
                  <a:tcPr/>
                </a:tc>
                <a:tc>
                  <a:txBody>
                    <a:bodyPr/>
                    <a:lstStyle/>
                    <a:p>
                      <a:r>
                        <a:rPr kumimoji="0" lang="en-US" sz="1800" b="0" i="0" u="none" strike="noStrike" kern="1200" baseline="0" dirty="0">
                          <a:solidFill>
                            <a:schemeClr val="dk1"/>
                          </a:solidFill>
                          <a:latin typeface="Arial" panose="020B0604020202020204" pitchFamily="34" charset="0"/>
                          <a:ea typeface="+mn-ea"/>
                          <a:cs typeface="Arial" panose="020B0604020202020204" pitchFamily="34" charset="0"/>
                        </a:rPr>
                        <a:t>One cubic foot</a:t>
                      </a:r>
                      <a:endParaRPr lang="en-US" sz="1800" dirty="0">
                        <a:solidFill>
                          <a:schemeClr val="bg1"/>
                        </a:solidFill>
                        <a:latin typeface="Arial" panose="020B0604020202020204" pitchFamily="34" charset="0"/>
                        <a:cs typeface="Arial" panose="020B0604020202020204" pitchFamily="34" charset="0"/>
                      </a:endParaRPr>
                    </a:p>
                  </a:txBody>
                  <a:tcPr/>
                </a:tc>
                <a:tc>
                  <a:txBody>
                    <a:bodyPr/>
                    <a:lstStyle/>
                    <a:p>
                      <a:r>
                        <a:rPr kumimoji="0" lang="en-US" sz="1800" b="0" i="0" u="none" strike="noStrike" kern="1200" baseline="0" dirty="0">
                          <a:solidFill>
                            <a:schemeClr val="dk1"/>
                          </a:solidFill>
                          <a:latin typeface="Arial" panose="020B0604020202020204" pitchFamily="34" charset="0"/>
                          <a:ea typeface="+mn-ea"/>
                          <a:cs typeface="Arial" panose="020B0604020202020204" pitchFamily="34" charset="0"/>
                        </a:rPr>
                        <a:t>1,000 Btu (1.05</a:t>
                      </a:r>
                      <a:r>
                        <a:rPr kumimoji="0" lang="pl-PL" sz="1800" b="0" i="0" u="none" strike="noStrike" kern="1200" baseline="0" dirty="0">
                          <a:solidFill>
                            <a:schemeClr val="dk1"/>
                          </a:solidFill>
                          <a:latin typeface="Arial" panose="020B0604020202020204" pitchFamily="34" charset="0"/>
                          <a:ea typeface="+mn-ea"/>
                          <a:cs typeface="Arial" panose="020B0604020202020204" pitchFamily="34" charset="0"/>
                        </a:rPr>
                        <a:t>×</a:t>
                      </a:r>
                      <a:r>
                        <a:rPr kumimoji="0" lang="en-US" sz="1800" b="0" i="0" u="none" strike="noStrike" kern="1200" baseline="0" dirty="0">
                          <a:solidFill>
                            <a:schemeClr val="dk1"/>
                          </a:solidFill>
                          <a:latin typeface="Arial" panose="020B0604020202020204" pitchFamily="34" charset="0"/>
                          <a:ea typeface="+mn-ea"/>
                          <a:cs typeface="Arial" panose="020B0604020202020204" pitchFamily="34" charset="0"/>
                        </a:rPr>
                        <a:t>10</a:t>
                      </a:r>
                      <a:r>
                        <a:rPr kumimoji="0" lang="en-US" sz="1800" b="0" i="0" u="none" strike="noStrike" kern="1200" baseline="30000" dirty="0">
                          <a:solidFill>
                            <a:schemeClr val="dk1"/>
                          </a:solidFill>
                          <a:latin typeface="Arial" panose="020B0604020202020204" pitchFamily="34" charset="0"/>
                          <a:ea typeface="+mn-ea"/>
                          <a:cs typeface="Arial" panose="020B0604020202020204" pitchFamily="34" charset="0"/>
                        </a:rPr>
                        <a:t>6</a:t>
                      </a:r>
                      <a:r>
                        <a:rPr kumimoji="0" lang="en-US" sz="1800" b="0" i="0" u="none" strike="noStrike" kern="1200" baseline="0" dirty="0">
                          <a:solidFill>
                            <a:schemeClr val="dk1"/>
                          </a:solidFill>
                          <a:latin typeface="Arial" panose="020B0604020202020204" pitchFamily="34" charset="0"/>
                          <a:ea typeface="+mn-ea"/>
                          <a:cs typeface="Arial" panose="020B0604020202020204" pitchFamily="34" charset="0"/>
                        </a:rPr>
                        <a:t> J)</a:t>
                      </a:r>
                      <a:endParaRPr lang="en-US" sz="1800" dirty="0">
                        <a:solidFill>
                          <a:schemeClr val="bg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852800025"/>
                  </a:ext>
                </a:extLst>
              </a:tr>
              <a:tr h="766701">
                <a:tc>
                  <a:txBody>
                    <a:bodyPr/>
                    <a:lstStyle/>
                    <a:p>
                      <a:r>
                        <a:rPr lang="en-US" sz="1800" dirty="0">
                          <a:solidFill>
                            <a:schemeClr val="bg1"/>
                          </a:solidFill>
                          <a:latin typeface="Arial" panose="020B0604020202020204" pitchFamily="34" charset="0"/>
                          <a:cs typeface="Arial" panose="020B0604020202020204" pitchFamily="34" charset="0"/>
                        </a:rPr>
                        <a:t>Wood</a:t>
                      </a:r>
                    </a:p>
                  </a:txBody>
                  <a:tcPr/>
                </a:tc>
                <a:tc>
                  <a:txBody>
                    <a:bodyPr/>
                    <a:lstStyle/>
                    <a:p>
                      <a:r>
                        <a:rPr kumimoji="0" lang="en-US" sz="1800" b="0" i="0" u="none" strike="noStrike" kern="1200" baseline="0" dirty="0">
                          <a:solidFill>
                            <a:schemeClr val="dk1"/>
                          </a:solidFill>
                          <a:latin typeface="Arial" panose="020B0604020202020204" pitchFamily="34" charset="0"/>
                          <a:ea typeface="+mn-ea"/>
                          <a:cs typeface="Arial" panose="020B0604020202020204" pitchFamily="34" charset="0"/>
                        </a:rPr>
                        <a:t>One cord (128 ft</a:t>
                      </a:r>
                      <a:r>
                        <a:rPr kumimoji="0" lang="en-US" sz="1800" b="0" i="0" u="none" strike="noStrike" kern="1200" baseline="30000" dirty="0">
                          <a:solidFill>
                            <a:schemeClr val="dk1"/>
                          </a:solidFill>
                          <a:latin typeface="Arial" panose="020B0604020202020204" pitchFamily="34" charset="0"/>
                          <a:ea typeface="+mn-ea"/>
                          <a:cs typeface="Arial" panose="020B0604020202020204" pitchFamily="34" charset="0"/>
                        </a:rPr>
                        <a:t>3</a:t>
                      </a:r>
                      <a:r>
                        <a:rPr kumimoji="0" lang="en-US" sz="1800" b="0" i="0" u="none" strike="noStrike" kern="1200" baseline="0" dirty="0">
                          <a:solidFill>
                            <a:schemeClr val="dk1"/>
                          </a:solidFill>
                          <a:latin typeface="Arial" panose="020B0604020202020204" pitchFamily="34" charset="0"/>
                          <a:ea typeface="+mn-ea"/>
                          <a:cs typeface="Arial" panose="020B0604020202020204" pitchFamily="34" charset="0"/>
                        </a:rPr>
                        <a:t>)</a:t>
                      </a:r>
                    </a:p>
                    <a:p>
                      <a:r>
                        <a:rPr kumimoji="0" lang="en-US" sz="1400" b="0" i="0" u="none" strike="noStrike" kern="1200" baseline="0" dirty="0">
                          <a:solidFill>
                            <a:schemeClr val="dk1"/>
                          </a:solidFill>
                          <a:latin typeface="Arial" panose="020B0604020202020204" pitchFamily="34" charset="0"/>
                          <a:ea typeface="+mn-ea"/>
                          <a:cs typeface="Arial" panose="020B0604020202020204" pitchFamily="34" charset="0"/>
                        </a:rPr>
                        <a:t>(4×4×8 feet pile of wood stacked neatly)</a:t>
                      </a:r>
                      <a:endParaRPr lang="en-US" sz="1400" dirty="0">
                        <a:solidFill>
                          <a:schemeClr val="bg1"/>
                        </a:solidFill>
                        <a:latin typeface="Arial" panose="020B0604020202020204" pitchFamily="34" charset="0"/>
                        <a:cs typeface="Arial" panose="020B0604020202020204" pitchFamily="34" charset="0"/>
                      </a:endParaRPr>
                    </a:p>
                  </a:txBody>
                  <a:tcPr/>
                </a:tc>
                <a:tc>
                  <a:txBody>
                    <a:bodyPr/>
                    <a:lstStyle/>
                    <a:p>
                      <a:r>
                        <a:rPr kumimoji="0" lang="en-US" sz="1800" b="0" i="0" u="none" strike="noStrike" kern="1200" baseline="0" dirty="0">
                          <a:solidFill>
                            <a:schemeClr val="dk1"/>
                          </a:solidFill>
                          <a:latin typeface="Arial" panose="020B0604020202020204" pitchFamily="34" charset="0"/>
                          <a:ea typeface="+mn-ea"/>
                          <a:cs typeface="Arial" panose="020B0604020202020204" pitchFamily="34" charset="0"/>
                        </a:rPr>
                        <a:t>20,000,000 Btu (21.1</a:t>
                      </a:r>
                      <a:r>
                        <a:rPr kumimoji="0" lang="pl-PL" sz="1800" b="0" i="0" u="none" strike="noStrike" kern="1200" baseline="0" dirty="0">
                          <a:solidFill>
                            <a:schemeClr val="dk1"/>
                          </a:solidFill>
                          <a:latin typeface="Arial" panose="020B0604020202020204" pitchFamily="34" charset="0"/>
                          <a:ea typeface="+mn-ea"/>
                          <a:cs typeface="Arial" panose="020B0604020202020204" pitchFamily="34" charset="0"/>
                        </a:rPr>
                        <a:t>×</a:t>
                      </a:r>
                      <a:r>
                        <a:rPr kumimoji="0" lang="en-US" sz="1800" b="0" i="0" u="none" strike="noStrike" kern="1200" baseline="0" dirty="0">
                          <a:solidFill>
                            <a:schemeClr val="dk1"/>
                          </a:solidFill>
                          <a:latin typeface="Arial" panose="020B0604020202020204" pitchFamily="34" charset="0"/>
                          <a:ea typeface="+mn-ea"/>
                          <a:cs typeface="Arial" panose="020B0604020202020204" pitchFamily="34" charset="0"/>
                        </a:rPr>
                        <a:t>10</a:t>
                      </a:r>
                      <a:r>
                        <a:rPr kumimoji="0" lang="en-US" sz="1800" b="0" i="0" u="none" strike="noStrike" kern="1200" baseline="30000" dirty="0">
                          <a:solidFill>
                            <a:schemeClr val="dk1"/>
                          </a:solidFill>
                          <a:latin typeface="Arial" panose="020B0604020202020204" pitchFamily="34" charset="0"/>
                          <a:ea typeface="+mn-ea"/>
                          <a:cs typeface="Arial" panose="020B0604020202020204" pitchFamily="34" charset="0"/>
                        </a:rPr>
                        <a:t>9</a:t>
                      </a:r>
                      <a:r>
                        <a:rPr kumimoji="0" lang="en-US" sz="1800" b="0" i="0" u="none" strike="noStrike" kern="1200" baseline="0" dirty="0">
                          <a:solidFill>
                            <a:schemeClr val="dk1"/>
                          </a:solidFill>
                          <a:latin typeface="Arial" panose="020B0604020202020204" pitchFamily="34" charset="0"/>
                          <a:ea typeface="+mn-ea"/>
                          <a:cs typeface="Arial" panose="020B0604020202020204" pitchFamily="34" charset="0"/>
                        </a:rPr>
                        <a:t> J)</a:t>
                      </a:r>
                      <a:endParaRPr lang="en-US" sz="1800" dirty="0">
                        <a:solidFill>
                          <a:schemeClr val="bg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57053857"/>
                  </a:ext>
                </a:extLst>
              </a:tr>
            </a:tbl>
          </a:graphicData>
        </a:graphic>
      </p:graphicFrame>
      <p:sp>
        <p:nvSpPr>
          <p:cNvPr id="6" name="Text Placeholder 2">
            <a:extLst>
              <a:ext uri="{FF2B5EF4-FFF2-40B4-BE49-F238E27FC236}">
                <a16:creationId xmlns:a16="http://schemas.microsoft.com/office/drawing/2014/main" id="{0C5A4293-6AC0-419A-ABA5-68AD2048F49C}"/>
              </a:ext>
            </a:extLst>
          </p:cNvPr>
          <p:cNvSpPr txBox="1">
            <a:spLocks/>
          </p:cNvSpPr>
          <p:nvPr/>
        </p:nvSpPr>
        <p:spPr>
          <a:xfrm>
            <a:off x="251238" y="5410674"/>
            <a:ext cx="8754258" cy="890749"/>
          </a:xfrm>
          <a:prstGeom prst="rect">
            <a:avLst/>
          </a:prstGeom>
        </p:spPr>
        <p:txBody>
          <a:bodyPr/>
          <a:lstStyle>
            <a:lvl1pPr marL="463550" indent="-463550" algn="l" rtl="0" eaLnBrk="1" latinLnBrk="0" hangingPunct="1">
              <a:spcBef>
                <a:spcPct val="20000"/>
              </a:spcBef>
              <a:buClr>
                <a:schemeClr val="accent3"/>
              </a:buClr>
              <a:buSzPct val="95000"/>
              <a:buFont typeface="Wingdings" panose="05000000000000000000" pitchFamily="2" charset="2"/>
              <a:buChar char="q"/>
              <a:defRPr kumimoji="0" sz="2400" kern="1200">
                <a:solidFill>
                  <a:schemeClr val="bg1"/>
                </a:solidFill>
                <a:latin typeface="Arial" panose="020B0604020202020204" pitchFamily="34" charset="0"/>
                <a:ea typeface="Verdana" panose="020B0604030504040204" pitchFamily="34" charset="0"/>
                <a:cs typeface="Arial" panose="020B0604020202020204" pitchFamily="34" charset="0"/>
              </a:defRPr>
            </a:lvl1pPr>
            <a:lvl2pPr marL="640080" indent="-246888" algn="l" rtl="0" eaLnBrk="1" latinLnBrk="0" hangingPunct="1">
              <a:spcBef>
                <a:spcPct val="20000"/>
              </a:spcBef>
              <a:buClr>
                <a:schemeClr val="accent1"/>
              </a:buClr>
              <a:buSzPct val="85000"/>
              <a:buFont typeface="Wingdings 2"/>
              <a:buChar char=""/>
              <a:defRPr kumimoji="0" sz="2400" kern="1200">
                <a:solidFill>
                  <a:srgbClr val="002060"/>
                </a:solidFill>
                <a:latin typeface="Arial" panose="020B0604020202020204" pitchFamily="34" charset="0"/>
                <a:ea typeface="Verdana" panose="020B0604030504040204" pitchFamily="34" charset="0"/>
                <a:cs typeface="Arial" panose="020B0604020202020204" pitchFamily="34" charset="0"/>
              </a:defRPr>
            </a:lvl2pPr>
            <a:lvl3pPr marL="914400" indent="-246888" algn="l" rtl="0" eaLnBrk="1" latinLnBrk="0" hangingPunct="1">
              <a:spcBef>
                <a:spcPct val="20000"/>
              </a:spcBef>
              <a:buClr>
                <a:schemeClr val="accent2"/>
              </a:buClr>
              <a:buSzPct val="70000"/>
              <a:buFont typeface="Wingdings 2"/>
              <a:buChar char=""/>
              <a:defRPr kumimoji="0" sz="2100" kern="1200">
                <a:solidFill>
                  <a:srgbClr val="002060"/>
                </a:solidFill>
                <a:latin typeface="Arial" panose="020B0604020202020204" pitchFamily="34" charset="0"/>
                <a:ea typeface="Verdana" panose="020B0604030504040204" pitchFamily="34" charset="0"/>
                <a:cs typeface="Arial" panose="020B0604020202020204" pitchFamily="34" charset="0"/>
              </a:defRPr>
            </a:lvl3pPr>
            <a:lvl4pPr marL="1188720" indent="-210312" algn="l" rtl="0" eaLnBrk="1" latinLnBrk="0" hangingPunct="1">
              <a:spcBef>
                <a:spcPct val="20000"/>
              </a:spcBef>
              <a:buClr>
                <a:schemeClr val="accent3"/>
              </a:buClr>
              <a:buSzPct val="65000"/>
              <a:buFont typeface="Wingdings 2"/>
              <a:buChar char=""/>
              <a:defRPr kumimoji="0" sz="2000" kern="1200">
                <a:solidFill>
                  <a:srgbClr val="002060"/>
                </a:solidFill>
                <a:latin typeface="Arial" panose="020B0604020202020204" pitchFamily="34" charset="0"/>
                <a:ea typeface="Verdana" panose="020B0604030504040204" pitchFamily="34" charset="0"/>
                <a:cs typeface="Arial" panose="020B0604020202020204" pitchFamily="34" charset="0"/>
              </a:defRPr>
            </a:lvl4pPr>
            <a:lvl5pPr marL="1463040" indent="-210312" algn="l" rtl="0" eaLnBrk="1" latinLnBrk="0" hangingPunct="1">
              <a:spcBef>
                <a:spcPct val="20000"/>
              </a:spcBef>
              <a:buClr>
                <a:schemeClr val="accent4"/>
              </a:buClr>
              <a:buSzPct val="65000"/>
              <a:buFont typeface="Wingdings 2"/>
              <a:buChar char=""/>
              <a:defRPr kumimoji="0" sz="2000" kern="1200">
                <a:solidFill>
                  <a:srgbClr val="002060"/>
                </a:solidFill>
                <a:latin typeface="Arial" panose="020B0604020202020204" pitchFamily="34" charset="0"/>
                <a:ea typeface="Verdana" panose="020B0604030504040204" pitchFamily="34" charset="0"/>
                <a:cs typeface="Arial" panose="020B0604020202020204" pitchFamily="34" charset="0"/>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r>
              <a:rPr lang="en-US" dirty="0"/>
              <a:t>Note that these values are approximate value and only used for a general “back of the envelope” calculations</a:t>
            </a:r>
          </a:p>
        </p:txBody>
      </p:sp>
    </p:spTree>
    <p:extLst>
      <p:ext uri="{BB962C8B-B14F-4D97-AF65-F5344CB8AC3E}">
        <p14:creationId xmlns:p14="http://schemas.microsoft.com/office/powerpoint/2010/main" val="4565351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122D24B2-5D52-46F7-B915-67CABB3AD0CF}" type="slidenum">
              <a:rPr lang="en-US" smtClean="0"/>
              <a:pPr/>
              <a:t>14</a:t>
            </a:fld>
            <a:endParaRPr lang="en-US" dirty="0"/>
          </a:p>
        </p:txBody>
      </p:sp>
      <p:sp>
        <p:nvSpPr>
          <p:cNvPr id="3" name="Text Placeholder 2"/>
          <p:cNvSpPr>
            <a:spLocks noGrp="1"/>
          </p:cNvSpPr>
          <p:nvPr>
            <p:ph type="body" sz="quarter" idx="13"/>
          </p:nvPr>
        </p:nvSpPr>
        <p:spPr>
          <a:xfrm>
            <a:off x="819913" y="2088601"/>
            <a:ext cx="7600187" cy="4157662"/>
          </a:xfrm>
        </p:spPr>
        <p:txBody>
          <a:bodyPr/>
          <a:lstStyle/>
          <a:p>
            <a:pPr marL="0" indent="0">
              <a:buNone/>
            </a:pPr>
            <a:r>
              <a:rPr lang="en-US" dirty="0"/>
              <a:t>A measure of how much input is required to have a desired output.</a:t>
            </a:r>
          </a:p>
        </p:txBody>
      </p:sp>
      <p:sp>
        <p:nvSpPr>
          <p:cNvPr id="4" name="Title 3"/>
          <p:cNvSpPr>
            <a:spLocks noGrp="1"/>
          </p:cNvSpPr>
          <p:nvPr>
            <p:ph type="title"/>
          </p:nvPr>
        </p:nvSpPr>
        <p:spPr/>
        <p:txBody>
          <a:bodyPr/>
          <a:lstStyle/>
          <a:p>
            <a:r>
              <a:rPr lang="en-US" dirty="0"/>
              <a:t>Efficiency</a:t>
            </a:r>
          </a:p>
        </p:txBody>
      </p:sp>
      <p:pic>
        <p:nvPicPr>
          <p:cNvPr id="6" name="Picture 5"/>
          <p:cNvPicPr>
            <a:picLocks noChangeAspect="1"/>
          </p:cNvPicPr>
          <p:nvPr/>
        </p:nvPicPr>
        <p:blipFill rotWithShape="1">
          <a:blip r:embed="rId2"/>
          <a:srcRect r="6499"/>
          <a:stretch/>
        </p:blipFill>
        <p:spPr>
          <a:xfrm>
            <a:off x="398929" y="4374904"/>
            <a:ext cx="8442154" cy="1066697"/>
          </a:xfrm>
          <a:prstGeom prst="rect">
            <a:avLst/>
          </a:prstGeom>
        </p:spPr>
      </p:pic>
      <p:grpSp>
        <p:nvGrpSpPr>
          <p:cNvPr id="8" name="Group 7"/>
          <p:cNvGrpSpPr/>
          <p:nvPr/>
        </p:nvGrpSpPr>
        <p:grpSpPr>
          <a:xfrm>
            <a:off x="954066" y="3194461"/>
            <a:ext cx="6970734" cy="946941"/>
            <a:chOff x="954066" y="3329234"/>
            <a:chExt cx="6970734" cy="946941"/>
          </a:xfrm>
        </p:grpSpPr>
        <p:sp>
          <p:nvSpPr>
            <p:cNvPr id="7" name="Rectangle 6"/>
            <p:cNvSpPr/>
            <p:nvPr/>
          </p:nvSpPr>
          <p:spPr>
            <a:xfrm>
              <a:off x="954066" y="3329234"/>
              <a:ext cx="6970734" cy="838198"/>
            </a:xfrm>
            <a:prstGeom prst="rect">
              <a:avLst/>
            </a:prstGeom>
            <a:solidFill>
              <a:schemeClr val="tx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400" dirty="0">
                <a:solidFill>
                  <a:srgbClr val="0070C0"/>
                </a:solidFill>
                <a:latin typeface="Arial" panose="020B0604020202020204" pitchFamily="34" charset="0"/>
                <a:cs typeface="Arial" panose="020B0604020202020204" pitchFamily="34" charset="0"/>
              </a:endParaRPr>
            </a:p>
          </p:txBody>
        </p:sp>
        <p:pic>
          <p:nvPicPr>
            <p:cNvPr id="5" name="Picture 4"/>
            <p:cNvPicPr>
              <a:picLocks noChangeAspect="1"/>
            </p:cNvPicPr>
            <p:nvPr/>
          </p:nvPicPr>
          <p:blipFill rotWithShape="1">
            <a:blip r:embed="rId3"/>
            <a:srcRect l="27526" t="2076" r="29427"/>
            <a:stretch/>
          </p:blipFill>
          <p:spPr>
            <a:xfrm>
              <a:off x="1828800" y="3481632"/>
              <a:ext cx="4142875" cy="794543"/>
            </a:xfrm>
            <a:prstGeom prst="rect">
              <a:avLst/>
            </a:prstGeom>
          </p:spPr>
        </p:pic>
      </p:grpSp>
      <p:sp>
        <p:nvSpPr>
          <p:cNvPr id="9" name="Rectangle 15">
            <a:extLst>
              <a:ext uri="{FF2B5EF4-FFF2-40B4-BE49-F238E27FC236}">
                <a16:creationId xmlns:a16="http://schemas.microsoft.com/office/drawing/2014/main" id="{C0B3E7A2-28DC-48AA-BED9-067490C3E77C}"/>
              </a:ext>
            </a:extLst>
          </p:cNvPr>
          <p:cNvSpPr>
            <a:spLocks noChangeArrowheads="1"/>
          </p:cNvSpPr>
          <p:nvPr/>
        </p:nvSpPr>
        <p:spPr bwMode="auto">
          <a:xfrm>
            <a:off x="146175" y="5441601"/>
            <a:ext cx="8947662" cy="1200329"/>
          </a:xfrm>
          <a:prstGeom prst="rect">
            <a:avLst/>
          </a:prstGeom>
          <a:noFill/>
          <a:ln w="9525">
            <a:noFill/>
            <a:miter lim="800000"/>
            <a:headEnd/>
            <a:tailEnd/>
          </a:ln>
        </p:spPr>
        <p:txBody>
          <a:bodyPr wrap="square">
            <a:spAutoFit/>
          </a:bodyPr>
          <a:lstStyle/>
          <a:p>
            <a:pPr marL="285750" indent="-285750">
              <a:buFont typeface="Wingdings" panose="05000000000000000000" pitchFamily="2" charset="2"/>
              <a:buChar char="Ø"/>
            </a:pPr>
            <a:r>
              <a:rPr lang="en-US" dirty="0">
                <a:solidFill>
                  <a:schemeClr val="bg1"/>
                </a:solidFill>
              </a:rPr>
              <a:t>The efficiency of space heating systems of residential and commercial buildings is usually expressed in terms of the </a:t>
            </a:r>
            <a:r>
              <a:rPr lang="en-US" b="1" dirty="0">
                <a:solidFill>
                  <a:srgbClr val="0070C0"/>
                </a:solidFill>
              </a:rPr>
              <a:t>annual fuel utilization efficiency (AFUE)</a:t>
            </a:r>
            <a:r>
              <a:rPr lang="en-US" dirty="0">
                <a:solidFill>
                  <a:srgbClr val="0070C0"/>
                </a:solidFill>
              </a:rPr>
              <a:t>, </a:t>
            </a:r>
            <a:r>
              <a:rPr lang="en-US" dirty="0">
                <a:solidFill>
                  <a:schemeClr val="bg1"/>
                </a:solidFill>
              </a:rPr>
              <a:t>which accounts for the combustion efficiency as well as other losses such as heat losses to unheated areas and start-up and cooldown losses.</a:t>
            </a:r>
          </a:p>
        </p:txBody>
      </p:sp>
    </p:spTree>
    <p:extLst>
      <p:ext uri="{BB962C8B-B14F-4D97-AF65-F5344CB8AC3E}">
        <p14:creationId xmlns:p14="http://schemas.microsoft.com/office/powerpoint/2010/main" val="15666300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5 Slayt Numarası Yer Tutucusu"/>
          <p:cNvSpPr>
            <a:spLocks noGrp="1"/>
          </p:cNvSpPr>
          <p:nvPr>
            <p:ph type="sldNum" sz="quarter" idx="4294967295"/>
          </p:nvPr>
        </p:nvSpPr>
        <p:spPr>
          <a:xfrm>
            <a:off x="7924800" y="6356350"/>
            <a:ext cx="762000" cy="365125"/>
          </a:xfrm>
          <a:noFill/>
        </p:spPr>
        <p:txBody>
          <a:bodyPr/>
          <a:lstStyle/>
          <a:p>
            <a:fld id="{C13278D5-4A46-4729-BFF6-17BAC632D6C1}" type="slidenum">
              <a:rPr lang="en-US" smtClean="0"/>
              <a:pPr/>
              <a:t>15</a:t>
            </a:fld>
            <a:endParaRPr lang="en-US"/>
          </a:p>
        </p:txBody>
      </p:sp>
      <p:sp>
        <p:nvSpPr>
          <p:cNvPr id="35843" name="Rectangle 4"/>
          <p:cNvSpPr>
            <a:spLocks noChangeArrowheads="1"/>
          </p:cNvSpPr>
          <p:nvPr/>
        </p:nvSpPr>
        <p:spPr bwMode="auto">
          <a:xfrm>
            <a:off x="331808" y="3437681"/>
            <a:ext cx="8382000" cy="2246769"/>
          </a:xfrm>
          <a:prstGeom prst="rect">
            <a:avLst/>
          </a:prstGeom>
          <a:noFill/>
          <a:ln w="9525">
            <a:noFill/>
            <a:miter lim="800000"/>
            <a:headEnd/>
            <a:tailEnd/>
          </a:ln>
        </p:spPr>
        <p:txBody>
          <a:bodyPr wrap="square">
            <a:spAutoFit/>
          </a:bodyPr>
          <a:lstStyle/>
          <a:p>
            <a:pPr marL="342900" indent="-342900">
              <a:spcBef>
                <a:spcPts val="600"/>
              </a:spcBef>
              <a:spcAft>
                <a:spcPts val="600"/>
              </a:spcAft>
              <a:buClr>
                <a:srgbClr val="FF3300"/>
              </a:buClr>
              <a:buFontTx/>
              <a:buChar char="•"/>
            </a:pPr>
            <a:r>
              <a:rPr lang="en-US" sz="2000" b="1" dirty="0">
                <a:solidFill>
                  <a:schemeClr val="bg1"/>
                </a:solidFill>
              </a:rPr>
              <a:t>Generator:</a:t>
            </a:r>
            <a:r>
              <a:rPr lang="en-US" sz="2000" dirty="0">
                <a:solidFill>
                  <a:schemeClr val="bg1"/>
                </a:solidFill>
              </a:rPr>
              <a:t> A device that converts mechanical energy to electrical energy.</a:t>
            </a:r>
          </a:p>
          <a:p>
            <a:pPr marL="342900" indent="-342900">
              <a:spcBef>
                <a:spcPts val="600"/>
              </a:spcBef>
              <a:spcAft>
                <a:spcPts val="600"/>
              </a:spcAft>
              <a:buClr>
                <a:srgbClr val="FF3300"/>
              </a:buClr>
              <a:buFontTx/>
              <a:buChar char="•"/>
            </a:pPr>
            <a:r>
              <a:rPr lang="en-US" sz="2000" b="1" dirty="0">
                <a:solidFill>
                  <a:schemeClr val="bg1"/>
                </a:solidFill>
              </a:rPr>
              <a:t>Generator efficiency:</a:t>
            </a:r>
            <a:r>
              <a:rPr lang="en-US" sz="2000" dirty="0">
                <a:solidFill>
                  <a:schemeClr val="bg1"/>
                </a:solidFill>
              </a:rPr>
              <a:t> The ratio of the electrical power output to the mechanical power input. </a:t>
            </a:r>
          </a:p>
          <a:p>
            <a:pPr marL="342900" indent="-342900">
              <a:spcBef>
                <a:spcPts val="600"/>
              </a:spcBef>
              <a:spcAft>
                <a:spcPts val="600"/>
              </a:spcAft>
              <a:buClr>
                <a:srgbClr val="FF3300"/>
              </a:buClr>
              <a:buFontTx/>
              <a:buChar char="•"/>
            </a:pPr>
            <a:r>
              <a:rPr lang="en-US" sz="2000" b="1" dirty="0">
                <a:solidFill>
                  <a:schemeClr val="bg1"/>
                </a:solidFill>
              </a:rPr>
              <a:t>Thermal efficiency</a:t>
            </a:r>
            <a:r>
              <a:rPr lang="en-US" sz="2000" b="1" i="1" dirty="0">
                <a:solidFill>
                  <a:schemeClr val="bg1"/>
                </a:solidFill>
              </a:rPr>
              <a:t> </a:t>
            </a:r>
            <a:r>
              <a:rPr lang="en-US" sz="2000" b="1" dirty="0">
                <a:solidFill>
                  <a:schemeClr val="bg1"/>
                </a:solidFill>
              </a:rPr>
              <a:t>of a power plant:</a:t>
            </a:r>
            <a:r>
              <a:rPr lang="en-US" sz="2000" dirty="0">
                <a:solidFill>
                  <a:schemeClr val="bg1"/>
                </a:solidFill>
              </a:rPr>
              <a:t> The ratio of the net electrical power output to the rate of fuel energy input.</a:t>
            </a:r>
          </a:p>
        </p:txBody>
      </p:sp>
      <p:sp>
        <p:nvSpPr>
          <p:cNvPr id="35844" name="Text Box 10"/>
          <p:cNvSpPr txBox="1">
            <a:spLocks noChangeArrowheads="1"/>
          </p:cNvSpPr>
          <p:nvPr/>
        </p:nvSpPr>
        <p:spPr bwMode="auto">
          <a:xfrm>
            <a:off x="394504" y="1371600"/>
            <a:ext cx="8382000" cy="646331"/>
          </a:xfrm>
          <a:prstGeom prst="rect">
            <a:avLst/>
          </a:prstGeom>
          <a:noFill/>
          <a:ln w="9525">
            <a:noFill/>
            <a:miter lim="800000"/>
            <a:headEnd/>
            <a:tailEnd/>
          </a:ln>
        </p:spPr>
        <p:txBody>
          <a:bodyPr wrap="square">
            <a:spAutoFit/>
          </a:bodyPr>
          <a:lstStyle/>
          <a:p>
            <a:pPr>
              <a:spcBef>
                <a:spcPct val="50000"/>
              </a:spcBef>
            </a:pPr>
            <a:r>
              <a:rPr lang="en-US" sz="3600" b="1" dirty="0">
                <a:solidFill>
                  <a:schemeClr val="accent2"/>
                </a:solidFill>
                <a:latin typeface="Arial" panose="020B0604020202020204" pitchFamily="34" charset="0"/>
                <a:ea typeface="Verdana" panose="020B0604030504040204" pitchFamily="34" charset="0"/>
                <a:cs typeface="Arial" panose="020B0604020202020204" pitchFamily="34" charset="0"/>
              </a:rPr>
              <a:t>Overall efficiency of a power plant</a:t>
            </a:r>
          </a:p>
        </p:txBody>
      </p:sp>
      <p:pic>
        <p:nvPicPr>
          <p:cNvPr id="35845" name="Picture 9"/>
          <p:cNvPicPr>
            <a:picLocks noChangeAspect="1" noChangeArrowheads="1"/>
          </p:cNvPicPr>
          <p:nvPr/>
        </p:nvPicPr>
        <p:blipFill>
          <a:blip r:embed="rId2"/>
          <a:srcRect/>
          <a:stretch>
            <a:fillRect/>
          </a:stretch>
        </p:blipFill>
        <p:spPr bwMode="auto">
          <a:xfrm>
            <a:off x="1219200" y="2209800"/>
            <a:ext cx="5800725" cy="904875"/>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122D24B2-5D52-46F7-B915-67CABB3AD0CF}" type="slidenum">
              <a:rPr lang="en-US" smtClean="0"/>
              <a:pPr/>
              <a:t>16</a:t>
            </a:fld>
            <a:endParaRPr lang="en-US" dirty="0"/>
          </a:p>
        </p:txBody>
      </p:sp>
      <p:sp>
        <p:nvSpPr>
          <p:cNvPr id="3" name="Text Placeholder 2"/>
          <p:cNvSpPr>
            <a:spLocks noGrp="1"/>
          </p:cNvSpPr>
          <p:nvPr>
            <p:ph type="body" sz="quarter" idx="13"/>
          </p:nvPr>
        </p:nvSpPr>
        <p:spPr>
          <a:xfrm>
            <a:off x="619760" y="1698387"/>
            <a:ext cx="8448040" cy="4157662"/>
          </a:xfrm>
        </p:spPr>
        <p:txBody>
          <a:bodyPr/>
          <a:lstStyle/>
          <a:p>
            <a:pPr>
              <a:spcBef>
                <a:spcPts val="0"/>
              </a:spcBef>
              <a:spcAft>
                <a:spcPts val="600"/>
              </a:spcAft>
            </a:pPr>
            <a:r>
              <a:rPr lang="en-US" sz="2000" dirty="0"/>
              <a:t>Internal combustion engines</a:t>
            </a:r>
            <a:endParaRPr lang="en-US" sz="1800" dirty="0"/>
          </a:p>
          <a:p>
            <a:pPr marL="914400" indent="-225425">
              <a:spcBef>
                <a:spcPts val="0"/>
              </a:spcBef>
              <a:buFont typeface="Arial" panose="020B0604020202020204" pitchFamily="34" charset="0"/>
              <a:buChar char="•"/>
            </a:pPr>
            <a:r>
              <a:rPr lang="en-US" sz="1800" dirty="0"/>
              <a:t>Gasoline engine: 25-30%	</a:t>
            </a:r>
          </a:p>
          <a:p>
            <a:pPr marL="914400" indent="-225425">
              <a:spcBef>
                <a:spcPts val="0"/>
              </a:spcBef>
              <a:buFont typeface="Arial" panose="020B0604020202020204" pitchFamily="34" charset="0"/>
              <a:buChar char="•"/>
            </a:pPr>
            <a:r>
              <a:rPr lang="en-US" sz="1800" dirty="0"/>
              <a:t>Diesel engine: 35-40%</a:t>
            </a:r>
          </a:p>
          <a:p>
            <a:pPr>
              <a:spcBef>
                <a:spcPts val="0"/>
              </a:spcBef>
              <a:spcAft>
                <a:spcPts val="600"/>
              </a:spcAft>
            </a:pPr>
            <a:r>
              <a:rPr lang="en-US" sz="2000" dirty="0"/>
              <a:t>Refrigeration and cooling systems</a:t>
            </a:r>
          </a:p>
          <a:p>
            <a:pPr marL="914400" indent="-225425">
              <a:spcBef>
                <a:spcPts val="0"/>
              </a:spcBef>
              <a:buFont typeface="Arial" panose="020B0604020202020204" pitchFamily="34" charset="0"/>
              <a:buChar char="•"/>
            </a:pPr>
            <a:r>
              <a:rPr lang="en-US" sz="1600" dirty="0"/>
              <a:t>Energy Efficiency Ratio (EER) and Seasonal Energy Efficiency Ratio (SEER). </a:t>
            </a:r>
          </a:p>
          <a:p>
            <a:pPr marL="914400" indent="-225425">
              <a:spcBef>
                <a:spcPts val="0"/>
              </a:spcBef>
              <a:buFont typeface="Arial" panose="020B0604020202020204" pitchFamily="34" charset="0"/>
              <a:buChar char="•"/>
            </a:pPr>
            <a:r>
              <a:rPr lang="en-US" sz="1600" dirty="0"/>
              <a:t>Both EER and SEER have unit of BTU/</a:t>
            </a:r>
            <a:r>
              <a:rPr lang="en-US" sz="1600" dirty="0" err="1"/>
              <a:t>Wh</a:t>
            </a:r>
            <a:r>
              <a:rPr lang="en-US" sz="1600" dirty="0"/>
              <a:t> </a:t>
            </a:r>
          </a:p>
          <a:p>
            <a:pPr marL="914400" indent="-225425">
              <a:spcBef>
                <a:spcPts val="0"/>
              </a:spcBef>
              <a:buFont typeface="Arial" panose="020B0604020202020204" pitchFamily="34" charset="0"/>
              <a:buChar char="•"/>
            </a:pPr>
            <a:r>
              <a:rPr lang="en-US" sz="1600" dirty="0"/>
              <a:t>To calculate the annual average power use, divide the A/C’s BTU/h by the SEER rating. For example: </a:t>
            </a:r>
          </a:p>
          <a:p>
            <a:pPr marL="1090930" lvl="1" indent="-225425">
              <a:spcBef>
                <a:spcPts val="0"/>
              </a:spcBef>
              <a:buFont typeface="Arial" panose="020B0604020202020204" pitchFamily="34" charset="0"/>
              <a:buChar char="•"/>
            </a:pPr>
            <a:r>
              <a:rPr lang="en-US" sz="1600" dirty="0">
                <a:solidFill>
                  <a:schemeClr val="bg1"/>
                </a:solidFill>
              </a:rPr>
              <a:t>6,000 BTU/h ÷ 15 SEER = 400 watts (or 0.4 kilowatts)</a:t>
            </a:r>
          </a:p>
          <a:p>
            <a:pPr marL="914400" indent="-225425">
              <a:spcBef>
                <a:spcPts val="0"/>
              </a:spcBef>
              <a:buFont typeface="Arial" panose="020B0604020202020204" pitchFamily="34" charset="0"/>
              <a:buChar char="•"/>
            </a:pPr>
            <a:r>
              <a:rPr lang="en-US" sz="1600" dirty="0"/>
              <a:t>Air conditioning units have a SEER that is in the range of 10-17</a:t>
            </a:r>
          </a:p>
          <a:p>
            <a:pPr marL="914400" indent="-225425">
              <a:spcBef>
                <a:spcPts val="0"/>
              </a:spcBef>
              <a:buFont typeface="Arial" panose="020B0604020202020204" pitchFamily="34" charset="0"/>
              <a:buChar char="•"/>
            </a:pPr>
            <a:endParaRPr lang="en-US" sz="1800" dirty="0"/>
          </a:p>
          <a:p>
            <a:pPr marL="914400" indent="-225425">
              <a:spcBef>
                <a:spcPts val="0"/>
              </a:spcBef>
              <a:buFont typeface="Arial" panose="020B0604020202020204" pitchFamily="34" charset="0"/>
              <a:buChar char="•"/>
            </a:pPr>
            <a:endParaRPr lang="en-US" sz="1800" dirty="0"/>
          </a:p>
          <a:p>
            <a:pPr marL="914400" indent="-225425">
              <a:spcBef>
                <a:spcPts val="0"/>
              </a:spcBef>
              <a:buFont typeface="Arial" panose="020B0604020202020204" pitchFamily="34" charset="0"/>
              <a:buChar char="•"/>
            </a:pPr>
            <a:endParaRPr lang="en-US" sz="1800" dirty="0"/>
          </a:p>
          <a:p>
            <a:pPr marL="688975" indent="0">
              <a:spcBef>
                <a:spcPts val="0"/>
              </a:spcBef>
              <a:buNone/>
            </a:pPr>
            <a:endParaRPr lang="en-US" sz="1800" dirty="0"/>
          </a:p>
          <a:p>
            <a:pPr>
              <a:spcBef>
                <a:spcPts val="0"/>
              </a:spcBef>
              <a:spcAft>
                <a:spcPts val="600"/>
              </a:spcAft>
            </a:pPr>
            <a:r>
              <a:rPr lang="en-US" sz="2000" dirty="0"/>
              <a:t>Furnaces</a:t>
            </a:r>
          </a:p>
          <a:p>
            <a:pPr marL="914400" indent="-225425">
              <a:spcBef>
                <a:spcPts val="0"/>
              </a:spcBef>
              <a:buFont typeface="Arial" panose="020B0604020202020204" pitchFamily="34" charset="0"/>
              <a:buChar char="•"/>
            </a:pPr>
            <a:r>
              <a:rPr lang="en-US" sz="1800" dirty="0"/>
              <a:t>Annual Fuel Utilization Efficiency (AFUE) </a:t>
            </a:r>
          </a:p>
          <a:p>
            <a:pPr marL="914400" indent="-225425">
              <a:spcBef>
                <a:spcPts val="0"/>
              </a:spcBef>
              <a:buFont typeface="Arial" panose="020B0604020202020204" pitchFamily="34" charset="0"/>
              <a:buChar char="•"/>
            </a:pPr>
            <a:r>
              <a:rPr lang="en-US" sz="1800" dirty="0"/>
              <a:t>High-efficiency furnaces: AFUE 80-96%</a:t>
            </a:r>
            <a:endParaRPr lang="en-US" sz="2000" dirty="0"/>
          </a:p>
        </p:txBody>
      </p:sp>
      <p:sp>
        <p:nvSpPr>
          <p:cNvPr id="4" name="Title 3"/>
          <p:cNvSpPr>
            <a:spLocks noGrp="1"/>
          </p:cNvSpPr>
          <p:nvPr>
            <p:ph type="title"/>
          </p:nvPr>
        </p:nvSpPr>
        <p:spPr/>
        <p:txBody>
          <a:bodyPr/>
          <a:lstStyle/>
          <a:p>
            <a:r>
              <a:rPr lang="en-US" dirty="0"/>
              <a:t>Energy Efficiency Ratio</a:t>
            </a:r>
          </a:p>
        </p:txBody>
      </p:sp>
      <p:grpSp>
        <p:nvGrpSpPr>
          <p:cNvPr id="9" name="Group 8"/>
          <p:cNvGrpSpPr/>
          <p:nvPr/>
        </p:nvGrpSpPr>
        <p:grpSpPr>
          <a:xfrm>
            <a:off x="1447800" y="4740910"/>
            <a:ext cx="5867400" cy="837406"/>
            <a:chOff x="954066" y="3194461"/>
            <a:chExt cx="6970734" cy="946941"/>
          </a:xfrm>
        </p:grpSpPr>
        <p:sp>
          <p:nvSpPr>
            <p:cNvPr id="7" name="Rectangle 6"/>
            <p:cNvSpPr/>
            <p:nvPr/>
          </p:nvSpPr>
          <p:spPr>
            <a:xfrm>
              <a:off x="954066" y="3194461"/>
              <a:ext cx="6970734" cy="838198"/>
            </a:xfrm>
            <a:prstGeom prst="rect">
              <a:avLst/>
            </a:prstGeom>
            <a:solidFill>
              <a:schemeClr val="tx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400" dirty="0">
                <a:solidFill>
                  <a:srgbClr val="0070C0"/>
                </a:solidFill>
                <a:latin typeface="Arial" panose="020B0604020202020204" pitchFamily="34" charset="0"/>
                <a:cs typeface="Arial" panose="020B0604020202020204" pitchFamily="34" charset="0"/>
              </a:endParaRPr>
            </a:p>
          </p:txBody>
        </p:sp>
        <p:pic>
          <p:nvPicPr>
            <p:cNvPr id="5" name="Picture 4"/>
            <p:cNvPicPr>
              <a:picLocks noChangeAspect="1"/>
            </p:cNvPicPr>
            <p:nvPr/>
          </p:nvPicPr>
          <p:blipFill rotWithShape="1">
            <a:blip r:embed="rId2"/>
            <a:srcRect l="23607" t="-9121" r="22237" b="17916"/>
            <a:stretch/>
          </p:blipFill>
          <p:spPr>
            <a:xfrm>
              <a:off x="1822300" y="3232941"/>
              <a:ext cx="4555283" cy="908461"/>
            </a:xfrm>
            <a:prstGeom prst="rect">
              <a:avLst/>
            </a:prstGeom>
          </p:spPr>
        </p:pic>
      </p:grpSp>
    </p:spTree>
    <p:extLst>
      <p:ext uri="{BB962C8B-B14F-4D97-AF65-F5344CB8AC3E}">
        <p14:creationId xmlns:p14="http://schemas.microsoft.com/office/powerpoint/2010/main" val="31108781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CF0506B-AA20-48FA-8524-BDB55A602243}"/>
              </a:ext>
            </a:extLst>
          </p:cNvPr>
          <p:cNvSpPr>
            <a:spLocks noGrp="1"/>
          </p:cNvSpPr>
          <p:nvPr>
            <p:ph type="sldNum" sz="quarter" idx="12"/>
          </p:nvPr>
        </p:nvSpPr>
        <p:spPr/>
        <p:txBody>
          <a:bodyPr/>
          <a:lstStyle/>
          <a:p>
            <a:fld id="{122D24B2-5D52-46F7-B915-67CABB3AD0CF}" type="slidenum">
              <a:rPr lang="en-US" smtClean="0"/>
              <a:pPr/>
              <a:t>17</a:t>
            </a:fld>
            <a:endParaRPr lang="en-US" dirty="0"/>
          </a:p>
        </p:txBody>
      </p:sp>
      <p:sp>
        <p:nvSpPr>
          <p:cNvPr id="3" name="Text Placeholder 2">
            <a:extLst>
              <a:ext uri="{FF2B5EF4-FFF2-40B4-BE49-F238E27FC236}">
                <a16:creationId xmlns:a16="http://schemas.microsoft.com/office/drawing/2014/main" id="{D14508A6-C3F2-476C-8861-BD16CC682821}"/>
              </a:ext>
            </a:extLst>
          </p:cNvPr>
          <p:cNvSpPr>
            <a:spLocks noGrp="1"/>
          </p:cNvSpPr>
          <p:nvPr>
            <p:ph type="body" sz="quarter" idx="13"/>
          </p:nvPr>
        </p:nvSpPr>
        <p:spPr/>
        <p:txBody>
          <a:bodyPr/>
          <a:lstStyle/>
          <a:p>
            <a:r>
              <a:rPr lang="en-CA" dirty="0"/>
              <a:t>Refrigeration ton (RT) is a common unit used in HVAC</a:t>
            </a:r>
          </a:p>
          <a:p>
            <a:r>
              <a:rPr lang="en-CA" dirty="0"/>
              <a:t>1 RT = 12,000 Btu/hr</a:t>
            </a:r>
          </a:p>
          <a:p>
            <a:pPr marL="0" indent="0">
              <a:buNone/>
            </a:pPr>
            <a:r>
              <a:rPr lang="en-CA" dirty="0"/>
              <a:t>Example:</a:t>
            </a:r>
          </a:p>
          <a:p>
            <a:pPr marL="0" indent="0">
              <a:buNone/>
            </a:pPr>
            <a:r>
              <a:rPr lang="en-CA" dirty="0"/>
              <a:t>What is the annual electricity cost of a 3 ton AC unit with SEER of 14 running </a:t>
            </a:r>
            <a:r>
              <a:rPr lang="en-CA"/>
              <a:t>approximately 1200 </a:t>
            </a:r>
            <a:r>
              <a:rPr lang="en-CA" dirty="0"/>
              <a:t>hrs/year</a:t>
            </a:r>
          </a:p>
          <a:p>
            <a:r>
              <a:rPr lang="en-CA" sz="2000" dirty="0"/>
              <a:t>“3 ton” AC unit means the AC has a cooling capacity of 36,000 BTU/hr</a:t>
            </a:r>
          </a:p>
          <a:p>
            <a:r>
              <a:rPr lang="en-CA" sz="2000" dirty="0"/>
              <a:t>A 3 ton AC unit with SEER of 14 has average power consumption of 36000 / 14 = 2.57 kW</a:t>
            </a:r>
          </a:p>
          <a:p>
            <a:r>
              <a:rPr lang="en-CA" sz="2000" dirty="0"/>
              <a:t>If the unit runs 1200 hrs/year and electricity cost is 0.16 $/kWh, then total energy cost of the unit is 493.7 $/year</a:t>
            </a:r>
          </a:p>
          <a:p>
            <a:pPr marL="0" indent="0">
              <a:buNone/>
            </a:pPr>
            <a:r>
              <a:rPr lang="en-CA" dirty="0"/>
              <a:t> </a:t>
            </a:r>
          </a:p>
        </p:txBody>
      </p:sp>
      <p:sp>
        <p:nvSpPr>
          <p:cNvPr id="4" name="Title 3">
            <a:extLst>
              <a:ext uri="{FF2B5EF4-FFF2-40B4-BE49-F238E27FC236}">
                <a16:creationId xmlns:a16="http://schemas.microsoft.com/office/drawing/2014/main" id="{704BE0BE-A983-4B3A-B027-9031C37D277C}"/>
              </a:ext>
            </a:extLst>
          </p:cNvPr>
          <p:cNvSpPr>
            <a:spLocks noGrp="1"/>
          </p:cNvSpPr>
          <p:nvPr>
            <p:ph type="title"/>
          </p:nvPr>
        </p:nvSpPr>
        <p:spPr/>
        <p:txBody>
          <a:bodyPr/>
          <a:lstStyle/>
          <a:p>
            <a:r>
              <a:rPr lang="en-CA" dirty="0"/>
              <a:t>Heating and Cooling Units</a:t>
            </a:r>
          </a:p>
        </p:txBody>
      </p:sp>
    </p:spTree>
    <p:extLst>
      <p:ext uri="{BB962C8B-B14F-4D97-AF65-F5344CB8AC3E}">
        <p14:creationId xmlns:p14="http://schemas.microsoft.com/office/powerpoint/2010/main" val="39309581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122D24B2-5D52-46F7-B915-67CABB3AD0CF}" type="slidenum">
              <a:rPr lang="en-US" smtClean="0"/>
              <a:pPr/>
              <a:t>18</a:t>
            </a:fld>
            <a:endParaRPr lang="en-US" dirty="0"/>
          </a:p>
        </p:txBody>
      </p:sp>
      <p:sp>
        <p:nvSpPr>
          <p:cNvPr id="4" name="Title 3"/>
          <p:cNvSpPr>
            <a:spLocks noGrp="1"/>
          </p:cNvSpPr>
          <p:nvPr>
            <p:ph type="title"/>
          </p:nvPr>
        </p:nvSpPr>
        <p:spPr>
          <a:xfrm>
            <a:off x="2133600" y="3048000"/>
            <a:ext cx="5029200" cy="979250"/>
          </a:xfrm>
        </p:spPr>
        <p:txBody>
          <a:bodyPr/>
          <a:lstStyle/>
          <a:p>
            <a:pPr algn="ctr"/>
            <a:r>
              <a:rPr lang="en-CA" dirty="0"/>
              <a:t>Part 2 </a:t>
            </a:r>
            <a:br>
              <a:rPr lang="en-CA" dirty="0"/>
            </a:br>
            <a:r>
              <a:rPr lang="en-CA" dirty="0"/>
              <a:t>Energy Issues</a:t>
            </a:r>
          </a:p>
        </p:txBody>
      </p:sp>
    </p:spTree>
    <p:extLst>
      <p:ext uri="{BB962C8B-B14F-4D97-AF65-F5344CB8AC3E}">
        <p14:creationId xmlns:p14="http://schemas.microsoft.com/office/powerpoint/2010/main" val="28576239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122D24B2-5D52-46F7-B915-67CABB3AD0CF}" type="slidenum">
              <a:rPr lang="en-US" smtClean="0"/>
              <a:pPr/>
              <a:t>19</a:t>
            </a:fld>
            <a:endParaRPr lang="en-US" dirty="0"/>
          </a:p>
        </p:txBody>
      </p:sp>
      <p:sp>
        <p:nvSpPr>
          <p:cNvPr id="3" name="Text Placeholder 2"/>
          <p:cNvSpPr>
            <a:spLocks noGrp="1"/>
          </p:cNvSpPr>
          <p:nvPr>
            <p:ph type="body" sz="quarter" idx="13"/>
          </p:nvPr>
        </p:nvSpPr>
        <p:spPr/>
        <p:txBody>
          <a:bodyPr/>
          <a:lstStyle/>
          <a:p>
            <a:r>
              <a:rPr lang="en-CA" dirty="0"/>
              <a:t>Energy Consumption</a:t>
            </a:r>
          </a:p>
          <a:p>
            <a:r>
              <a:rPr lang="en-CA" dirty="0"/>
              <a:t>Energy Consumption per Capita</a:t>
            </a:r>
          </a:p>
          <a:p>
            <a:r>
              <a:rPr lang="en-CA" dirty="0"/>
              <a:t>Energy Consumption vs. GDP</a:t>
            </a:r>
          </a:p>
          <a:p>
            <a:r>
              <a:rPr lang="en-CA" dirty="0"/>
              <a:t>Energy Consumption vs. HDI</a:t>
            </a:r>
          </a:p>
          <a:p>
            <a:r>
              <a:rPr lang="en-CA" dirty="0"/>
              <a:t>Climate Change – Key Issue</a:t>
            </a:r>
          </a:p>
          <a:p>
            <a:r>
              <a:rPr lang="en-CA" dirty="0"/>
              <a:t>Path Forward and Potential Remedies</a:t>
            </a:r>
          </a:p>
          <a:p>
            <a:endParaRPr lang="en-CA" dirty="0"/>
          </a:p>
        </p:txBody>
      </p:sp>
      <p:sp>
        <p:nvSpPr>
          <p:cNvPr id="4" name="Title 3"/>
          <p:cNvSpPr>
            <a:spLocks noGrp="1"/>
          </p:cNvSpPr>
          <p:nvPr>
            <p:ph type="title"/>
          </p:nvPr>
        </p:nvSpPr>
        <p:spPr/>
        <p:txBody>
          <a:bodyPr/>
          <a:lstStyle/>
          <a:p>
            <a:r>
              <a:rPr lang="en-CA" dirty="0"/>
              <a:t>Issues to Consider</a:t>
            </a:r>
          </a:p>
        </p:txBody>
      </p:sp>
    </p:spTree>
    <p:extLst>
      <p:ext uri="{BB962C8B-B14F-4D97-AF65-F5344CB8AC3E}">
        <p14:creationId xmlns:p14="http://schemas.microsoft.com/office/powerpoint/2010/main" val="29311374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886B960-50B8-4EB3-8849-C8B35195F827}"/>
              </a:ext>
            </a:extLst>
          </p:cNvPr>
          <p:cNvSpPr>
            <a:spLocks noGrp="1"/>
          </p:cNvSpPr>
          <p:nvPr>
            <p:ph type="sldNum" sz="quarter" idx="12"/>
          </p:nvPr>
        </p:nvSpPr>
        <p:spPr/>
        <p:txBody>
          <a:bodyPr/>
          <a:lstStyle/>
          <a:p>
            <a:fld id="{B6F15528-21DE-4FAA-801E-634DDDAF4B2B}" type="slidenum">
              <a:rPr lang="en-US" smtClean="0"/>
              <a:pPr/>
              <a:t>20</a:t>
            </a:fld>
            <a:endParaRPr lang="en-US"/>
          </a:p>
        </p:txBody>
      </p:sp>
      <p:pic>
        <p:nvPicPr>
          <p:cNvPr id="4" name="Picture 3">
            <a:extLst>
              <a:ext uri="{FF2B5EF4-FFF2-40B4-BE49-F238E27FC236}">
                <a16:creationId xmlns:a16="http://schemas.microsoft.com/office/drawing/2014/main" id="{A7CF6B3D-37A0-4F8A-8B0B-1DF7333E44D2}"/>
              </a:ext>
            </a:extLst>
          </p:cNvPr>
          <p:cNvPicPr>
            <a:picLocks noChangeAspect="1"/>
          </p:cNvPicPr>
          <p:nvPr/>
        </p:nvPicPr>
        <p:blipFill>
          <a:blip r:embed="rId2"/>
          <a:stretch>
            <a:fillRect/>
          </a:stretch>
        </p:blipFill>
        <p:spPr>
          <a:xfrm>
            <a:off x="0" y="2052337"/>
            <a:ext cx="8077200" cy="4511005"/>
          </a:xfrm>
          <a:prstGeom prst="rect">
            <a:avLst/>
          </a:prstGeom>
        </p:spPr>
      </p:pic>
      <p:sp>
        <p:nvSpPr>
          <p:cNvPr id="5" name="Title 1">
            <a:extLst>
              <a:ext uri="{FF2B5EF4-FFF2-40B4-BE49-F238E27FC236}">
                <a16:creationId xmlns:a16="http://schemas.microsoft.com/office/drawing/2014/main" id="{4B02F4B5-1BA7-4E0F-A2F4-2CE382936E94}"/>
              </a:ext>
            </a:extLst>
          </p:cNvPr>
          <p:cNvSpPr txBox="1">
            <a:spLocks/>
          </p:cNvSpPr>
          <p:nvPr/>
        </p:nvSpPr>
        <p:spPr>
          <a:xfrm>
            <a:off x="381000" y="909337"/>
            <a:ext cx="5791200" cy="1143000"/>
          </a:xfrm>
        </p:spPr>
        <p:txBody>
          <a:bodyPr/>
          <a:lstStyle>
            <a:lvl1pPr>
              <a:spcBef>
                <a:spcPct val="0"/>
              </a:spcBef>
              <a:buNone/>
              <a:defRPr kumimoji="0" sz="3600" b="1">
                <a:ln>
                  <a:noFill/>
                </a:ln>
                <a:solidFill>
                  <a:schemeClr val="accent2"/>
                </a:solidFill>
                <a:effectLst/>
                <a:latin typeface="Arial" panose="020B0604020202020204" pitchFamily="34" charset="0"/>
                <a:ea typeface="Verdana" panose="020B0604030504040204" pitchFamily="34" charset="0"/>
                <a:cs typeface="Arial" panose="020B0604020202020204" pitchFamily="34" charset="0"/>
              </a:defRPr>
            </a:lvl1pPr>
          </a:lstStyle>
          <a:p>
            <a:r>
              <a:rPr lang="en-US" dirty="0"/>
              <a:t>Sources and Distribution of Energy</a:t>
            </a:r>
          </a:p>
        </p:txBody>
      </p:sp>
      <p:pic>
        <p:nvPicPr>
          <p:cNvPr id="7" name="Picture 6">
            <a:extLst>
              <a:ext uri="{FF2B5EF4-FFF2-40B4-BE49-F238E27FC236}">
                <a16:creationId xmlns:a16="http://schemas.microsoft.com/office/drawing/2014/main" id="{2785B46D-BF29-4CCA-83B3-3A3401D2BFD8}"/>
              </a:ext>
            </a:extLst>
          </p:cNvPr>
          <p:cNvPicPr>
            <a:picLocks noChangeAspect="1"/>
          </p:cNvPicPr>
          <p:nvPr/>
        </p:nvPicPr>
        <p:blipFill>
          <a:blip r:embed="rId3"/>
          <a:stretch>
            <a:fillRect/>
          </a:stretch>
        </p:blipFill>
        <p:spPr>
          <a:xfrm>
            <a:off x="6532309" y="685800"/>
            <a:ext cx="2611691" cy="2499360"/>
          </a:xfrm>
          <a:prstGeom prst="rect">
            <a:avLst/>
          </a:prstGeom>
        </p:spPr>
      </p:pic>
      <p:sp>
        <p:nvSpPr>
          <p:cNvPr id="9" name="TextBox 8">
            <a:extLst>
              <a:ext uri="{FF2B5EF4-FFF2-40B4-BE49-F238E27FC236}">
                <a16:creationId xmlns:a16="http://schemas.microsoft.com/office/drawing/2014/main" id="{2113A820-62BA-49A7-9B08-B2B1B65959B9}"/>
              </a:ext>
            </a:extLst>
          </p:cNvPr>
          <p:cNvSpPr txBox="1"/>
          <p:nvPr/>
        </p:nvSpPr>
        <p:spPr>
          <a:xfrm>
            <a:off x="4485640" y="5940851"/>
            <a:ext cx="4658360" cy="830997"/>
          </a:xfrm>
          <a:prstGeom prst="rect">
            <a:avLst/>
          </a:prstGeom>
          <a:noFill/>
        </p:spPr>
        <p:txBody>
          <a:bodyPr wrap="square">
            <a:spAutoFit/>
          </a:bodyPr>
          <a:lstStyle/>
          <a:p>
            <a:r>
              <a:rPr lang="en-CA" sz="1200" dirty="0">
                <a:solidFill>
                  <a:schemeClr val="bg1"/>
                </a:solidFill>
              </a:rPr>
              <a:t>Importantly, the final services we desire are typically not energy, but energy is the conveyor or enabler of these desired services. Thus, fuel losses, conversion losses and distribution losses occur before the final user, where additional system losses</a:t>
            </a:r>
            <a:endParaRPr lang="en-CA" sz="1200" dirty="0"/>
          </a:p>
        </p:txBody>
      </p:sp>
      <p:sp>
        <p:nvSpPr>
          <p:cNvPr id="8" name="TextBox 7">
            <a:extLst>
              <a:ext uri="{FF2B5EF4-FFF2-40B4-BE49-F238E27FC236}">
                <a16:creationId xmlns:a16="http://schemas.microsoft.com/office/drawing/2014/main" id="{66CBBB05-B90D-4E2E-AABF-2426B706E581}"/>
              </a:ext>
            </a:extLst>
          </p:cNvPr>
          <p:cNvSpPr txBox="1"/>
          <p:nvPr/>
        </p:nvSpPr>
        <p:spPr>
          <a:xfrm>
            <a:off x="228600" y="6476181"/>
            <a:ext cx="4581426" cy="307777"/>
          </a:xfrm>
          <a:prstGeom prst="rect">
            <a:avLst/>
          </a:prstGeom>
          <a:noFill/>
        </p:spPr>
        <p:txBody>
          <a:bodyPr wrap="square">
            <a:spAutoFit/>
          </a:bodyPr>
          <a:lstStyle/>
          <a:p>
            <a:r>
              <a:rPr lang="en-CA" sz="1400" dirty="0">
                <a:solidFill>
                  <a:schemeClr val="bg1"/>
                </a:solidFill>
              </a:rPr>
              <a:t>1 quadrillion BTU (10</a:t>
            </a:r>
            <a:r>
              <a:rPr lang="en-CA" sz="1400" baseline="30000" dirty="0">
                <a:solidFill>
                  <a:schemeClr val="bg1"/>
                </a:solidFill>
              </a:rPr>
              <a:t>15</a:t>
            </a:r>
            <a:r>
              <a:rPr lang="en-CA" sz="1400" dirty="0">
                <a:solidFill>
                  <a:schemeClr val="bg1"/>
                </a:solidFill>
              </a:rPr>
              <a:t> BTU) is called a quad</a:t>
            </a:r>
            <a:endParaRPr lang="en-CA" sz="1400" dirty="0"/>
          </a:p>
        </p:txBody>
      </p:sp>
    </p:spTree>
    <p:extLst>
      <p:ext uri="{BB962C8B-B14F-4D97-AF65-F5344CB8AC3E}">
        <p14:creationId xmlns:p14="http://schemas.microsoft.com/office/powerpoint/2010/main" val="14439567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90FFF18-7374-4EFE-90E0-D3E28BAC0672}"/>
              </a:ext>
            </a:extLst>
          </p:cNvPr>
          <p:cNvSpPr>
            <a:spLocks noGrp="1"/>
          </p:cNvSpPr>
          <p:nvPr>
            <p:ph type="sldNum" sz="quarter" idx="12"/>
          </p:nvPr>
        </p:nvSpPr>
        <p:spPr/>
        <p:txBody>
          <a:bodyPr/>
          <a:lstStyle/>
          <a:p>
            <a:fld id="{B6F15528-21DE-4FAA-801E-634DDDAF4B2B}" type="slidenum">
              <a:rPr lang="en-US" smtClean="0"/>
              <a:pPr/>
              <a:t>21</a:t>
            </a:fld>
            <a:endParaRPr lang="en-US"/>
          </a:p>
        </p:txBody>
      </p:sp>
      <p:sp>
        <p:nvSpPr>
          <p:cNvPr id="2" name="Title 1"/>
          <p:cNvSpPr>
            <a:spLocks noGrp="1"/>
          </p:cNvSpPr>
          <p:nvPr>
            <p:ph type="title" idx="4294967295"/>
          </p:nvPr>
        </p:nvSpPr>
        <p:spPr>
          <a:xfrm>
            <a:off x="477520" y="751272"/>
            <a:ext cx="8229600" cy="1143000"/>
          </a:xfrm>
        </p:spPr>
        <p:txBody>
          <a:bodyPr/>
          <a:lstStyle/>
          <a:p>
            <a:pPr algn="l"/>
            <a:r>
              <a:rPr lang="en-US" b="1" dirty="0">
                <a:solidFill>
                  <a:schemeClr val="accent2"/>
                </a:solidFill>
                <a:latin typeface="Arial" panose="020B0604020202020204" pitchFamily="34" charset="0"/>
                <a:cs typeface="Arial" panose="020B0604020202020204" pitchFamily="34" charset="0"/>
              </a:rPr>
              <a:t>Energy, Population, GDP</a:t>
            </a:r>
          </a:p>
        </p:txBody>
      </p:sp>
      <p:pic>
        <p:nvPicPr>
          <p:cNvPr id="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4" y="1828801"/>
            <a:ext cx="3890984" cy="2997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6"/>
          <p:cNvPicPr>
            <a:picLocks noChangeAspect="1"/>
          </p:cNvPicPr>
          <p:nvPr/>
        </p:nvPicPr>
        <p:blipFill>
          <a:blip r:embed="rId4"/>
          <a:stretch>
            <a:fillRect/>
          </a:stretch>
        </p:blipFill>
        <p:spPr>
          <a:xfrm>
            <a:off x="3910151" y="1442905"/>
            <a:ext cx="5157649" cy="3662496"/>
          </a:xfrm>
          <a:prstGeom prst="rect">
            <a:avLst/>
          </a:prstGeom>
        </p:spPr>
      </p:pic>
      <p:sp>
        <p:nvSpPr>
          <p:cNvPr id="3" name="Rectangle 2"/>
          <p:cNvSpPr/>
          <p:nvPr/>
        </p:nvSpPr>
        <p:spPr>
          <a:xfrm>
            <a:off x="187986" y="5345668"/>
            <a:ext cx="8727413" cy="1200329"/>
          </a:xfrm>
          <a:prstGeom prst="rect">
            <a:avLst/>
          </a:prstGeom>
        </p:spPr>
        <p:txBody>
          <a:bodyPr wrap="square">
            <a:spAutoFit/>
          </a:bodyPr>
          <a:lstStyle/>
          <a:p>
            <a:pPr marL="285750" indent="-285750">
              <a:buFont typeface="Arial" panose="020B0604020202020204" pitchFamily="34" charset="0"/>
              <a:buChar char="•"/>
            </a:pPr>
            <a:r>
              <a:rPr lang="en-US" altLang="en-US" b="1" dirty="0">
                <a:solidFill>
                  <a:schemeClr val="accent2"/>
                </a:solidFill>
                <a:latin typeface="Arial" panose="020B0604020202020204" pitchFamily="34" charset="0"/>
                <a:cs typeface="Arial" panose="020B0604020202020204" pitchFamily="34" charset="0"/>
              </a:rPr>
              <a:t>Population and energy per capita 1800-2015</a:t>
            </a:r>
          </a:p>
          <a:p>
            <a:pPr marL="285750" indent="-285750">
              <a:buFont typeface="Arial" panose="020B0604020202020204" pitchFamily="34" charset="0"/>
              <a:buChar char="•"/>
            </a:pPr>
            <a:r>
              <a:rPr lang="en-US" b="1" dirty="0">
                <a:solidFill>
                  <a:schemeClr val="accent2"/>
                </a:solidFill>
                <a:latin typeface="Arial" panose="020B0604020202020204" pitchFamily="34" charset="0"/>
                <a:cs typeface="Arial" panose="020B0604020202020204" pitchFamily="34" charset="0"/>
              </a:rPr>
              <a:t>Gross domestic product (GDP) is the sum of the monetary values of all goods and services produced in a country. It is the most commonly used measure of wealth</a:t>
            </a:r>
            <a:endParaRPr lang="en-CA" dirty="0"/>
          </a:p>
        </p:txBody>
      </p:sp>
    </p:spTree>
    <p:extLst>
      <p:ext uri="{BB962C8B-B14F-4D97-AF65-F5344CB8AC3E}">
        <p14:creationId xmlns:p14="http://schemas.microsoft.com/office/powerpoint/2010/main" val="1215661791"/>
      </p:ext>
    </p:extLst>
  </p:cSld>
  <p:clrMapOvr>
    <a:overrideClrMapping bg1="dk1" tx1="lt1" bg2="dk2" tx2="lt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B393BB2-4577-4EFA-96ED-2403C6AE5908}"/>
              </a:ext>
            </a:extLst>
          </p:cNvPr>
          <p:cNvSpPr>
            <a:spLocks noGrp="1"/>
          </p:cNvSpPr>
          <p:nvPr>
            <p:ph type="sldNum" sz="quarter" idx="12"/>
          </p:nvPr>
        </p:nvSpPr>
        <p:spPr/>
        <p:txBody>
          <a:bodyPr/>
          <a:lstStyle/>
          <a:p>
            <a:fld id="{B6F15528-21DE-4FAA-801E-634DDDAF4B2B}" type="slidenum">
              <a:rPr lang="en-US" smtClean="0"/>
              <a:pPr/>
              <a:t>22</a:t>
            </a:fld>
            <a:endParaRPr lang="en-US"/>
          </a:p>
        </p:txBody>
      </p:sp>
      <p:pic>
        <p:nvPicPr>
          <p:cNvPr id="5" name="Picture 4">
            <a:extLst>
              <a:ext uri="{FF2B5EF4-FFF2-40B4-BE49-F238E27FC236}">
                <a16:creationId xmlns:a16="http://schemas.microsoft.com/office/drawing/2014/main" id="{B6A6ECD3-2910-41FE-9791-68CF14976154}"/>
              </a:ext>
            </a:extLst>
          </p:cNvPr>
          <p:cNvPicPr>
            <a:picLocks noChangeAspect="1"/>
          </p:cNvPicPr>
          <p:nvPr/>
        </p:nvPicPr>
        <p:blipFill>
          <a:blip r:embed="rId3"/>
          <a:stretch>
            <a:fillRect/>
          </a:stretch>
        </p:blipFill>
        <p:spPr>
          <a:xfrm>
            <a:off x="762000" y="1653153"/>
            <a:ext cx="7620000" cy="4897791"/>
          </a:xfrm>
          <a:prstGeom prst="rect">
            <a:avLst/>
          </a:prstGeom>
        </p:spPr>
      </p:pic>
      <p:sp>
        <p:nvSpPr>
          <p:cNvPr id="6" name="Title 1">
            <a:extLst>
              <a:ext uri="{FF2B5EF4-FFF2-40B4-BE49-F238E27FC236}">
                <a16:creationId xmlns:a16="http://schemas.microsoft.com/office/drawing/2014/main" id="{5740BAD5-0F94-4266-B229-113DB86EA660}"/>
              </a:ext>
            </a:extLst>
          </p:cNvPr>
          <p:cNvSpPr txBox="1">
            <a:spLocks/>
          </p:cNvSpPr>
          <p:nvPr/>
        </p:nvSpPr>
        <p:spPr>
          <a:xfrm>
            <a:off x="457200" y="762000"/>
            <a:ext cx="8229600" cy="1143000"/>
          </a:xfrm>
        </p:spPr>
        <p:txBody>
          <a:bodyPr/>
          <a:lstStyle>
            <a:lvl1pPr>
              <a:spcBef>
                <a:spcPct val="0"/>
              </a:spcBef>
              <a:buNone/>
              <a:defRPr kumimoji="0" sz="3600" b="1">
                <a:ln>
                  <a:noFill/>
                </a:ln>
                <a:solidFill>
                  <a:schemeClr val="accent2"/>
                </a:solidFill>
                <a:effectLst/>
                <a:latin typeface="Arial" panose="020B0604020202020204" pitchFamily="34" charset="0"/>
                <a:ea typeface="Verdana" panose="020B0604030504040204" pitchFamily="34" charset="0"/>
                <a:cs typeface="Arial" panose="020B0604020202020204" pitchFamily="34" charset="0"/>
              </a:defRPr>
            </a:lvl1pPr>
          </a:lstStyle>
          <a:p>
            <a:r>
              <a:rPr lang="en-US" dirty="0"/>
              <a:t>Energy, Population, GDP, 2017 Data</a:t>
            </a:r>
          </a:p>
        </p:txBody>
      </p:sp>
    </p:spTree>
    <p:extLst>
      <p:ext uri="{BB962C8B-B14F-4D97-AF65-F5344CB8AC3E}">
        <p14:creationId xmlns:p14="http://schemas.microsoft.com/office/powerpoint/2010/main" val="1284273306"/>
      </p:ext>
    </p:extLst>
  </p:cSld>
  <p:clrMapOvr>
    <a:overrideClrMapping bg1="dk1" tx1="lt1" bg2="dk2" tx2="lt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152400" y="539226"/>
            <a:ext cx="8839200" cy="1143000"/>
          </a:xfrm>
        </p:spPr>
        <p:txBody>
          <a:bodyPr>
            <a:noAutofit/>
          </a:bodyPr>
          <a:lstStyle/>
          <a:p>
            <a:r>
              <a:rPr lang="en-US" altLang="en-US" b="1" dirty="0">
                <a:solidFill>
                  <a:schemeClr val="accent2"/>
                </a:solidFill>
                <a:latin typeface="Arial" panose="020B0604020202020204" pitchFamily="34" charset="0"/>
                <a:cs typeface="Arial" panose="020B0604020202020204" pitchFamily="34" charset="0"/>
              </a:rPr>
              <a:t>GDP/person vs Energy/person</a:t>
            </a:r>
            <a:br>
              <a:rPr lang="en-US" altLang="en-US" b="1" dirty="0">
                <a:solidFill>
                  <a:schemeClr val="accent2"/>
                </a:solidFill>
                <a:latin typeface="Arial" panose="020B0604020202020204" pitchFamily="34" charset="0"/>
                <a:cs typeface="Arial" panose="020B0604020202020204" pitchFamily="34" charset="0"/>
              </a:rPr>
            </a:br>
            <a:r>
              <a:rPr lang="en-US" altLang="en-US" b="1" i="1" dirty="0">
                <a:solidFill>
                  <a:schemeClr val="accent2"/>
                </a:solidFill>
                <a:latin typeface="Arial" panose="020B0604020202020204" pitchFamily="34" charset="0"/>
                <a:cs typeface="Arial" panose="020B0604020202020204" pitchFamily="34" charset="0"/>
              </a:rPr>
              <a:t>select countries, 2017</a:t>
            </a:r>
            <a:endParaRPr lang="en-US" b="1" i="1" dirty="0">
              <a:solidFill>
                <a:schemeClr val="accent2"/>
              </a:solidFill>
              <a:latin typeface="Arial" panose="020B0604020202020204" pitchFamily="34" charset="0"/>
              <a:cs typeface="Arial" panose="020B0604020202020204" pitchFamily="34" charset="0"/>
            </a:endParaRPr>
          </a:p>
        </p:txBody>
      </p:sp>
      <p:sp>
        <p:nvSpPr>
          <p:cNvPr id="5" name="TextBox 4"/>
          <p:cNvSpPr txBox="1">
            <a:spLocks noChangeArrowheads="1"/>
          </p:cNvSpPr>
          <p:nvPr/>
        </p:nvSpPr>
        <p:spPr bwMode="auto">
          <a:xfrm>
            <a:off x="1524000" y="6324600"/>
            <a:ext cx="647805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en-US" sz="800" i="1" dirty="0"/>
              <a:t>Source: F Vanek, L Albright, and L Angenent. (2016) Energy Systems Engineering: Evaluation and Implementation, 3</a:t>
            </a:r>
            <a:r>
              <a:rPr lang="en-US" altLang="en-US" sz="800" i="1" baseline="30000" dirty="0"/>
              <a:t>rd</a:t>
            </a:r>
            <a:r>
              <a:rPr lang="en-US" altLang="en-US" sz="800" i="1" dirty="0"/>
              <a:t> Ed., McGraw-Hill. </a:t>
            </a:r>
          </a:p>
          <a:p>
            <a:r>
              <a:rPr lang="en-US" altLang="en-US" sz="800" i="1" dirty="0"/>
              <a:t>This slide may be distributed as long as this attribution is maintained with the slide. </a:t>
            </a:r>
          </a:p>
        </p:txBody>
      </p:sp>
      <p:sp>
        <p:nvSpPr>
          <p:cNvPr id="2" name="Slide Number Placeholder 1">
            <a:extLst>
              <a:ext uri="{FF2B5EF4-FFF2-40B4-BE49-F238E27FC236}">
                <a16:creationId xmlns:a16="http://schemas.microsoft.com/office/drawing/2014/main" id="{EECFB2CD-167D-4E40-8337-1B66C862A2E9}"/>
              </a:ext>
            </a:extLst>
          </p:cNvPr>
          <p:cNvSpPr>
            <a:spLocks noGrp="1"/>
          </p:cNvSpPr>
          <p:nvPr>
            <p:ph type="sldNum" sz="quarter" idx="12"/>
          </p:nvPr>
        </p:nvSpPr>
        <p:spPr/>
        <p:txBody>
          <a:bodyPr/>
          <a:lstStyle/>
          <a:p>
            <a:fld id="{B6F15528-21DE-4FAA-801E-634DDDAF4B2B}" type="slidenum">
              <a:rPr lang="en-US" smtClean="0"/>
              <a:pPr/>
              <a:t>23</a:t>
            </a:fld>
            <a:endParaRPr lang="en-US"/>
          </a:p>
        </p:txBody>
      </p:sp>
      <p:pic>
        <p:nvPicPr>
          <p:cNvPr id="7" name="Picture 6">
            <a:extLst>
              <a:ext uri="{FF2B5EF4-FFF2-40B4-BE49-F238E27FC236}">
                <a16:creationId xmlns:a16="http://schemas.microsoft.com/office/drawing/2014/main" id="{0DC6B177-1854-493C-A67F-2CEDFEF39B12}"/>
              </a:ext>
            </a:extLst>
          </p:cNvPr>
          <p:cNvPicPr>
            <a:picLocks noChangeAspect="1"/>
          </p:cNvPicPr>
          <p:nvPr/>
        </p:nvPicPr>
        <p:blipFill>
          <a:blip r:embed="rId3"/>
          <a:stretch>
            <a:fillRect/>
          </a:stretch>
        </p:blipFill>
        <p:spPr>
          <a:xfrm>
            <a:off x="1196192" y="1899160"/>
            <a:ext cx="6781800" cy="4409565"/>
          </a:xfrm>
          <a:prstGeom prst="rect">
            <a:avLst/>
          </a:prstGeom>
        </p:spPr>
      </p:pic>
    </p:spTree>
    <p:extLst>
      <p:ext uri="{BB962C8B-B14F-4D97-AF65-F5344CB8AC3E}">
        <p14:creationId xmlns:p14="http://schemas.microsoft.com/office/powerpoint/2010/main" val="4004000126"/>
      </p:ext>
    </p:extLst>
  </p:cSld>
  <p:clrMapOvr>
    <a:overrideClrMapping bg1="dk1" tx1="lt1" bg2="dk2" tx2="lt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3096A5A-4B2D-48AF-ABB3-A6E323D38801}"/>
              </a:ext>
            </a:extLst>
          </p:cNvPr>
          <p:cNvSpPr>
            <a:spLocks noGrp="1"/>
          </p:cNvSpPr>
          <p:nvPr>
            <p:ph type="sldNum" sz="quarter" idx="12"/>
          </p:nvPr>
        </p:nvSpPr>
        <p:spPr/>
        <p:txBody>
          <a:bodyPr/>
          <a:lstStyle/>
          <a:p>
            <a:fld id="{B6F15528-21DE-4FAA-801E-634DDDAF4B2B}" type="slidenum">
              <a:rPr lang="en-US" smtClean="0"/>
              <a:pPr/>
              <a:t>24</a:t>
            </a:fld>
            <a:endParaRPr lang="en-US"/>
          </a:p>
        </p:txBody>
      </p:sp>
      <p:pic>
        <p:nvPicPr>
          <p:cNvPr id="9" name="Picture 8">
            <a:extLst>
              <a:ext uri="{FF2B5EF4-FFF2-40B4-BE49-F238E27FC236}">
                <a16:creationId xmlns:a16="http://schemas.microsoft.com/office/drawing/2014/main" id="{933D0543-5C88-436D-99AE-BD51040D58CA}"/>
              </a:ext>
            </a:extLst>
          </p:cNvPr>
          <p:cNvPicPr>
            <a:picLocks noChangeAspect="1"/>
          </p:cNvPicPr>
          <p:nvPr/>
        </p:nvPicPr>
        <p:blipFill>
          <a:blip r:embed="rId2"/>
          <a:stretch>
            <a:fillRect/>
          </a:stretch>
        </p:blipFill>
        <p:spPr>
          <a:xfrm>
            <a:off x="144780" y="1901230"/>
            <a:ext cx="4610100" cy="3181350"/>
          </a:xfrm>
          <a:prstGeom prst="rect">
            <a:avLst/>
          </a:prstGeom>
        </p:spPr>
      </p:pic>
      <p:sp>
        <p:nvSpPr>
          <p:cNvPr id="13" name="TextBox 12">
            <a:extLst>
              <a:ext uri="{FF2B5EF4-FFF2-40B4-BE49-F238E27FC236}">
                <a16:creationId xmlns:a16="http://schemas.microsoft.com/office/drawing/2014/main" id="{BC340B64-74F7-47EC-8307-A085DA535ED0}"/>
              </a:ext>
            </a:extLst>
          </p:cNvPr>
          <p:cNvSpPr txBox="1"/>
          <p:nvPr/>
        </p:nvSpPr>
        <p:spPr>
          <a:xfrm>
            <a:off x="762000" y="5307291"/>
            <a:ext cx="3741420" cy="738664"/>
          </a:xfrm>
          <a:prstGeom prst="rect">
            <a:avLst/>
          </a:prstGeom>
          <a:noFill/>
        </p:spPr>
        <p:txBody>
          <a:bodyPr wrap="square">
            <a:spAutoFit/>
          </a:bodyPr>
          <a:lstStyle/>
          <a:p>
            <a:r>
              <a:rPr lang="en-CA" sz="1400" b="1" u="sng" dirty="0">
                <a:solidFill>
                  <a:schemeClr val="bg1"/>
                </a:solidFill>
              </a:rPr>
              <a:t>Relative</a:t>
            </a:r>
            <a:r>
              <a:rPr lang="en-CA" sz="1400" dirty="0">
                <a:solidFill>
                  <a:schemeClr val="bg1"/>
                </a:solidFill>
              </a:rPr>
              <a:t> values of energy use and real GDP in the </a:t>
            </a:r>
            <a:r>
              <a:rPr lang="en-CA" sz="1400" b="1" dirty="0">
                <a:solidFill>
                  <a:schemeClr val="bg1"/>
                </a:solidFill>
              </a:rPr>
              <a:t>United States </a:t>
            </a:r>
            <a:r>
              <a:rPr lang="en-CA" sz="1400" dirty="0">
                <a:solidFill>
                  <a:schemeClr val="bg1"/>
                </a:solidFill>
              </a:rPr>
              <a:t>indexed to 1990 = 1.00, 1990–2017.  </a:t>
            </a:r>
          </a:p>
        </p:txBody>
      </p:sp>
      <p:sp>
        <p:nvSpPr>
          <p:cNvPr id="15" name="TextBox 14">
            <a:extLst>
              <a:ext uri="{FF2B5EF4-FFF2-40B4-BE49-F238E27FC236}">
                <a16:creationId xmlns:a16="http://schemas.microsoft.com/office/drawing/2014/main" id="{EF97CB67-7D4C-46C1-B289-69B66F19BD29}"/>
              </a:ext>
            </a:extLst>
          </p:cNvPr>
          <p:cNvSpPr txBox="1"/>
          <p:nvPr/>
        </p:nvSpPr>
        <p:spPr>
          <a:xfrm>
            <a:off x="5029200" y="1752600"/>
            <a:ext cx="3970020" cy="3970318"/>
          </a:xfrm>
          <a:prstGeom prst="rect">
            <a:avLst/>
          </a:prstGeom>
          <a:noFill/>
        </p:spPr>
        <p:txBody>
          <a:bodyPr wrap="square">
            <a:spAutoFit/>
          </a:bodyPr>
          <a:lstStyle/>
          <a:p>
            <a:pPr marL="285750" lvl="0" indent="-285750">
              <a:buFont typeface="Arial" panose="020B0604020202020204" pitchFamily="34" charset="0"/>
              <a:buChar char="•"/>
            </a:pPr>
            <a:r>
              <a:rPr lang="en-US" dirty="0">
                <a:solidFill>
                  <a:schemeClr val="bg1"/>
                </a:solidFill>
              </a:rPr>
              <a:t>Historically, growth in GDP has usually accompanied growth in energy demand.</a:t>
            </a:r>
            <a:endParaRPr lang="en-CA" dirty="0">
              <a:solidFill>
                <a:schemeClr val="bg1"/>
              </a:solidFill>
            </a:endParaRPr>
          </a:p>
          <a:p>
            <a:pPr marL="285750" lvl="0" indent="-285750">
              <a:buFont typeface="Arial" panose="020B0604020202020204" pitchFamily="34" charset="0"/>
              <a:buChar char="•"/>
            </a:pPr>
            <a:r>
              <a:rPr lang="en-US" dirty="0">
                <a:solidFill>
                  <a:srgbClr val="0070C0"/>
                </a:solidFill>
              </a:rPr>
              <a:t>Efficiency</a:t>
            </a:r>
            <a:r>
              <a:rPr lang="en-US" dirty="0">
                <a:solidFill>
                  <a:schemeClr val="bg1"/>
                </a:solidFill>
              </a:rPr>
              <a:t>, </a:t>
            </a:r>
            <a:r>
              <a:rPr lang="en-US" dirty="0">
                <a:solidFill>
                  <a:srgbClr val="0070C0"/>
                </a:solidFill>
              </a:rPr>
              <a:t>modernization</a:t>
            </a:r>
            <a:r>
              <a:rPr lang="en-US" dirty="0">
                <a:solidFill>
                  <a:schemeClr val="bg1"/>
                </a:solidFill>
              </a:rPr>
              <a:t>, </a:t>
            </a:r>
            <a:r>
              <a:rPr lang="en-US" dirty="0">
                <a:solidFill>
                  <a:srgbClr val="0070C0"/>
                </a:solidFill>
              </a:rPr>
              <a:t>recycling</a:t>
            </a:r>
            <a:r>
              <a:rPr lang="en-US" dirty="0">
                <a:solidFill>
                  <a:schemeClr val="bg1"/>
                </a:solidFill>
              </a:rPr>
              <a:t>, and structural economic change (e.g., shift to </a:t>
            </a:r>
            <a:r>
              <a:rPr lang="en-US" dirty="0">
                <a:solidFill>
                  <a:srgbClr val="0070C0"/>
                </a:solidFill>
              </a:rPr>
              <a:t>service economy</a:t>
            </a:r>
            <a:r>
              <a:rPr lang="en-US" dirty="0">
                <a:solidFill>
                  <a:schemeClr val="bg1"/>
                </a:solidFill>
              </a:rPr>
              <a:t>) can weaken this relationship.</a:t>
            </a:r>
            <a:endParaRPr lang="en-CA" dirty="0">
              <a:solidFill>
                <a:schemeClr val="bg1"/>
              </a:solidFill>
            </a:endParaRPr>
          </a:p>
          <a:p>
            <a:pPr marL="285750" lvl="0" indent="-285750">
              <a:buFont typeface="Arial" panose="020B0604020202020204" pitchFamily="34" charset="0"/>
              <a:buChar char="•"/>
            </a:pPr>
            <a:r>
              <a:rPr lang="en-US" dirty="0">
                <a:solidFill>
                  <a:schemeClr val="bg1"/>
                </a:solidFill>
              </a:rPr>
              <a:t>GDP growing faster than energy use reduces energy intensity.</a:t>
            </a:r>
            <a:endParaRPr lang="en-CA" dirty="0">
              <a:solidFill>
                <a:schemeClr val="bg1"/>
              </a:solidFill>
            </a:endParaRPr>
          </a:p>
          <a:p>
            <a:pPr marL="285750" lvl="0" indent="-285750">
              <a:buFont typeface="Arial" panose="020B0604020202020204" pitchFamily="34" charset="0"/>
              <a:buChar char="•"/>
            </a:pPr>
            <a:r>
              <a:rPr lang="en-US" dirty="0">
                <a:solidFill>
                  <a:schemeClr val="bg1"/>
                </a:solidFill>
              </a:rPr>
              <a:t>Total energy can still rise even when intensity falls because population and economic growth may outweigh efficiency gains.</a:t>
            </a:r>
            <a:endParaRPr lang="en-CA" dirty="0">
              <a:solidFill>
                <a:schemeClr val="bg1"/>
              </a:solidFill>
            </a:endParaRPr>
          </a:p>
        </p:txBody>
      </p:sp>
      <p:sp>
        <p:nvSpPr>
          <p:cNvPr id="17" name="TextBox 16">
            <a:extLst>
              <a:ext uri="{FF2B5EF4-FFF2-40B4-BE49-F238E27FC236}">
                <a16:creationId xmlns:a16="http://schemas.microsoft.com/office/drawing/2014/main" id="{5945CC71-9780-4904-A0F4-4C41DC3982D8}"/>
              </a:ext>
            </a:extLst>
          </p:cNvPr>
          <p:cNvSpPr txBox="1"/>
          <p:nvPr/>
        </p:nvSpPr>
        <p:spPr>
          <a:xfrm>
            <a:off x="457200" y="1014948"/>
            <a:ext cx="6934200" cy="646331"/>
          </a:xfrm>
          <a:prstGeom prst="rect">
            <a:avLst/>
          </a:prstGeom>
          <a:noFill/>
        </p:spPr>
        <p:txBody>
          <a:bodyPr wrap="square">
            <a:spAutoFit/>
          </a:bodyPr>
          <a:lstStyle/>
          <a:p>
            <a:r>
              <a:rPr lang="en-US" altLang="en-US" sz="3600" b="1" dirty="0">
                <a:solidFill>
                  <a:schemeClr val="accent2"/>
                </a:solidFill>
                <a:latin typeface="Arial" panose="020B0604020202020204" pitchFamily="34" charset="0"/>
                <a:cs typeface="Arial" panose="020B0604020202020204" pitchFamily="34" charset="0"/>
              </a:rPr>
              <a:t>GDP vs Energy Consumption</a:t>
            </a:r>
            <a:endParaRPr lang="en-CA" sz="3600" dirty="0"/>
          </a:p>
        </p:txBody>
      </p:sp>
    </p:spTree>
    <p:extLst>
      <p:ext uri="{BB962C8B-B14F-4D97-AF65-F5344CB8AC3E}">
        <p14:creationId xmlns:p14="http://schemas.microsoft.com/office/powerpoint/2010/main" val="26380873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152400" y="539226"/>
            <a:ext cx="8839200" cy="1143000"/>
          </a:xfrm>
        </p:spPr>
        <p:txBody>
          <a:bodyPr>
            <a:noAutofit/>
          </a:bodyPr>
          <a:lstStyle/>
          <a:p>
            <a:r>
              <a:rPr lang="en-US" altLang="en-US" b="1" dirty="0">
                <a:solidFill>
                  <a:schemeClr val="accent2"/>
                </a:solidFill>
                <a:latin typeface="Arial" panose="020B0604020202020204" pitchFamily="34" charset="0"/>
                <a:cs typeface="Arial" panose="020B0604020202020204" pitchFamily="34" charset="0"/>
              </a:rPr>
              <a:t>Human Development Index (HDI) vs. Energy per Capita</a:t>
            </a:r>
            <a:endParaRPr lang="en-US" b="1" i="1" dirty="0">
              <a:solidFill>
                <a:schemeClr val="accent2"/>
              </a:solidFill>
              <a:latin typeface="Arial" panose="020B0604020202020204" pitchFamily="34" charset="0"/>
              <a:cs typeface="Arial" panose="020B0604020202020204" pitchFamily="34" charset="0"/>
            </a:endParaRPr>
          </a:p>
        </p:txBody>
      </p:sp>
      <p:sp>
        <p:nvSpPr>
          <p:cNvPr id="5" name="TextBox 4"/>
          <p:cNvSpPr txBox="1">
            <a:spLocks noChangeArrowheads="1"/>
          </p:cNvSpPr>
          <p:nvPr/>
        </p:nvSpPr>
        <p:spPr bwMode="auto">
          <a:xfrm>
            <a:off x="1524000" y="6324600"/>
            <a:ext cx="647805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en-US" sz="800" i="1" dirty="0"/>
              <a:t>Source: F Vanek, L Albright, and L Angenent. (2016) Energy Systems Engineering: Evaluation and Implementation, 3</a:t>
            </a:r>
            <a:r>
              <a:rPr lang="en-US" altLang="en-US" sz="800" i="1" baseline="30000" dirty="0"/>
              <a:t>rd</a:t>
            </a:r>
            <a:r>
              <a:rPr lang="en-US" altLang="en-US" sz="800" i="1" dirty="0"/>
              <a:t> Ed., McGraw-Hill. </a:t>
            </a:r>
          </a:p>
          <a:p>
            <a:r>
              <a:rPr lang="en-US" altLang="en-US" sz="800" i="1" dirty="0"/>
              <a:t>This slide may be distributed as long as this attribution is maintained with the slide. </a:t>
            </a:r>
          </a:p>
        </p:txBody>
      </p:sp>
      <p:sp>
        <p:nvSpPr>
          <p:cNvPr id="6" name="Rectangle 5">
            <a:extLst>
              <a:ext uri="{FF2B5EF4-FFF2-40B4-BE49-F238E27FC236}">
                <a16:creationId xmlns:a16="http://schemas.microsoft.com/office/drawing/2014/main" id="{9E328CA6-3482-4DBB-86BF-9C296B73CAB8}"/>
              </a:ext>
            </a:extLst>
          </p:cNvPr>
          <p:cNvSpPr/>
          <p:nvPr/>
        </p:nvSpPr>
        <p:spPr>
          <a:xfrm>
            <a:off x="-3960" y="1905000"/>
            <a:ext cx="8727413" cy="2308324"/>
          </a:xfrm>
          <a:prstGeom prst="rect">
            <a:avLst/>
          </a:prstGeom>
        </p:spPr>
        <p:txBody>
          <a:bodyPr wrap="square">
            <a:spAutoFit/>
          </a:bodyPr>
          <a:lstStyle/>
          <a:p>
            <a:pPr marL="285750" indent="-285750">
              <a:buFont typeface="Arial" panose="020B0604020202020204" pitchFamily="34" charset="0"/>
              <a:buChar char="•"/>
            </a:pPr>
            <a:r>
              <a:rPr lang="en-US" dirty="0">
                <a:solidFill>
                  <a:schemeClr val="accent2"/>
                </a:solidFill>
                <a:latin typeface="Arial" panose="020B0604020202020204" pitchFamily="34" charset="0"/>
                <a:cs typeface="Arial" panose="020B0604020202020204" pitchFamily="34" charset="0"/>
              </a:rPr>
              <a:t>GDP is not a true measure of prosperity and life quality.</a:t>
            </a:r>
          </a:p>
          <a:p>
            <a:pPr marL="285750" indent="-285750">
              <a:buFont typeface="Arial" panose="020B0604020202020204" pitchFamily="34" charset="0"/>
              <a:buChar char="•"/>
            </a:pPr>
            <a:r>
              <a:rPr lang="en-US" dirty="0">
                <a:solidFill>
                  <a:schemeClr val="accent2"/>
                </a:solidFill>
                <a:latin typeface="Arial" panose="020B0604020202020204" pitchFamily="34" charset="0"/>
                <a:cs typeface="Arial" panose="020B0604020202020204" pitchFamily="34" charset="0"/>
              </a:rPr>
              <a:t>HDI is defined as a better measure of life quality and is compared with energy consumption</a:t>
            </a:r>
          </a:p>
          <a:p>
            <a:pPr marL="285750" indent="-285750">
              <a:buFont typeface="Arial" panose="020B0604020202020204" pitchFamily="34" charset="0"/>
              <a:buChar char="•"/>
            </a:pPr>
            <a:r>
              <a:rPr lang="en-US" dirty="0">
                <a:solidFill>
                  <a:schemeClr val="accent2"/>
                </a:solidFill>
                <a:latin typeface="Arial" panose="020B0604020202020204" pitchFamily="34" charset="0"/>
                <a:cs typeface="Arial" panose="020B0604020202020204" pitchFamily="34" charset="0"/>
              </a:rPr>
              <a:t>HDI is the </a:t>
            </a:r>
            <a:r>
              <a:rPr lang="en-US" b="1" dirty="0">
                <a:solidFill>
                  <a:schemeClr val="accent2"/>
                </a:solidFill>
                <a:latin typeface="Arial" panose="020B0604020202020204" pitchFamily="34" charset="0"/>
                <a:cs typeface="Arial" panose="020B0604020202020204" pitchFamily="34" charset="0"/>
              </a:rPr>
              <a:t>average</a:t>
            </a:r>
            <a:r>
              <a:rPr lang="en-US" dirty="0">
                <a:solidFill>
                  <a:schemeClr val="accent2"/>
                </a:solidFill>
                <a:latin typeface="Arial" panose="020B0604020202020204" pitchFamily="34" charset="0"/>
                <a:cs typeface="Arial" panose="020B0604020202020204" pitchFamily="34" charset="0"/>
              </a:rPr>
              <a:t> of  life expectancy index (LEI), GDP index (GDPI), and education index (EI). </a:t>
            </a:r>
          </a:p>
          <a:p>
            <a:pPr marL="285750" indent="-285750">
              <a:buFont typeface="Arial" panose="020B0604020202020204" pitchFamily="34" charset="0"/>
              <a:buChar char="•"/>
            </a:pPr>
            <a:r>
              <a:rPr lang="en-US" dirty="0">
                <a:solidFill>
                  <a:schemeClr val="accent2"/>
                </a:solidFill>
                <a:latin typeface="Arial" panose="020B0604020202020204" pitchFamily="34" charset="0"/>
                <a:cs typeface="Arial" panose="020B0604020202020204" pitchFamily="34" charset="0"/>
              </a:rPr>
              <a:t>LEI is based on adult literacy index (ALI) and combined gross enrollment rate (CGER)</a:t>
            </a:r>
          </a:p>
          <a:p>
            <a:pPr marL="285750" indent="-285750">
              <a:buFont typeface="Arial" panose="020B0604020202020204" pitchFamily="34" charset="0"/>
              <a:buChar char="•"/>
            </a:pPr>
            <a:r>
              <a:rPr lang="en-US" dirty="0">
                <a:solidFill>
                  <a:schemeClr val="accent2"/>
                </a:solidFill>
                <a:latin typeface="Arial" panose="020B0604020202020204" pitchFamily="34" charset="0"/>
                <a:cs typeface="Arial" panose="020B0604020202020204" pitchFamily="34" charset="0"/>
              </a:rPr>
              <a:t>HDI is measured on a scale from 0 (worst) to 1 (best)</a:t>
            </a:r>
            <a:endParaRPr lang="en-CA" dirty="0"/>
          </a:p>
        </p:txBody>
      </p:sp>
      <p:pic>
        <p:nvPicPr>
          <p:cNvPr id="3" name="Picture 2">
            <a:extLst>
              <a:ext uri="{FF2B5EF4-FFF2-40B4-BE49-F238E27FC236}">
                <a16:creationId xmlns:a16="http://schemas.microsoft.com/office/drawing/2014/main" id="{9F051E5A-64F4-4531-9F68-119BA1F968FC}"/>
              </a:ext>
            </a:extLst>
          </p:cNvPr>
          <p:cNvPicPr>
            <a:picLocks noChangeAspect="1"/>
          </p:cNvPicPr>
          <p:nvPr/>
        </p:nvPicPr>
        <p:blipFill>
          <a:blip r:embed="rId2"/>
          <a:stretch>
            <a:fillRect/>
          </a:stretch>
        </p:blipFill>
        <p:spPr>
          <a:xfrm>
            <a:off x="1781175" y="4572000"/>
            <a:ext cx="5581650" cy="1647825"/>
          </a:xfrm>
          <a:prstGeom prst="rect">
            <a:avLst/>
          </a:prstGeom>
        </p:spPr>
      </p:pic>
      <p:sp>
        <p:nvSpPr>
          <p:cNvPr id="7" name="Slide Number Placeholder 6">
            <a:extLst>
              <a:ext uri="{FF2B5EF4-FFF2-40B4-BE49-F238E27FC236}">
                <a16:creationId xmlns:a16="http://schemas.microsoft.com/office/drawing/2014/main" id="{79EBF7ED-A630-43A5-A910-A032C34614EC}"/>
              </a:ext>
            </a:extLst>
          </p:cNvPr>
          <p:cNvSpPr>
            <a:spLocks noGrp="1"/>
          </p:cNvSpPr>
          <p:nvPr>
            <p:ph type="sldNum" sz="quarter" idx="12"/>
          </p:nvPr>
        </p:nvSpPr>
        <p:spPr/>
        <p:txBody>
          <a:bodyPr/>
          <a:lstStyle/>
          <a:p>
            <a:fld id="{B6F15528-21DE-4FAA-801E-634DDDAF4B2B}" type="slidenum">
              <a:rPr lang="en-US" smtClean="0"/>
              <a:pPr/>
              <a:t>25</a:t>
            </a:fld>
            <a:endParaRPr lang="en-US"/>
          </a:p>
        </p:txBody>
      </p:sp>
    </p:spTree>
    <p:extLst>
      <p:ext uri="{BB962C8B-B14F-4D97-AF65-F5344CB8AC3E}">
        <p14:creationId xmlns:p14="http://schemas.microsoft.com/office/powerpoint/2010/main" val="27159281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0" y="538089"/>
            <a:ext cx="8991600" cy="1143000"/>
          </a:xfrm>
        </p:spPr>
        <p:txBody>
          <a:bodyPr>
            <a:noAutofit/>
          </a:bodyPr>
          <a:lstStyle/>
          <a:p>
            <a:r>
              <a:rPr lang="en-US" altLang="en-US" b="1" dirty="0">
                <a:solidFill>
                  <a:schemeClr val="accent2"/>
                </a:solidFill>
                <a:latin typeface="Arial" panose="020B0604020202020204" pitchFamily="34" charset="0"/>
                <a:cs typeface="Arial" panose="020B0604020202020204" pitchFamily="34" charset="0"/>
              </a:rPr>
              <a:t>Human Development Index vs Energy/person</a:t>
            </a:r>
            <a:br>
              <a:rPr lang="en-US" altLang="en-US" b="1" dirty="0">
                <a:solidFill>
                  <a:schemeClr val="accent2"/>
                </a:solidFill>
                <a:latin typeface="Arial" panose="020B0604020202020204" pitchFamily="34" charset="0"/>
                <a:cs typeface="Arial" panose="020B0604020202020204" pitchFamily="34" charset="0"/>
              </a:rPr>
            </a:br>
            <a:r>
              <a:rPr lang="en-US" altLang="en-US" b="1" i="1" dirty="0">
                <a:solidFill>
                  <a:schemeClr val="accent2"/>
                </a:solidFill>
                <a:latin typeface="Arial" panose="020B0604020202020204" pitchFamily="34" charset="0"/>
                <a:cs typeface="Arial" panose="020B0604020202020204" pitchFamily="34" charset="0"/>
              </a:rPr>
              <a:t>select countries, 2011</a:t>
            </a:r>
            <a:endParaRPr lang="en-US" b="1" i="1" dirty="0">
              <a:solidFill>
                <a:schemeClr val="accent2"/>
              </a:solidFill>
              <a:latin typeface="Arial" panose="020B0604020202020204" pitchFamily="34" charset="0"/>
              <a:cs typeface="Arial" panose="020B0604020202020204" pitchFamily="34" charset="0"/>
            </a:endParaRPr>
          </a:p>
        </p:txBody>
      </p:sp>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9674" y="2293155"/>
            <a:ext cx="5840381" cy="40380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Slide Number Placeholder 2">
            <a:extLst>
              <a:ext uri="{FF2B5EF4-FFF2-40B4-BE49-F238E27FC236}">
                <a16:creationId xmlns:a16="http://schemas.microsoft.com/office/drawing/2014/main" id="{DC51A987-3E06-4CFF-839D-9020B1B29648}"/>
              </a:ext>
            </a:extLst>
          </p:cNvPr>
          <p:cNvSpPr>
            <a:spLocks noGrp="1"/>
          </p:cNvSpPr>
          <p:nvPr>
            <p:ph type="sldNum" sz="quarter" idx="12"/>
          </p:nvPr>
        </p:nvSpPr>
        <p:spPr/>
        <p:txBody>
          <a:bodyPr/>
          <a:lstStyle/>
          <a:p>
            <a:fld id="{B6F15528-21DE-4FAA-801E-634DDDAF4B2B}" type="slidenum">
              <a:rPr lang="en-US" smtClean="0"/>
              <a:pPr/>
              <a:t>26</a:t>
            </a:fld>
            <a:endParaRPr lang="en-US"/>
          </a:p>
        </p:txBody>
      </p:sp>
    </p:spTree>
    <p:extLst>
      <p:ext uri="{BB962C8B-B14F-4D97-AF65-F5344CB8AC3E}">
        <p14:creationId xmlns:p14="http://schemas.microsoft.com/office/powerpoint/2010/main" val="2259401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122D24B2-5D52-46F7-B915-67CABB3AD0CF}" type="slidenum">
              <a:rPr lang="en-US" smtClean="0"/>
              <a:pPr/>
              <a:t>27</a:t>
            </a:fld>
            <a:endParaRPr lang="en-US" dirty="0"/>
          </a:p>
        </p:txBody>
      </p:sp>
      <p:sp>
        <p:nvSpPr>
          <p:cNvPr id="3" name="Text Placeholder 2"/>
          <p:cNvSpPr>
            <a:spLocks noGrp="1"/>
          </p:cNvSpPr>
          <p:nvPr>
            <p:ph type="body" sz="quarter" idx="13"/>
          </p:nvPr>
        </p:nvSpPr>
        <p:spPr>
          <a:xfrm>
            <a:off x="76200" y="1709738"/>
            <a:ext cx="8915400" cy="4157662"/>
          </a:xfrm>
        </p:spPr>
        <p:txBody>
          <a:bodyPr/>
          <a:lstStyle/>
          <a:p>
            <a:r>
              <a:rPr lang="en-US" b="1" dirty="0"/>
              <a:t>Energy use </a:t>
            </a:r>
            <a:r>
              <a:rPr lang="en-US" dirty="0"/>
              <a:t>in all its forms, including electricity generation, space and process heat, transportation, and other uses, is the </a:t>
            </a:r>
            <a:r>
              <a:rPr lang="en-US" b="1" i="1" dirty="0"/>
              <a:t>single most important contributor to climate change</a:t>
            </a:r>
          </a:p>
          <a:p>
            <a:pPr lvl="1"/>
            <a:r>
              <a:rPr lang="en-US" dirty="0"/>
              <a:t>Both energy use and energy per capita have historically increased</a:t>
            </a:r>
          </a:p>
          <a:p>
            <a:r>
              <a:rPr lang="en-US" dirty="0"/>
              <a:t>The problem of climate change is directly related to the </a:t>
            </a:r>
            <a:r>
              <a:rPr lang="en-US" b="1" dirty="0"/>
              <a:t>“</a:t>
            </a:r>
            <a:r>
              <a:rPr lang="en-US" b="1" dirty="0">
                <a:solidFill>
                  <a:srgbClr val="0070C0"/>
                </a:solidFill>
              </a:rPr>
              <a:t>greenhouse effect</a:t>
            </a:r>
            <a:r>
              <a:rPr lang="en-US" b="1" dirty="0"/>
              <a:t>,” </a:t>
            </a:r>
            <a:r>
              <a:rPr lang="en-US" dirty="0"/>
              <a:t>by which the atmosphere admits visible light from the sun, but </a:t>
            </a:r>
            <a:r>
              <a:rPr lang="en-US" b="1" dirty="0">
                <a:solidFill>
                  <a:srgbClr val="0070C0"/>
                </a:solidFill>
              </a:rPr>
              <a:t>traps reradiated heat from the surface of the Earth</a:t>
            </a:r>
            <a:r>
              <a:rPr lang="en-US" dirty="0"/>
              <a:t>, in much the same way that a glass greenhouse heats up by </a:t>
            </a:r>
            <a:r>
              <a:rPr lang="en-US" b="1" dirty="0">
                <a:solidFill>
                  <a:srgbClr val="0070C0"/>
                </a:solidFill>
              </a:rPr>
              <a:t>admitting light but trapping heat</a:t>
            </a:r>
          </a:p>
          <a:p>
            <a:r>
              <a:rPr lang="en-US" dirty="0"/>
              <a:t>Gases that contribute to the greenhouse effect are called </a:t>
            </a:r>
            <a:r>
              <a:rPr lang="en-US" b="1" dirty="0"/>
              <a:t>greenhouse gases (GHGs). </a:t>
            </a:r>
          </a:p>
          <a:p>
            <a:endParaRPr lang="en-US" sz="2000" dirty="0"/>
          </a:p>
          <a:p>
            <a:endParaRPr lang="en-US" sz="2000" dirty="0"/>
          </a:p>
          <a:p>
            <a:endParaRPr lang="en-CA" dirty="0"/>
          </a:p>
        </p:txBody>
      </p:sp>
      <p:sp>
        <p:nvSpPr>
          <p:cNvPr id="4" name="Title 3"/>
          <p:cNvSpPr>
            <a:spLocks noGrp="1"/>
          </p:cNvSpPr>
          <p:nvPr>
            <p:ph type="title"/>
          </p:nvPr>
        </p:nvSpPr>
        <p:spPr/>
        <p:txBody>
          <a:bodyPr/>
          <a:lstStyle/>
          <a:p>
            <a:r>
              <a:rPr lang="en-CA" dirty="0"/>
              <a:t>Introduction to Climate Change</a:t>
            </a:r>
          </a:p>
        </p:txBody>
      </p:sp>
    </p:spTree>
    <p:extLst>
      <p:ext uri="{BB962C8B-B14F-4D97-AF65-F5344CB8AC3E}">
        <p14:creationId xmlns:p14="http://schemas.microsoft.com/office/powerpoint/2010/main" val="6492102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122D24B2-5D52-46F7-B915-67CABB3AD0CF}" type="slidenum">
              <a:rPr lang="en-US" smtClean="0"/>
              <a:pPr/>
              <a:t>28</a:t>
            </a:fld>
            <a:endParaRPr lang="en-US" dirty="0"/>
          </a:p>
        </p:txBody>
      </p:sp>
      <p:sp>
        <p:nvSpPr>
          <p:cNvPr id="3" name="Text Placeholder 2"/>
          <p:cNvSpPr>
            <a:spLocks noGrp="1"/>
          </p:cNvSpPr>
          <p:nvPr>
            <p:ph type="body" sz="quarter" idx="13"/>
          </p:nvPr>
        </p:nvSpPr>
        <p:spPr>
          <a:xfrm>
            <a:off x="228600" y="1698387"/>
            <a:ext cx="8686800" cy="4157662"/>
          </a:xfrm>
        </p:spPr>
        <p:txBody>
          <a:bodyPr/>
          <a:lstStyle/>
          <a:p>
            <a:r>
              <a:rPr lang="en-US" sz="2200" dirty="0"/>
              <a:t>GHGs, some are biogenic, or resulting from interactions in the natural world, while others are </a:t>
            </a:r>
            <a:r>
              <a:rPr lang="en-US" sz="2200" b="1" dirty="0"/>
              <a:t>anthropogenic</a:t>
            </a:r>
            <a:r>
              <a:rPr lang="en-US" sz="2200" dirty="0"/>
              <a:t>, or </a:t>
            </a:r>
            <a:r>
              <a:rPr lang="en-US" sz="2200" b="1" dirty="0"/>
              <a:t>resulting from human activity </a:t>
            </a:r>
            <a:r>
              <a:rPr lang="en-US" sz="2200" dirty="0"/>
              <a:t>other than human respiration</a:t>
            </a:r>
          </a:p>
          <a:p>
            <a:pPr lvl="1"/>
            <a:r>
              <a:rPr lang="en-US" sz="2200" b="1" dirty="0"/>
              <a:t>The most important anthropogenic GHG is CO</a:t>
            </a:r>
            <a:r>
              <a:rPr lang="en-US" sz="2200" b="1" baseline="-25000" dirty="0"/>
              <a:t>2</a:t>
            </a:r>
            <a:r>
              <a:rPr lang="en-US" sz="2200" b="1" dirty="0"/>
              <a:t>, </a:t>
            </a:r>
            <a:r>
              <a:rPr lang="en-US" sz="2200" dirty="0"/>
              <a:t>primarily from the </a:t>
            </a:r>
            <a:r>
              <a:rPr lang="en-US" sz="2200" b="1" dirty="0"/>
              <a:t>combustion of fossil fuels</a:t>
            </a:r>
          </a:p>
          <a:p>
            <a:r>
              <a:rPr lang="en-US" sz="2200" dirty="0"/>
              <a:t>GHGs include methane (CH</a:t>
            </a:r>
            <a:r>
              <a:rPr lang="en-US" sz="2200" baseline="-25000" dirty="0"/>
              <a:t>4</a:t>
            </a:r>
            <a:r>
              <a:rPr lang="en-US" sz="2200" dirty="0"/>
              <a:t>), nitrous oxide (N</a:t>
            </a:r>
            <a:r>
              <a:rPr lang="en-US" sz="2200" baseline="-25000" dirty="0"/>
              <a:t>2</a:t>
            </a:r>
            <a:r>
              <a:rPr lang="en-US" sz="2200" dirty="0"/>
              <a:t>O), and various human-manufactured chlorofluorocarbons (CFCs). </a:t>
            </a:r>
          </a:p>
          <a:p>
            <a:r>
              <a:rPr lang="en-US" sz="2200" dirty="0"/>
              <a:t>The contribution to the greenhouse effect of these other GHGs per molecule is greater than that of CO</a:t>
            </a:r>
            <a:r>
              <a:rPr lang="en-US" sz="2200" baseline="-25000" dirty="0"/>
              <a:t>2</a:t>
            </a:r>
            <a:r>
              <a:rPr lang="en-US" sz="2200" dirty="0"/>
              <a:t>, their concentration is much less, so overall they make a smaller contribution to the warming of the atmosphere.</a:t>
            </a:r>
          </a:p>
          <a:p>
            <a:r>
              <a:rPr lang="en-CA" sz="2200" b="1" u="sng" dirty="0">
                <a:solidFill>
                  <a:srgbClr val="FF0000"/>
                </a:solidFill>
              </a:rPr>
              <a:t>Key issue: </a:t>
            </a:r>
            <a:r>
              <a:rPr lang="en-CA" sz="2200" b="1" dirty="0">
                <a:solidFill>
                  <a:srgbClr val="FF0000"/>
                </a:solidFill>
              </a:rPr>
              <a:t>There is imbalance of approximately 4 Gt/year of carbon inbound to the atmosphere</a:t>
            </a:r>
          </a:p>
          <a:p>
            <a:endParaRPr lang="en-CA" sz="2200" dirty="0"/>
          </a:p>
        </p:txBody>
      </p:sp>
      <p:sp>
        <p:nvSpPr>
          <p:cNvPr id="4" name="Title 3"/>
          <p:cNvSpPr>
            <a:spLocks noGrp="1"/>
          </p:cNvSpPr>
          <p:nvPr>
            <p:ph type="title"/>
          </p:nvPr>
        </p:nvSpPr>
        <p:spPr/>
        <p:txBody>
          <a:bodyPr/>
          <a:lstStyle/>
          <a:p>
            <a:r>
              <a:rPr lang="en-CA" dirty="0"/>
              <a:t>GHGs</a:t>
            </a:r>
          </a:p>
        </p:txBody>
      </p:sp>
    </p:spTree>
    <p:extLst>
      <p:ext uri="{BB962C8B-B14F-4D97-AF65-F5344CB8AC3E}">
        <p14:creationId xmlns:p14="http://schemas.microsoft.com/office/powerpoint/2010/main" val="34177970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122D24B2-5D52-46F7-B915-67CABB3AD0CF}" type="slidenum">
              <a:rPr lang="en-US" smtClean="0"/>
              <a:pPr/>
              <a:t>29</a:t>
            </a:fld>
            <a:endParaRPr lang="en-US" dirty="0"/>
          </a:p>
        </p:txBody>
      </p:sp>
      <p:sp>
        <p:nvSpPr>
          <p:cNvPr id="3" name="Text Placeholder 2"/>
          <p:cNvSpPr>
            <a:spLocks noGrp="1"/>
          </p:cNvSpPr>
          <p:nvPr>
            <p:ph type="body" sz="quarter" idx="13"/>
          </p:nvPr>
        </p:nvSpPr>
        <p:spPr/>
        <p:txBody>
          <a:bodyPr/>
          <a:lstStyle/>
          <a:p>
            <a:pPr marL="342900" indent="-342900"/>
            <a:r>
              <a:rPr lang="en-CA" sz="1800" dirty="0"/>
              <a:t>Key climate change concern is </a:t>
            </a:r>
            <a:r>
              <a:rPr lang="en-CA" sz="1800" dirty="0">
                <a:solidFill>
                  <a:srgbClr val="FF0000"/>
                </a:solidFill>
              </a:rPr>
              <a:t>the increase in CO2 concentration in atmosphere</a:t>
            </a:r>
            <a:r>
              <a:rPr lang="en-CA" sz="1800" dirty="0"/>
              <a:t> (steadily increasing and proven to be </a:t>
            </a:r>
            <a:r>
              <a:rPr lang="en-CA" sz="1800" dirty="0">
                <a:solidFill>
                  <a:srgbClr val="FF0000"/>
                </a:solidFill>
              </a:rPr>
              <a:t>due to human activities</a:t>
            </a:r>
            <a:r>
              <a:rPr lang="en-CA" sz="1800" dirty="0"/>
              <a:t>)</a:t>
            </a:r>
          </a:p>
          <a:p>
            <a:pPr marL="342900" indent="-342900"/>
            <a:r>
              <a:rPr lang="en-CA" sz="1800" dirty="0"/>
              <a:t>Main human activity causing the increase in CO2 concentration is the </a:t>
            </a:r>
            <a:r>
              <a:rPr lang="en-CA" sz="1800" dirty="0">
                <a:solidFill>
                  <a:srgbClr val="FF0000"/>
                </a:solidFill>
              </a:rPr>
              <a:t>combustion of fossil fuels</a:t>
            </a:r>
          </a:p>
          <a:p>
            <a:pPr marL="342900" indent="-342900"/>
            <a:r>
              <a:rPr lang="en-CA" sz="1800" dirty="0">
                <a:solidFill>
                  <a:srgbClr val="FF0000"/>
                </a:solidFill>
              </a:rPr>
              <a:t>Energy use </a:t>
            </a:r>
            <a:r>
              <a:rPr lang="en-CA" sz="1800" dirty="0"/>
              <a:t>and energy use per capita both </a:t>
            </a:r>
            <a:r>
              <a:rPr lang="en-CA" sz="1800" dirty="0">
                <a:solidFill>
                  <a:srgbClr val="FF0000"/>
                </a:solidFill>
              </a:rPr>
              <a:t>increasing</a:t>
            </a:r>
            <a:r>
              <a:rPr lang="en-CA" sz="1800" dirty="0"/>
              <a:t> with time</a:t>
            </a:r>
          </a:p>
          <a:p>
            <a:pPr marL="342900" indent="-342900"/>
            <a:r>
              <a:rPr lang="en-CA" sz="1800" dirty="0"/>
              <a:t>Direct correlation between energy use and GDP</a:t>
            </a:r>
          </a:p>
          <a:p>
            <a:pPr marL="342900" indent="-342900"/>
            <a:r>
              <a:rPr lang="en-CA" sz="1800" dirty="0"/>
              <a:t>Pre 1950s, it was assumed that imbalance of CO2 were absorbed by the oceans, however later on it was shown that this was not true and </a:t>
            </a:r>
            <a:r>
              <a:rPr lang="en-CA" sz="1800" dirty="0">
                <a:solidFill>
                  <a:srgbClr val="FF0000"/>
                </a:solidFill>
              </a:rPr>
              <a:t>increase in CO2 increase earth surface temperature</a:t>
            </a:r>
            <a:r>
              <a:rPr lang="en-CA" sz="1800" dirty="0"/>
              <a:t> (approximately 0.74+/-0.18 C from 1900 to 2000)</a:t>
            </a:r>
          </a:p>
          <a:p>
            <a:pPr marL="342900" indent="-342900"/>
            <a:r>
              <a:rPr lang="en-CA" sz="1800" dirty="0"/>
              <a:t>Main effects of global warming: </a:t>
            </a:r>
            <a:r>
              <a:rPr lang="en-CA" sz="1800" dirty="0">
                <a:solidFill>
                  <a:srgbClr val="FF0000"/>
                </a:solidFill>
              </a:rPr>
              <a:t>receding glaciers </a:t>
            </a:r>
            <a:r>
              <a:rPr lang="en-CA" sz="1800" dirty="0"/>
              <a:t>and </a:t>
            </a:r>
            <a:r>
              <a:rPr lang="en-CA" sz="1800" dirty="0">
                <a:solidFill>
                  <a:srgbClr val="FF0000"/>
                </a:solidFill>
              </a:rPr>
              <a:t>loss of polar ice</a:t>
            </a:r>
            <a:r>
              <a:rPr lang="en-CA" sz="1800" dirty="0"/>
              <a:t>, </a:t>
            </a:r>
            <a:r>
              <a:rPr lang="en-CA" sz="1800" dirty="0">
                <a:solidFill>
                  <a:srgbClr val="FF0000"/>
                </a:solidFill>
              </a:rPr>
              <a:t>extreme heat events</a:t>
            </a:r>
            <a:r>
              <a:rPr lang="en-CA" sz="1800" dirty="0"/>
              <a:t>, change in animal, plant, and bird range, coral reef bleaching</a:t>
            </a:r>
          </a:p>
          <a:p>
            <a:pPr marL="0" indent="0">
              <a:buNone/>
            </a:pPr>
            <a:r>
              <a:rPr lang="en-CA" dirty="0"/>
              <a:t> </a:t>
            </a:r>
          </a:p>
        </p:txBody>
      </p:sp>
      <p:sp>
        <p:nvSpPr>
          <p:cNvPr id="4" name="Title 3"/>
          <p:cNvSpPr>
            <a:spLocks noGrp="1"/>
          </p:cNvSpPr>
          <p:nvPr>
            <p:ph type="title"/>
          </p:nvPr>
        </p:nvSpPr>
        <p:spPr>
          <a:xfrm>
            <a:off x="609600" y="838200"/>
            <a:ext cx="7810500" cy="979250"/>
          </a:xfrm>
        </p:spPr>
        <p:txBody>
          <a:bodyPr/>
          <a:lstStyle/>
          <a:p>
            <a:r>
              <a:rPr lang="en-US" altLang="en-US" dirty="0"/>
              <a:t>Summary of Key Energy and Climate Change Issues</a:t>
            </a:r>
            <a:br>
              <a:rPr lang="en-US" i="1" dirty="0"/>
            </a:br>
            <a:endParaRPr lang="en-CA" dirty="0"/>
          </a:p>
        </p:txBody>
      </p:sp>
    </p:spTree>
    <p:extLst>
      <p:ext uri="{BB962C8B-B14F-4D97-AF65-F5344CB8AC3E}">
        <p14:creationId xmlns:p14="http://schemas.microsoft.com/office/powerpoint/2010/main" val="38511392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114828" y="990600"/>
            <a:ext cx="2590800" cy="1671711"/>
          </a:xfrm>
        </p:spPr>
        <p:txBody>
          <a:bodyPr>
            <a:noAutofit/>
          </a:bodyPr>
          <a:lstStyle/>
          <a:p>
            <a:r>
              <a:rPr lang="en-US" altLang="en-US" b="1" dirty="0">
                <a:solidFill>
                  <a:schemeClr val="accent2"/>
                </a:solidFill>
                <a:latin typeface="Arial" panose="020B0604020202020204" pitchFamily="34" charset="0"/>
                <a:cs typeface="Arial" panose="020B0604020202020204" pitchFamily="34" charset="0"/>
              </a:rPr>
              <a:t>CO</a:t>
            </a:r>
            <a:r>
              <a:rPr lang="en-US" altLang="en-US" b="1" baseline="-25000" dirty="0">
                <a:solidFill>
                  <a:schemeClr val="accent2"/>
                </a:solidFill>
                <a:latin typeface="Arial" panose="020B0604020202020204" pitchFamily="34" charset="0"/>
                <a:cs typeface="Arial" panose="020B0604020202020204" pitchFamily="34" charset="0"/>
              </a:rPr>
              <a:t>2</a:t>
            </a:r>
            <a:r>
              <a:rPr lang="en-US" altLang="en-US" b="1" dirty="0">
                <a:solidFill>
                  <a:schemeClr val="accent2"/>
                </a:solidFill>
                <a:latin typeface="Arial" panose="020B0604020202020204" pitchFamily="34" charset="0"/>
                <a:cs typeface="Arial" panose="020B0604020202020204" pitchFamily="34" charset="0"/>
              </a:rPr>
              <a:t> Emissions </a:t>
            </a:r>
            <a:r>
              <a:rPr lang="en-US" altLang="en-US" dirty="0">
                <a:solidFill>
                  <a:schemeClr val="accent2"/>
                </a:solidFill>
              </a:rPr>
              <a:t>per Fuels</a:t>
            </a:r>
            <a:endParaRPr lang="en-US" b="1" i="1" dirty="0">
              <a:solidFill>
                <a:schemeClr val="accent2"/>
              </a:solidFill>
              <a:latin typeface="Arial" panose="020B060402020202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F5D1EE6D-923A-4CA1-AC73-2D2F8A281630}"/>
              </a:ext>
            </a:extLst>
          </p:cNvPr>
          <p:cNvSpPr>
            <a:spLocks noGrp="1"/>
          </p:cNvSpPr>
          <p:nvPr>
            <p:ph type="sldNum" sz="quarter" idx="12"/>
          </p:nvPr>
        </p:nvSpPr>
        <p:spPr/>
        <p:txBody>
          <a:bodyPr/>
          <a:lstStyle/>
          <a:p>
            <a:fld id="{B6F15528-21DE-4FAA-801E-634DDDAF4B2B}" type="slidenum">
              <a:rPr lang="en-US" smtClean="0"/>
              <a:pPr/>
              <a:t>30</a:t>
            </a:fld>
            <a:endParaRPr lang="en-US"/>
          </a:p>
        </p:txBody>
      </p:sp>
      <p:pic>
        <p:nvPicPr>
          <p:cNvPr id="7" name="Picture 6">
            <a:extLst>
              <a:ext uri="{FF2B5EF4-FFF2-40B4-BE49-F238E27FC236}">
                <a16:creationId xmlns:a16="http://schemas.microsoft.com/office/drawing/2014/main" id="{E7A16AA4-9BE8-4AB9-A2E4-DC3BECB112DC}"/>
              </a:ext>
            </a:extLst>
          </p:cNvPr>
          <p:cNvPicPr>
            <a:picLocks noChangeAspect="1"/>
          </p:cNvPicPr>
          <p:nvPr/>
        </p:nvPicPr>
        <p:blipFill>
          <a:blip r:embed="rId2"/>
          <a:stretch>
            <a:fillRect/>
          </a:stretch>
        </p:blipFill>
        <p:spPr>
          <a:xfrm>
            <a:off x="3337595" y="44091"/>
            <a:ext cx="5806405" cy="6813909"/>
          </a:xfrm>
          <a:prstGeom prst="rect">
            <a:avLst/>
          </a:prstGeom>
        </p:spPr>
      </p:pic>
    </p:spTree>
    <p:extLst>
      <p:ext uri="{BB962C8B-B14F-4D97-AF65-F5344CB8AC3E}">
        <p14:creationId xmlns:p14="http://schemas.microsoft.com/office/powerpoint/2010/main" val="32834514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228600" y="762000"/>
            <a:ext cx="8229600" cy="1143000"/>
          </a:xfrm>
        </p:spPr>
        <p:txBody>
          <a:bodyPr>
            <a:noAutofit/>
          </a:bodyPr>
          <a:lstStyle/>
          <a:p>
            <a:r>
              <a:rPr lang="en-US" altLang="en-US" b="1" dirty="0">
                <a:solidFill>
                  <a:schemeClr val="accent2"/>
                </a:solidFill>
                <a:latin typeface="Arial" panose="020B0604020202020204" pitchFamily="34" charset="0"/>
                <a:cs typeface="Arial" panose="020B0604020202020204" pitchFamily="34" charset="0"/>
              </a:rPr>
              <a:t>Possible Pathway to 2100</a:t>
            </a:r>
            <a:endParaRPr lang="en-US" b="1" dirty="0">
              <a:solidFill>
                <a:schemeClr val="accent2"/>
              </a:solidFill>
              <a:latin typeface="Arial" panose="020B0604020202020204" pitchFamily="34" charset="0"/>
              <a:cs typeface="Arial" panose="020B0604020202020204" pitchFamily="34" charset="0"/>
            </a:endParaRPr>
          </a:p>
        </p:txBody>
      </p:sp>
      <p:pic>
        <p:nvPicPr>
          <p:cNvPr id="5" name="Picture 5" descr="Screen shot 2012-07-#48307B.png                                000AA490&#10;epsilon omega                  7C2611F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3800" y="1752600"/>
            <a:ext cx="5362457"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itle 3"/>
          <p:cNvSpPr txBox="1">
            <a:spLocks/>
          </p:cNvSpPr>
          <p:nvPr/>
        </p:nvSpPr>
        <p:spPr>
          <a:xfrm>
            <a:off x="4038600" y="4876800"/>
            <a:ext cx="4648200" cy="533400"/>
          </a:xfrm>
        </p:spPr>
        <p:txBody>
          <a:bodyPr>
            <a:noAutofit/>
          </a:bodyPr>
          <a:lstStyle>
            <a:lvl1pPr algn="ctr" rtl="0" eaLnBrk="1" latinLnBrk="0" hangingPunct="1">
              <a:spcBef>
                <a:spcPct val="0"/>
              </a:spcBef>
              <a:buNone/>
              <a:defRPr kumimoji="0" sz="3600" b="0" kern="1200">
                <a:ln>
                  <a:noFill/>
                </a:ln>
                <a:solidFill>
                  <a:srgbClr val="002060"/>
                </a:solidFill>
                <a:effectLst/>
                <a:latin typeface="Verdana" panose="020B0604030504040204" pitchFamily="34" charset="0"/>
                <a:ea typeface="Verdana" panose="020B0604030504040204" pitchFamily="34" charset="0"/>
                <a:cs typeface="Verdana" panose="020B0604030504040204" pitchFamily="34" charset="0"/>
              </a:defRPr>
            </a:lvl1pPr>
          </a:lstStyle>
          <a:p>
            <a:pPr marL="285750" indent="-285750" algn="l">
              <a:buFont typeface="Arial" panose="020B0604020202020204" pitchFamily="34" charset="0"/>
              <a:buChar char="•"/>
            </a:pPr>
            <a:r>
              <a:rPr lang="en-US" altLang="en-US" sz="1600" dirty="0"/>
              <a:t>A possible pathway for primary energy production in the 21</a:t>
            </a:r>
            <a:r>
              <a:rPr lang="en-US" altLang="en-US" sz="1600" baseline="30000" dirty="0"/>
              <a:t>st </a:t>
            </a:r>
            <a:r>
              <a:rPr lang="en-US" altLang="en-US" sz="1600" dirty="0"/>
              <a:t>century arriving at 100 million BTU/person, on average, available for 9 billion people in 2100</a:t>
            </a:r>
            <a:endParaRPr lang="en-US" sz="1600" dirty="0"/>
          </a:p>
        </p:txBody>
      </p:sp>
      <p:sp>
        <p:nvSpPr>
          <p:cNvPr id="2" name="Slide Number Placeholder 1">
            <a:extLst>
              <a:ext uri="{FF2B5EF4-FFF2-40B4-BE49-F238E27FC236}">
                <a16:creationId xmlns:a16="http://schemas.microsoft.com/office/drawing/2014/main" id="{9E2F5498-8B3A-4410-BE1F-D01499BDB64F}"/>
              </a:ext>
            </a:extLst>
          </p:cNvPr>
          <p:cNvSpPr>
            <a:spLocks noGrp="1"/>
          </p:cNvSpPr>
          <p:nvPr>
            <p:ph type="sldNum" sz="quarter" idx="12"/>
          </p:nvPr>
        </p:nvSpPr>
        <p:spPr/>
        <p:txBody>
          <a:bodyPr/>
          <a:lstStyle/>
          <a:p>
            <a:fld id="{B6F15528-21DE-4FAA-801E-634DDDAF4B2B}" type="slidenum">
              <a:rPr lang="en-US" smtClean="0"/>
              <a:pPr/>
              <a:t>31</a:t>
            </a:fld>
            <a:endParaRPr lang="en-US"/>
          </a:p>
        </p:txBody>
      </p:sp>
      <p:sp>
        <p:nvSpPr>
          <p:cNvPr id="8" name="TextBox 7">
            <a:extLst>
              <a:ext uri="{FF2B5EF4-FFF2-40B4-BE49-F238E27FC236}">
                <a16:creationId xmlns:a16="http://schemas.microsoft.com/office/drawing/2014/main" id="{E58EA63E-48F9-4250-B306-4F135A048DEA}"/>
              </a:ext>
            </a:extLst>
          </p:cNvPr>
          <p:cNvSpPr txBox="1"/>
          <p:nvPr/>
        </p:nvSpPr>
        <p:spPr>
          <a:xfrm>
            <a:off x="228600" y="1832035"/>
            <a:ext cx="3381257" cy="4524315"/>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chemeClr val="bg1"/>
                </a:solidFill>
              </a:rPr>
              <a:t>At present nuclear energy contributes about 4% of global primary energy, and renewable energy about 11%, with fossil energy supplying the rest</a:t>
            </a:r>
            <a:endParaRPr lang="en-CA" dirty="0">
              <a:solidFill>
                <a:schemeClr val="bg1"/>
              </a:solidFill>
            </a:endParaRPr>
          </a:p>
          <a:p>
            <a:pPr marL="285750" indent="-285750">
              <a:buFont typeface="Arial" panose="020B0604020202020204" pitchFamily="34" charset="0"/>
              <a:buChar char="•"/>
            </a:pPr>
            <a:r>
              <a:rPr lang="en-CA" dirty="0">
                <a:solidFill>
                  <a:schemeClr val="bg1"/>
                </a:solidFill>
              </a:rPr>
              <a:t>Nuclear power plays a key role</a:t>
            </a:r>
          </a:p>
          <a:p>
            <a:pPr marL="285750" indent="-285750">
              <a:buFont typeface="Arial" panose="020B0604020202020204" pitchFamily="34" charset="0"/>
              <a:buChar char="•"/>
            </a:pPr>
            <a:r>
              <a:rPr lang="en-US" dirty="0">
                <a:solidFill>
                  <a:schemeClr val="bg1"/>
                </a:solidFill>
              </a:rPr>
              <a:t>Carbon capture with sequestration (CCS), will displace conventional fossil</a:t>
            </a:r>
          </a:p>
          <a:p>
            <a:pPr marL="285750" indent="-285750">
              <a:buFont typeface="Arial" panose="020B0604020202020204" pitchFamily="34" charset="0"/>
              <a:buChar char="•"/>
            </a:pPr>
            <a:r>
              <a:rPr lang="en-US" dirty="0">
                <a:solidFill>
                  <a:schemeClr val="bg1"/>
                </a:solidFill>
              </a:rPr>
              <a:t>The results, which displace the 85% conventional fossil used in 2000 with a mix of noncarbon emitting sources by 2100</a:t>
            </a:r>
            <a:endParaRPr lang="en-CA" dirty="0">
              <a:solidFill>
                <a:schemeClr val="bg1"/>
              </a:solidFill>
            </a:endParaRPr>
          </a:p>
        </p:txBody>
      </p:sp>
    </p:spTree>
    <p:extLst>
      <p:ext uri="{BB962C8B-B14F-4D97-AF65-F5344CB8AC3E}">
        <p14:creationId xmlns:p14="http://schemas.microsoft.com/office/powerpoint/2010/main" val="36807407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152400" y="533400"/>
            <a:ext cx="8229600" cy="1143000"/>
          </a:xfrm>
        </p:spPr>
        <p:txBody>
          <a:bodyPr>
            <a:noAutofit/>
          </a:bodyPr>
          <a:lstStyle/>
          <a:p>
            <a:r>
              <a:rPr lang="en-US" dirty="0">
                <a:solidFill>
                  <a:schemeClr val="accent2"/>
                </a:solidFill>
              </a:rPr>
              <a:t>Energy Systems Engineering</a:t>
            </a:r>
            <a:endParaRPr lang="en-US" b="1" dirty="0">
              <a:solidFill>
                <a:schemeClr val="accent2"/>
              </a:solidFill>
              <a:latin typeface="Arial" panose="020B0604020202020204" pitchFamily="34" charset="0"/>
              <a:cs typeface="Arial" panose="020B0604020202020204" pitchFamily="34" charset="0"/>
            </a:endParaRPr>
          </a:p>
        </p:txBody>
      </p:sp>
      <p:sp>
        <p:nvSpPr>
          <p:cNvPr id="6" name="TextBox 5"/>
          <p:cNvSpPr txBox="1">
            <a:spLocks noChangeArrowheads="1"/>
          </p:cNvSpPr>
          <p:nvPr/>
        </p:nvSpPr>
        <p:spPr bwMode="auto">
          <a:xfrm>
            <a:off x="457200" y="6324600"/>
            <a:ext cx="84582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en-US" sz="800" i="1" dirty="0"/>
              <a:t>Source: F Vanek, L Albright, and L Angenent. (2016) Energy Systems Engineering: Evaluation and Implementation, 3</a:t>
            </a:r>
            <a:r>
              <a:rPr lang="en-US" altLang="en-US" sz="800" i="1" baseline="30000" dirty="0"/>
              <a:t>rd</a:t>
            </a:r>
            <a:r>
              <a:rPr lang="en-US" altLang="en-US" sz="800" i="1" dirty="0"/>
              <a:t> Ed., McGraw-Hill. </a:t>
            </a:r>
          </a:p>
          <a:p>
            <a:r>
              <a:rPr lang="en-US" altLang="en-US" sz="800" i="1" dirty="0"/>
              <a:t>This slide may be distributed as long as this attribution is maintained with the slide. </a:t>
            </a:r>
          </a:p>
        </p:txBody>
      </p:sp>
      <p:pic>
        <p:nvPicPr>
          <p:cNvPr id="8" name="Picture 7">
            <a:extLst>
              <a:ext uri="{FF2B5EF4-FFF2-40B4-BE49-F238E27FC236}">
                <a16:creationId xmlns:a16="http://schemas.microsoft.com/office/drawing/2014/main" id="{C1E6BF57-28F7-4321-ABC8-6AD99EB29586}"/>
              </a:ext>
            </a:extLst>
          </p:cNvPr>
          <p:cNvPicPr>
            <a:picLocks noChangeAspect="1"/>
          </p:cNvPicPr>
          <p:nvPr/>
        </p:nvPicPr>
        <p:blipFill>
          <a:blip r:embed="rId2"/>
          <a:stretch>
            <a:fillRect/>
          </a:stretch>
        </p:blipFill>
        <p:spPr>
          <a:xfrm>
            <a:off x="845343" y="1183726"/>
            <a:ext cx="7453313" cy="5683881"/>
          </a:xfrm>
          <a:prstGeom prst="rect">
            <a:avLst/>
          </a:prstGeom>
        </p:spPr>
      </p:pic>
      <p:sp>
        <p:nvSpPr>
          <p:cNvPr id="2" name="Oval 1">
            <a:extLst>
              <a:ext uri="{FF2B5EF4-FFF2-40B4-BE49-F238E27FC236}">
                <a16:creationId xmlns:a16="http://schemas.microsoft.com/office/drawing/2014/main" id="{2F2768E4-B000-4745-8F9C-DC302111B4DE}"/>
              </a:ext>
            </a:extLst>
          </p:cNvPr>
          <p:cNvSpPr/>
          <p:nvPr/>
        </p:nvSpPr>
        <p:spPr>
          <a:xfrm>
            <a:off x="237673" y="1028700"/>
            <a:ext cx="3352800" cy="29337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Oval 8">
            <a:extLst>
              <a:ext uri="{FF2B5EF4-FFF2-40B4-BE49-F238E27FC236}">
                <a16:creationId xmlns:a16="http://schemas.microsoft.com/office/drawing/2014/main" id="{F7A0BD20-C8FB-4F9A-9A8F-C8DCFF9914FE}"/>
              </a:ext>
            </a:extLst>
          </p:cNvPr>
          <p:cNvSpPr/>
          <p:nvPr/>
        </p:nvSpPr>
        <p:spPr>
          <a:xfrm>
            <a:off x="239994" y="4099138"/>
            <a:ext cx="3570006" cy="268266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Oval 9">
            <a:extLst>
              <a:ext uri="{FF2B5EF4-FFF2-40B4-BE49-F238E27FC236}">
                <a16:creationId xmlns:a16="http://schemas.microsoft.com/office/drawing/2014/main" id="{886F9147-99CA-4A18-95FB-61280E9B1672}"/>
              </a:ext>
            </a:extLst>
          </p:cNvPr>
          <p:cNvSpPr/>
          <p:nvPr/>
        </p:nvSpPr>
        <p:spPr>
          <a:xfrm>
            <a:off x="3978617" y="1165438"/>
            <a:ext cx="5012984" cy="241596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 name="Slide Number Placeholder 2">
            <a:extLst>
              <a:ext uri="{FF2B5EF4-FFF2-40B4-BE49-F238E27FC236}">
                <a16:creationId xmlns:a16="http://schemas.microsoft.com/office/drawing/2014/main" id="{AB0D34F4-B258-448F-9CAB-325F0AB3C283}"/>
              </a:ext>
            </a:extLst>
          </p:cNvPr>
          <p:cNvSpPr>
            <a:spLocks noGrp="1"/>
          </p:cNvSpPr>
          <p:nvPr>
            <p:ph type="sldNum" sz="quarter" idx="12"/>
          </p:nvPr>
        </p:nvSpPr>
        <p:spPr/>
        <p:txBody>
          <a:bodyPr/>
          <a:lstStyle/>
          <a:p>
            <a:fld id="{B6F15528-21DE-4FAA-801E-634DDDAF4B2B}" type="slidenum">
              <a:rPr lang="en-US" smtClean="0"/>
              <a:pPr/>
              <a:t>32</a:t>
            </a:fld>
            <a:endParaRPr lang="en-US"/>
          </a:p>
        </p:txBody>
      </p:sp>
      <p:sp>
        <p:nvSpPr>
          <p:cNvPr id="5" name="TextBox 4">
            <a:extLst>
              <a:ext uri="{FF2B5EF4-FFF2-40B4-BE49-F238E27FC236}">
                <a16:creationId xmlns:a16="http://schemas.microsoft.com/office/drawing/2014/main" id="{E68C9B9A-127F-42F7-A71A-DCD0FD261780}"/>
              </a:ext>
            </a:extLst>
          </p:cNvPr>
          <p:cNvSpPr txBox="1"/>
          <p:nvPr/>
        </p:nvSpPr>
        <p:spPr>
          <a:xfrm>
            <a:off x="2362200" y="5639249"/>
            <a:ext cx="1371600" cy="369332"/>
          </a:xfrm>
          <a:prstGeom prst="rect">
            <a:avLst/>
          </a:prstGeom>
          <a:noFill/>
        </p:spPr>
        <p:txBody>
          <a:bodyPr wrap="square" rtlCol="0">
            <a:spAutoFit/>
          </a:bodyPr>
          <a:lstStyle/>
          <a:p>
            <a:r>
              <a:rPr lang="en-CA" dirty="0">
                <a:solidFill>
                  <a:srgbClr val="FF0000"/>
                </a:solidFill>
              </a:rPr>
              <a:t>Module 2</a:t>
            </a:r>
          </a:p>
        </p:txBody>
      </p:sp>
      <p:sp>
        <p:nvSpPr>
          <p:cNvPr id="11" name="TextBox 10">
            <a:extLst>
              <a:ext uri="{FF2B5EF4-FFF2-40B4-BE49-F238E27FC236}">
                <a16:creationId xmlns:a16="http://schemas.microsoft.com/office/drawing/2014/main" id="{FF5EE26E-CFFA-4A6A-97C7-B27965D33A7A}"/>
              </a:ext>
            </a:extLst>
          </p:cNvPr>
          <p:cNvSpPr txBox="1"/>
          <p:nvPr/>
        </p:nvSpPr>
        <p:spPr>
          <a:xfrm>
            <a:off x="304800" y="2418314"/>
            <a:ext cx="1371600" cy="369332"/>
          </a:xfrm>
          <a:prstGeom prst="rect">
            <a:avLst/>
          </a:prstGeom>
          <a:noFill/>
        </p:spPr>
        <p:txBody>
          <a:bodyPr wrap="square" rtlCol="0">
            <a:spAutoFit/>
          </a:bodyPr>
          <a:lstStyle/>
          <a:p>
            <a:r>
              <a:rPr lang="en-CA" dirty="0">
                <a:solidFill>
                  <a:srgbClr val="FF0000"/>
                </a:solidFill>
              </a:rPr>
              <a:t>Module 3</a:t>
            </a:r>
          </a:p>
        </p:txBody>
      </p:sp>
      <p:sp>
        <p:nvSpPr>
          <p:cNvPr id="12" name="TextBox 11">
            <a:extLst>
              <a:ext uri="{FF2B5EF4-FFF2-40B4-BE49-F238E27FC236}">
                <a16:creationId xmlns:a16="http://schemas.microsoft.com/office/drawing/2014/main" id="{247301E6-C138-4EB0-876D-BDDA83311547}"/>
              </a:ext>
            </a:extLst>
          </p:cNvPr>
          <p:cNvSpPr txBox="1"/>
          <p:nvPr/>
        </p:nvSpPr>
        <p:spPr>
          <a:xfrm>
            <a:off x="4814760" y="1491734"/>
            <a:ext cx="1371600" cy="369332"/>
          </a:xfrm>
          <a:prstGeom prst="rect">
            <a:avLst/>
          </a:prstGeom>
          <a:noFill/>
        </p:spPr>
        <p:txBody>
          <a:bodyPr wrap="square" rtlCol="0">
            <a:spAutoFit/>
          </a:bodyPr>
          <a:lstStyle/>
          <a:p>
            <a:r>
              <a:rPr lang="en-CA" dirty="0">
                <a:solidFill>
                  <a:srgbClr val="FF0000"/>
                </a:solidFill>
              </a:rPr>
              <a:t>Module 4</a:t>
            </a:r>
          </a:p>
        </p:txBody>
      </p:sp>
      <p:sp>
        <p:nvSpPr>
          <p:cNvPr id="13" name="TextBox 12">
            <a:extLst>
              <a:ext uri="{FF2B5EF4-FFF2-40B4-BE49-F238E27FC236}">
                <a16:creationId xmlns:a16="http://schemas.microsoft.com/office/drawing/2014/main" id="{C2D30426-D99D-47CC-BA03-7C5393B195DD}"/>
              </a:ext>
            </a:extLst>
          </p:cNvPr>
          <p:cNvSpPr txBox="1"/>
          <p:nvPr/>
        </p:nvSpPr>
        <p:spPr>
          <a:xfrm>
            <a:off x="4876800" y="2055731"/>
            <a:ext cx="1371600" cy="369332"/>
          </a:xfrm>
          <a:prstGeom prst="rect">
            <a:avLst/>
          </a:prstGeom>
          <a:noFill/>
        </p:spPr>
        <p:txBody>
          <a:bodyPr wrap="square" rtlCol="0">
            <a:spAutoFit/>
          </a:bodyPr>
          <a:lstStyle/>
          <a:p>
            <a:r>
              <a:rPr lang="en-CA" dirty="0">
                <a:solidFill>
                  <a:srgbClr val="FF0000"/>
                </a:solidFill>
              </a:rPr>
              <a:t>Module 5</a:t>
            </a:r>
          </a:p>
        </p:txBody>
      </p:sp>
      <p:sp>
        <p:nvSpPr>
          <p:cNvPr id="14" name="TextBox 13">
            <a:extLst>
              <a:ext uri="{FF2B5EF4-FFF2-40B4-BE49-F238E27FC236}">
                <a16:creationId xmlns:a16="http://schemas.microsoft.com/office/drawing/2014/main" id="{FD8F1BF8-AA8C-4539-93AD-CB52B9A05AC7}"/>
              </a:ext>
            </a:extLst>
          </p:cNvPr>
          <p:cNvSpPr txBox="1"/>
          <p:nvPr/>
        </p:nvSpPr>
        <p:spPr>
          <a:xfrm>
            <a:off x="8091353" y="2743200"/>
            <a:ext cx="1371600" cy="369332"/>
          </a:xfrm>
          <a:prstGeom prst="rect">
            <a:avLst/>
          </a:prstGeom>
          <a:noFill/>
        </p:spPr>
        <p:txBody>
          <a:bodyPr wrap="square" rtlCol="0">
            <a:spAutoFit/>
          </a:bodyPr>
          <a:lstStyle/>
          <a:p>
            <a:r>
              <a:rPr lang="en-CA" dirty="0">
                <a:solidFill>
                  <a:srgbClr val="FF0000"/>
                </a:solidFill>
              </a:rPr>
              <a:t>Module 6</a:t>
            </a:r>
          </a:p>
        </p:txBody>
      </p:sp>
      <p:sp>
        <p:nvSpPr>
          <p:cNvPr id="15" name="TextBox 14">
            <a:extLst>
              <a:ext uri="{FF2B5EF4-FFF2-40B4-BE49-F238E27FC236}">
                <a16:creationId xmlns:a16="http://schemas.microsoft.com/office/drawing/2014/main" id="{15372297-2AE0-4B4A-9D59-303D949FC94F}"/>
              </a:ext>
            </a:extLst>
          </p:cNvPr>
          <p:cNvSpPr txBox="1"/>
          <p:nvPr/>
        </p:nvSpPr>
        <p:spPr>
          <a:xfrm>
            <a:off x="8091353" y="3175727"/>
            <a:ext cx="1371600" cy="369332"/>
          </a:xfrm>
          <a:prstGeom prst="rect">
            <a:avLst/>
          </a:prstGeom>
          <a:noFill/>
        </p:spPr>
        <p:txBody>
          <a:bodyPr wrap="square" rtlCol="0">
            <a:spAutoFit/>
          </a:bodyPr>
          <a:lstStyle/>
          <a:p>
            <a:r>
              <a:rPr lang="en-CA" dirty="0">
                <a:solidFill>
                  <a:srgbClr val="FF0000"/>
                </a:solidFill>
              </a:rPr>
              <a:t>Module 7</a:t>
            </a:r>
          </a:p>
        </p:txBody>
      </p:sp>
    </p:spTree>
    <p:extLst>
      <p:ext uri="{BB962C8B-B14F-4D97-AF65-F5344CB8AC3E}">
        <p14:creationId xmlns:p14="http://schemas.microsoft.com/office/powerpoint/2010/main" val="175950057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themeOverride>
</file>

<file path=ppt/theme/themeOverride2.xml><?xml version="1.0" encoding="utf-8"?>
<a:themeOverride xmlns:a="http://schemas.openxmlformats.org/drawingml/2006/main">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themeOverride>
</file>

<file path=ppt/theme/themeOverride3.xml><?xml version="1.0" encoding="utf-8"?>
<a:themeOverride xmlns:a="http://schemas.openxmlformats.org/drawingml/2006/main">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themeOverride>
</file>

<file path=docProps/app.xml><?xml version="1.0" encoding="utf-8"?>
<Properties xmlns="http://schemas.openxmlformats.org/officeDocument/2006/extended-properties" xmlns:vt="http://schemas.openxmlformats.org/officeDocument/2006/docPropsVTypes">
  <Template/>
  <TotalTime>45572</TotalTime>
  <Words>2139</Words>
  <Application>Microsoft Office PowerPoint</Application>
  <PresentationFormat>On-screen Show (4:3)</PresentationFormat>
  <Paragraphs>247</Paragraphs>
  <Slides>32</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32</vt:i4>
      </vt:variant>
    </vt:vector>
  </HeadingPairs>
  <TitlesOfParts>
    <vt:vector size="41" baseType="lpstr">
      <vt:lpstr>Arial</vt:lpstr>
      <vt:lpstr>Calibri</vt:lpstr>
      <vt:lpstr>Cambria Math</vt:lpstr>
      <vt:lpstr>Constantia</vt:lpstr>
      <vt:lpstr>TimesTenLTStd-Roman</vt:lpstr>
      <vt:lpstr>Verdana</vt:lpstr>
      <vt:lpstr>Wingdings</vt:lpstr>
      <vt:lpstr>Wingdings 2</vt:lpstr>
      <vt:lpstr>Flow</vt:lpstr>
      <vt:lpstr>PowerPoint Presentation</vt:lpstr>
      <vt:lpstr>References</vt:lpstr>
      <vt:lpstr>Part 1  Introduction to Energy and Power</vt:lpstr>
      <vt:lpstr>Energy</vt:lpstr>
      <vt:lpstr>Units of Work</vt:lpstr>
      <vt:lpstr>Difference Between Energy and Power</vt:lpstr>
      <vt:lpstr>Units of Power</vt:lpstr>
      <vt:lpstr>Prefixes used with metric units of energy </vt:lpstr>
      <vt:lpstr>Thermal Energy</vt:lpstr>
      <vt:lpstr>Units of Thermal Energy</vt:lpstr>
      <vt:lpstr>U.S. Standard Customary Units</vt:lpstr>
      <vt:lpstr>Energy Content (Heating Values) of Fuels</vt:lpstr>
      <vt:lpstr>Energy Content of Common Fuels</vt:lpstr>
      <vt:lpstr>Efficiency</vt:lpstr>
      <vt:lpstr>PowerPoint Presentation</vt:lpstr>
      <vt:lpstr>Energy Efficiency Ratio</vt:lpstr>
      <vt:lpstr>Heating and Cooling Units</vt:lpstr>
      <vt:lpstr>Part 2  Energy Issues</vt:lpstr>
      <vt:lpstr>Issues to Consider</vt:lpstr>
      <vt:lpstr>PowerPoint Presentation</vt:lpstr>
      <vt:lpstr>Energy, Population, GDP</vt:lpstr>
      <vt:lpstr>PowerPoint Presentation</vt:lpstr>
      <vt:lpstr>GDP/person vs Energy/person select countries, 2017</vt:lpstr>
      <vt:lpstr>PowerPoint Presentation</vt:lpstr>
      <vt:lpstr>Human Development Index (HDI) vs. Energy per Capita</vt:lpstr>
      <vt:lpstr>Human Development Index vs Energy/person select countries, 2011</vt:lpstr>
      <vt:lpstr>Introduction to Climate Change</vt:lpstr>
      <vt:lpstr>GHGs</vt:lpstr>
      <vt:lpstr>Summary of Key Energy and Climate Change Issues </vt:lpstr>
      <vt:lpstr>CO2 Emissions per Fuels</vt:lpstr>
      <vt:lpstr>Possible Pathway to 2100</vt:lpstr>
      <vt:lpstr>Energy Systems Engineering</vt:lpstr>
    </vt:vector>
  </TitlesOfParts>
  <Company>NTL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altit</dc:creator>
  <cp:lastModifiedBy>Amin Ghobeity</cp:lastModifiedBy>
  <cp:revision>2228</cp:revision>
  <dcterms:created xsi:type="dcterms:W3CDTF">2013-10-11T17:23:38Z</dcterms:created>
  <dcterms:modified xsi:type="dcterms:W3CDTF">2026-08-31T19:57:48Z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NewReviewCycle">
    <vt:lpwstr/>
  </property>
</Properties>
</file>